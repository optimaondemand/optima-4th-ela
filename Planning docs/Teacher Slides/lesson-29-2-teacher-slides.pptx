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29, Day 2.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Keep an emotional admission SHORT — trust that a few honest words can carry more weight than a long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20-minute timer. Craft move: Keep an emotional admission SHORT — trust that a few honest words can carry more weight than a long speech.. Level-up: 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Could you cut any words from your character’s admission and make it even more powerful?.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short admission of being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Lucy followed Aslan alone through the dark woods at night, with Edmund following her. Today: Watch as Susan and Edmund slowly begin to see what Lucy has seen all along. Big Q: Watch how Susan and Edmund’s feelings about Aslan shift in this chapter. What do they see or hear? How do their words or actions show that something has changed inside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"Susan looked up at the great lion and whispered , “ I see him now . I’m sorry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"peter knelt before aslan and said i have been leading them wrong can you forgive me" Corrected: "Peter knelt before Aslan and said, “I have been leading them wrong, can you forgive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"peter knelt before aslan and said i have been leading them wrong can you forgive me" Corrected: "Peter knelt before Aslan and said, “I have been leading them wrong, can you forgive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revelry: wild celebration or merrymaking; the joyful chaos of the trees and creatures dancing in Chapter 11. | romp: to play or frolic energetically; what Bacchus and the wild girls do through the awakened forest. | sentinel: a guard or watchman standing watch; Trumpkin standing guard before Aslan wins him over. | parley: a discussion between opposing sides; the talk before any conflict or negotiation.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"On March 3 [comma] 1949 the children returned to Narnia." -&gt; [comma] | "Aslan was seen near Aslan’s How [comma] the Western Wild." -&gt; [comma] | "On June 15 [comma] 2026 we will finish reading Prince Caspian." -&gt; [comma] | "The old kings once ruled from Cair Paravel [comma] Narnia." -&gt; [comma] | "Trumpkin was born in Narnia [comma] the land beyond the wardrobe." -&gt; [comma]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"On March 3 [comma] 1949 the children returned to Narnia." -&gt; [comma] | "Aslan was seen near Aslan’s How [comma] the Western Wild." -&gt; [comma] | "On June 15 [comma] 2026 we will finish reading Prince Caspian." -&gt; [comma] | "The old kings once ruled from Cair Paravel [comma] Narnia." -&gt; [comma] | "Trumpkin was born in Narnia [comma] the land beyond the wardrobe." -&gt; [comma]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 form (shape): transform, uniform, reform | 💥 rupt (break): interrupt, erupt, rupture, disrupt | 🧭 duct (lead): conduct, introduce, 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 form (shape): transform, uniform, reform | 💥 rupt (break): interrupt, erupt, rupture, disrupt | 🧭 duct (lead): conduct, introduce, 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"“The trees were all around them; they were closing in, towering overhead.”"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Literary Analysis — Building the Claim
Focus: Add a second piece of evidence to support your claim about your character.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C9A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C9A0"/>
                </a:solidFill>
                <a:latin typeface="Calibri" pitchFamily="34" charset="0"/>
                <a:ea typeface="Calibri" pitchFamily="34" charset="-122"/>
                <a:cs typeface="Calibri" pitchFamily="34" charset="-120"/>
              </a:rPr>
              <a:t>WEEK 29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11</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The Lion Roars</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29  ·  Virtue: Loyalty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Susan’s apology is short and quiet. Why might a character’s moment of realizing they were wrong be better shown in just a few words, rather than a long speech?</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20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short, quiet line of dialogue (2 sentences or fewer) where a character admits they were wrong about something.</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Keep an emotional admission SHORT — trust that a few honest words can carry more weight than a long speech.</a:t>
            </a:r>
            <a:endParaRPr lang="en-US" sz="1300" dirty="0"/>
          </a:p>
        </p:txBody>
      </p:sp>
      <p:sp>
        <p:nvSpPr>
          <p:cNvPr id="8" name="Text 6"/>
          <p:cNvSpPr/>
          <p:nvPr/>
        </p:nvSpPr>
        <p:spPr>
          <a:xfrm>
            <a:off x="548640" y="2868168"/>
            <a:ext cx="8046720" cy="2161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Could you cut any words from your character’s admission and make it even more powerful?</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short admission of being wrong.</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Lucy followed Aslan alone through the dark woods at night, with Edmund following her.</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Watch as Susan and Edmund slowly begin to see what Lucy has seen all along.</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Watch how Susan and Edmund’s feelings about Aslan shift in this chapter. What do they see or hear? How do their words or actions show that something has changed inside them?</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notice when characters change. A character who doubted or disobeyed at the start of a chapter can feel completely different by the end &amp;mdash; if...</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810768"/>
          </a:xfrm>
          <a:prstGeom prst="roundRect">
            <a:avLst>
              <a:gd name="adj" fmla="val 11278"/>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Susan looked up at the great lion and whispered , “ I see him now . I’m sorry . ”</a:t>
            </a:r>
            <a:endParaRPr lang="en-US" sz="1600" dirty="0"/>
          </a:p>
        </p:txBody>
      </p:sp>
      <p:sp>
        <p:nvSpPr>
          <p:cNvPr id="7" name="Text 5"/>
          <p:cNvSpPr/>
          <p:nvPr/>
        </p:nvSpPr>
        <p:spPr>
          <a:xfrm>
            <a:off x="457200" y="2036064"/>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93264"/>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peter knelt before aslan and said i have been leading them wrong can you forgive me</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peter knelt before aslan and said i have been leading them wrong can you forgive me</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Peter knelt before Aslan and said, “I have been leading them wrong, can you forgive me?”.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1138428"/>
          </a:xfrm>
          <a:prstGeom prst="roundRect">
            <a:avLst>
              <a:gd name="adj" fmla="val 803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revelry</a:t>
            </a:r>
            <a:endParaRPr lang="en-US" sz="1400" dirty="0"/>
          </a:p>
        </p:txBody>
      </p:sp>
      <p:sp>
        <p:nvSpPr>
          <p:cNvPr id="7" name="Text 5"/>
          <p:cNvSpPr/>
          <p:nvPr/>
        </p:nvSpPr>
        <p:spPr>
          <a:xfrm>
            <a:off x="457200" y="1316736"/>
            <a:ext cx="3794760" cy="681228"/>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wild celebration or merrymaking; the joyful chaos of the trees and creatures dancing in Chapter 11.</a:t>
            </a:r>
            <a:endParaRPr lang="en-US" sz="1100" dirty="0"/>
          </a:p>
        </p:txBody>
      </p:sp>
      <p:sp>
        <p:nvSpPr>
          <p:cNvPr id="8" name="Shape 6"/>
          <p:cNvSpPr/>
          <p:nvPr/>
        </p:nvSpPr>
        <p:spPr>
          <a:xfrm>
            <a:off x="4572000" y="914400"/>
            <a:ext cx="4069080" cy="1138428"/>
          </a:xfrm>
          <a:prstGeom prst="roundRect">
            <a:avLst>
              <a:gd name="adj" fmla="val 8032"/>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romp</a:t>
            </a:r>
            <a:endParaRPr lang="en-US" sz="1400" dirty="0"/>
          </a:p>
        </p:txBody>
      </p:sp>
      <p:sp>
        <p:nvSpPr>
          <p:cNvPr id="10" name="Text 8"/>
          <p:cNvSpPr/>
          <p:nvPr/>
        </p:nvSpPr>
        <p:spPr>
          <a:xfrm>
            <a:off x="4709160" y="1316736"/>
            <a:ext cx="3794760" cy="681228"/>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play or frolic energetically; what Bacchus and the wild girls do through the awakened forest.</a:t>
            </a:r>
            <a:endParaRPr lang="en-US" sz="1100" dirty="0"/>
          </a:p>
        </p:txBody>
      </p:sp>
      <p:sp>
        <p:nvSpPr>
          <p:cNvPr id="11" name="Shape 9"/>
          <p:cNvSpPr/>
          <p:nvPr/>
        </p:nvSpPr>
        <p:spPr>
          <a:xfrm>
            <a:off x="320040" y="2162556"/>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253996"/>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sentinel</a:t>
            </a:r>
            <a:endParaRPr lang="en-US" sz="1400" dirty="0"/>
          </a:p>
        </p:txBody>
      </p:sp>
      <p:sp>
        <p:nvSpPr>
          <p:cNvPr id="13" name="Text 11"/>
          <p:cNvSpPr/>
          <p:nvPr/>
        </p:nvSpPr>
        <p:spPr>
          <a:xfrm>
            <a:off x="457200" y="2564892"/>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guard or watchman standing watch; Trumpkin standing guard before Aslan wins him over.</a:t>
            </a:r>
            <a:endParaRPr lang="en-US" sz="1100" dirty="0"/>
          </a:p>
        </p:txBody>
      </p:sp>
      <p:sp>
        <p:nvSpPr>
          <p:cNvPr id="14" name="Shape 12"/>
          <p:cNvSpPr/>
          <p:nvPr/>
        </p:nvSpPr>
        <p:spPr>
          <a:xfrm>
            <a:off x="4572000" y="2162556"/>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5" name="Text 13"/>
          <p:cNvSpPr/>
          <p:nvPr/>
        </p:nvSpPr>
        <p:spPr>
          <a:xfrm>
            <a:off x="4709160" y="2253996"/>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parley</a:t>
            </a:r>
            <a:endParaRPr lang="en-US" sz="1400" dirty="0"/>
          </a:p>
        </p:txBody>
      </p:sp>
      <p:sp>
        <p:nvSpPr>
          <p:cNvPr id="16" name="Text 14"/>
          <p:cNvSpPr/>
          <p:nvPr/>
        </p:nvSpPr>
        <p:spPr>
          <a:xfrm>
            <a:off x="4709160" y="2564892"/>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discussion between opposing sides; the talk before any conflict or negotiation.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Commas in Dates &amp; Places — Identify</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On March 3 [comma] 1949 the children returned to Narnia.</a:t>
            </a:r>
            <a:endParaRPr lang="en-US" sz="1500" dirty="0"/>
          </a:p>
        </p:txBody>
      </p:sp>
      <p:sp>
        <p:nvSpPr>
          <p:cNvPr id="9" name="Shape 7"/>
          <p:cNvSpPr/>
          <p:nvPr/>
        </p:nvSpPr>
        <p:spPr>
          <a:xfrm>
            <a:off x="365760" y="1792224"/>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1883664"/>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Aslan was seen near Aslan’s How [comma] the Western Wild.</a:t>
            </a:r>
            <a:endParaRPr lang="en-US" sz="1500" dirty="0"/>
          </a:p>
        </p:txBody>
      </p:sp>
      <p:sp>
        <p:nvSpPr>
          <p:cNvPr id="11" name="Shape 9"/>
          <p:cNvSpPr/>
          <p:nvPr/>
        </p:nvSpPr>
        <p:spPr>
          <a:xfrm>
            <a:off x="365760" y="2505456"/>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596896"/>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On June 15 [comma] 2026 we will finish reading Prince Caspian.</a:t>
            </a:r>
            <a:endParaRPr lang="en-US" sz="1500" dirty="0"/>
          </a:p>
        </p:txBody>
      </p:sp>
      <p:sp>
        <p:nvSpPr>
          <p:cNvPr id="13" name="Shape 11"/>
          <p:cNvSpPr/>
          <p:nvPr/>
        </p:nvSpPr>
        <p:spPr>
          <a:xfrm>
            <a:off x="365760" y="3218688"/>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10128"/>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old kings once ruled from Cair Paravel [comma] Narnia.</a:t>
            </a:r>
            <a:endParaRPr lang="en-US" sz="1500" dirty="0"/>
          </a:p>
        </p:txBody>
      </p:sp>
      <p:sp>
        <p:nvSpPr>
          <p:cNvPr id="15" name="Text 13"/>
          <p:cNvSpPr/>
          <p:nvPr/>
        </p:nvSpPr>
        <p:spPr>
          <a:xfrm>
            <a:off x="457200" y="3977640"/>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Commas in Dates &amp; Places — Identify</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On March 3 [comma] 1949 the children returned to Narnia.</a:t>
            </a:r>
            <a:endParaRPr lang="en-US" sz="1500" dirty="0"/>
          </a:p>
        </p:txBody>
      </p:sp>
      <p:sp>
        <p:nvSpPr>
          <p:cNvPr id="9" name="Shape 7"/>
          <p:cNvSpPr/>
          <p:nvPr/>
        </p:nvSpPr>
        <p:spPr>
          <a:xfrm>
            <a:off x="365760" y="1792224"/>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1883664"/>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Aslan was seen near Aslan’s How [comma] the Western Wild.</a:t>
            </a:r>
            <a:endParaRPr lang="en-US" sz="1500" dirty="0"/>
          </a:p>
        </p:txBody>
      </p:sp>
      <p:sp>
        <p:nvSpPr>
          <p:cNvPr id="11" name="Shape 9"/>
          <p:cNvSpPr/>
          <p:nvPr/>
        </p:nvSpPr>
        <p:spPr>
          <a:xfrm>
            <a:off x="365760" y="2505456"/>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596896"/>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On June 15 [comma] 2026 we will finish reading Prince Caspian.</a:t>
            </a:r>
            <a:endParaRPr lang="en-US" sz="1500" dirty="0"/>
          </a:p>
        </p:txBody>
      </p:sp>
      <p:sp>
        <p:nvSpPr>
          <p:cNvPr id="13" name="Shape 11"/>
          <p:cNvSpPr/>
          <p:nvPr/>
        </p:nvSpPr>
        <p:spPr>
          <a:xfrm>
            <a:off x="365760" y="3218688"/>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10128"/>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old kings once ruled from Cair Paravel [comma] Narnia.</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Root Sort — rupt, duct, form</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transform   -   uniform   -   reform   -   interrupt   -   erupt   -   rupture   -   disrupt   -   conduct   -   introduce   -   produce</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 form (shape)</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 rupt (break)</a:t>
            </a:r>
            <a:endParaRPr lang="en-US" sz="1300" dirty="0"/>
          </a:p>
        </p:txBody>
      </p:sp>
      <p:sp>
        <p:nvSpPr>
          <p:cNvPr id="15" name="Shape 13"/>
          <p:cNvSpPr/>
          <p:nvPr/>
        </p:nvSpPr>
        <p:spPr>
          <a:xfrm>
            <a:off x="365760" y="3364992"/>
            <a:ext cx="4114800" cy="1051560"/>
          </a:xfrm>
          <a:prstGeom prst="roundRect">
            <a:avLst>
              <a:gd name="adj" fmla="val 8696"/>
            </a:avLst>
          </a:prstGeom>
          <a:solidFill>
            <a:srgbClr val="FEF6E8"/>
          </a:solidFill>
          <a:ln w="19050">
            <a:solidFill>
              <a:srgbClr val="B8860B"/>
            </a:solidFill>
            <a:prstDash val="solid"/>
          </a:ln>
        </p:spPr>
      </p:sp>
      <p:sp>
        <p:nvSpPr>
          <p:cNvPr id="16" name="Text 14"/>
          <p:cNvSpPr/>
          <p:nvPr/>
        </p:nvSpPr>
        <p:spPr>
          <a:xfrm>
            <a:off x="502920" y="3474720"/>
            <a:ext cx="3840480" cy="411480"/>
          </a:xfrm>
          <a:prstGeom prst="rect">
            <a:avLst/>
          </a:prstGeom>
          <a:noFill/>
          <a:ln/>
        </p:spPr>
        <p:txBody>
          <a:bodyPr wrap="square" lIns="0" tIns="0" rIns="0" bIns="0"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 duct (lead)</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Root Sort — rupt, duct, form</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265176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237744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 form (shape)</a:t>
            </a:r>
            <a:endParaRPr lang="en-US" sz="1200" dirty="0"/>
          </a:p>
        </p:txBody>
      </p:sp>
      <p:sp>
        <p:nvSpPr>
          <p:cNvPr id="9" name="Text 7"/>
          <p:cNvSpPr/>
          <p:nvPr/>
        </p:nvSpPr>
        <p:spPr>
          <a:xfrm>
            <a:off x="594360" y="1463040"/>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transform</a:t>
            </a:r>
            <a:endParaRPr lang="en-US" sz="1400" dirty="0"/>
          </a:p>
        </p:txBody>
      </p:sp>
      <p:sp>
        <p:nvSpPr>
          <p:cNvPr id="10" name="Text 8"/>
          <p:cNvSpPr/>
          <p:nvPr/>
        </p:nvSpPr>
        <p:spPr>
          <a:xfrm>
            <a:off x="594360" y="1810512"/>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uniform</a:t>
            </a:r>
            <a:endParaRPr lang="en-US" sz="1400" dirty="0"/>
          </a:p>
        </p:txBody>
      </p:sp>
      <p:sp>
        <p:nvSpPr>
          <p:cNvPr id="11" name="Text 9"/>
          <p:cNvSpPr/>
          <p:nvPr/>
        </p:nvSpPr>
        <p:spPr>
          <a:xfrm>
            <a:off x="594360" y="2157984"/>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reform</a:t>
            </a:r>
            <a:endParaRPr lang="en-US" sz="1400" dirty="0"/>
          </a:p>
        </p:txBody>
      </p:sp>
      <p:sp>
        <p:nvSpPr>
          <p:cNvPr id="12" name="Shape 10"/>
          <p:cNvSpPr/>
          <p:nvPr/>
        </p:nvSpPr>
        <p:spPr>
          <a:xfrm>
            <a:off x="3218688" y="1024128"/>
            <a:ext cx="2651760" cy="1801368"/>
          </a:xfrm>
          <a:prstGeom prst="roundRect">
            <a:avLst>
              <a:gd name="adj" fmla="val 5076"/>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3355848" y="1097280"/>
            <a:ext cx="237744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 rupt (break)</a:t>
            </a:r>
            <a:endParaRPr lang="en-US" sz="1200" dirty="0"/>
          </a:p>
        </p:txBody>
      </p:sp>
      <p:sp>
        <p:nvSpPr>
          <p:cNvPr id="14" name="Text 12"/>
          <p:cNvSpPr/>
          <p:nvPr/>
        </p:nvSpPr>
        <p:spPr>
          <a:xfrm>
            <a:off x="3447288" y="1463040"/>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interrupt</a:t>
            </a:r>
            <a:endParaRPr lang="en-US" sz="1400" dirty="0"/>
          </a:p>
        </p:txBody>
      </p:sp>
      <p:sp>
        <p:nvSpPr>
          <p:cNvPr id="15" name="Text 13"/>
          <p:cNvSpPr/>
          <p:nvPr/>
        </p:nvSpPr>
        <p:spPr>
          <a:xfrm>
            <a:off x="3447288" y="1810512"/>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erupt</a:t>
            </a:r>
            <a:endParaRPr lang="en-US" sz="1400" dirty="0"/>
          </a:p>
        </p:txBody>
      </p:sp>
      <p:sp>
        <p:nvSpPr>
          <p:cNvPr id="16" name="Text 14"/>
          <p:cNvSpPr/>
          <p:nvPr/>
        </p:nvSpPr>
        <p:spPr>
          <a:xfrm>
            <a:off x="3447288" y="2157984"/>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rupture</a:t>
            </a:r>
            <a:endParaRPr lang="en-US" sz="1400" dirty="0"/>
          </a:p>
        </p:txBody>
      </p:sp>
      <p:sp>
        <p:nvSpPr>
          <p:cNvPr id="17" name="Text 15"/>
          <p:cNvSpPr/>
          <p:nvPr/>
        </p:nvSpPr>
        <p:spPr>
          <a:xfrm>
            <a:off x="3447288" y="2505456"/>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disrupt</a:t>
            </a:r>
            <a:endParaRPr lang="en-US" sz="1400" dirty="0"/>
          </a:p>
        </p:txBody>
      </p:sp>
      <p:sp>
        <p:nvSpPr>
          <p:cNvPr id="18" name="Shape 16"/>
          <p:cNvSpPr/>
          <p:nvPr/>
        </p:nvSpPr>
        <p:spPr>
          <a:xfrm>
            <a:off x="6071616" y="1024128"/>
            <a:ext cx="2651760" cy="1453896"/>
          </a:xfrm>
          <a:prstGeom prst="roundRect">
            <a:avLst>
              <a:gd name="adj" fmla="val 6289"/>
            </a:avLst>
          </a:prstGeom>
          <a:solidFill>
            <a:srgbClr val="FEF6E8"/>
          </a:solidFill>
          <a:ln w="19050">
            <a:solidFill>
              <a:srgbClr val="B8860B"/>
            </a:solidFill>
            <a:prstDash val="solid"/>
          </a:ln>
          <a:effectLst>
            <a:outerShdw sx="100000" sy="100000" kx="0" ky="0" algn="bl" rotWithShape="0" blurRad="101600" dist="38100" dir="2700000">
              <a:srgbClr val="000000">
                <a:alpha val="12000"/>
              </a:srgbClr>
            </a:outerShdw>
          </a:effectLst>
        </p:spPr>
      </p:sp>
      <p:sp>
        <p:nvSpPr>
          <p:cNvPr id="19" name="Text 17"/>
          <p:cNvSpPr/>
          <p:nvPr/>
        </p:nvSpPr>
        <p:spPr>
          <a:xfrm>
            <a:off x="6208776" y="1097280"/>
            <a:ext cx="2377440" cy="347472"/>
          </a:xfrm>
          <a:prstGeom prst="rect">
            <a:avLst/>
          </a:prstGeom>
          <a:noFill/>
          <a:ln/>
        </p:spPr>
        <p:txBody>
          <a:bodyPr wrap="square" lIns="0" tIns="0" rIns="0" bIns="0"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duct (lead)</a:t>
            </a:r>
            <a:endParaRPr lang="en-US" sz="1200" dirty="0"/>
          </a:p>
        </p:txBody>
      </p:sp>
      <p:sp>
        <p:nvSpPr>
          <p:cNvPr id="20" name="Text 18"/>
          <p:cNvSpPr/>
          <p:nvPr/>
        </p:nvSpPr>
        <p:spPr>
          <a:xfrm>
            <a:off x="6300216" y="1463040"/>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conduct</a:t>
            </a:r>
            <a:endParaRPr lang="en-US" sz="1400" dirty="0"/>
          </a:p>
        </p:txBody>
      </p:sp>
      <p:sp>
        <p:nvSpPr>
          <p:cNvPr id="21" name="Text 19"/>
          <p:cNvSpPr/>
          <p:nvPr/>
        </p:nvSpPr>
        <p:spPr>
          <a:xfrm>
            <a:off x="6300216" y="1810512"/>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introduce</a:t>
            </a:r>
            <a:endParaRPr lang="en-US" sz="1400" dirty="0"/>
          </a:p>
        </p:txBody>
      </p:sp>
      <p:sp>
        <p:nvSpPr>
          <p:cNvPr id="22" name="Text 20"/>
          <p:cNvSpPr/>
          <p:nvPr/>
        </p:nvSpPr>
        <p:spPr>
          <a:xfrm>
            <a:off x="6300216" y="2157984"/>
            <a:ext cx="22860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produce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11</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The Lion Roars</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The trees in this poem tremble and bow — they respond to something powerful that can’t be seen. In Chapter 11, the trees of Narnia wake up and dance when Aslan roars. How is Aslan’s power like the wind in this poem? What do both passages say about what it means to feel something greater than yourself?</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Susan says, “I see him now. I’m sorry.” She was one of the children who doubted Aslan earlier. What do you think changed? What does it mean to admit you were wrong about something you once refused to believe?</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Aslan roars, and the trees of Narnia wake up and begin to dance. Why would trees waking up feel important in this story? What does this moment tell you about what Aslan’s return means for all of Narnia, not just the children?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810768"/>
          </a:xfrm>
          <a:prstGeom prst="roundRect">
            <a:avLst>
              <a:gd name="adj" fmla="val 11278"/>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82168"/>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“The trees were all around them; they were closing in, towering overhead.”</a:t>
            </a:r>
            <a:endParaRPr lang="en-US" sz="1600" dirty="0"/>
          </a:p>
        </p:txBody>
      </p:sp>
      <p:sp>
        <p:nvSpPr>
          <p:cNvPr id="7" name="Text 5"/>
          <p:cNvSpPr/>
          <p:nvPr/>
        </p:nvSpPr>
        <p:spPr>
          <a:xfrm>
            <a:off x="365760" y="19812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237232"/>
            <a:ext cx="8412480" cy="932688"/>
          </a:xfrm>
          <a:prstGeom prst="roundRect">
            <a:avLst>
              <a:gd name="adj" fmla="val 9804"/>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301240"/>
            <a:ext cx="2651760" cy="804672"/>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301240"/>
            <a:ext cx="5303520" cy="804672"/>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is happening here? The trees of Narnia are waking up around the children. Why would Lewis describe this moment so simply — just two short clauses — instead of giving it a long, dramatic description?</a:t>
            </a:r>
            <a:endParaRPr lang="en-US" sz="1200" dirty="0"/>
          </a:p>
        </p:txBody>
      </p:sp>
      <p:sp>
        <p:nvSpPr>
          <p:cNvPr id="11" name="Shape 9"/>
          <p:cNvSpPr/>
          <p:nvPr/>
        </p:nvSpPr>
        <p:spPr>
          <a:xfrm>
            <a:off x="365760" y="3261360"/>
            <a:ext cx="8412480" cy="1335024"/>
          </a:xfrm>
          <a:prstGeom prst="roundRect">
            <a:avLst>
              <a:gd name="adj" fmla="val 6849"/>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325368"/>
            <a:ext cx="2651760" cy="1207008"/>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3325368"/>
            <a:ext cx="5303520" cy="1207008"/>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Notice the semicolon. Lewis joins two independent clauses with a semicolon instead of a period. Both clauses describe the same scene from slightly different angles: one about the trees surrounding them, one about the trees above them. How does linking them this way change the feeling of the sentence?</a:t>
            </a:r>
            <a:endParaRPr lang="en-US" sz="1200" dirty="0"/>
          </a:p>
        </p:txBody>
      </p:sp>
      <p:sp>
        <p:nvSpPr>
          <p:cNvPr id="14" name="Shape 12"/>
          <p:cNvSpPr/>
          <p:nvPr/>
        </p:nvSpPr>
        <p:spPr>
          <a:xfrm>
            <a:off x="365760" y="4687824"/>
            <a:ext cx="8412480" cy="731520"/>
          </a:xfrm>
          <a:prstGeom prst="roundRect">
            <a:avLst>
              <a:gd name="adj" fmla="val 12500"/>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4751832"/>
            <a:ext cx="2651760" cy="603504"/>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4751832"/>
            <a:ext cx="5303520" cy="603504"/>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sentence using a semicolon to join two related clauses. Describe a place, a moment, or a feeling using this pattern.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Literary Analysis — Building the Claim</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Add a second piece of evidence to support your claim about your character.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2026-07-11T22:29:48Z</dcterms:created>
  <dcterms:modified xsi:type="dcterms:W3CDTF">2026-07-11T22:29:48Z</dcterms:modified>
</cp:coreProperties>
</file>