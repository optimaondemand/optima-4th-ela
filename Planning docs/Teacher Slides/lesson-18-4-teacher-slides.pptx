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18,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Explain and justify a conclusion that connects the claim to a bigger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Explain and justify a conclusion that connects the claim to a bigger idea.. Level-up: ⭐ Restate the claim in new words  ⭐⭐ Explain why the bravery matters  ⭐⭐⭐ Connect it to real life today  ⭐⭐⭐⭐ End on a memorable final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Compare your conclusion to your claim from Day 1. Do they say related things in DIFFERENT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essay's conclusion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Peter said goodbye without making any promises he couldn't keep. Today: Wait alongside Annemarie to find out where Mama is.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"Annemarie didn’t know where Mama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"annemarie watched the path mama hadnt come back yet" Corrected: "Annemarie watched the path. Mama hadn’t come back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"annemarie watched the path mama hadnt come back yet" Corrected: "Annemarie watched the path. Mama hadn’t come back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cred — ible — able to be believed | cred — it — trust in someone’s ability to pay back | intend — — to stretch your mind toward; to plan | extend — — to stretch out; to reach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intend: To plan to do something on purpose. | credible: Believable; easy to trust. | discreet: Careful not to draw attention. | tense: Tight with worry; nervous.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"Mama hasn’t come back." -&gt; hasn’t | "Annemarie doesn’t know where Mama is." -&gt; doesn’t | "She’ll walk the path herself." -&gt;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"Mama hasn’t come back." -&gt; hasn’t | "Annemarie doesn’t know where Mama is." -&gt; doesn’t | "She’ll walk the path herself." -&gt;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prefix: candle, paddle, noble | Has a suffix: bottle, settle, rumble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prefix: candle, paddle, noble | Has a suffix: bottle, settle, rumble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Essay — Conclusion
Focus: Draft your conclusion, restating your claim in new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18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12</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Waiting for Mama</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18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didn’t know where Mama was.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is a strong way to end an opinion essay without just repeating your claim word-for-word?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Draft your essay's conclusion: restate your claim in new words and explain why this act of bravery matters, even beyond the story.</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Explain and justify a conclusion that connects the claim to a bigger idea.</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Restate the claim in new words  ⭐⭐ Explain why the bravery matters  ⭐⭐⭐ Connect it to real life today  ⭐⭐⭐⭐ End on a memorable final sentence</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Compare your conclusion to your claim from Day 1. Do they say related things in DIFFERENT words?</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essay's conclusion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Peter said goodbye without making any promises he couldn't keep.</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Wait alongside Annemarie to find out where Mama is.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didn’t know where Mama was.</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watched the path mama hadnt come back yet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watched the path mama hadnt come back yet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Annemarie watched the path. Mama hadn’t come back yet.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ceed + cede + cess</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English has THREE spellings of one root that means to go or to yield: ceed, cede, and cess. They all share a history. Knowing them helps you decode AND spell big new words.</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proceed = pro- + ceed (go forward)</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concede = con- + cede (yield together)</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access = ac- + cess (a way to go in)</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process = pro- + cess (a forward-going way of doing things)</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cred — ible — able to be believed</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cred — it — trust in someone’s ability to pay back</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intend — — to stretch your mind toward; to plan</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extend — — to stretch out; to reach further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Nazis intended to find Jewish families that night.”</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intend</a:t>
            </a:r>
            <a:endParaRPr lang="en-US" sz="1400" dirty="0"/>
          </a:p>
        </p:txBody>
      </p:sp>
      <p:sp>
        <p:nvSpPr>
          <p:cNvPr id="8" name="Text 6"/>
          <p:cNvSpPr/>
          <p:nvPr/>
        </p:nvSpPr>
        <p:spPr>
          <a:xfrm>
            <a:off x="45720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plan to do something on purpose.</a:t>
            </a:r>
            <a:endParaRPr lang="en-US" sz="1100" dirty="0"/>
          </a:p>
        </p:txBody>
      </p:sp>
      <p:sp>
        <p:nvSpPr>
          <p:cNvPr id="9" name="Shape 7"/>
          <p:cNvSpPr/>
          <p:nvPr/>
        </p:nvSpPr>
        <p:spPr>
          <a:xfrm>
            <a:off x="457200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“Papa’s photo-album story had to sound credible to the soldier.”</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credible</a:t>
            </a:r>
            <a:endParaRPr lang="en-US" sz="1400" dirty="0"/>
          </a:p>
        </p:txBody>
      </p:sp>
      <p:sp>
        <p:nvSpPr>
          <p:cNvPr id="12" name="Text 10"/>
          <p:cNvSpPr/>
          <p:nvPr/>
        </p:nvSpPr>
        <p:spPr>
          <a:xfrm>
            <a:off x="470916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Believable; easy to trust.</a:t>
            </a:r>
            <a:endParaRPr lang="en-US" sz="1100" dirty="0"/>
          </a:p>
        </p:txBody>
      </p:sp>
      <p:sp>
        <p:nvSpPr>
          <p:cNvPr id="13" name="Shape 11"/>
          <p:cNvSpPr/>
          <p:nvPr/>
        </p:nvSpPr>
        <p:spPr>
          <a:xfrm>
            <a:off x="32004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“Mama’s discreet phone call to Uncle Henrik used code instead of plain talk.”</a:t>
            </a:r>
            <a:endParaRPr lang="en-US" sz="1050" dirty="0"/>
          </a:p>
        </p:txBody>
      </p:sp>
      <p:sp>
        <p:nvSpPr>
          <p:cNvPr id="15" name="Text 13"/>
          <p:cNvSpPr/>
          <p:nvPr/>
        </p:nvSpPr>
        <p:spPr>
          <a:xfrm>
            <a:off x="45720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discreet</a:t>
            </a:r>
            <a:endParaRPr lang="en-US" sz="1400" dirty="0"/>
          </a:p>
        </p:txBody>
      </p:sp>
      <p:sp>
        <p:nvSpPr>
          <p:cNvPr id="16" name="Text 14"/>
          <p:cNvSpPr/>
          <p:nvPr/>
        </p:nvSpPr>
        <p:spPr>
          <a:xfrm>
            <a:off x="45720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Careful not to draw attention.</a:t>
            </a:r>
            <a:endParaRPr lang="en-US" sz="1100" dirty="0"/>
          </a:p>
        </p:txBody>
      </p:sp>
      <p:sp>
        <p:nvSpPr>
          <p:cNvPr id="17" name="Shape 15"/>
          <p:cNvSpPr/>
          <p:nvPr/>
        </p:nvSpPr>
        <p:spPr>
          <a:xfrm>
            <a:off x="457200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“Mama and Papa stood beside each other, their faces tense.”</a:t>
            </a:r>
            <a:endParaRPr lang="en-US" sz="1050" dirty="0"/>
          </a:p>
        </p:txBody>
      </p:sp>
      <p:sp>
        <p:nvSpPr>
          <p:cNvPr id="19" name="Text 17"/>
          <p:cNvSpPr/>
          <p:nvPr/>
        </p:nvSpPr>
        <p:spPr>
          <a:xfrm>
            <a:off x="470916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tense</a:t>
            </a:r>
            <a:endParaRPr lang="en-US" sz="1400" dirty="0"/>
          </a:p>
        </p:txBody>
      </p:sp>
      <p:sp>
        <p:nvSpPr>
          <p:cNvPr id="20" name="Text 18"/>
          <p:cNvSpPr/>
          <p:nvPr/>
        </p:nvSpPr>
        <p:spPr>
          <a:xfrm>
            <a:off x="470916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Tight with worry; nervous.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Contractions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Mama hasn’t come back.</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doesn’t know where Mama is.</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She’ll walk the path herself.</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Contractions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Mama </a:t>
            </a:r>
            <a:pPr indent="0" marL="0">
              <a:buNone/>
            </a:pPr>
            <a:r>
              <a:rPr lang="en-US" sz="1500" b="1" u="sng" dirty="0">
                <a:solidFill>
                  <a:srgbClr val="34B76F"/>
                </a:solidFill>
                <a:latin typeface="Calibri" pitchFamily="34" charset="0"/>
                <a:ea typeface="Calibri" pitchFamily="34" charset="-122"/>
                <a:cs typeface="Calibri" pitchFamily="34" charset="-120"/>
              </a:rPr>
              <a:t>hasn’t</a:t>
            </a:r>
            <a:pPr indent="0" marL="0">
              <a:buNone/>
            </a:pPr>
            <a:r>
              <a:rPr lang="en-US" sz="1500" dirty="0">
                <a:solidFill>
                  <a:srgbClr val="1E293B"/>
                </a:solidFill>
                <a:latin typeface="Calibri" pitchFamily="34" charset="0"/>
                <a:ea typeface="Calibri" pitchFamily="34" charset="-122"/>
                <a:cs typeface="Calibri" pitchFamily="34" charset="-120"/>
              </a:rPr>
              <a:t> come back.</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a:t>
            </a:r>
            <a:pPr indent="0" marL="0">
              <a:buNone/>
            </a:pPr>
            <a:r>
              <a:rPr lang="en-US" sz="1500" b="1" u="sng" dirty="0">
                <a:solidFill>
                  <a:srgbClr val="34B76F"/>
                </a:solidFill>
                <a:latin typeface="Calibri" pitchFamily="34" charset="0"/>
                <a:ea typeface="Calibri" pitchFamily="34" charset="-122"/>
                <a:cs typeface="Calibri" pitchFamily="34" charset="-120"/>
              </a:rPr>
              <a:t>doesn’t</a:t>
            </a:r>
            <a:pPr indent="0" marL="0">
              <a:buNone/>
            </a:pPr>
            <a:r>
              <a:rPr lang="en-US" sz="1500" dirty="0">
                <a:solidFill>
                  <a:srgbClr val="1E293B"/>
                </a:solidFill>
                <a:latin typeface="Calibri" pitchFamily="34" charset="0"/>
                <a:ea typeface="Calibri" pitchFamily="34" charset="-122"/>
                <a:cs typeface="Calibri" pitchFamily="34" charset="-120"/>
              </a:rPr>
              <a:t> know where Mama is.</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She’ll</a:t>
            </a:r>
            <a:pPr indent="0" marL="0">
              <a:buNone/>
            </a:pPr>
            <a:r>
              <a:rPr lang="en-US" sz="1500" dirty="0">
                <a:solidFill>
                  <a:srgbClr val="1E293B"/>
                </a:solidFill>
                <a:latin typeface="Calibri" pitchFamily="34" charset="0"/>
                <a:ea typeface="Calibri" pitchFamily="34" charset="-122"/>
                <a:cs typeface="Calibri" pitchFamily="34" charset="-120"/>
              </a:rPr>
              <a:t> walk the path herself.</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Consonant-le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candle   -   paddle   -   noble   -   bottle   -   settle   -   rumble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Has a prefix</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Has a suffix</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Consonant-le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Has a prefix</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candle</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paddle</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noble</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Has a suffix</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bottle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settle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rumble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12</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Waiting for Mama</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Group A: say un + safe. What does the prefix un- do to the word?</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Group B: say care + ful. What does the suffix -ful do?</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help to know prefixes and suffixes when you read a novel? (Hint: you don’t need to look up every word.)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Essay — Conclusion</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Draft your conclusion, restating your claim in new words.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