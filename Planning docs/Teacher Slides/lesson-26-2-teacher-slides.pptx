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26, Day 2. Novel emoji: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toward naming the craft move: Use a dash to add a specific, explanatory detail onto the end of a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20-minute timer. Craft move: Use a dash to add a specific, explanatory detail onto the end of a sentence.. Level-up: 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2-minute timer. Today's revision focus: Read your sentence with and without the dash detail. Does the detail add something worth keeping?.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3-5 students. Keep sharing craft-focused: "Share your sentence with the dash-added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1-minute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Yesterday, the Pevensie children found themselves pulled back into Narnia — a place both familiar and strange. Today: Discover the treasure house and the gifts Peter and Susan left behind long ago. Big Q: What new details do I learn about this place? How is the setting changing — or how is the children’s understanding of it changing?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DOL model: "Peter took down his gift — the shield with the great red lion on it , and the royal sword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"peter took down his gift the shield with the great red lion on it and the royal sword" Corrected: "Peter took down his gift — the shield with the great red lion on it, and the royal sword."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"peter took down his gift the shield with the great red lion on it and the royal sword" Corrected: "Peter took down his gift — the shield with the great red lion on it, and the royal sword."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 thicket: a dense group of trees or bushes. | brambles: prickly shrubs; thorny underbrush. | junction: a place where two paths or roads meet. | inhabited: lived in; occupied by people or creatures.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"Peter picked up his shield and his sword." -&gt; and | "They could stay on the island or explore further." -&gt; or | "The well was dry and choked with weeds." -&gt; and | "Lucy couldn’t tell if it was morning or afternoon." -&gt; or | "Edmund reached into the rubble and pulled out a chess piece." -&gt; 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"Peter picked up his shield and his sword." -&gt; and | "They could stay on the island or explore further." -&gt; or | "The well was dry and choked with weeds." -&gt; and | "Lucy couldn’t tell if it was morning or afternoon." -&gt; or | "Edmund reached into the rubble and pulled out a chess piece." -&gt; 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2 Syllables: junction, brambles, thicket | 3 or More Syllables: inhabited, discover, remember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2 Syllables: junction, brambles, thicket | 3 or More Syllables: inhabited, discover, remember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Chapter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RWM: "“It twanged: a chirruping twang that vibrated through the whole room. And that one small noise brought back the old days to the children’s minds more than anything that had happened yet.”"
Craft: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Literary Analysis — Noticing Evidence
Focus: Note one detail today that shows something about your chosen character.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3A2E"/>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5CC9A0">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5CC9A0"/>
                </a:solidFill>
                <a:latin typeface="Calibri" pitchFamily="34" charset="0"/>
                <a:ea typeface="Calibri" pitchFamily="34" charset="-122"/>
                <a:cs typeface="Calibri" pitchFamily="34" charset="-120"/>
              </a:rPr>
              <a:t>WEEK 26  ·  DAY 2</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Chapter 2</a:t>
            </a:r>
            <a:endParaRPr lang="en-US" sz="3200" dirty="0"/>
          </a:p>
          <a:p>
            <a:pPr algn="l" indent="0" marL="0">
              <a:buNone/>
            </a:pPr>
            <a:r>
              <a:rPr lang="en-US" sz="3200" b="1" dirty="0">
                <a:solidFill>
                  <a:srgbClr val="FFFFFF"/>
                </a:solidFill>
                <a:latin typeface="Calibri" pitchFamily="34" charset="0"/>
                <a:ea typeface="Calibri" pitchFamily="34" charset="-122"/>
                <a:cs typeface="Calibri" pitchFamily="34" charset="-120"/>
              </a:rPr>
              <a:t>The Old Treasure House</a:t>
            </a:r>
            <a:endParaRPr lang="en-US" sz="32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26  ·  Virtue: Loyalty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Discuss</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Shape 2"/>
          <p:cNvSpPr/>
          <p:nvPr/>
        </p:nvSpPr>
        <p:spPr>
          <a:xfrm>
            <a:off x="6492240" y="173736"/>
            <a:ext cx="2286000" cy="502920"/>
          </a:xfrm>
          <a:prstGeom prst="roundRect">
            <a:avLst>
              <a:gd name="adj" fmla="val 21818"/>
            </a:avLst>
          </a:prstGeom>
          <a:solidFill>
            <a:srgbClr val="5CC9A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5CC9A0"/>
                </a:solidFill>
                <a:latin typeface="Calibri" pitchFamily="34" charset="0"/>
                <a:ea typeface="Calibri" pitchFamily="34" charset="-122"/>
                <a:cs typeface="Calibri" pitchFamily="34" charset="-120"/>
              </a:rPr>
              <a:t>TALK IT OVER - 2 MINUTES</a:t>
            </a:r>
            <a:endParaRPr lang="en-US" sz="1100" dirty="0"/>
          </a:p>
        </p:txBody>
      </p:sp>
      <p:sp>
        <p:nvSpPr>
          <p:cNvPr id="7" name="Shape 5"/>
          <p:cNvSpPr/>
          <p:nvPr/>
        </p:nvSpPr>
        <p:spPr>
          <a:xfrm>
            <a:off x="365760" y="1097280"/>
            <a:ext cx="8412480" cy="1097280"/>
          </a:xfrm>
          <a:prstGeom prst="roundRect">
            <a:avLst>
              <a:gd name="adj" fmla="val 8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88720"/>
            <a:ext cx="7863840" cy="914400"/>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The dash here adds extra explanation to "his gift." Why might a writer use a dash instead of just starting a new sentence?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182880"/>
            <a:ext cx="82296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Write</a:t>
            </a:r>
            <a:endParaRPr lang="en-US" sz="3200" dirty="0"/>
          </a:p>
        </p:txBody>
      </p:sp>
      <p:sp>
        <p:nvSpPr>
          <p:cNvPr id="3" name="Text 1"/>
          <p:cNvSpPr/>
          <p:nvPr/>
        </p:nvSpPr>
        <p:spPr>
          <a:xfrm>
            <a:off x="914400" y="749808"/>
            <a:ext cx="7315200" cy="347472"/>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20 minutes - keep your pencil moving!</a:t>
            </a:r>
            <a:endParaRPr lang="en-US" sz="1500" dirty="0"/>
          </a:p>
        </p:txBody>
      </p:sp>
      <p:sp>
        <p:nvSpPr>
          <p:cNvPr id="4" name="Shape 2"/>
          <p:cNvSpPr/>
          <p:nvPr/>
        </p:nvSpPr>
        <p:spPr>
          <a:xfrm>
            <a:off x="457200" y="1170432"/>
            <a:ext cx="8229600" cy="822960"/>
          </a:xfrm>
          <a:prstGeom prst="roundRect">
            <a:avLst>
              <a:gd name="adj" fmla="val 11111"/>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225296"/>
            <a:ext cx="7863840" cy="73152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Prompt: </a:t>
            </a:r>
            <a:pPr indent="0" marL="0">
              <a:buNone/>
            </a:pPr>
            <a:r>
              <a:rPr lang="en-US" sz="1200" i="1" dirty="0">
                <a:solidFill>
                  <a:srgbClr val="1E293B"/>
                </a:solidFill>
                <a:latin typeface="Calibri" pitchFamily="34" charset="0"/>
                <a:ea typeface="Calibri" pitchFamily="34" charset="-122"/>
                <a:cs typeface="Calibri" pitchFamily="34" charset="-120"/>
              </a:rPr>
              <a:t>Write a sentence naming an object, then use a dash to add a specific detail that explains or describes it further.</a:t>
            </a:r>
            <a:endParaRPr lang="en-US" sz="1200" dirty="0"/>
          </a:p>
        </p:txBody>
      </p:sp>
      <p:sp>
        <p:nvSpPr>
          <p:cNvPr id="6" name="Shape 4"/>
          <p:cNvSpPr/>
          <p:nvPr/>
        </p:nvSpPr>
        <p:spPr>
          <a:xfrm>
            <a:off x="457200" y="2121408"/>
            <a:ext cx="8229600" cy="655320"/>
          </a:xfrm>
          <a:prstGeom prst="roundRect">
            <a:avLst>
              <a:gd name="adj" fmla="val 13953"/>
            </a:avLst>
          </a:prstGeom>
          <a:solidFill>
            <a:srgbClr val="FFFFFF"/>
          </a:solidFill>
          <a:ln w="15875">
            <a:solidFill>
              <a:srgbClr val="8B6FC0"/>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640080" y="2176272"/>
            <a:ext cx="7863840" cy="545592"/>
          </a:xfrm>
          <a:prstGeom prst="rect">
            <a:avLst/>
          </a:prstGeom>
          <a:noFill/>
          <a:ln/>
        </p:spPr>
        <p:txBody>
          <a:bodyPr wrap="square" lIns="0" tIns="0" rIns="0" bIns="0" rtlCol="0" anchor="t"/>
          <a:lstStyle/>
          <a:p>
            <a:pPr indent="0" marL="0">
              <a:buNone/>
            </a:pPr>
            <a:r>
              <a:rPr lang="en-US" sz="1300" b="1" dirty="0">
                <a:solidFill>
                  <a:srgbClr val="8B6FC0"/>
                </a:solidFill>
                <a:latin typeface="Calibri" pitchFamily="34" charset="0"/>
                <a:ea typeface="Calibri" pitchFamily="34" charset="-122"/>
                <a:cs typeface="Calibri" pitchFamily="34" charset="-120"/>
              </a:rPr>
              <a:t>Today's craft move: </a:t>
            </a:r>
            <a:pPr indent="0" marL="0">
              <a:buNone/>
            </a:pPr>
            <a:r>
              <a:rPr lang="en-US" sz="1300" dirty="0">
                <a:solidFill>
                  <a:srgbClr val="1E293B"/>
                </a:solidFill>
                <a:latin typeface="Calibri" pitchFamily="34" charset="0"/>
                <a:ea typeface="Calibri" pitchFamily="34" charset="-122"/>
                <a:cs typeface="Calibri" pitchFamily="34" charset="-120"/>
              </a:rPr>
              <a:t>Use a dash to add a specific, explanatory detail onto the end of a sentence.</a:t>
            </a:r>
            <a:endParaRPr lang="en-US" sz="1300" dirty="0"/>
          </a:p>
        </p:txBody>
      </p:sp>
      <p:sp>
        <p:nvSpPr>
          <p:cNvPr id="8" name="Text 6"/>
          <p:cNvSpPr/>
          <p:nvPr/>
        </p:nvSpPr>
        <p:spPr>
          <a:xfrm>
            <a:off x="548640" y="2868168"/>
            <a:ext cx="8046720" cy="2161032"/>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Keep writing the whole time. If you get stuck, reread the prompt or write "I am thinking..." until a new idea comes.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914400" y="64008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Revise</a:t>
            </a:r>
            <a:endParaRPr lang="en-US" sz="3200" dirty="0"/>
          </a:p>
        </p:txBody>
      </p:sp>
      <p:sp>
        <p:nvSpPr>
          <p:cNvPr id="3" name="Text 1"/>
          <p:cNvSpPr/>
          <p:nvPr/>
        </p:nvSpPr>
        <p:spPr>
          <a:xfrm>
            <a:off x="914400" y="1234440"/>
            <a:ext cx="7315200" cy="411480"/>
          </a:xfrm>
          <a:prstGeom prst="rect">
            <a:avLst/>
          </a:prstGeom>
          <a:noFill/>
          <a:ln/>
        </p:spPr>
        <p:txBody>
          <a:bodyPr wrap="square" lIns="0" tIns="0" rIns="0" bIns="0" rtlCol="0" anchor="ctr"/>
          <a:lstStyle/>
          <a:p>
            <a:pPr algn="ctr" indent="0" marL="0">
              <a:buNone/>
            </a:pPr>
            <a:r>
              <a:rPr lang="en-US" sz="1500" dirty="0">
                <a:solidFill>
                  <a:srgbClr val="34B76F"/>
                </a:solidFill>
                <a:latin typeface="Calibri" pitchFamily="34" charset="0"/>
                <a:ea typeface="Calibri" pitchFamily="34" charset="-122"/>
                <a:cs typeface="Calibri" pitchFamily="34" charset="-120"/>
              </a:rPr>
              <a:t>2 minutes - improve ONE specific thing</a:t>
            </a:r>
            <a:endParaRPr lang="en-US" sz="1500" dirty="0"/>
          </a:p>
        </p:txBody>
      </p:sp>
      <p:sp>
        <p:nvSpPr>
          <p:cNvPr id="4" name="Shape 2"/>
          <p:cNvSpPr/>
          <p:nvPr/>
        </p:nvSpPr>
        <p:spPr>
          <a:xfrm>
            <a:off x="1097280" y="1828800"/>
            <a:ext cx="694944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280160" y="1901952"/>
            <a:ext cx="6583680" cy="640080"/>
          </a:xfrm>
          <a:prstGeom prst="rect">
            <a:avLst/>
          </a:prstGeom>
          <a:noFill/>
          <a:ln/>
        </p:spPr>
        <p:txBody>
          <a:bodyPr wrap="square" lIns="0" tIns="0" rIns="0" bIns="0" rtlCol="0" anchor="ctr"/>
          <a:lstStyle/>
          <a:p>
            <a:pPr indent="0" marL="0">
              <a:buNone/>
            </a:pPr>
            <a:r>
              <a:rPr lang="en-US" sz="1400" b="1" dirty="0">
                <a:solidFill>
                  <a:srgbClr val="34B76F"/>
                </a:solidFill>
                <a:latin typeface="Calibri" pitchFamily="34" charset="0"/>
                <a:ea typeface="Calibri" pitchFamily="34" charset="-122"/>
                <a:cs typeface="Calibri" pitchFamily="34" charset="-120"/>
              </a:rPr>
              <a:t>Today's revision task: </a:t>
            </a:r>
            <a:pPr indent="0" marL="0">
              <a:buNone/>
            </a:pPr>
            <a:r>
              <a:rPr lang="en-US" sz="1400" dirty="0">
                <a:solidFill>
                  <a:srgbClr val="1E293B"/>
                </a:solidFill>
                <a:latin typeface="Calibri" pitchFamily="34" charset="0"/>
                <a:ea typeface="Calibri" pitchFamily="34" charset="-122"/>
                <a:cs typeface="Calibri" pitchFamily="34" charset="-120"/>
              </a:rPr>
              <a:t>Read your sentence with and without the dash detail. Does the detail add something worth keeping?</a:t>
            </a:r>
            <a:endParaRPr lang="en-US" sz="1400" dirty="0"/>
          </a:p>
        </p:txBody>
      </p:sp>
      <p:sp>
        <p:nvSpPr>
          <p:cNvPr id="6" name="Shape 4"/>
          <p:cNvSpPr/>
          <p:nvPr/>
        </p:nvSpPr>
        <p:spPr>
          <a:xfrm>
            <a:off x="1097280" y="2788920"/>
            <a:ext cx="6949440" cy="1554480"/>
          </a:xfrm>
          <a:prstGeom prst="roundRect">
            <a:avLst>
              <a:gd name="adj" fmla="val 5882"/>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280160" y="2880360"/>
            <a:ext cx="6583680" cy="1463040"/>
          </a:xfrm>
          <a:prstGeom prst="rect">
            <a:avLst/>
          </a:prstGeom>
          <a:noFill/>
          <a:ln/>
        </p:spPr>
        <p:txBody>
          <a:bodyPr wrap="square" lIns="0" tIns="0" rIns="0" bIns="0" rtlCol="0" anchor="t"/>
          <a:lstStyle/>
          <a:p>
            <a:pPr indent="0" marL="0">
              <a:spcAft>
                <a:spcPts val="200"/>
              </a:spcAft>
              <a:buNone/>
            </a:pPr>
            <a:r>
              <a:rPr lang="en-US" sz="1250" b="1" dirty="0">
                <a:solidFill>
                  <a:srgbClr val="0E1C42"/>
                </a:solidFill>
                <a:latin typeface="Calibri" pitchFamily="34" charset="0"/>
                <a:ea typeface="Calibri" pitchFamily="34" charset="-122"/>
                <a:cs typeface="Calibri" pitchFamily="34" charset="-120"/>
              </a:rPr>
              <a:t>Remember - revision is about ideas, not spelling: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Circle your strongest sentence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Replace one weak verb with a precise one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Add one detail, or cut one you do not need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Improve your opening line</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914400" y="73152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Share</a:t>
            </a:r>
            <a:endParaRPr lang="en-US" sz="3200" dirty="0"/>
          </a:p>
        </p:txBody>
      </p:sp>
      <p:sp>
        <p:nvSpPr>
          <p:cNvPr id="3" name="Text 1"/>
          <p:cNvSpPr/>
          <p:nvPr/>
        </p:nvSpPr>
        <p:spPr>
          <a:xfrm>
            <a:off x="914400" y="13258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2-3 minutes - celebrate a craft move</a:t>
            </a:r>
            <a:endParaRPr lang="en-US" sz="1500" dirty="0"/>
          </a:p>
        </p:txBody>
      </p:sp>
      <p:sp>
        <p:nvSpPr>
          <p:cNvPr id="4" name="Shape 2"/>
          <p:cNvSpPr/>
          <p:nvPr/>
        </p:nvSpPr>
        <p:spPr>
          <a:xfrm>
            <a:off x="1371600" y="1965960"/>
            <a:ext cx="6400800" cy="914400"/>
          </a:xfrm>
          <a:prstGeom prst="roundRect">
            <a:avLst>
              <a:gd name="adj" fmla="val 12000"/>
            </a:avLst>
          </a:prstGeom>
          <a:solidFill>
            <a:srgbClr val="FFFFFF"/>
          </a:solidFill>
          <a:ln w="15875">
            <a:solidFill>
              <a:srgbClr val="55C8E8"/>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554480" y="2029968"/>
            <a:ext cx="6035040" cy="786384"/>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Share your sentence with the dash-added detail.</a:t>
            </a:r>
            <a:endParaRPr lang="en-US" sz="1400" dirty="0"/>
          </a:p>
        </p:txBody>
      </p:sp>
      <p:sp>
        <p:nvSpPr>
          <p:cNvPr id="6" name="Shape 4"/>
          <p:cNvSpPr/>
          <p:nvPr/>
        </p:nvSpPr>
        <p:spPr>
          <a:xfrm>
            <a:off x="1371600" y="3017520"/>
            <a:ext cx="6400800" cy="914400"/>
          </a:xfrm>
          <a:prstGeom prst="roundRect">
            <a:avLst>
              <a:gd name="adj" fmla="val 12000"/>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554480" y="3090672"/>
            <a:ext cx="6035040" cy="777240"/>
          </a:xfrm>
          <a:prstGeom prst="rect">
            <a:avLst/>
          </a:prstGeom>
          <a:noFill/>
          <a:ln/>
        </p:spPr>
        <p:txBody>
          <a:bodyPr wrap="square" lIns="0" tIns="0" rIns="0" bIns="0" rtlCol="0" anchor="t"/>
          <a:lstStyle/>
          <a:p>
            <a:pPr indent="0" marL="0">
              <a:spcAft>
                <a:spcPts val="200"/>
              </a:spcAft>
              <a:buNone/>
            </a:pPr>
            <a:r>
              <a:rPr lang="en-US" sz="1250" dirty="0">
                <a:solidFill>
                  <a:srgbClr val="1E293B"/>
                </a:solidFill>
                <a:latin typeface="Calibri" pitchFamily="34" charset="0"/>
                <a:ea typeface="Calibri" pitchFamily="34" charset="-122"/>
                <a:cs typeface="Calibri" pitchFamily="34" charset="-120"/>
              </a:rPr>
              <a:t>Raise your hand, or paste it in the chat.
</a:t>
            </a:r>
            <a:pPr indent="0" marL="0">
              <a:spcAft>
                <a:spcPts val="200"/>
              </a:spcAft>
              <a:buNone/>
            </a:pPr>
            <a:r>
              <a:rPr lang="en-US" sz="1150" i="1" dirty="0">
                <a:solidFill>
                  <a:srgbClr val="64748B"/>
                </a:solidFill>
                <a:latin typeface="Calibri" pitchFamily="34" charset="0"/>
                <a:ea typeface="Calibri" pitchFamily="34" charset="-122"/>
                <a:cs typeface="Calibri" pitchFamily="34" charset="-120"/>
              </a:rPr>
              <a:t>Every writer's craft move counts - there are no wrong answers.</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Reflect</a:t>
            </a:r>
            <a:endParaRPr lang="en-US" sz="28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457200" y="1005840"/>
            <a:ext cx="8229600" cy="1280160"/>
          </a:xfrm>
          <a:prstGeom prst="roundRect">
            <a:avLst>
              <a:gd name="adj" fmla="val 7143"/>
            </a:avLst>
          </a:prstGeom>
          <a:solidFill>
            <a:srgbClr val="E8F8EF"/>
          </a:solidFill>
          <a:ln/>
          <a:effectLst>
            <a:outerShdw sx="100000" sy="100000" kx="0" ky="0" algn="bl" rotWithShape="0" blurRad="101600" dist="38100" dir="2700000">
              <a:srgbClr val="000000">
                <a:alpha val="12000"/>
              </a:srgbClr>
            </a:outerShdw>
          </a:effectLst>
        </p:spPr>
      </p:sp>
      <p:sp>
        <p:nvSpPr>
          <p:cNvPr id="5" name="Text 3"/>
          <p:cNvSpPr/>
          <p:nvPr/>
        </p:nvSpPr>
        <p:spPr>
          <a:xfrm>
            <a:off x="685800" y="1143000"/>
            <a:ext cx="7772400" cy="1005840"/>
          </a:xfrm>
          <a:prstGeom prst="rect">
            <a:avLst/>
          </a:prstGeom>
          <a:noFill/>
          <a:ln/>
        </p:spPr>
        <p:txBody>
          <a:bodyPr wrap="square" lIns="0" tIns="0" rIns="0" bIns="0" rtlCol="0" anchor="ctr"/>
          <a:lstStyle/>
          <a:p>
            <a:pPr indent="0" marL="0">
              <a:buNone/>
            </a:pPr>
            <a:r>
              <a:rPr lang="en-US" sz="1900" b="1" dirty="0">
                <a:solidFill>
                  <a:srgbClr val="0E1C42"/>
                </a:solidFill>
                <a:latin typeface="Calibri" pitchFamily="34" charset="0"/>
                <a:ea typeface="Calibri" pitchFamily="34" charset="-122"/>
                <a:cs typeface="Calibri" pitchFamily="34" charset="-120"/>
              </a:rPr>
              <a:t>What did you do today that made your writing stronger?</a:t>
            </a:r>
            <a:endParaRPr lang="en-US" sz="1900" dirty="0"/>
          </a:p>
        </p:txBody>
      </p:sp>
      <p:sp>
        <p:nvSpPr>
          <p:cNvPr id="6" name="Text 4"/>
          <p:cNvSpPr/>
          <p:nvPr/>
        </p:nvSpPr>
        <p:spPr>
          <a:xfrm>
            <a:off x="548640" y="2468880"/>
            <a:ext cx="8046720" cy="45720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Turn and tell a partner, or jot one sentence in your writing notebook.</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Recap + Today's Focus</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Shape 2"/>
          <p:cNvSpPr/>
          <p:nvPr/>
        </p:nvSpPr>
        <p:spPr>
          <a:xfrm>
            <a:off x="6492240" y="173736"/>
            <a:ext cx="2286000" cy="502920"/>
          </a:xfrm>
          <a:prstGeom prst="roundRect">
            <a:avLst>
              <a:gd name="adj" fmla="val 21818"/>
            </a:avLst>
          </a:prstGeom>
          <a:solidFill>
            <a:srgbClr val="5CC9A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YESTERDAY</a:t>
            </a:r>
            <a:endParaRPr lang="en-US" sz="1100" dirty="0"/>
          </a:p>
        </p:txBody>
      </p:sp>
      <p:sp>
        <p:nvSpPr>
          <p:cNvPr id="7" name="Shape 5"/>
          <p:cNvSpPr/>
          <p:nvPr/>
        </p:nvSpPr>
        <p:spPr>
          <a:xfrm>
            <a:off x="365760" y="1078992"/>
            <a:ext cx="8412480" cy="749808"/>
          </a:xfrm>
          <a:prstGeom prst="roundRect">
            <a:avLst>
              <a:gd name="adj" fmla="val 1219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Yesterday, the Pevensie children found themselves pulled back into Narnia — a place both familiar and strange.</a:t>
            </a:r>
            <a:endParaRPr lang="en-US" sz="1400" dirty="0"/>
          </a:p>
        </p:txBody>
      </p:sp>
      <p:sp>
        <p:nvSpPr>
          <p:cNvPr id="9" name="Text 7"/>
          <p:cNvSpPr/>
          <p:nvPr/>
        </p:nvSpPr>
        <p:spPr>
          <a:xfrm>
            <a:off x="365760" y="1938528"/>
            <a:ext cx="8046720" cy="292608"/>
          </a:xfrm>
          <a:prstGeom prst="rect">
            <a:avLst/>
          </a:prstGeom>
          <a:noFill/>
          <a:ln/>
        </p:spPr>
        <p:txBody>
          <a:bodyPr wrap="square" lIns="0" tIns="0" rIns="0" bIns="0" rtlCol="0" anchor="ctr"/>
          <a:lstStyle/>
          <a:p>
            <a:pPr indent="0" marL="0">
              <a:buNone/>
            </a:pPr>
            <a:r>
              <a:rPr lang="en-US" sz="1100" b="1" spc="200" kern="0" dirty="0">
                <a:solidFill>
                  <a:srgbClr val="5CC9A0"/>
                </a:solidFill>
                <a:latin typeface="Calibri" pitchFamily="34" charset="0"/>
                <a:ea typeface="Calibri" pitchFamily="34" charset="-122"/>
                <a:cs typeface="Calibri" pitchFamily="34" charset="-120"/>
              </a:rPr>
              <a:t>TODAY</a:t>
            </a:r>
            <a:endParaRPr lang="en-US" sz="1100" dirty="0"/>
          </a:p>
        </p:txBody>
      </p:sp>
      <p:sp>
        <p:nvSpPr>
          <p:cNvPr id="10" name="Shape 8"/>
          <p:cNvSpPr/>
          <p:nvPr/>
        </p:nvSpPr>
        <p:spPr>
          <a:xfrm>
            <a:off x="365760" y="2194560"/>
            <a:ext cx="8412480" cy="713232"/>
          </a:xfrm>
          <a:prstGeom prst="roundRect">
            <a:avLst>
              <a:gd name="adj" fmla="val 12821"/>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286000"/>
            <a:ext cx="7863840" cy="530352"/>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Discover the treasure house and the gifts Peter and Susan left behind long ago.</a:t>
            </a:r>
            <a:endParaRPr lang="en-US" sz="1400" dirty="0"/>
          </a:p>
        </p:txBody>
      </p:sp>
      <p:sp>
        <p:nvSpPr>
          <p:cNvPr id="12" name="Text 10"/>
          <p:cNvSpPr/>
          <p:nvPr/>
        </p:nvSpPr>
        <p:spPr>
          <a:xfrm>
            <a:off x="365760" y="303580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13" name="Shape 11"/>
          <p:cNvSpPr/>
          <p:nvPr/>
        </p:nvSpPr>
        <p:spPr>
          <a:xfrm>
            <a:off x="365760" y="3291840"/>
            <a:ext cx="8412480" cy="749808"/>
          </a:xfrm>
          <a:prstGeom prst="roundRect">
            <a:avLst>
              <a:gd name="adj" fmla="val 12195"/>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83280"/>
            <a:ext cx="7863840" cy="56692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What new details do I learn about this place? How is the setting changing — or how is the children’s understanding of it changing?</a:t>
            </a:r>
            <a:endParaRPr lang="en-US" sz="1300" dirty="0"/>
          </a:p>
        </p:txBody>
      </p:sp>
      <p:sp>
        <p:nvSpPr>
          <p:cNvPr id="15" name="Text 13"/>
          <p:cNvSpPr/>
          <p:nvPr/>
        </p:nvSpPr>
        <p:spPr>
          <a:xfrm>
            <a:off x="365760" y="4169664"/>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READING LENS</a:t>
            </a:r>
            <a:endParaRPr lang="en-US" sz="1100" dirty="0"/>
          </a:p>
        </p:txBody>
      </p:sp>
      <p:sp>
        <p:nvSpPr>
          <p:cNvPr id="16" name="Text 14"/>
          <p:cNvSpPr/>
          <p:nvPr/>
        </p:nvSpPr>
        <p:spPr>
          <a:xfrm>
            <a:off x="457200" y="4407408"/>
            <a:ext cx="8229600" cy="256032"/>
          </a:xfrm>
          <a:prstGeom prst="rect">
            <a:avLst/>
          </a:prstGeom>
          <a:noFill/>
          <a:ln/>
        </p:spPr>
        <p:txBody>
          <a:bodyPr wrap="square" lIns="0" tIns="0" rIns="0" bIns="0" rtlCol="0" anchor="ctr"/>
          <a:lstStyle/>
          <a:p>
            <a:pPr indent="0" marL="0">
              <a:buNone/>
            </a:pP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Study What's Right</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FROM THE TEXT</a:t>
            </a:r>
            <a:endParaRPr lang="en-US" sz="1100" dirty="0"/>
          </a:p>
        </p:txBody>
      </p:sp>
      <p:sp>
        <p:nvSpPr>
          <p:cNvPr id="5" name="Shape 3"/>
          <p:cNvSpPr/>
          <p:nvPr/>
        </p:nvSpPr>
        <p:spPr>
          <a:xfrm>
            <a:off x="365760" y="1078992"/>
            <a:ext cx="8412480" cy="810768"/>
          </a:xfrm>
          <a:prstGeom prst="roundRect">
            <a:avLst>
              <a:gd name="adj" fmla="val 11278"/>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582168"/>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Peter took down his gift — the shield with the great red lion on it , and the royal sword .</a:t>
            </a:r>
            <a:endParaRPr lang="en-US" sz="1600" dirty="0"/>
          </a:p>
        </p:txBody>
      </p:sp>
      <p:sp>
        <p:nvSpPr>
          <p:cNvPr id="7" name="Text 5"/>
          <p:cNvSpPr/>
          <p:nvPr/>
        </p:nvSpPr>
        <p:spPr>
          <a:xfrm>
            <a:off x="457200" y="2036064"/>
            <a:ext cx="8229600" cy="38404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Circle: capitals, quotation marks, punctuation, proper nouns</a:t>
            </a:r>
            <a:endParaRPr lang="en-US" sz="1400" dirty="0"/>
          </a:p>
        </p:txBody>
      </p:sp>
      <p:sp>
        <p:nvSpPr>
          <p:cNvPr id="8" name="Text 6"/>
          <p:cNvSpPr/>
          <p:nvPr/>
        </p:nvSpPr>
        <p:spPr>
          <a:xfrm>
            <a:off x="457200" y="2493264"/>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Copy this sentence in your journal. Circle one thing you notice.</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Shape 2"/>
          <p:cNvSpPr/>
          <p:nvPr/>
        </p:nvSpPr>
        <p:spPr>
          <a:xfrm>
            <a:off x="6492240" y="173736"/>
            <a:ext cx="2286000" cy="502920"/>
          </a:xfrm>
          <a:prstGeom prst="roundRect">
            <a:avLst>
              <a:gd name="adj" fmla="val 21818"/>
            </a:avLst>
          </a:prstGeom>
          <a:solidFill>
            <a:srgbClr val="5CC9A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810768"/>
          </a:xfrm>
          <a:prstGeom prst="roundRect">
            <a:avLst>
              <a:gd name="adj" fmla="val 11278"/>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82168"/>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peter took down his gift the shield with the great red lion on it and the royal sword</a:t>
            </a:r>
            <a:endParaRPr lang="en-US" sz="1600" dirty="0"/>
          </a:p>
        </p:txBody>
      </p:sp>
      <p:sp>
        <p:nvSpPr>
          <p:cNvPr id="9" name="Text 7"/>
          <p:cNvSpPr/>
          <p:nvPr/>
        </p:nvSpPr>
        <p:spPr>
          <a:xfrm>
            <a:off x="457200" y="2036064"/>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Shape 2"/>
          <p:cNvSpPr/>
          <p:nvPr/>
        </p:nvSpPr>
        <p:spPr>
          <a:xfrm>
            <a:off x="6492240" y="173736"/>
            <a:ext cx="2286000" cy="502920"/>
          </a:xfrm>
          <a:prstGeom prst="roundRect">
            <a:avLst>
              <a:gd name="adj" fmla="val 21818"/>
            </a:avLst>
          </a:prstGeom>
          <a:solidFill>
            <a:srgbClr val="5CC9A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810768"/>
          </a:xfrm>
          <a:prstGeom prst="roundRect">
            <a:avLst>
              <a:gd name="adj" fmla="val 11278"/>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82168"/>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peter took down his gift the shield with the great red lion on it and the royal sword</a:t>
            </a:r>
            <a:endParaRPr lang="en-US" sz="1600" dirty="0"/>
          </a:p>
        </p:txBody>
      </p:sp>
      <p:sp>
        <p:nvSpPr>
          <p:cNvPr id="9" name="Text 7"/>
          <p:cNvSpPr/>
          <p:nvPr/>
        </p:nvSpPr>
        <p:spPr>
          <a:xfrm>
            <a:off x="457200" y="2036064"/>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474976"/>
            <a:ext cx="8412480" cy="960120"/>
          </a:xfrm>
          <a:prstGeom prst="roundRect">
            <a:avLst>
              <a:gd name="adj" fmla="val 9524"/>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2984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CORRECTED</a:t>
            </a:r>
            <a:endParaRPr lang="en-US" sz="1100" dirty="0"/>
          </a:p>
        </p:txBody>
      </p:sp>
      <p:sp>
        <p:nvSpPr>
          <p:cNvPr id="12" name="Text 10"/>
          <p:cNvSpPr/>
          <p:nvPr/>
        </p:nvSpPr>
        <p:spPr>
          <a:xfrm>
            <a:off x="594360" y="2822448"/>
            <a:ext cx="7863840" cy="576072"/>
          </a:xfrm>
          <a:prstGeom prst="rect">
            <a:avLst/>
          </a:prstGeom>
          <a:noFill/>
          <a:ln/>
        </p:spPr>
        <p:txBody>
          <a:bodyPr wrap="square" lIns="0" tIns="0" rIns="0" bIns="0" rtlCol="0" anchor="ctr"/>
          <a:lstStyle/>
          <a:p>
            <a:pPr indent="0" marL="0">
              <a:buNone/>
            </a:pPr>
            <a:r>
              <a:rPr lang="en-US" sz="1500" i="1" dirty="0">
                <a:solidFill>
                  <a:srgbClr val="1E293B"/>
                </a:solidFill>
                <a:latin typeface="Calibri" pitchFamily="34" charset="0"/>
                <a:ea typeface="Calibri" pitchFamily="34" charset="-122"/>
                <a:cs typeface="Calibri" pitchFamily="34" charset="-120"/>
              </a:rPr>
              <a:t>Peter took down his gift — the shield with the great red lion on it, and the royal sword.</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Vocabulary</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Text 2"/>
          <p:cNvSpPr/>
          <p:nvPr/>
        </p:nvSpPr>
        <p:spPr>
          <a:xfrm>
            <a:off x="365760" y="786384"/>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4 WORDS - READ THE SENTENCE, THEN THE MEANING</a:t>
            </a:r>
            <a:endParaRPr lang="en-US" sz="1100" dirty="0"/>
          </a:p>
        </p:txBody>
      </p:sp>
      <p:sp>
        <p:nvSpPr>
          <p:cNvPr id="5" name="Shape 3"/>
          <p:cNvSpPr/>
          <p:nvPr/>
        </p:nvSpPr>
        <p:spPr>
          <a:xfrm>
            <a:off x="320040" y="914400"/>
            <a:ext cx="4069080" cy="914400"/>
          </a:xfrm>
          <a:prstGeom prst="roundRect">
            <a:avLst>
              <a:gd name="adj" fmla="val 10000"/>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457200" y="1005840"/>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thicket</a:t>
            </a:r>
            <a:endParaRPr lang="en-US" sz="1400" dirty="0"/>
          </a:p>
        </p:txBody>
      </p:sp>
      <p:sp>
        <p:nvSpPr>
          <p:cNvPr id="7" name="Text 5"/>
          <p:cNvSpPr/>
          <p:nvPr/>
        </p:nvSpPr>
        <p:spPr>
          <a:xfrm>
            <a:off x="457200" y="1316736"/>
            <a:ext cx="3794760" cy="457200"/>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a dense group of trees or bushes.</a:t>
            </a:r>
            <a:endParaRPr lang="en-US" sz="1100" dirty="0"/>
          </a:p>
        </p:txBody>
      </p:sp>
      <p:sp>
        <p:nvSpPr>
          <p:cNvPr id="8" name="Shape 6"/>
          <p:cNvSpPr/>
          <p:nvPr/>
        </p:nvSpPr>
        <p:spPr>
          <a:xfrm>
            <a:off x="4572000" y="914400"/>
            <a:ext cx="4069080" cy="914400"/>
          </a:xfrm>
          <a:prstGeom prst="roundRect">
            <a:avLst>
              <a:gd name="adj" fmla="val 10000"/>
            </a:avLst>
          </a:prstGeom>
          <a:solidFill>
            <a:srgbClr val="F0E8FF"/>
          </a:solidFill>
          <a:ln/>
          <a:effectLst>
            <a:outerShdw sx="100000" sy="100000" kx="0" ky="0" algn="bl" rotWithShape="0" blurRad="101600" dist="38100" dir="2700000">
              <a:srgbClr val="000000">
                <a:alpha val="12000"/>
              </a:srgbClr>
            </a:outerShdw>
          </a:effectLst>
        </p:spPr>
      </p:sp>
      <p:sp>
        <p:nvSpPr>
          <p:cNvPr id="9" name="Text 7"/>
          <p:cNvSpPr/>
          <p:nvPr/>
        </p:nvSpPr>
        <p:spPr>
          <a:xfrm>
            <a:off x="4709160" y="1005840"/>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brambles</a:t>
            </a:r>
            <a:endParaRPr lang="en-US" sz="1400" dirty="0"/>
          </a:p>
        </p:txBody>
      </p:sp>
      <p:sp>
        <p:nvSpPr>
          <p:cNvPr id="10" name="Text 8"/>
          <p:cNvSpPr/>
          <p:nvPr/>
        </p:nvSpPr>
        <p:spPr>
          <a:xfrm>
            <a:off x="4709160" y="1316736"/>
            <a:ext cx="3794760" cy="457200"/>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prickly shrubs; thorny underbrush.</a:t>
            </a:r>
            <a:endParaRPr lang="en-US" sz="1100" dirty="0"/>
          </a:p>
        </p:txBody>
      </p:sp>
      <p:sp>
        <p:nvSpPr>
          <p:cNvPr id="11" name="Shape 9"/>
          <p:cNvSpPr/>
          <p:nvPr/>
        </p:nvSpPr>
        <p:spPr>
          <a:xfrm>
            <a:off x="320040" y="1938528"/>
            <a:ext cx="4069080" cy="914400"/>
          </a:xfrm>
          <a:prstGeom prst="roundRect">
            <a:avLst>
              <a:gd name="adj" fmla="val 10000"/>
            </a:avLst>
          </a:prstGeom>
          <a:solidFill>
            <a:srgbClr val="F0E8FF"/>
          </a:solidFill>
          <a:ln/>
          <a:effectLst>
            <a:outerShdw sx="100000" sy="100000" kx="0" ky="0" algn="bl" rotWithShape="0" blurRad="101600" dist="38100" dir="2700000">
              <a:srgbClr val="000000">
                <a:alpha val="12000"/>
              </a:srgbClr>
            </a:outerShdw>
          </a:effectLst>
        </p:spPr>
      </p:sp>
      <p:sp>
        <p:nvSpPr>
          <p:cNvPr id="12" name="Text 10"/>
          <p:cNvSpPr/>
          <p:nvPr/>
        </p:nvSpPr>
        <p:spPr>
          <a:xfrm>
            <a:off x="457200" y="2029968"/>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junction</a:t>
            </a:r>
            <a:endParaRPr lang="en-US" sz="1400" dirty="0"/>
          </a:p>
        </p:txBody>
      </p:sp>
      <p:sp>
        <p:nvSpPr>
          <p:cNvPr id="13" name="Text 11"/>
          <p:cNvSpPr/>
          <p:nvPr/>
        </p:nvSpPr>
        <p:spPr>
          <a:xfrm>
            <a:off x="457200" y="2340864"/>
            <a:ext cx="3794760" cy="457200"/>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a place where two paths or roads meet.</a:t>
            </a:r>
            <a:endParaRPr lang="en-US" sz="1100" dirty="0"/>
          </a:p>
        </p:txBody>
      </p:sp>
      <p:sp>
        <p:nvSpPr>
          <p:cNvPr id="14" name="Shape 12"/>
          <p:cNvSpPr/>
          <p:nvPr/>
        </p:nvSpPr>
        <p:spPr>
          <a:xfrm>
            <a:off x="4572000" y="1938528"/>
            <a:ext cx="4069080" cy="914400"/>
          </a:xfrm>
          <a:prstGeom prst="roundRect">
            <a:avLst>
              <a:gd name="adj" fmla="val 10000"/>
            </a:avLst>
          </a:prstGeom>
          <a:solidFill>
            <a:srgbClr val="F0E8FF"/>
          </a:solidFill>
          <a:ln/>
          <a:effectLst>
            <a:outerShdw sx="100000" sy="100000" kx="0" ky="0" algn="bl" rotWithShape="0" blurRad="101600" dist="38100" dir="2700000">
              <a:srgbClr val="000000">
                <a:alpha val="12000"/>
              </a:srgbClr>
            </a:outerShdw>
          </a:effectLst>
        </p:spPr>
      </p:sp>
      <p:sp>
        <p:nvSpPr>
          <p:cNvPr id="15" name="Text 13"/>
          <p:cNvSpPr/>
          <p:nvPr/>
        </p:nvSpPr>
        <p:spPr>
          <a:xfrm>
            <a:off x="4709160" y="2029968"/>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inhabited</a:t>
            </a:r>
            <a:endParaRPr lang="en-US" sz="1400" dirty="0"/>
          </a:p>
        </p:txBody>
      </p:sp>
      <p:sp>
        <p:nvSpPr>
          <p:cNvPr id="16" name="Text 14"/>
          <p:cNvSpPr/>
          <p:nvPr/>
        </p:nvSpPr>
        <p:spPr>
          <a:xfrm>
            <a:off x="4709160" y="2340864"/>
            <a:ext cx="3794760" cy="457200"/>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lived in; occupied by people or creatures.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Grammar - Grammar: Conjunctions — and / or</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Shape 2"/>
          <p:cNvSpPr/>
          <p:nvPr/>
        </p:nvSpPr>
        <p:spPr>
          <a:xfrm>
            <a:off x="6492240" y="173736"/>
            <a:ext cx="2286000" cy="502920"/>
          </a:xfrm>
          <a:prstGeom prst="roundRect">
            <a:avLst>
              <a:gd name="adj" fmla="val 21818"/>
            </a:avLst>
          </a:prstGeom>
          <a:solidFill>
            <a:srgbClr val="5CC9A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SPOT THE TARGET WORD</a:t>
            </a:r>
            <a:endParaRPr lang="en-US" sz="1100" dirty="0"/>
          </a:p>
        </p:txBody>
      </p:sp>
      <p:sp>
        <p:nvSpPr>
          <p:cNvPr id="7" name="Shape 5"/>
          <p:cNvSpPr/>
          <p:nvPr/>
        </p:nvSpPr>
        <p:spPr>
          <a:xfrm>
            <a:off x="365760" y="1078992"/>
            <a:ext cx="8412480" cy="621792"/>
          </a:xfrm>
          <a:prstGeom prst="roundRect">
            <a:avLst>
              <a:gd name="adj" fmla="val 11765"/>
            </a:avLst>
          </a:prstGeom>
          <a:solidFill>
            <a:srgbClr val="FEF6E8"/>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438912"/>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Peter picked up his shield and his sword.</a:t>
            </a:r>
            <a:endParaRPr lang="en-US" sz="1500" dirty="0"/>
          </a:p>
        </p:txBody>
      </p:sp>
      <p:sp>
        <p:nvSpPr>
          <p:cNvPr id="9" name="Shape 7"/>
          <p:cNvSpPr/>
          <p:nvPr/>
        </p:nvSpPr>
        <p:spPr>
          <a:xfrm>
            <a:off x="365760" y="1792224"/>
            <a:ext cx="8412480" cy="621792"/>
          </a:xfrm>
          <a:prstGeom prst="roundRect">
            <a:avLst>
              <a:gd name="adj" fmla="val 11765"/>
            </a:avLst>
          </a:prstGeom>
          <a:solidFill>
            <a:srgbClr val="FEF6E8"/>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1883664"/>
            <a:ext cx="7863840" cy="438912"/>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They could stay on the island or explore further.</a:t>
            </a:r>
            <a:endParaRPr lang="en-US" sz="1500" dirty="0"/>
          </a:p>
        </p:txBody>
      </p:sp>
      <p:sp>
        <p:nvSpPr>
          <p:cNvPr id="11" name="Shape 9"/>
          <p:cNvSpPr/>
          <p:nvPr/>
        </p:nvSpPr>
        <p:spPr>
          <a:xfrm>
            <a:off x="365760" y="2505456"/>
            <a:ext cx="8412480" cy="621792"/>
          </a:xfrm>
          <a:prstGeom prst="roundRect">
            <a:avLst>
              <a:gd name="adj" fmla="val 11765"/>
            </a:avLst>
          </a:prstGeom>
          <a:solidFill>
            <a:srgbClr val="FEF6E8"/>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596896"/>
            <a:ext cx="7863840" cy="438912"/>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The well was dry and choked with weeds.</a:t>
            </a:r>
            <a:endParaRPr lang="en-US" sz="1500" dirty="0"/>
          </a:p>
        </p:txBody>
      </p:sp>
      <p:sp>
        <p:nvSpPr>
          <p:cNvPr id="13" name="Shape 11"/>
          <p:cNvSpPr/>
          <p:nvPr/>
        </p:nvSpPr>
        <p:spPr>
          <a:xfrm>
            <a:off x="365760" y="3218688"/>
            <a:ext cx="8412480" cy="621792"/>
          </a:xfrm>
          <a:prstGeom prst="roundRect">
            <a:avLst>
              <a:gd name="adj" fmla="val 11765"/>
            </a:avLst>
          </a:prstGeom>
          <a:solidFill>
            <a:srgbClr val="FEF6E8"/>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10128"/>
            <a:ext cx="7863840" cy="438912"/>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Lucy couldn’t tell if it was morning or afternoon.</a:t>
            </a:r>
            <a:endParaRPr lang="en-US" sz="1500" dirty="0"/>
          </a:p>
        </p:txBody>
      </p:sp>
      <p:sp>
        <p:nvSpPr>
          <p:cNvPr id="15" name="Text 13"/>
          <p:cNvSpPr/>
          <p:nvPr/>
        </p:nvSpPr>
        <p:spPr>
          <a:xfrm>
            <a:off x="457200" y="3977640"/>
            <a:ext cx="8229600" cy="347472"/>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Find the target word. Write it in your notebook.</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Grammar - Grammar: Conjunctions — and / or</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Shape 2"/>
          <p:cNvSpPr/>
          <p:nvPr/>
        </p:nvSpPr>
        <p:spPr>
          <a:xfrm>
            <a:off x="6492240" y="173736"/>
            <a:ext cx="2286000" cy="502920"/>
          </a:xfrm>
          <a:prstGeom prst="roundRect">
            <a:avLst>
              <a:gd name="adj" fmla="val 21818"/>
            </a:avLst>
          </a:prstGeom>
          <a:solidFill>
            <a:srgbClr val="5CC9A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ANSWERS REVEALED</a:t>
            </a:r>
            <a:endParaRPr lang="en-US" sz="1100" dirty="0"/>
          </a:p>
        </p:txBody>
      </p:sp>
      <p:sp>
        <p:nvSpPr>
          <p:cNvPr id="7" name="Shape 5"/>
          <p:cNvSpPr/>
          <p:nvPr/>
        </p:nvSpPr>
        <p:spPr>
          <a:xfrm>
            <a:off x="365760" y="1078992"/>
            <a:ext cx="8412480" cy="621792"/>
          </a:xfrm>
          <a:prstGeom prst="roundRect">
            <a:avLst>
              <a:gd name="adj" fmla="val 11765"/>
            </a:avLst>
          </a:prstGeom>
          <a:solidFill>
            <a:srgbClr val="E8F8E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438912"/>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Peter picked up his shield </a:t>
            </a:r>
            <a:pPr indent="0" marL="0">
              <a:buNone/>
            </a:pPr>
            <a:r>
              <a:rPr lang="en-US" sz="1500" b="1" u="sng" dirty="0">
                <a:solidFill>
                  <a:srgbClr val="34B76F"/>
                </a:solidFill>
                <a:latin typeface="Calibri" pitchFamily="34" charset="0"/>
                <a:ea typeface="Calibri" pitchFamily="34" charset="-122"/>
                <a:cs typeface="Calibri" pitchFamily="34" charset="-120"/>
              </a:rPr>
              <a:t>and</a:t>
            </a:r>
            <a:pPr indent="0" marL="0">
              <a:buNone/>
            </a:pPr>
            <a:r>
              <a:rPr lang="en-US" sz="1500" dirty="0">
                <a:solidFill>
                  <a:srgbClr val="1E293B"/>
                </a:solidFill>
                <a:latin typeface="Calibri" pitchFamily="34" charset="0"/>
                <a:ea typeface="Calibri" pitchFamily="34" charset="-122"/>
                <a:cs typeface="Calibri" pitchFamily="34" charset="-120"/>
              </a:rPr>
              <a:t> his sword.</a:t>
            </a:r>
            <a:endParaRPr lang="en-US" sz="1500" dirty="0"/>
          </a:p>
        </p:txBody>
      </p:sp>
      <p:sp>
        <p:nvSpPr>
          <p:cNvPr id="9" name="Shape 7"/>
          <p:cNvSpPr/>
          <p:nvPr/>
        </p:nvSpPr>
        <p:spPr>
          <a:xfrm>
            <a:off x="365760" y="1792224"/>
            <a:ext cx="8412480" cy="621792"/>
          </a:xfrm>
          <a:prstGeom prst="roundRect">
            <a:avLst>
              <a:gd name="adj" fmla="val 11765"/>
            </a:avLst>
          </a:prstGeom>
          <a:solidFill>
            <a:srgbClr val="E8F8E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1883664"/>
            <a:ext cx="7863840" cy="438912"/>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They could stay on the island </a:t>
            </a:r>
            <a:pPr indent="0" marL="0">
              <a:buNone/>
            </a:pPr>
            <a:r>
              <a:rPr lang="en-US" sz="1500" b="1" u="sng" dirty="0">
                <a:solidFill>
                  <a:srgbClr val="34B76F"/>
                </a:solidFill>
                <a:latin typeface="Calibri" pitchFamily="34" charset="0"/>
                <a:ea typeface="Calibri" pitchFamily="34" charset="-122"/>
                <a:cs typeface="Calibri" pitchFamily="34" charset="-120"/>
              </a:rPr>
              <a:t>or</a:t>
            </a:r>
            <a:pPr indent="0" marL="0">
              <a:buNone/>
            </a:pPr>
            <a:r>
              <a:rPr lang="en-US" sz="1500" dirty="0">
                <a:solidFill>
                  <a:srgbClr val="1E293B"/>
                </a:solidFill>
                <a:latin typeface="Calibri" pitchFamily="34" charset="0"/>
                <a:ea typeface="Calibri" pitchFamily="34" charset="-122"/>
                <a:cs typeface="Calibri" pitchFamily="34" charset="-120"/>
              </a:rPr>
              <a:t> explore further.</a:t>
            </a:r>
            <a:endParaRPr lang="en-US" sz="1500" dirty="0"/>
          </a:p>
        </p:txBody>
      </p:sp>
      <p:sp>
        <p:nvSpPr>
          <p:cNvPr id="11" name="Shape 9"/>
          <p:cNvSpPr/>
          <p:nvPr/>
        </p:nvSpPr>
        <p:spPr>
          <a:xfrm>
            <a:off x="365760" y="2505456"/>
            <a:ext cx="8412480" cy="621792"/>
          </a:xfrm>
          <a:prstGeom prst="roundRect">
            <a:avLst>
              <a:gd name="adj" fmla="val 11765"/>
            </a:avLst>
          </a:prstGeom>
          <a:solidFill>
            <a:srgbClr val="E8F8E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596896"/>
            <a:ext cx="7863840" cy="438912"/>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The well was dry </a:t>
            </a:r>
            <a:pPr indent="0" marL="0">
              <a:buNone/>
            </a:pPr>
            <a:r>
              <a:rPr lang="en-US" sz="1500" b="1" u="sng" dirty="0">
                <a:solidFill>
                  <a:srgbClr val="34B76F"/>
                </a:solidFill>
                <a:latin typeface="Calibri" pitchFamily="34" charset="0"/>
                <a:ea typeface="Calibri" pitchFamily="34" charset="-122"/>
                <a:cs typeface="Calibri" pitchFamily="34" charset="-120"/>
              </a:rPr>
              <a:t>and</a:t>
            </a:r>
            <a:pPr indent="0" marL="0">
              <a:buNone/>
            </a:pPr>
            <a:r>
              <a:rPr lang="en-US" sz="1500" dirty="0">
                <a:solidFill>
                  <a:srgbClr val="1E293B"/>
                </a:solidFill>
                <a:latin typeface="Calibri" pitchFamily="34" charset="0"/>
                <a:ea typeface="Calibri" pitchFamily="34" charset="-122"/>
                <a:cs typeface="Calibri" pitchFamily="34" charset="-120"/>
              </a:rPr>
              <a:t> choked with weeds.</a:t>
            </a:r>
            <a:endParaRPr lang="en-US" sz="1500" dirty="0"/>
          </a:p>
        </p:txBody>
      </p:sp>
      <p:sp>
        <p:nvSpPr>
          <p:cNvPr id="13" name="Shape 11"/>
          <p:cNvSpPr/>
          <p:nvPr/>
        </p:nvSpPr>
        <p:spPr>
          <a:xfrm>
            <a:off x="365760" y="3218688"/>
            <a:ext cx="8412480" cy="621792"/>
          </a:xfrm>
          <a:prstGeom prst="roundRect">
            <a:avLst>
              <a:gd name="adj" fmla="val 11765"/>
            </a:avLst>
          </a:prstGeom>
          <a:solidFill>
            <a:srgbClr val="E8F8E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10128"/>
            <a:ext cx="7863840" cy="438912"/>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Lucy couldn’t tell if it was morning </a:t>
            </a:r>
            <a:pPr indent="0" marL="0">
              <a:buNone/>
            </a:pPr>
            <a:r>
              <a:rPr lang="en-US" sz="1500" b="1" u="sng" dirty="0">
                <a:solidFill>
                  <a:srgbClr val="34B76F"/>
                </a:solidFill>
                <a:latin typeface="Calibri" pitchFamily="34" charset="0"/>
                <a:ea typeface="Calibri" pitchFamily="34" charset="-122"/>
                <a:cs typeface="Calibri" pitchFamily="34" charset="-120"/>
              </a:rPr>
              <a:t>or</a:t>
            </a:r>
            <a:pPr indent="0" marL="0">
              <a:buNone/>
            </a:pPr>
            <a:r>
              <a:rPr lang="en-US" sz="1500" dirty="0">
                <a:solidFill>
                  <a:srgbClr val="1E293B"/>
                </a:solidFill>
                <a:latin typeface="Calibri" pitchFamily="34" charset="0"/>
                <a:ea typeface="Calibri" pitchFamily="34" charset="-122"/>
                <a:cs typeface="Calibri" pitchFamily="34" charset="-120"/>
              </a:rPr>
              <a:t> afternoon.</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Fantasy Vocab Syllable Sort</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Shape 2"/>
          <p:cNvSpPr/>
          <p:nvPr/>
        </p:nvSpPr>
        <p:spPr>
          <a:xfrm>
            <a:off x="6492240" y="173736"/>
            <a:ext cx="2286000" cy="502920"/>
          </a:xfrm>
          <a:prstGeom prst="roundRect">
            <a:avLst>
              <a:gd name="adj" fmla="val 21818"/>
            </a:avLst>
          </a:prstGeom>
          <a:solidFill>
            <a:srgbClr val="5CC9A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SORT THE WORDS</a:t>
            </a:r>
            <a:endParaRPr lang="en-US" sz="1100" dirty="0"/>
          </a:p>
        </p:txBody>
      </p:sp>
      <p:sp>
        <p:nvSpPr>
          <p:cNvPr id="7" name="Shape 5"/>
          <p:cNvSpPr/>
          <p:nvPr/>
        </p:nvSpPr>
        <p:spPr>
          <a:xfrm>
            <a:off x="365760" y="1024128"/>
            <a:ext cx="8412480" cy="685800"/>
          </a:xfrm>
          <a:prstGeom prst="roundRect">
            <a:avLst>
              <a:gd name="adj" fmla="val 13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078992"/>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 BANK</a:t>
            </a:r>
            <a:endParaRPr lang="en-US" sz="1100" dirty="0"/>
          </a:p>
        </p:txBody>
      </p:sp>
      <p:sp>
        <p:nvSpPr>
          <p:cNvPr id="9" name="Text 7"/>
          <p:cNvSpPr/>
          <p:nvPr/>
        </p:nvSpPr>
        <p:spPr>
          <a:xfrm>
            <a:off x="594360" y="1325880"/>
            <a:ext cx="7863840" cy="320040"/>
          </a:xfrm>
          <a:prstGeom prst="rect">
            <a:avLst/>
          </a:prstGeom>
          <a:noFill/>
          <a:ln/>
        </p:spPr>
        <p:txBody>
          <a:bodyPr wrap="square" lIns="0" tIns="0" rIns="0" bIns="0" rtlCol="0" anchor="ctr"/>
          <a:lstStyle/>
          <a:p>
            <a:pPr indent="0" marL="0">
              <a:buNone/>
            </a:pPr>
            <a:r>
              <a:rPr lang="en-US" sz="1600" b="1" dirty="0">
                <a:solidFill>
                  <a:srgbClr val="0E1C42"/>
                </a:solidFill>
                <a:latin typeface="Calibri" pitchFamily="34" charset="0"/>
                <a:ea typeface="Calibri" pitchFamily="34" charset="-122"/>
                <a:cs typeface="Calibri" pitchFamily="34" charset="-120"/>
              </a:rPr>
              <a:t>junction   -   brambles   -   thicket   -   inhabited   -   discover   -   remember</a:t>
            </a:r>
            <a:endParaRPr lang="en-US" sz="1600" dirty="0"/>
          </a:p>
        </p:txBody>
      </p:sp>
      <p:sp>
        <p:nvSpPr>
          <p:cNvPr id="10" name="Text 8"/>
          <p:cNvSpPr/>
          <p:nvPr/>
        </p:nvSpPr>
        <p:spPr>
          <a:xfrm>
            <a:off x="365760" y="187452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SORT INTO GROUPS</a:t>
            </a:r>
            <a:endParaRPr lang="en-US" sz="1100" dirty="0"/>
          </a:p>
        </p:txBody>
      </p:sp>
      <p:sp>
        <p:nvSpPr>
          <p:cNvPr id="11" name="Shape 9"/>
          <p:cNvSpPr/>
          <p:nvPr/>
        </p:nvSpPr>
        <p:spPr>
          <a:xfrm>
            <a:off x="365760" y="2176272"/>
            <a:ext cx="4114800" cy="1051560"/>
          </a:xfrm>
          <a:prstGeom prst="roundRect">
            <a:avLst>
              <a:gd name="adj" fmla="val 8696"/>
            </a:avLst>
          </a:prstGeom>
          <a:solidFill>
            <a:srgbClr val="E8F8EF"/>
          </a:solidFill>
          <a:ln w="19050">
            <a:solidFill>
              <a:srgbClr val="4A7C2E"/>
            </a:solidFill>
            <a:prstDash val="solid"/>
          </a:ln>
        </p:spPr>
      </p:sp>
      <p:sp>
        <p:nvSpPr>
          <p:cNvPr id="12" name="Text 10"/>
          <p:cNvSpPr/>
          <p:nvPr/>
        </p:nvSpPr>
        <p:spPr>
          <a:xfrm>
            <a:off x="502920" y="2286000"/>
            <a:ext cx="3840480" cy="411480"/>
          </a:xfrm>
          <a:prstGeom prst="rect">
            <a:avLst/>
          </a:prstGeom>
          <a:noFill/>
          <a:ln/>
        </p:spPr>
        <p:txBody>
          <a:bodyPr wrap="square" lIns="0" tIns="0" rIns="0" bIns="0" rtlCol="0" anchor="ctr"/>
          <a:lstStyle/>
          <a:p>
            <a:pPr indent="0" marL="0">
              <a:buNone/>
            </a:pPr>
            <a:r>
              <a:rPr lang="en-US" sz="1300" b="1" dirty="0">
                <a:solidFill>
                  <a:srgbClr val="4A7C2E"/>
                </a:solidFill>
                <a:latin typeface="Calibri" pitchFamily="34" charset="0"/>
                <a:ea typeface="Calibri" pitchFamily="34" charset="-122"/>
                <a:cs typeface="Calibri" pitchFamily="34" charset="-120"/>
              </a:rPr>
              <a:t>2 Syllables</a:t>
            </a:r>
            <a:endParaRPr lang="en-US" sz="1300" dirty="0"/>
          </a:p>
        </p:txBody>
      </p:sp>
      <p:sp>
        <p:nvSpPr>
          <p:cNvPr id="13" name="Shape 11"/>
          <p:cNvSpPr/>
          <p:nvPr/>
        </p:nvSpPr>
        <p:spPr>
          <a:xfrm>
            <a:off x="4800600" y="2176272"/>
            <a:ext cx="4114800" cy="1051560"/>
          </a:xfrm>
          <a:prstGeom prst="roundRect">
            <a:avLst>
              <a:gd name="adj" fmla="val 8696"/>
            </a:avLst>
          </a:prstGeom>
          <a:solidFill>
            <a:srgbClr val="F0E8FF"/>
          </a:solidFill>
          <a:ln w="19050">
            <a:solidFill>
              <a:srgbClr val="5C2D91"/>
            </a:solidFill>
            <a:prstDash val="solid"/>
          </a:ln>
        </p:spPr>
      </p:sp>
      <p:sp>
        <p:nvSpPr>
          <p:cNvPr id="14" name="Text 12"/>
          <p:cNvSpPr/>
          <p:nvPr/>
        </p:nvSpPr>
        <p:spPr>
          <a:xfrm>
            <a:off x="4937760" y="2286000"/>
            <a:ext cx="3840480" cy="411480"/>
          </a:xfrm>
          <a:prstGeom prst="rect">
            <a:avLst/>
          </a:prstGeom>
          <a:noFill/>
          <a:ln/>
        </p:spPr>
        <p:txBody>
          <a:bodyPr wrap="square" lIns="0" tIns="0" rIns="0" bIns="0" rtlCol="0" anchor="ctr"/>
          <a:lstStyle/>
          <a:p>
            <a:pPr indent="0" marL="0">
              <a:buNone/>
            </a:pPr>
            <a:r>
              <a:rPr lang="en-US" sz="1300" b="1" dirty="0">
                <a:solidFill>
                  <a:srgbClr val="5C2D91"/>
                </a:solidFill>
                <a:latin typeface="Calibri" pitchFamily="34" charset="0"/>
                <a:ea typeface="Calibri" pitchFamily="34" charset="-122"/>
                <a:cs typeface="Calibri" pitchFamily="34" charset="-120"/>
              </a:rPr>
              <a:t>3 or More Syllables</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Fantasy Vocab Syllable Sort</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Shape 2"/>
          <p:cNvSpPr/>
          <p:nvPr/>
        </p:nvSpPr>
        <p:spPr>
          <a:xfrm>
            <a:off x="6492240" y="173736"/>
            <a:ext cx="2286000" cy="502920"/>
          </a:xfrm>
          <a:prstGeom prst="roundRect">
            <a:avLst>
              <a:gd name="adj" fmla="val 21818"/>
            </a:avLst>
          </a:prstGeom>
          <a:solidFill>
            <a:srgbClr val="5CC9A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SORTED</a:t>
            </a:r>
            <a:endParaRPr lang="en-US" sz="1100" dirty="0"/>
          </a:p>
        </p:txBody>
      </p:sp>
      <p:sp>
        <p:nvSpPr>
          <p:cNvPr id="7" name="Shape 5"/>
          <p:cNvSpPr/>
          <p:nvPr/>
        </p:nvSpPr>
        <p:spPr>
          <a:xfrm>
            <a:off x="365760" y="1024128"/>
            <a:ext cx="4114800" cy="1453896"/>
          </a:xfrm>
          <a:prstGeom prst="roundRect">
            <a:avLst>
              <a:gd name="adj" fmla="val 6289"/>
            </a:avLst>
          </a:prstGeom>
          <a:solidFill>
            <a:srgbClr val="E8F8EF"/>
          </a:solidFill>
          <a:ln w="19050">
            <a:solidFill>
              <a:srgbClr val="4A7C2E"/>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02920" y="1097280"/>
            <a:ext cx="3840480" cy="347472"/>
          </a:xfrm>
          <a:prstGeom prst="rect">
            <a:avLst/>
          </a:prstGeom>
          <a:noFill/>
          <a:ln/>
        </p:spPr>
        <p:txBody>
          <a:bodyPr wrap="square" lIns="0" tIns="0" rIns="0" bIns="0" rtlCol="0" anchor="ctr"/>
          <a:lstStyle/>
          <a:p>
            <a:pPr indent="0" marL="0">
              <a:buNone/>
            </a:pPr>
            <a:r>
              <a:rPr lang="en-US" sz="1200" b="1" dirty="0">
                <a:solidFill>
                  <a:srgbClr val="4A7C2E"/>
                </a:solidFill>
                <a:latin typeface="Calibri" pitchFamily="34" charset="0"/>
                <a:ea typeface="Calibri" pitchFamily="34" charset="-122"/>
                <a:cs typeface="Calibri" pitchFamily="34" charset="-120"/>
              </a:rPr>
              <a:t>2 Syllables</a:t>
            </a:r>
            <a:endParaRPr lang="en-US" sz="1200" dirty="0"/>
          </a:p>
        </p:txBody>
      </p:sp>
      <p:sp>
        <p:nvSpPr>
          <p:cNvPr id="9" name="Text 7"/>
          <p:cNvSpPr/>
          <p:nvPr/>
        </p:nvSpPr>
        <p:spPr>
          <a:xfrm>
            <a:off x="594360" y="1463040"/>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junction</a:t>
            </a:r>
            <a:endParaRPr lang="en-US" sz="1400" dirty="0"/>
          </a:p>
        </p:txBody>
      </p:sp>
      <p:sp>
        <p:nvSpPr>
          <p:cNvPr id="10" name="Text 8"/>
          <p:cNvSpPr/>
          <p:nvPr/>
        </p:nvSpPr>
        <p:spPr>
          <a:xfrm>
            <a:off x="594360" y="1810512"/>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brambles</a:t>
            </a:r>
            <a:endParaRPr lang="en-US" sz="1400" dirty="0"/>
          </a:p>
        </p:txBody>
      </p:sp>
      <p:sp>
        <p:nvSpPr>
          <p:cNvPr id="11" name="Text 9"/>
          <p:cNvSpPr/>
          <p:nvPr/>
        </p:nvSpPr>
        <p:spPr>
          <a:xfrm>
            <a:off x="594360" y="2157984"/>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thicket</a:t>
            </a:r>
            <a:endParaRPr lang="en-US" sz="1400" dirty="0"/>
          </a:p>
        </p:txBody>
      </p:sp>
      <p:sp>
        <p:nvSpPr>
          <p:cNvPr id="12" name="Shape 10"/>
          <p:cNvSpPr/>
          <p:nvPr/>
        </p:nvSpPr>
        <p:spPr>
          <a:xfrm>
            <a:off x="4681728" y="1024128"/>
            <a:ext cx="4114800" cy="1453896"/>
          </a:xfrm>
          <a:prstGeom prst="roundRect">
            <a:avLst>
              <a:gd name="adj" fmla="val 6289"/>
            </a:avLst>
          </a:prstGeom>
          <a:solidFill>
            <a:srgbClr val="F0E8FF"/>
          </a:solidFill>
          <a:ln w="19050">
            <a:solidFill>
              <a:srgbClr val="5C2D91"/>
            </a:solidFill>
            <a:prstDash val="solid"/>
          </a:ln>
          <a:effectLst>
            <a:outerShdw sx="100000" sy="100000" kx="0" ky="0" algn="bl" rotWithShape="0" blurRad="101600" dist="38100" dir="2700000">
              <a:srgbClr val="000000">
                <a:alpha val="12000"/>
              </a:srgbClr>
            </a:outerShdw>
          </a:effectLst>
        </p:spPr>
      </p:sp>
      <p:sp>
        <p:nvSpPr>
          <p:cNvPr id="13" name="Text 11"/>
          <p:cNvSpPr/>
          <p:nvPr/>
        </p:nvSpPr>
        <p:spPr>
          <a:xfrm>
            <a:off x="4818888" y="1097280"/>
            <a:ext cx="3840480" cy="347472"/>
          </a:xfrm>
          <a:prstGeom prst="rect">
            <a:avLst/>
          </a:prstGeom>
          <a:noFill/>
          <a:ln/>
        </p:spPr>
        <p:txBody>
          <a:bodyPr wrap="square" lIns="0" tIns="0" rIns="0" bIns="0" rtlCol="0" anchor="ctr"/>
          <a:lstStyle/>
          <a:p>
            <a:pPr indent="0" marL="0">
              <a:buNone/>
            </a:pPr>
            <a:r>
              <a:rPr lang="en-US" sz="1200" b="1" dirty="0">
                <a:solidFill>
                  <a:srgbClr val="5C2D91"/>
                </a:solidFill>
                <a:latin typeface="Calibri" pitchFamily="34" charset="0"/>
                <a:ea typeface="Calibri" pitchFamily="34" charset="-122"/>
                <a:cs typeface="Calibri" pitchFamily="34" charset="-120"/>
              </a:rPr>
              <a:t>3 or More Syllables</a:t>
            </a:r>
            <a:endParaRPr lang="en-US" sz="1200" dirty="0"/>
          </a:p>
        </p:txBody>
      </p:sp>
      <p:sp>
        <p:nvSpPr>
          <p:cNvPr id="14" name="Text 12"/>
          <p:cNvSpPr/>
          <p:nvPr/>
        </p:nvSpPr>
        <p:spPr>
          <a:xfrm>
            <a:off x="4910328" y="1463040"/>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inhabited</a:t>
            </a:r>
            <a:endParaRPr lang="en-US" sz="1400" dirty="0"/>
          </a:p>
        </p:txBody>
      </p:sp>
      <p:sp>
        <p:nvSpPr>
          <p:cNvPr id="15" name="Text 13"/>
          <p:cNvSpPr/>
          <p:nvPr/>
        </p:nvSpPr>
        <p:spPr>
          <a:xfrm>
            <a:off x="4910328" y="1810512"/>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discover</a:t>
            </a:r>
            <a:endParaRPr lang="en-US" sz="1400" dirty="0"/>
          </a:p>
        </p:txBody>
      </p:sp>
      <p:sp>
        <p:nvSpPr>
          <p:cNvPr id="16" name="Text 14"/>
          <p:cNvSpPr/>
          <p:nvPr/>
        </p:nvSpPr>
        <p:spPr>
          <a:xfrm>
            <a:off x="4910328" y="2157984"/>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remember</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Reading - Chapter 2</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Text 2"/>
          <p:cNvSpPr/>
          <p:nvPr/>
        </p:nvSpPr>
        <p:spPr>
          <a:xfrm>
            <a:off x="457200" y="841248"/>
            <a:ext cx="8229600" cy="502920"/>
          </a:xfrm>
          <a:prstGeom prst="rect">
            <a:avLst/>
          </a:prstGeom>
          <a:noFill/>
          <a:ln/>
        </p:spPr>
        <p:txBody>
          <a:bodyPr wrap="square" lIns="0" tIns="0" rIns="0" bIns="0" rtlCol="0" anchor="ctr"/>
          <a:lstStyle/>
          <a:p>
            <a:pPr indent="0" marL="0">
              <a:buNone/>
            </a:pPr>
            <a:r>
              <a:rPr lang="en-US" sz="1700" b="1" i="1" dirty="0">
                <a:solidFill>
                  <a:srgbClr val="0E1C42"/>
                </a:solidFill>
                <a:latin typeface="Calibri" pitchFamily="34" charset="0"/>
                <a:ea typeface="Calibri" pitchFamily="34" charset="-122"/>
                <a:cs typeface="Calibri" pitchFamily="34" charset="-120"/>
              </a:rPr>
              <a:t>The Old Treasure House</a:t>
            </a:r>
            <a:endParaRPr lang="en-US" sz="1700" dirty="0"/>
          </a:p>
        </p:txBody>
      </p:sp>
      <p:sp>
        <p:nvSpPr>
          <p:cNvPr id="5" name="Text 3"/>
          <p:cNvSpPr/>
          <p:nvPr/>
        </p:nvSpPr>
        <p:spPr>
          <a:xfrm>
            <a:off x="365760" y="146304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PAUSE &amp; THINK</a:t>
            </a:r>
            <a:endParaRPr lang="en-US" sz="1100" dirty="0"/>
          </a:p>
        </p:txBody>
      </p:sp>
      <p:sp>
        <p:nvSpPr>
          <p:cNvPr id="6" name="Shape 4"/>
          <p:cNvSpPr/>
          <p:nvPr/>
        </p:nvSpPr>
        <p:spPr>
          <a:xfrm>
            <a:off x="365760" y="1719072"/>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10512"/>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1.  When you notice a detail about the setting, pause and ask: What does this detail tell me about where (and when) the children really are?</a:t>
            </a:r>
            <a:endParaRPr lang="en-US" sz="1400" dirty="0"/>
          </a:p>
        </p:txBody>
      </p:sp>
      <p:sp>
        <p:nvSpPr>
          <p:cNvPr id="8" name="Shape 6"/>
          <p:cNvSpPr/>
          <p:nvPr/>
        </p:nvSpPr>
        <p:spPr>
          <a:xfrm>
            <a:off x="365760" y="2651760"/>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594360" y="2743200"/>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2.  What feeling or image stands out to you in this poem? The poem describes an ancient place that has fallen to ruin but still holds hints of its past glory. How does that connect to what the children discover in Chapter 2?</a:t>
            </a:r>
            <a:endParaRPr lang="en-US" sz="1400" dirty="0"/>
          </a:p>
        </p:txBody>
      </p:sp>
      <p:sp>
        <p:nvSpPr>
          <p:cNvPr id="10" name="Shape 8"/>
          <p:cNvSpPr/>
          <p:nvPr/>
        </p:nvSpPr>
        <p:spPr>
          <a:xfrm>
            <a:off x="365760" y="3584448"/>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594360" y="3675888"/>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3.  Susan finds a golden chess-knight by the well. Why does this small object matter so much to the children? What does it tell them about where they really are?</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Read like a Reader, Writer, Mimic</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MENTOR SENTENCE</a:t>
            </a:r>
            <a:endParaRPr lang="en-US" sz="1100" dirty="0"/>
          </a:p>
        </p:txBody>
      </p:sp>
      <p:sp>
        <p:nvSpPr>
          <p:cNvPr id="5" name="Shape 3"/>
          <p:cNvSpPr/>
          <p:nvPr/>
        </p:nvSpPr>
        <p:spPr>
          <a:xfrm>
            <a:off x="365760" y="1042416"/>
            <a:ext cx="8412480" cy="1078992"/>
          </a:xfrm>
          <a:prstGeom prst="roundRect">
            <a:avLst>
              <a:gd name="adj" fmla="val 8475"/>
            </a:avLst>
          </a:prstGeom>
          <a:solidFill>
            <a:srgbClr val="F0E8FF"/>
          </a:solidFill>
          <a:ln w="12700">
            <a:solidFill>
              <a:srgbClr val="8B6FC0"/>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850392"/>
          </a:xfrm>
          <a:prstGeom prst="rect">
            <a:avLst/>
          </a:prstGeom>
          <a:noFill/>
          <a:ln/>
        </p:spPr>
        <p:txBody>
          <a:bodyPr wrap="square" lIns="0" tIns="0" rIns="0" bIns="0" rtlCol="0" anchor="ctr"/>
          <a:lstStyle/>
          <a:p>
            <a:pPr indent="0" marL="0">
              <a:buNone/>
            </a:pPr>
            <a:r>
              <a:rPr lang="en-US" sz="1600" i="1" dirty="0">
                <a:solidFill>
                  <a:srgbClr val="0E1C42"/>
                </a:solidFill>
                <a:latin typeface="Calibri" pitchFamily="34" charset="0"/>
                <a:ea typeface="Calibri" pitchFamily="34" charset="-122"/>
                <a:cs typeface="Calibri" pitchFamily="34" charset="-120"/>
              </a:rPr>
              <a:t>“It twanged: a chirruping twang that vibrated through the whole room. And that one small noise brought back the old days to the children’s minds more than anything that had happened yet.”</a:t>
            </a:r>
            <a:endParaRPr lang="en-US" sz="1600" dirty="0"/>
          </a:p>
        </p:txBody>
      </p:sp>
      <p:sp>
        <p:nvSpPr>
          <p:cNvPr id="7" name="Text 5"/>
          <p:cNvSpPr/>
          <p:nvPr/>
        </p:nvSpPr>
        <p:spPr>
          <a:xfrm>
            <a:off x="365760" y="2249424"/>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YOUR THREE JOBS</a:t>
            </a:r>
            <a:endParaRPr lang="en-US" sz="1100" dirty="0"/>
          </a:p>
        </p:txBody>
      </p:sp>
      <p:sp>
        <p:nvSpPr>
          <p:cNvPr id="8" name="Shape 6"/>
          <p:cNvSpPr/>
          <p:nvPr/>
        </p:nvSpPr>
        <p:spPr>
          <a:xfrm>
            <a:off x="365760" y="2505456"/>
            <a:ext cx="8412480" cy="731520"/>
          </a:xfrm>
          <a:prstGeom prst="roundRect">
            <a:avLst>
              <a:gd name="adj" fmla="val 12500"/>
            </a:avLst>
          </a:prstGeom>
          <a:solidFill>
            <a:srgbClr val="E5F7FC"/>
          </a:solidFill>
          <a:ln/>
          <a:effectLst>
            <a:outerShdw sx="100000" sy="100000" kx="0" ky="0" algn="bl" rotWithShape="0" blurRad="101600" dist="38100" dir="2700000">
              <a:srgbClr val="000000">
                <a:alpha val="12000"/>
              </a:srgbClr>
            </a:outerShdw>
          </a:effectLst>
        </p:spPr>
      </p:sp>
      <p:sp>
        <p:nvSpPr>
          <p:cNvPr id="9" name="Text 7"/>
          <p:cNvSpPr/>
          <p:nvPr/>
        </p:nvSpPr>
        <p:spPr>
          <a:xfrm>
            <a:off x="594360" y="2569464"/>
            <a:ext cx="2651760" cy="603504"/>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 Read like a Reader</a:t>
            </a:r>
            <a:endParaRPr lang="en-US" sz="1300" dirty="0"/>
          </a:p>
        </p:txBody>
      </p:sp>
      <p:sp>
        <p:nvSpPr>
          <p:cNvPr id="10" name="Text 8"/>
          <p:cNvSpPr/>
          <p:nvPr/>
        </p:nvSpPr>
        <p:spPr>
          <a:xfrm>
            <a:off x="3337560" y="2569464"/>
            <a:ext cx="5303520" cy="603504"/>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What happens in this moment? Someone plucks a bowstring and the sound fills the room. Why is this particular sound so powerful for the children?</a:t>
            </a:r>
            <a:endParaRPr lang="en-US" sz="1200" dirty="0"/>
          </a:p>
        </p:txBody>
      </p:sp>
      <p:sp>
        <p:nvSpPr>
          <p:cNvPr id="11" name="Shape 9"/>
          <p:cNvSpPr/>
          <p:nvPr/>
        </p:nvSpPr>
        <p:spPr>
          <a:xfrm>
            <a:off x="365760" y="3328416"/>
            <a:ext cx="8412480" cy="932688"/>
          </a:xfrm>
          <a:prstGeom prst="roundRect">
            <a:avLst>
              <a:gd name="adj" fmla="val 9804"/>
            </a:avLst>
          </a:prstGeom>
          <a:solidFill>
            <a:srgbClr val="F0E8F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3392424"/>
            <a:ext cx="2651760" cy="804672"/>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 Read like a Writer</a:t>
            </a:r>
            <a:endParaRPr lang="en-US" sz="1300" dirty="0"/>
          </a:p>
        </p:txBody>
      </p:sp>
      <p:sp>
        <p:nvSpPr>
          <p:cNvPr id="13" name="Text 11"/>
          <p:cNvSpPr/>
          <p:nvPr/>
        </p:nvSpPr>
        <p:spPr>
          <a:xfrm>
            <a:off x="3337560" y="3392424"/>
            <a:ext cx="5303520" cy="804672"/>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Notice the colon — Lewis uses it to pause, then describe the sound in more detail. What effect does “chirruping twang” have? Why does Lewis say “that one small noise” rather than just “the noise”?</a:t>
            </a:r>
            <a:endParaRPr lang="en-US" sz="1200" dirty="0"/>
          </a:p>
        </p:txBody>
      </p:sp>
      <p:sp>
        <p:nvSpPr>
          <p:cNvPr id="14" name="Shape 12"/>
          <p:cNvSpPr/>
          <p:nvPr/>
        </p:nvSpPr>
        <p:spPr>
          <a:xfrm>
            <a:off x="365760" y="4352544"/>
            <a:ext cx="8412480" cy="530352"/>
          </a:xfrm>
          <a:prstGeom prst="roundRect">
            <a:avLst>
              <a:gd name="adj" fmla="val 17241"/>
            </a:avLst>
          </a:prstGeom>
          <a:solidFill>
            <a:srgbClr val="E8F8EF"/>
          </a:solidFill>
          <a:ln/>
          <a:effectLst>
            <a:outerShdw sx="100000" sy="100000" kx="0" ky="0" algn="bl" rotWithShape="0" blurRad="101600" dist="38100" dir="2700000">
              <a:srgbClr val="000000">
                <a:alpha val="12000"/>
              </a:srgbClr>
            </a:outerShdw>
          </a:effectLst>
        </p:spPr>
      </p:sp>
      <p:sp>
        <p:nvSpPr>
          <p:cNvPr id="15" name="Text 13"/>
          <p:cNvSpPr/>
          <p:nvPr/>
        </p:nvSpPr>
        <p:spPr>
          <a:xfrm>
            <a:off x="594360" y="4416552"/>
            <a:ext cx="2651760" cy="402336"/>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 Mimic</a:t>
            </a:r>
            <a:endParaRPr lang="en-US" sz="1300" dirty="0"/>
          </a:p>
        </p:txBody>
      </p:sp>
      <p:sp>
        <p:nvSpPr>
          <p:cNvPr id="16" name="Text 14"/>
          <p:cNvSpPr/>
          <p:nvPr/>
        </p:nvSpPr>
        <p:spPr>
          <a:xfrm>
            <a:off x="3337560" y="4416552"/>
            <a:ext cx="5303520" cy="402336"/>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Write your own sentence using this colon pattern. Describe a sound that brings back a memory.</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Writer's Workshop</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WRITING STAGE</a:t>
            </a:r>
            <a:endParaRPr lang="en-US" sz="1100" dirty="0"/>
          </a:p>
        </p:txBody>
      </p:sp>
      <p:sp>
        <p:nvSpPr>
          <p:cNvPr id="5" name="Shape 3"/>
          <p:cNvSpPr/>
          <p:nvPr/>
        </p:nvSpPr>
        <p:spPr>
          <a:xfrm>
            <a:off x="365760" y="1042416"/>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33856"/>
            <a:ext cx="7863840" cy="475488"/>
          </a:xfrm>
          <a:prstGeom prst="rect">
            <a:avLst/>
          </a:prstGeom>
          <a:noFill/>
          <a:ln/>
        </p:spPr>
        <p:txBody>
          <a:bodyPr wrap="square" lIns="0" tIns="0" rIns="0" bIns="0" rtlCol="0" anchor="ctr"/>
          <a:lstStyle/>
          <a:p>
            <a:pPr indent="0" marL="0">
              <a:buNone/>
            </a:pPr>
            <a:r>
              <a:rPr lang="en-US" sz="2200" b="1" dirty="0">
                <a:solidFill>
                  <a:srgbClr val="C7922C"/>
                </a:solidFill>
                <a:latin typeface="Calibri" pitchFamily="34" charset="0"/>
                <a:ea typeface="Calibri" pitchFamily="34" charset="-122"/>
                <a:cs typeface="Calibri" pitchFamily="34" charset="-120"/>
              </a:rPr>
              <a:t>Literary Analysis — Noticing Evidence</a:t>
            </a:r>
            <a:endParaRPr lang="en-US" sz="2200" dirty="0"/>
          </a:p>
        </p:txBody>
      </p:sp>
      <p:sp>
        <p:nvSpPr>
          <p:cNvPr id="7" name="Text 5"/>
          <p:cNvSpPr/>
          <p:nvPr/>
        </p:nvSpPr>
        <p:spPr>
          <a:xfrm>
            <a:off x="365760" y="182880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TODAY'S FOCUS</a:t>
            </a:r>
            <a:endParaRPr lang="en-US" sz="1100" dirty="0"/>
          </a:p>
        </p:txBody>
      </p:sp>
      <p:sp>
        <p:nvSpPr>
          <p:cNvPr id="8" name="Text 6"/>
          <p:cNvSpPr/>
          <p:nvPr/>
        </p:nvSpPr>
        <p:spPr>
          <a:xfrm>
            <a:off x="457200" y="2084832"/>
            <a:ext cx="8229600" cy="5943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Note one detail today that shows something about your chosen character.</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2026-07-11T22:29:48Z</dcterms:created>
  <dcterms:modified xsi:type="dcterms:W3CDTF">2026-07-11T22:29:48Z</dcterms:modified>
</cp:coreProperties>
</file>