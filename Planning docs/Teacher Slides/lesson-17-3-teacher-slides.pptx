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17, Day 3.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Apply an opinion structure using a setting detail as evidence, not just a character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15-minute timer. Craft move: Apply an opinion structure using a setting detail as evidence, not just a character action.. Level-up: ⭐ State your opinion  ⭐⭐ Use the house as evidence  ⭐⭐⭐ Explain its importance to the plan  ⭐⭐⭐⭐ Compare it to a "famous" historical place for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Make sure you are using a SETTING detail as evidence this time, not just a character's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opinion about ordinary places in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Mama and the girls left home and traveled north toward the sea. Today: Arrive at Uncle Henrik's house by the sea. Big Q: As you read today, watch for the setting, the characters, and the moment of danger. What is Copenhagen like in 1943? Who is Annemarie? What small thing happens that tells you life is not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"Uncle Henrik lives in a house by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"ellen and annemarie walked to the meadow they could see sweden across the water" Corrected: "Ellen and Annemarie walked to the meadow. They could see Sweden across the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"ellen and annemarie walked to the meadow they could see sweden across the water" Corrected: "Ellen and Annemarie walked to the meadow. They could see Sweden across the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incred — ible — not able to be believed (amazing) | cred — ence — the belief that something is true | pretend — — to stretch the truth (act as if) | attend — — to stretch yourself toward; to pay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interrupt: To stop something while it is happening. | conduct: How someone behaves or acts — or, to lead or guide. | relocate: To move someone or something to a new place — sometimes by force. | suspicion: A feeling that something is wrong, even if you don’t have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"Annemarie hides the necklace." -&gt; hides | "Ellen and Annemarie walk to the meadow." -&gt; walk | "It is a safe place." -&gt;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"Annemarie hides the necklace." -&gt; hides | "Ellen and Annemarie walk to the meadow." -&gt; walk | "It is a safe place." -&gt;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Everyday word (schwa): banana, sofa, above | Academic word (schwa): occupation, resistance, soldier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Everyday word (schwa): banana, sofa, above | Academic word (schwa): occupation, resistance, soldier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Opinion Writing — Practicing Evidence
Focus: Practice using a setting detail (not just a character action)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6E9B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6E9BD9"/>
                </a:solidFill>
                <a:latin typeface="Calibri" pitchFamily="34" charset="0"/>
                <a:ea typeface="Calibri" pitchFamily="34" charset="-122"/>
                <a:cs typeface="Calibri" pitchFamily="34" charset="-120"/>
              </a:rPr>
              <a:t>WEEK 17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7</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Uncle Henrik's House</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17  ·  Virtue: Courage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Uncle Henrik lives in a house by the sea.</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"Uncle Henrik lives in a house by the sea."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Why might a quiet, ordinary-seeming home become an important part of a dangerous plan?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15 minutes - keep your pencil moving!</a:t>
            </a:r>
            <a:endParaRPr lang="en-US" sz="1500" dirty="0"/>
          </a:p>
        </p:txBody>
      </p:sp>
      <p:sp>
        <p:nvSpPr>
          <p:cNvPr id="4" name="Shape 2"/>
          <p:cNvSpPr/>
          <p:nvPr/>
        </p:nvSpPr>
        <p:spPr>
          <a:xfrm>
            <a:off x="457200" y="1170432"/>
            <a:ext cx="8229600" cy="877824"/>
          </a:xfrm>
          <a:prstGeom prst="roundRect">
            <a:avLst>
              <a:gd name="adj" fmla="val 10417"/>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86384"/>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your opinion: do you think ordinary places (like a fisherman's house) can play as important a role in history as famous places do? Use Uncle Henrik's house as your evidence.</a:t>
            </a:r>
            <a:endParaRPr lang="en-US" sz="1200" dirty="0"/>
          </a:p>
        </p:txBody>
      </p:sp>
      <p:sp>
        <p:nvSpPr>
          <p:cNvPr id="6" name="Shape 4"/>
          <p:cNvSpPr/>
          <p:nvPr/>
        </p:nvSpPr>
        <p:spPr>
          <a:xfrm>
            <a:off x="457200" y="2176272"/>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231136"/>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Apply an opinion structure using a setting detail as evidence, not just a character action.</a:t>
            </a:r>
            <a:endParaRPr lang="en-US" sz="1300" dirty="0"/>
          </a:p>
        </p:txBody>
      </p:sp>
      <p:sp>
        <p:nvSpPr>
          <p:cNvPr id="8" name="Text 6"/>
          <p:cNvSpPr/>
          <p:nvPr/>
        </p:nvSpPr>
        <p:spPr>
          <a:xfrm>
            <a:off x="548640" y="2923032"/>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State your opinion  ⭐⭐ Use the house as evidence  ⭐⭐⭐ Explain its importance to the plan  ⭐⭐⭐⭐ Compare it to a "famous" historical place for contrast</a:t>
            </a:r>
            <a:endParaRPr lang="en-US" sz="1150" dirty="0"/>
          </a:p>
        </p:txBody>
      </p:sp>
      <p:sp>
        <p:nvSpPr>
          <p:cNvPr id="9" name="Text 7"/>
          <p:cNvSpPr/>
          <p:nvPr/>
        </p:nvSpPr>
        <p:spPr>
          <a:xfrm>
            <a:off x="548640" y="3427476"/>
            <a:ext cx="8046720" cy="1601724"/>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Make sure you are using a SETTING detail as evidence this time, not just a character's action.</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opinion about ordinary places in history.</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Mama and the girls left home and traveled north toward the sea.</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Arrive at Uncle Henrik's house by the sea.</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As you read today, watch for the setting, the characters, and the moment of danger. What is Copenhagen like in 1943? Who is Annemarie? What small thing happens that tells you life is not normal?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slow down at the start of a book. The first chapters tell you who the characters are, where they live, and what trouble is about to begin.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Uncle Henrik lives in a house by the sea.</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ellen and annemarie walked to the meadow they could see sweden across the water</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ellen and annemarie walked to the meadow they could see sweden across the water</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Ellen and Annemarie walked to the meadow. They could see Sweden across the water.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Word Bases: cred + tend</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cred is a Latin root meaning to believe. tend means to stretch or to reach. Both roots build a lot of words you’ll see in this week’s reading.</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847344"/>
          </a:xfrm>
          <a:prstGeom prst="roundRect">
            <a:avLst>
              <a:gd name="adj" fmla="val 8633"/>
            </a:avLst>
          </a:prstGeom>
          <a:solidFill>
            <a:srgbClr val="F8F4FF"/>
          </a:solidFill>
          <a:ln w="12700">
            <a:solidFill>
              <a:srgbClr val="8B6FC0"/>
            </a:solidFill>
            <a:prstDash val="solid"/>
          </a:ln>
        </p:spPr>
      </p:sp>
      <p:sp>
        <p:nvSpPr>
          <p:cNvPr id="9" name="Text 7"/>
          <p:cNvSpPr/>
          <p:nvPr/>
        </p:nvSpPr>
        <p:spPr>
          <a:xfrm>
            <a:off x="438912" y="1892808"/>
            <a:ext cx="1865376" cy="755904"/>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credible = cred + -ible (able to be believed)</a:t>
            </a:r>
            <a:endParaRPr lang="en-US" sz="1100" dirty="0"/>
          </a:p>
        </p:txBody>
      </p:sp>
      <p:sp>
        <p:nvSpPr>
          <p:cNvPr id="10" name="Shape 8"/>
          <p:cNvSpPr/>
          <p:nvPr/>
        </p:nvSpPr>
        <p:spPr>
          <a:xfrm>
            <a:off x="2468880" y="1847088"/>
            <a:ext cx="2011680" cy="847344"/>
          </a:xfrm>
          <a:prstGeom prst="roundRect">
            <a:avLst>
              <a:gd name="adj" fmla="val 8633"/>
            </a:avLst>
          </a:prstGeom>
          <a:solidFill>
            <a:srgbClr val="F8F4FF"/>
          </a:solidFill>
          <a:ln w="12700">
            <a:solidFill>
              <a:srgbClr val="8B6FC0"/>
            </a:solidFill>
            <a:prstDash val="solid"/>
          </a:ln>
        </p:spPr>
      </p:sp>
      <p:sp>
        <p:nvSpPr>
          <p:cNvPr id="11" name="Text 9"/>
          <p:cNvSpPr/>
          <p:nvPr/>
        </p:nvSpPr>
        <p:spPr>
          <a:xfrm>
            <a:off x="2542032" y="1892808"/>
            <a:ext cx="1865376" cy="755904"/>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credit = cred + -it (something you believe in someone’s ability to pay)</a:t>
            </a:r>
            <a:endParaRPr lang="en-US" sz="1100" dirty="0"/>
          </a:p>
        </p:txBody>
      </p:sp>
      <p:sp>
        <p:nvSpPr>
          <p:cNvPr id="12" name="Shape 10"/>
          <p:cNvSpPr/>
          <p:nvPr/>
        </p:nvSpPr>
        <p:spPr>
          <a:xfrm>
            <a:off x="4572000" y="1847088"/>
            <a:ext cx="2011680" cy="847344"/>
          </a:xfrm>
          <a:prstGeom prst="roundRect">
            <a:avLst>
              <a:gd name="adj" fmla="val 8633"/>
            </a:avLst>
          </a:prstGeom>
          <a:solidFill>
            <a:srgbClr val="F8F4FF"/>
          </a:solidFill>
          <a:ln w="12700">
            <a:solidFill>
              <a:srgbClr val="8B6FC0"/>
            </a:solidFill>
            <a:prstDash val="solid"/>
          </a:ln>
        </p:spPr>
      </p:sp>
      <p:sp>
        <p:nvSpPr>
          <p:cNvPr id="13" name="Text 11"/>
          <p:cNvSpPr/>
          <p:nvPr/>
        </p:nvSpPr>
        <p:spPr>
          <a:xfrm>
            <a:off x="4645152" y="1892808"/>
            <a:ext cx="1865376" cy="755904"/>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intend = in- + tend (stretch your mind toward)</a:t>
            </a:r>
            <a:endParaRPr lang="en-US" sz="1100" dirty="0"/>
          </a:p>
        </p:txBody>
      </p:sp>
      <p:sp>
        <p:nvSpPr>
          <p:cNvPr id="14" name="Shape 12"/>
          <p:cNvSpPr/>
          <p:nvPr/>
        </p:nvSpPr>
        <p:spPr>
          <a:xfrm>
            <a:off x="6675120" y="1847088"/>
            <a:ext cx="2011680" cy="847344"/>
          </a:xfrm>
          <a:prstGeom prst="roundRect">
            <a:avLst>
              <a:gd name="adj" fmla="val 8633"/>
            </a:avLst>
          </a:prstGeom>
          <a:solidFill>
            <a:srgbClr val="F8F4FF"/>
          </a:solidFill>
          <a:ln w="12700">
            <a:solidFill>
              <a:srgbClr val="8B6FC0"/>
            </a:solidFill>
            <a:prstDash val="solid"/>
          </a:ln>
        </p:spPr>
      </p:sp>
      <p:sp>
        <p:nvSpPr>
          <p:cNvPr id="15" name="Text 13"/>
          <p:cNvSpPr/>
          <p:nvPr/>
        </p:nvSpPr>
        <p:spPr>
          <a:xfrm>
            <a:off x="6748272" y="1892808"/>
            <a:ext cx="1865376" cy="755904"/>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extend = ex- + tend (stretch out)</a:t>
            </a:r>
            <a:endParaRPr lang="en-US" sz="1100" dirty="0"/>
          </a:p>
        </p:txBody>
      </p:sp>
      <p:sp>
        <p:nvSpPr>
          <p:cNvPr id="16" name="Text 14"/>
          <p:cNvSpPr/>
          <p:nvPr/>
        </p:nvSpPr>
        <p:spPr>
          <a:xfrm>
            <a:off x="365760" y="2813304"/>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3069336"/>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3115056"/>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incred — ible — not able to be believed (amazing)</a:t>
            </a:r>
            <a:endParaRPr lang="en-US" sz="1300" dirty="0"/>
          </a:p>
        </p:txBody>
      </p:sp>
      <p:sp>
        <p:nvSpPr>
          <p:cNvPr id="19" name="Shape 17"/>
          <p:cNvSpPr/>
          <p:nvPr/>
        </p:nvSpPr>
        <p:spPr>
          <a:xfrm>
            <a:off x="365760" y="3526536"/>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572256"/>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cred — ence — the belief that something is true</a:t>
            </a:r>
            <a:endParaRPr lang="en-US" sz="1300" dirty="0"/>
          </a:p>
        </p:txBody>
      </p:sp>
      <p:sp>
        <p:nvSpPr>
          <p:cNvPr id="21" name="Shape 19"/>
          <p:cNvSpPr/>
          <p:nvPr/>
        </p:nvSpPr>
        <p:spPr>
          <a:xfrm>
            <a:off x="365760" y="3983736"/>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4029456"/>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pretend — — to stretch the truth (act as if)</a:t>
            </a:r>
            <a:endParaRPr lang="en-US" sz="1300" dirty="0"/>
          </a:p>
        </p:txBody>
      </p:sp>
      <p:sp>
        <p:nvSpPr>
          <p:cNvPr id="23" name="Shape 21"/>
          <p:cNvSpPr/>
          <p:nvPr/>
        </p:nvSpPr>
        <p:spPr>
          <a:xfrm>
            <a:off x="365760" y="4440936"/>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486656"/>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attend — — to stretch yourself toward; to pay attention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soldier’s shout interrupted the girls’ race home.”</a:t>
            </a:r>
            <a:endParaRPr lang="en-US" sz="1050" dirty="0"/>
          </a:p>
        </p:txBody>
      </p:sp>
      <p:sp>
        <p:nvSpPr>
          <p:cNvPr id="7" name="Text 5"/>
          <p:cNvSpPr/>
          <p:nvPr/>
        </p:nvSpPr>
        <p:spPr>
          <a:xfrm>
            <a:off x="45720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interrupt</a:t>
            </a:r>
            <a:endParaRPr lang="en-US" sz="1400" dirty="0"/>
          </a:p>
        </p:txBody>
      </p:sp>
      <p:sp>
        <p:nvSpPr>
          <p:cNvPr id="8" name="Text 6"/>
          <p:cNvSpPr/>
          <p:nvPr/>
        </p:nvSpPr>
        <p:spPr>
          <a:xfrm>
            <a:off x="457200" y="172364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stop something while it is happening.</a:t>
            </a:r>
            <a:endParaRPr lang="en-US" sz="1100" dirty="0"/>
          </a:p>
        </p:txBody>
      </p:sp>
      <p:sp>
        <p:nvSpPr>
          <p:cNvPr id="9" name="Shape 7"/>
          <p:cNvSpPr/>
          <p:nvPr/>
        </p:nvSpPr>
        <p:spPr>
          <a:xfrm>
            <a:off x="4572000" y="91440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“Papa’s conduct stayed calm when the soldiers came near the apartment.”</a:t>
            </a:r>
            <a:endParaRPr lang="en-US" sz="1050" dirty="0"/>
          </a:p>
        </p:txBody>
      </p:sp>
      <p:sp>
        <p:nvSpPr>
          <p:cNvPr id="11" name="Text 9"/>
          <p:cNvSpPr/>
          <p:nvPr/>
        </p:nvSpPr>
        <p:spPr>
          <a:xfrm>
            <a:off x="470916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conduct</a:t>
            </a:r>
            <a:endParaRPr lang="en-US" sz="1400" dirty="0"/>
          </a:p>
        </p:txBody>
      </p:sp>
      <p:sp>
        <p:nvSpPr>
          <p:cNvPr id="12" name="Text 10"/>
          <p:cNvSpPr/>
          <p:nvPr/>
        </p:nvSpPr>
        <p:spPr>
          <a:xfrm>
            <a:off x="4709160" y="172364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How someone behaves or acts — or, to lead or guide.</a:t>
            </a:r>
            <a:endParaRPr lang="en-US" sz="1100" dirty="0"/>
          </a:p>
        </p:txBody>
      </p:sp>
      <p:sp>
        <p:nvSpPr>
          <p:cNvPr id="13" name="Shape 11"/>
          <p:cNvSpPr/>
          <p:nvPr/>
        </p:nvSpPr>
        <p:spPr>
          <a:xfrm>
            <a:off x="320040" y="238506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457200" y="247650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“Papa said the Germans planned to ‘relocate’ the Jews — but Annemarie knew what he really meant.”</a:t>
            </a:r>
            <a:endParaRPr lang="en-US" sz="1050" dirty="0"/>
          </a:p>
        </p:txBody>
      </p:sp>
      <p:sp>
        <p:nvSpPr>
          <p:cNvPr id="15" name="Text 13"/>
          <p:cNvSpPr/>
          <p:nvPr/>
        </p:nvSpPr>
        <p:spPr>
          <a:xfrm>
            <a:off x="457200" y="288340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relocate</a:t>
            </a:r>
            <a:endParaRPr lang="en-US" sz="1400" dirty="0"/>
          </a:p>
        </p:txBody>
      </p:sp>
      <p:sp>
        <p:nvSpPr>
          <p:cNvPr id="16" name="Text 14"/>
          <p:cNvSpPr/>
          <p:nvPr/>
        </p:nvSpPr>
        <p:spPr>
          <a:xfrm>
            <a:off x="457200" y="319430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move someone or something to a new place — sometimes by force.</a:t>
            </a:r>
            <a:endParaRPr lang="en-US" sz="1100" dirty="0"/>
          </a:p>
        </p:txBody>
      </p:sp>
      <p:sp>
        <p:nvSpPr>
          <p:cNvPr id="17" name="Shape 15"/>
          <p:cNvSpPr/>
          <p:nvPr/>
        </p:nvSpPr>
        <p:spPr>
          <a:xfrm>
            <a:off x="4572000" y="238506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4709160" y="247650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padlock on Mrs. Hirsch’s shop filled Annemarie with suspicion.”</a:t>
            </a:r>
            <a:endParaRPr lang="en-US" sz="1050" dirty="0"/>
          </a:p>
        </p:txBody>
      </p:sp>
      <p:sp>
        <p:nvSpPr>
          <p:cNvPr id="19" name="Text 17"/>
          <p:cNvSpPr/>
          <p:nvPr/>
        </p:nvSpPr>
        <p:spPr>
          <a:xfrm>
            <a:off x="4709160" y="288340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suspicion</a:t>
            </a:r>
            <a:endParaRPr lang="en-US" sz="1400" dirty="0"/>
          </a:p>
        </p:txBody>
      </p:sp>
      <p:sp>
        <p:nvSpPr>
          <p:cNvPr id="20" name="Text 18"/>
          <p:cNvSpPr/>
          <p:nvPr/>
        </p:nvSpPr>
        <p:spPr>
          <a:xfrm>
            <a:off x="4709160" y="319430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feeling that something is wrong, even if you don’t have proof.</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Pronoun-Verb Agreement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Annemarie hides the necklace.</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Ellen and Annemarie walk to the meadow.</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It is a safe place.</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Pronoun-Verb Agreement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Annemarie </a:t>
            </a:r>
            <a:pPr indent="0" marL="0">
              <a:buNone/>
            </a:pPr>
            <a:r>
              <a:rPr lang="en-US" sz="1500" b="1" u="sng" dirty="0">
                <a:solidFill>
                  <a:srgbClr val="34B76F"/>
                </a:solidFill>
                <a:latin typeface="Calibri" pitchFamily="34" charset="0"/>
                <a:ea typeface="Calibri" pitchFamily="34" charset="-122"/>
                <a:cs typeface="Calibri" pitchFamily="34" charset="-120"/>
              </a:rPr>
              <a:t>hides</a:t>
            </a:r>
            <a:pPr indent="0" marL="0">
              <a:buNone/>
            </a:pPr>
            <a:r>
              <a:rPr lang="en-US" sz="1500" dirty="0">
                <a:solidFill>
                  <a:srgbClr val="1E293B"/>
                </a:solidFill>
                <a:latin typeface="Calibri" pitchFamily="34" charset="0"/>
                <a:ea typeface="Calibri" pitchFamily="34" charset="-122"/>
                <a:cs typeface="Calibri" pitchFamily="34" charset="-120"/>
              </a:rPr>
              <a:t> the necklace.</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Ellen and Annemarie </a:t>
            </a:r>
            <a:pPr indent="0" marL="0">
              <a:buNone/>
            </a:pPr>
            <a:r>
              <a:rPr lang="en-US" sz="1500" b="1" u="sng" dirty="0">
                <a:solidFill>
                  <a:srgbClr val="34B76F"/>
                </a:solidFill>
                <a:latin typeface="Calibri" pitchFamily="34" charset="0"/>
                <a:ea typeface="Calibri" pitchFamily="34" charset="-122"/>
                <a:cs typeface="Calibri" pitchFamily="34" charset="-120"/>
              </a:rPr>
              <a:t>walk</a:t>
            </a:r>
            <a:pPr indent="0" marL="0">
              <a:buNone/>
            </a:pPr>
            <a:r>
              <a:rPr lang="en-US" sz="1500" dirty="0">
                <a:solidFill>
                  <a:srgbClr val="1E293B"/>
                </a:solidFill>
                <a:latin typeface="Calibri" pitchFamily="34" charset="0"/>
                <a:ea typeface="Calibri" pitchFamily="34" charset="-122"/>
                <a:cs typeface="Calibri" pitchFamily="34" charset="-120"/>
              </a:rPr>
              <a:t> to the meadow.</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It </a:t>
            </a:r>
            <a:pPr indent="0" marL="0">
              <a:buNone/>
            </a:pPr>
            <a:r>
              <a:rPr lang="en-US" sz="1500" b="1" u="sng" dirty="0">
                <a:solidFill>
                  <a:srgbClr val="34B76F"/>
                </a:solidFill>
                <a:latin typeface="Calibri" pitchFamily="34" charset="0"/>
                <a:ea typeface="Calibri" pitchFamily="34" charset="-122"/>
                <a:cs typeface="Calibri" pitchFamily="34" charset="-120"/>
              </a:rPr>
              <a:t>is</a:t>
            </a:r>
            <a:pPr indent="0" marL="0">
              <a:buNone/>
            </a:pPr>
            <a:r>
              <a:rPr lang="en-US" sz="1500" dirty="0">
                <a:solidFill>
                  <a:srgbClr val="1E293B"/>
                </a:solidFill>
                <a:latin typeface="Calibri" pitchFamily="34" charset="0"/>
                <a:ea typeface="Calibri" pitchFamily="34" charset="-122"/>
                <a:cs typeface="Calibri" pitchFamily="34" charset="-120"/>
              </a:rPr>
              <a:t> a safe place.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Prefix &amp; Suffix Review</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banana   -   sofa   -   above   -   occupation   -   resistance   -   soldier</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Everyday word (schwa)</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Academic word (schwa)</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Prefix &amp; Suffix Review</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Everyday word (schwa)</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banana</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sofa</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above</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Academic word (schwa)</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occupation</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resistance</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soldier</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7</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Uncle Henrik's House</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Say banana. The middle a sounds like ‘uh.’ That’s the schwa.</a:t>
            </a:r>
            <a:endParaRPr lang="en-US" sz="1400" dirty="0"/>
          </a:p>
        </p:txBody>
      </p:sp>
      <p:sp>
        <p:nvSpPr>
          <p:cNvPr id="8" name="Shape 6"/>
          <p:cNvSpPr/>
          <p:nvPr/>
        </p:nvSpPr>
        <p:spPr>
          <a:xfrm>
            <a:off x="365760" y="2514600"/>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Now say occupation. Listen for the ‘uh’ in oc-cu-PA-tion. Where is it?</a:t>
            </a:r>
            <a:endParaRPr lang="en-US" sz="1400" dirty="0"/>
          </a:p>
        </p:txBody>
      </p:sp>
      <p:sp>
        <p:nvSpPr>
          <p:cNvPr id="10" name="Shape 8"/>
          <p:cNvSpPr/>
          <p:nvPr/>
        </p:nvSpPr>
        <p:spPr>
          <a:xfrm>
            <a:off x="365760" y="331012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40156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Schwa shows up in unstressed syllables of bigger words. Knowing this helps you SPELL the syllable even when you can’t hear it clearly.</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Opinion Writing — Practicing Evidence</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Practice using a setting detail (not just a character action) as evidence.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2026-07-11T22:13:23Z</dcterms:created>
  <dcterms:modified xsi:type="dcterms:W3CDTF">2026-07-11T22:13:23Z</dcterms:modified>
</cp:coreProperties>
</file>