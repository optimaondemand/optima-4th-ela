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9, Day 3.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Apply a rule-of-three list (drawer, shelf, floor) to build tension through repeated, specific searching.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12-minute timer. Craft move: Apply a rule-of-three list (drawer, shelf, floor) to build tension through repeated, specific searching.. Level-up: ⭐ List three specific places  ⭐⭐ Increase the tension with each one  ⭐⭐⭐ Add a feeling word for the final failed search  ⭐⭐⭐⭐ End on the character’s reaction, not just the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Find a vague description ("she looked everywhere"). Replace it with a specific rule-of-three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"Read your rule-of-three list and the tension it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Anne and Diana made a solemn vow to be best friends forever. Today: Discover what Anne confesses to, and why. Big Q: Anne has invented Katie Maurice and Violetta because no one stayed. In Ch. 12, she clasps hands with Diana over an imaginary running stream and they vow to be bosom friends forever. It is half-pretend and entirely real. By the end of Ch. 15, when Anne quits school over the slate-and-Gilbert disaster, the deepest grief is leaving Diana. Friendship isn’t the story’s subplot anymore. It is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"Marilla searched the drawer, the shelf, and the floor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"marilla looked in the drawer the closet and the shelf for the brooch" Corrected: "Marilla looked in the drawer, the closet, and the shelf for the brooch."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"marilla looked in the drawer the closet and the shelf for the brooch" Corrected: "Marilla looked in the drawer, the closet, and the shelf for the brooch."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over — head — above your head | over — sleep — to sleep too long (too much) | under — line — to draw a line under (for emphasis) | sub — way — an underground 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resolute: Mrs. Barry had a tall figure and a _____ mouth. | enraptured: Diana was _____ when Anne told her the name Idlewild. | vindictive: Mr. Phillips called Anne’s temper a _____ spirit.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"Anne’s courage surprised everyone at school." -&gt; courage | "Diana offered her forgiveness freely." -&gt; forgiveness | "Matthew’s patience calmed Anne." -&gt; patience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"Anne’s courage surprised everyone at school." -&gt; courage | "Diana offered her forgiveness freely." -&gt; forgiveness | "Matthew’s patience calmed Anne." -&gt; patience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"“Marilla felt hot anger surge up into her heart again.”"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Realistic Fiction — Friendship Scene
Focus: Write a moment of miscommunication or a small fib between the friends.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8BB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8BB0"/>
                </a:solidFill>
                <a:latin typeface="Calibri" pitchFamily="34" charset="0"/>
                <a:ea typeface="Calibri" pitchFamily="34" charset="-122"/>
                <a:cs typeface="Calibri" pitchFamily="34" charset="-120"/>
              </a:rPr>
              <a:t>WEEK 9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14</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Anne's Confession</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9  ·  Virtue: Imagination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Marilla searched the drawer, the shelf, and the floor carefully.</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"Marilla felt hot anger surge up into her heart again."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What does "surge up" suggest about how anger feels in this sentence?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12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moment where a character searches for something in a list of three specific places (like the mentor sentence), building tension as they come up empty each time.</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Apply a rule-of-three list (drawer, shelf, floor) to build tension through repeated, specific searching.</a:t>
            </a:r>
            <a:endParaRPr lang="en-US" sz="1300" dirty="0"/>
          </a:p>
        </p:txBody>
      </p:sp>
      <p:sp>
        <p:nvSpPr>
          <p:cNvPr id="8" name="Text 6"/>
          <p:cNvSpPr/>
          <p:nvPr/>
        </p:nvSpPr>
        <p:spPr>
          <a:xfrm>
            <a:off x="548640" y="2868168"/>
            <a:ext cx="8046720" cy="624078"/>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List three specific places  ⭐⭐ Increase the tension with each one  ⭐⭐⭐ Add a feeling word for the final failed search  ⭐⭐⭐⭐ End on the character’s reaction, not just the search</a:t>
            </a:r>
            <a:endParaRPr lang="en-US" sz="1150" dirty="0"/>
          </a:p>
        </p:txBody>
      </p:sp>
      <p:sp>
        <p:nvSpPr>
          <p:cNvPr id="9" name="Text 7"/>
          <p:cNvSpPr/>
          <p:nvPr/>
        </p:nvSpPr>
        <p:spPr>
          <a:xfrm>
            <a:off x="548640" y="3565398"/>
            <a:ext cx="8046720" cy="146380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Find a vague description ("she looked everywhere"). Replace it with a specific rule-of-three list.</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Read your rule-of-three list and the tension it builds.</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Anne and Diana made a solemn vow to be best friends forever.</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Discover what Anne confesses to, and why.</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Anne has invented Katie Maurice and Violetta because no one stayed. In Ch. 12, she clasps hands with Diana over an imaginary running stream and they vow to be bosom friends forever. It is half-pretend and entirely real. By the end of Ch. 15, when Anne quits school over the slate-and-Gilbert disaster, the deepest grief is leaving Diana. Friendship isn’t the story’s subplot anymore. It is the story.</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think about how problems grow. The first problem in a book is rarely the only one — new trouble appears as the story moves.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Marilla searched the drawer, the shelf, and the floor carefully.</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marilla looked in the drawer the closet and the shelf for the brooch</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marilla looked in the drawer the closet and the shelf for the brooch</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Marilla looked in the drawer, the closet, and the shelf for the brooch.</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Prefixes: over- (+ sub-/under- review)</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This week we add a new prefix: over- means above, across, or too much. We’re also reviewing sub- (under, below) and under- (below). All three are about position.</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662940"/>
          </a:xfrm>
          <a:prstGeom prst="roundRect">
            <a:avLst>
              <a:gd name="adj" fmla="val 11034"/>
            </a:avLst>
          </a:prstGeom>
          <a:solidFill>
            <a:srgbClr val="F8F4FF"/>
          </a:solidFill>
          <a:ln w="12700">
            <a:solidFill>
              <a:srgbClr val="8B6FC0"/>
            </a:solidFill>
            <a:prstDash val="solid"/>
          </a:ln>
        </p:spPr>
      </p:sp>
      <p:sp>
        <p:nvSpPr>
          <p:cNvPr id="9" name="Text 7"/>
          <p:cNvSpPr/>
          <p:nvPr/>
        </p:nvSpPr>
        <p:spPr>
          <a:xfrm>
            <a:off x="43891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overlook = over- + look (miss; look across)</a:t>
            </a:r>
            <a:endParaRPr lang="en-US" sz="1100" dirty="0"/>
          </a:p>
        </p:txBody>
      </p:sp>
      <p:sp>
        <p:nvSpPr>
          <p:cNvPr id="10" name="Shape 8"/>
          <p:cNvSpPr/>
          <p:nvPr/>
        </p:nvSpPr>
        <p:spPr>
          <a:xfrm>
            <a:off x="2468880" y="1847088"/>
            <a:ext cx="2011680" cy="662940"/>
          </a:xfrm>
          <a:prstGeom prst="roundRect">
            <a:avLst>
              <a:gd name="adj" fmla="val 11034"/>
            </a:avLst>
          </a:prstGeom>
          <a:solidFill>
            <a:srgbClr val="F8F4FF"/>
          </a:solidFill>
          <a:ln w="12700">
            <a:solidFill>
              <a:srgbClr val="8B6FC0"/>
            </a:solidFill>
            <a:prstDash val="solid"/>
          </a:ln>
        </p:spPr>
      </p:sp>
      <p:sp>
        <p:nvSpPr>
          <p:cNvPr id="11" name="Text 9"/>
          <p:cNvSpPr/>
          <p:nvPr/>
        </p:nvSpPr>
        <p:spPr>
          <a:xfrm>
            <a:off x="254203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overcoat = over- + coat (a coat over your other clothes)</a:t>
            </a:r>
            <a:endParaRPr lang="en-US" sz="1100" dirty="0"/>
          </a:p>
        </p:txBody>
      </p:sp>
      <p:sp>
        <p:nvSpPr>
          <p:cNvPr id="12" name="Shape 10"/>
          <p:cNvSpPr/>
          <p:nvPr/>
        </p:nvSpPr>
        <p:spPr>
          <a:xfrm>
            <a:off x="4572000" y="1847088"/>
            <a:ext cx="2011680" cy="662940"/>
          </a:xfrm>
          <a:prstGeom prst="roundRect">
            <a:avLst>
              <a:gd name="adj" fmla="val 11034"/>
            </a:avLst>
          </a:prstGeom>
          <a:solidFill>
            <a:srgbClr val="F8F4FF"/>
          </a:solidFill>
          <a:ln w="12700">
            <a:solidFill>
              <a:srgbClr val="8B6FC0"/>
            </a:solidFill>
            <a:prstDash val="solid"/>
          </a:ln>
        </p:spPr>
      </p:sp>
      <p:sp>
        <p:nvSpPr>
          <p:cNvPr id="13" name="Text 11"/>
          <p:cNvSpPr/>
          <p:nvPr/>
        </p:nvSpPr>
        <p:spPr>
          <a:xfrm>
            <a:off x="464515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submarine = sub- + marine (under the sea)</a:t>
            </a:r>
            <a:endParaRPr lang="en-US" sz="1100" dirty="0"/>
          </a:p>
        </p:txBody>
      </p:sp>
      <p:sp>
        <p:nvSpPr>
          <p:cNvPr id="14" name="Shape 12"/>
          <p:cNvSpPr/>
          <p:nvPr/>
        </p:nvSpPr>
        <p:spPr>
          <a:xfrm>
            <a:off x="6675120" y="1847088"/>
            <a:ext cx="2011680" cy="662940"/>
          </a:xfrm>
          <a:prstGeom prst="roundRect">
            <a:avLst>
              <a:gd name="adj" fmla="val 11034"/>
            </a:avLst>
          </a:prstGeom>
          <a:solidFill>
            <a:srgbClr val="F8F4FF"/>
          </a:solidFill>
          <a:ln w="12700">
            <a:solidFill>
              <a:srgbClr val="8B6FC0"/>
            </a:solidFill>
            <a:prstDash val="solid"/>
          </a:ln>
        </p:spPr>
      </p:sp>
      <p:sp>
        <p:nvSpPr>
          <p:cNvPr id="15" name="Text 13"/>
          <p:cNvSpPr/>
          <p:nvPr/>
        </p:nvSpPr>
        <p:spPr>
          <a:xfrm>
            <a:off x="674827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underground = under- + ground (below the ground)</a:t>
            </a:r>
            <a:endParaRPr lang="en-US" sz="1100" dirty="0"/>
          </a:p>
        </p:txBody>
      </p:sp>
      <p:sp>
        <p:nvSpPr>
          <p:cNvPr id="16" name="Text 14"/>
          <p:cNvSpPr/>
          <p:nvPr/>
        </p:nvSpPr>
        <p:spPr>
          <a:xfrm>
            <a:off x="365760" y="26289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28849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29306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over — head — above your head</a:t>
            </a:r>
            <a:endParaRPr lang="en-US" sz="1300" dirty="0"/>
          </a:p>
        </p:txBody>
      </p:sp>
      <p:sp>
        <p:nvSpPr>
          <p:cNvPr id="19" name="Shape 17"/>
          <p:cNvSpPr/>
          <p:nvPr/>
        </p:nvSpPr>
        <p:spPr>
          <a:xfrm>
            <a:off x="365760" y="33421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3878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over — sleep — to sleep too long (too much)</a:t>
            </a:r>
            <a:endParaRPr lang="en-US" sz="1300" dirty="0"/>
          </a:p>
        </p:txBody>
      </p:sp>
      <p:sp>
        <p:nvSpPr>
          <p:cNvPr id="21" name="Shape 19"/>
          <p:cNvSpPr/>
          <p:nvPr/>
        </p:nvSpPr>
        <p:spPr>
          <a:xfrm>
            <a:off x="365760" y="37993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38450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under — line — to draw a line under (for emphasis)</a:t>
            </a:r>
            <a:endParaRPr lang="en-US" sz="1300" dirty="0"/>
          </a:p>
        </p:txBody>
      </p:sp>
      <p:sp>
        <p:nvSpPr>
          <p:cNvPr id="23" name="Shape 21"/>
          <p:cNvSpPr/>
          <p:nvPr/>
        </p:nvSpPr>
        <p:spPr>
          <a:xfrm>
            <a:off x="365760" y="42565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3022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sub — way — an underground train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3 WORDS - READ THE SENTENCE, THEN THE MEANING</a:t>
            </a:r>
            <a:endParaRPr lang="en-US" sz="1100" dirty="0"/>
          </a:p>
        </p:txBody>
      </p:sp>
      <p:sp>
        <p:nvSpPr>
          <p:cNvPr id="5" name="Shape 3"/>
          <p:cNvSpPr/>
          <p:nvPr/>
        </p:nvSpPr>
        <p:spPr>
          <a:xfrm>
            <a:off x="320040" y="9144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176022"/>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Mrs. Barry had a tall figure and a _____ mouth.</a:t>
            </a:r>
            <a:endParaRPr lang="en-US" sz="1050" dirty="0"/>
          </a:p>
        </p:txBody>
      </p:sp>
      <p:sp>
        <p:nvSpPr>
          <p:cNvPr id="7" name="Text 5"/>
          <p:cNvSpPr/>
          <p:nvPr/>
        </p:nvSpPr>
        <p:spPr>
          <a:xfrm>
            <a:off x="457200" y="1236726"/>
            <a:ext cx="3794760" cy="541782"/>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resolute</a:t>
            </a:r>
            <a:endParaRPr lang="en-US" sz="1300" dirty="0"/>
          </a:p>
        </p:txBody>
      </p:sp>
      <p:sp>
        <p:nvSpPr>
          <p:cNvPr id="8" name="Shape 6"/>
          <p:cNvSpPr/>
          <p:nvPr/>
        </p:nvSpPr>
        <p:spPr>
          <a:xfrm>
            <a:off x="4572000" y="9144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Diana was _____ when Anne told her the name Idlewild.</a:t>
            </a:r>
            <a:endParaRPr lang="en-US" sz="1050" dirty="0"/>
          </a:p>
        </p:txBody>
      </p:sp>
      <p:sp>
        <p:nvSpPr>
          <p:cNvPr id="10" name="Text 8"/>
          <p:cNvSpPr/>
          <p:nvPr/>
        </p:nvSpPr>
        <p:spPr>
          <a:xfrm>
            <a:off x="4709160" y="1412748"/>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enraptured</a:t>
            </a:r>
            <a:endParaRPr lang="en-US" sz="1300" dirty="0"/>
          </a:p>
        </p:txBody>
      </p:sp>
      <p:sp>
        <p:nvSpPr>
          <p:cNvPr id="11" name="Shape 9"/>
          <p:cNvSpPr/>
          <p:nvPr/>
        </p:nvSpPr>
        <p:spPr>
          <a:xfrm>
            <a:off x="320040" y="1943100"/>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34540"/>
            <a:ext cx="3794760" cy="176022"/>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Mr. Phillips called Anne’s temper a _____ spirit.</a:t>
            </a:r>
            <a:endParaRPr lang="en-US" sz="1050" dirty="0"/>
          </a:p>
        </p:txBody>
      </p:sp>
      <p:sp>
        <p:nvSpPr>
          <p:cNvPr id="13" name="Text 11"/>
          <p:cNvSpPr/>
          <p:nvPr/>
        </p:nvSpPr>
        <p:spPr>
          <a:xfrm>
            <a:off x="457200" y="2265426"/>
            <a:ext cx="3794760" cy="53721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vindictive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Concrete &amp; Abstract Nouns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Anne’s courage surprised everyone at school.</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Diana offered her forgiveness freely.</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Matthew’s patience calmed Anne.</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Concrete &amp; Abstract Nouns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Anne’s </a:t>
            </a:r>
            <a:pPr indent="0" marL="0">
              <a:buNone/>
            </a:pPr>
            <a:r>
              <a:rPr lang="en-US" sz="1500" b="1" u="sng" dirty="0">
                <a:solidFill>
                  <a:srgbClr val="34B76F"/>
                </a:solidFill>
                <a:latin typeface="Calibri" pitchFamily="34" charset="0"/>
                <a:ea typeface="Calibri" pitchFamily="34" charset="-122"/>
                <a:cs typeface="Calibri" pitchFamily="34" charset="-120"/>
              </a:rPr>
              <a:t>courage</a:t>
            </a:r>
            <a:pPr indent="0" marL="0">
              <a:buNone/>
            </a:pPr>
            <a:r>
              <a:rPr lang="en-US" sz="1500" dirty="0">
                <a:solidFill>
                  <a:srgbClr val="1E293B"/>
                </a:solidFill>
                <a:latin typeface="Calibri" pitchFamily="34" charset="0"/>
                <a:ea typeface="Calibri" pitchFamily="34" charset="-122"/>
                <a:cs typeface="Calibri" pitchFamily="34" charset="-120"/>
              </a:rPr>
              <a:t> surprised everyone at school.</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Diana offered her </a:t>
            </a:r>
            <a:pPr indent="0" marL="0">
              <a:buNone/>
            </a:pPr>
            <a:r>
              <a:rPr lang="en-US" sz="1500" b="1" u="sng" dirty="0">
                <a:solidFill>
                  <a:srgbClr val="34B76F"/>
                </a:solidFill>
                <a:latin typeface="Calibri" pitchFamily="34" charset="0"/>
                <a:ea typeface="Calibri" pitchFamily="34" charset="-122"/>
                <a:cs typeface="Calibri" pitchFamily="34" charset="-120"/>
              </a:rPr>
              <a:t>forgiveness</a:t>
            </a:r>
            <a:pPr indent="0" marL="0">
              <a:buNone/>
            </a:pPr>
            <a:r>
              <a:rPr lang="en-US" sz="1500" dirty="0">
                <a:solidFill>
                  <a:srgbClr val="1E293B"/>
                </a:solidFill>
                <a:latin typeface="Calibri" pitchFamily="34" charset="0"/>
                <a:ea typeface="Calibri" pitchFamily="34" charset="-122"/>
                <a:cs typeface="Calibri" pitchFamily="34" charset="-120"/>
              </a:rPr>
              <a:t> freely.</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Matthew’s </a:t>
            </a:r>
            <a:pPr indent="0" marL="0">
              <a:buNone/>
            </a:pPr>
            <a:r>
              <a:rPr lang="en-US" sz="1500" b="1" u="sng" dirty="0">
                <a:solidFill>
                  <a:srgbClr val="34B76F"/>
                </a:solidFill>
                <a:latin typeface="Calibri" pitchFamily="34" charset="0"/>
                <a:ea typeface="Calibri" pitchFamily="34" charset="-122"/>
                <a:cs typeface="Calibri" pitchFamily="34" charset="-120"/>
              </a:rPr>
              <a:t>patience</a:t>
            </a:r>
            <a:pPr indent="0" marL="0">
              <a:buNone/>
            </a:pPr>
            <a:r>
              <a:rPr lang="en-US" sz="1500" dirty="0">
                <a:solidFill>
                  <a:srgbClr val="1E293B"/>
                </a:solidFill>
                <a:latin typeface="Calibri" pitchFamily="34" charset="0"/>
                <a:ea typeface="Calibri" pitchFamily="34" charset="-122"/>
                <a:cs typeface="Calibri" pitchFamily="34" charset="-120"/>
              </a:rPr>
              <a:t> calmed Anne.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14</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Anne's Confession</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As you read today, ask yourself: What new problem appears in these chapters? How does it connect to the first problem (Timothy's sickness)?</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Anne invents a false confession to escape her room. What does this tell you about Anne’s relationship to truth, and to what she wants?</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Anne wakes up and looks out the window. How does her view of Green Gables make YOU see the place differently?</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685800"/>
          </a:xfrm>
          <a:prstGeom prst="roundRect">
            <a:avLst>
              <a:gd name="adj" fmla="val 13333"/>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“Marilla felt hot anger surge up into her heart again.”</a:t>
            </a:r>
            <a:endParaRPr lang="en-US" sz="1600" dirty="0"/>
          </a:p>
        </p:txBody>
      </p:sp>
      <p:sp>
        <p:nvSpPr>
          <p:cNvPr id="7" name="Text 5"/>
          <p:cNvSpPr/>
          <p:nvPr/>
        </p:nvSpPr>
        <p:spPr>
          <a:xfrm>
            <a:off x="365760" y="1856232"/>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112264"/>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176272"/>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176272"/>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What is happening in this sentence? Marilla is feeling something physical AND emotional at the same time. What is it?</a:t>
            </a:r>
            <a:endParaRPr lang="en-US" sz="1200" dirty="0"/>
          </a:p>
        </p:txBody>
      </p:sp>
      <p:sp>
        <p:nvSpPr>
          <p:cNvPr id="11" name="Shape 9"/>
          <p:cNvSpPr/>
          <p:nvPr/>
        </p:nvSpPr>
        <p:spPr>
          <a:xfrm>
            <a:off x="365760" y="2734056"/>
            <a:ext cx="8412480" cy="530352"/>
          </a:xfrm>
          <a:prstGeom prst="roundRect">
            <a:avLst>
              <a:gd name="adj" fmla="val 17241"/>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798064"/>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2798064"/>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How did Montgomery build this sentence? Notice the physical verbs paired with an abstract feeling</a:t>
            </a:r>
            <a:endParaRPr lang="en-US" sz="1200" dirty="0"/>
          </a:p>
        </p:txBody>
      </p:sp>
      <p:sp>
        <p:nvSpPr>
          <p:cNvPr id="14" name="Shape 12"/>
          <p:cNvSpPr/>
          <p:nvPr/>
        </p:nvSpPr>
        <p:spPr>
          <a:xfrm>
            <a:off x="365760" y="3355848"/>
            <a:ext cx="8412480" cy="530352"/>
          </a:xfrm>
          <a:prstGeom prst="roundRect">
            <a:avLst>
              <a:gd name="adj" fmla="val 17241"/>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3419856"/>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3419856"/>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your own sentence using the same pattern in your notebook.</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Realistic Fiction — Friendship Scene</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Write a moment of miscommunication or a small fib between the friends.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