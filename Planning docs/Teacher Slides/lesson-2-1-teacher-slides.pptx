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Week 2, Day 1. Novel emoji: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1 quiet minute to look/read closely before any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Push toward naming the craft move: Open with an action + dialogue tag (like the author does) to pull your reader straight into the scene.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10-minute timer. Craft move: Open with an action + dialogue tag (like the author does) to pull your reader straight into the scene.. Level-up: ⭐ Add one sound detail  ⭐⭐ Add one smell or texture detail  ⭐⭐⭐ Use a dialogue tag other than "said"  ⭐⭐⭐⭐ Open with action, not with "One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2-minute timer. Today's revision focus: Look at your first sentence. Does it start with action? If not, revise it so it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 on 3-5 students. Keep sharing craft-focused: "Read your opening line — the one that pulls us straight into the scene."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1-minute 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Last week, the Great Owl agreed to help Mrs. Frisby and sent her to the rats living under the rosebush. Today: Follow Mrs. Frisby into the rat colony for the very first time. Big Q: As you read today, watch for the setting, the main character, and the first problem. Where does the family live? Who is Mrs. Frisby? What is the trouble?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DOL model: ""I’m home," called Mrs. Frisby, hurrying down the tunnel."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"im hungry said martin racing toward the supper bowl" Corrected: "“I’m hungry,” said Martin, racing toward the supper bowl."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"im hungry said martin racing toward the supper bowl" Corrected: "“I’m hungry,” said Martin, racing toward the supper bowl."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Morphology: unwrap — to take the cover off | helper — someone who helps | resting — taking a break right now | kindly — in a kind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Modeled word walkthrough for "eavesdrop". Definition: Eavesdrop means to secretly listen to a conversation you weren't meant to hear. Our context and word parts got us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 muscular: Having strong, well-developed muscles. | recessed: Set back into a wall or surface so it doesn't stick out. | deserted: Empty — completely without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"Mrs. Frisby hurried down the tunnel." -&gt; hurried | "Brutus blocked the entrance to the rosebush." -&gt; blocked | "Justin explained the rats’ plan." -&gt; explained | "Timothy could not get out of bed." -&gt; Timothy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"Mrs. Frisby hurried down the tunnel." -&gt; hurried | "Brutus blocked the entrance to the rosebush." -&gt; blocked | "Justin explained the rats’ plan." -&gt; explained | "Timothy could not get out of bed." -&gt; Timothy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Spelling: VCCV (divide between consonants): rabbit, garden, basket | Other pattern: paper, tiger, music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Spelling: VCCV (divide between consonants): rabbit, garden, basket | Other pattern: paper, tiger, music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Chapters 7–8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Writing: Narrative Writing — Sensory Draft Focus: Begin your full sensory draft. Bring your moment map to life with sight, sound, and touch details.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E4A2E"/>
        </a:solidFill>
      </p:bgPr>
    </p:bg>
    <p:spTree>
      <p:nvGrpSpPr>
        <p:cNvPr id="1" name=""/>
        <p:cNvGrpSpPr/>
        <p:nvPr/>
      </p:nvGrpSpPr>
      <p:grpSpPr>
        <a:xfrm>
          <a:off x="0" y="0"/>
          <a:ext cx="0" cy="0"/>
          <a:chOff x="0" y="0"/>
          <a:chExt cx="0" cy="0"/>
        </a:xfrm>
      </p:grpSpPr>
      <p:sp>
        <p:nvSpPr>
          <p:cNvPr id="2" name="Shape 0"/>
          <p:cNvSpPr/>
          <p:nvPr/>
        </p:nvSpPr>
        <p:spPr>
          <a:xfrm>
            <a:off x="0" y="4114800"/>
            <a:ext cx="9144000" cy="1028700"/>
          </a:xfrm>
          <a:prstGeom prst="rect">
            <a:avLst/>
          </a:prstGeom>
          <a:solidFill>
            <a:srgbClr val="8FBF7A">
              <a:alpha val="15000"/>
            </a:srgbClr>
          </a:solidFill>
          <a:ln/>
        </p:spPr>
      </p:sp>
      <p:sp>
        <p:nvSpPr>
          <p:cNvPr id="3" name="Text 1"/>
          <p:cNvSpPr/>
          <p:nvPr/>
        </p:nvSpPr>
        <p:spPr>
          <a:xfrm>
            <a:off x="457200" y="640080"/>
            <a:ext cx="8229600" cy="365760"/>
          </a:xfrm>
          <a:prstGeom prst="rect">
            <a:avLst/>
          </a:prstGeom>
          <a:noFill/>
          <a:ln/>
        </p:spPr>
        <p:txBody>
          <a:bodyPr wrap="square" lIns="0" tIns="0" rIns="0" bIns="0" rtlCol="0" anchor="ctr"/>
          <a:lstStyle/>
          <a:p>
            <a:pPr algn="l" indent="0" marL="0">
              <a:buNone/>
            </a:pPr>
            <a:r>
              <a:rPr lang="en-US" sz="1300" b="1" spc="400" kern="0" dirty="0">
                <a:solidFill>
                  <a:srgbClr val="8FBF7A"/>
                </a:solidFill>
                <a:latin typeface="Calibri" pitchFamily="34" charset="0"/>
                <a:ea typeface="Calibri" pitchFamily="34" charset="-122"/>
                <a:cs typeface="Calibri" pitchFamily="34" charset="-120"/>
              </a:rPr>
              <a:t>WEEK 2  ·  DAY 1</a:t>
            </a:r>
            <a:endParaRPr lang="en-US" sz="1300" dirty="0"/>
          </a:p>
        </p:txBody>
      </p:sp>
      <p:sp>
        <p:nvSpPr>
          <p:cNvPr id="4" name="Text 2"/>
          <p:cNvSpPr/>
          <p:nvPr/>
        </p:nvSpPr>
        <p:spPr>
          <a:xfrm>
            <a:off x="457200" y="1097280"/>
            <a:ext cx="8229600" cy="1645920"/>
          </a:xfrm>
          <a:prstGeom prst="rect">
            <a:avLst/>
          </a:prstGeom>
          <a:noFill/>
          <a:ln/>
        </p:spPr>
        <p:txBody>
          <a:bodyPr wrap="square" lIns="0" tIns="0" rIns="0" bIns="0" rtlCol="0" anchor="ctr"/>
          <a:lstStyle/>
          <a:p>
            <a:pPr algn="l" indent="0" marL="0">
              <a:buNone/>
            </a:pPr>
            <a:r>
              <a:rPr lang="en-US" sz="3200" b="1" dirty="0">
                <a:solidFill>
                  <a:srgbClr val="FFFFFF"/>
                </a:solidFill>
                <a:latin typeface="Calibri" pitchFamily="34" charset="0"/>
                <a:ea typeface="Calibri" pitchFamily="34" charset="-122"/>
                <a:cs typeface="Calibri" pitchFamily="34" charset="-120"/>
              </a:rPr>
              <a:t>Chapters 7–8</a:t>
            </a:r>
            <a:endParaRPr lang="en-US" sz="3200" dirty="0"/>
          </a:p>
          <a:p>
            <a:pPr algn="l" indent="0" marL="0">
              <a:buNone/>
            </a:pPr>
            <a:r>
              <a:rPr lang="en-US" sz="3200" b="1" dirty="0">
                <a:solidFill>
                  <a:srgbClr val="FFFFFF"/>
                </a:solidFill>
                <a:latin typeface="Calibri" pitchFamily="34" charset="0"/>
                <a:ea typeface="Calibri" pitchFamily="34" charset="-122"/>
                <a:cs typeface="Calibri" pitchFamily="34" charset="-120"/>
              </a:rPr>
              <a:t>Mrs. Frisby Returns</a:t>
            </a:r>
            <a:endParaRPr lang="en-US" sz="3200" dirty="0"/>
          </a:p>
        </p:txBody>
      </p:sp>
      <p:sp>
        <p:nvSpPr>
          <p:cNvPr id="5" name="Text 3"/>
          <p:cNvSpPr/>
          <p:nvPr/>
        </p:nvSpPr>
        <p:spPr>
          <a:xfrm>
            <a:off x="457200" y="4434840"/>
            <a:ext cx="8229600" cy="365760"/>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  Week 2  ·  Virtue: Ingenuity</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Notice</a:t>
            </a:r>
            <a:endParaRPr lang="en-US" sz="28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Text 2"/>
          <p:cNvSpPr/>
          <p:nvPr/>
        </p:nvSpPr>
        <p:spPr>
          <a:xfrm>
            <a:off x="457200" y="96012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LOOK CLOSELY - 1 MINUTE</a:t>
            </a:r>
            <a:endParaRPr lang="en-US" sz="1100" dirty="0"/>
          </a:p>
        </p:txBody>
      </p:sp>
      <p:sp>
        <p:nvSpPr>
          <p:cNvPr id="5" name="Shape 3"/>
          <p:cNvSpPr/>
          <p:nvPr/>
        </p:nvSpPr>
        <p:spPr>
          <a:xfrm>
            <a:off x="457200" y="1325880"/>
            <a:ext cx="8229600" cy="1005840"/>
          </a:xfrm>
          <a:prstGeom prst="roundRect">
            <a:avLst>
              <a:gd name="adj" fmla="val 9091"/>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640080" y="1435608"/>
            <a:ext cx="7863840" cy="7772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“I’m home,” called Mrs. Frisby, hurrying down the tunnel.</a:t>
            </a:r>
            <a:endParaRPr lang="en-US" sz="1600" dirty="0"/>
          </a:p>
        </p:txBody>
      </p:sp>
      <p:sp>
        <p:nvSpPr>
          <p:cNvPr id="7" name="Text 5"/>
          <p:cNvSpPr/>
          <p:nvPr/>
        </p:nvSpPr>
        <p:spPr>
          <a:xfrm>
            <a:off x="548640" y="2496312"/>
            <a:ext cx="8046720" cy="2441448"/>
          </a:xfrm>
          <a:prstGeom prst="rect">
            <a:avLst/>
          </a:prstGeom>
          <a:noFill/>
          <a:ln/>
        </p:spPr>
        <p:txBody>
          <a:bodyPr wrap="square" lIns="0" tIns="0" rIns="0" bIns="0" rtlCol="0" anchor="t"/>
          <a:lstStyle/>
          <a:p>
            <a:pPr indent="0" marL="0">
              <a:buNone/>
            </a:pPr>
            <a:r>
              <a:rPr lang="en-US" sz="1200" b="1" dirty="0">
                <a:solidFill>
                  <a:srgbClr val="8B6FC0"/>
                </a:solidFill>
                <a:latin typeface="Calibri" pitchFamily="34" charset="0"/>
                <a:ea typeface="Calibri" pitchFamily="34" charset="-122"/>
                <a:cs typeface="Calibri" pitchFamily="34" charset="-120"/>
              </a:rPr>
              <a:t>From the novel: </a:t>
            </a:r>
            <a:pPr indent="0" marL="0">
              <a:buNone/>
            </a:pPr>
            <a:r>
              <a:rPr lang="en-US" sz="1200" i="1" dirty="0">
                <a:solidFill>
                  <a:srgbClr val="1E293B"/>
                </a:solidFill>
                <a:latin typeface="Calibri" pitchFamily="34" charset="0"/>
                <a:ea typeface="Calibri" pitchFamily="34" charset="-122"/>
                <a:cs typeface="Calibri" pitchFamily="34" charset="-120"/>
              </a:rPr>
              <a:t>"“I’m home,” called Mrs. Frisby, hurrying down the tunnel."</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Discuss</a:t>
            </a:r>
            <a:endParaRPr lang="en-US" sz="2800" dirty="0"/>
          </a:p>
        </p:txBody>
      </p:sp>
      <p:sp>
        <p:nvSpPr>
          <p:cNvPr id="3" name="Shape 1"/>
          <p:cNvSpPr/>
          <p:nvPr/>
        </p:nvSpPr>
        <p:spPr>
          <a:xfrm>
            <a:off x="365760" y="749808"/>
            <a:ext cx="8412480" cy="0"/>
          </a:xfrm>
          <a:prstGeom prst="line">
            <a:avLst/>
          </a:prstGeom>
          <a:noFill/>
          <a:ln w="19050">
            <a:solidFill>
              <a:srgbClr val="8FBF7A"/>
            </a:solidFill>
            <a:prstDash val="solid"/>
          </a:ln>
        </p:spPr>
      </p:sp>
      <p:sp>
        <p:nvSpPr>
          <p:cNvPr id="4" name="Shape 2"/>
          <p:cNvSpPr/>
          <p:nvPr/>
        </p:nvSpPr>
        <p:spPr>
          <a:xfrm>
            <a:off x="6492240" y="173736"/>
            <a:ext cx="2286000" cy="502920"/>
          </a:xfrm>
          <a:prstGeom prst="roundRect">
            <a:avLst>
              <a:gd name="adj" fmla="val 21818"/>
            </a:avLst>
          </a:prstGeom>
          <a:solidFill>
            <a:srgbClr val="8FBF7A"/>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8FBF7A"/>
                </a:solidFill>
                <a:latin typeface="Calibri" pitchFamily="34" charset="0"/>
                <a:ea typeface="Calibri" pitchFamily="34" charset="-122"/>
                <a:cs typeface="Calibri" pitchFamily="34" charset="-120"/>
              </a:rPr>
              <a:t>TALK IT OVER - 2 MINUTES</a:t>
            </a:r>
            <a:endParaRPr lang="en-US" sz="1100" dirty="0"/>
          </a:p>
        </p:txBody>
      </p:sp>
      <p:sp>
        <p:nvSpPr>
          <p:cNvPr id="7" name="Shape 5"/>
          <p:cNvSpPr/>
          <p:nvPr/>
        </p:nvSpPr>
        <p:spPr>
          <a:xfrm>
            <a:off x="365760" y="1097280"/>
            <a:ext cx="8412480" cy="1097280"/>
          </a:xfrm>
          <a:prstGeom prst="roundRect">
            <a:avLst>
              <a:gd name="adj" fmla="val 8333"/>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88720"/>
            <a:ext cx="7863840" cy="914400"/>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What does "hurrying" tell us about how Mrs. Frisby feels as she heads into the rat colony? Turn and talk.</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EF6E8"/>
        </a:solidFill>
      </p:bgPr>
    </p:bg>
    <p:spTree>
      <p:nvGrpSpPr>
        <p:cNvPr id="1" name=""/>
        <p:cNvGrpSpPr/>
        <p:nvPr/>
      </p:nvGrpSpPr>
      <p:grpSpPr>
        <a:xfrm>
          <a:off x="0" y="0"/>
          <a:ext cx="0" cy="0"/>
          <a:chOff x="0" y="0"/>
          <a:chExt cx="0" cy="0"/>
        </a:xfrm>
      </p:grpSpPr>
      <p:sp>
        <p:nvSpPr>
          <p:cNvPr id="2" name="Text 0"/>
          <p:cNvSpPr/>
          <p:nvPr/>
        </p:nvSpPr>
        <p:spPr>
          <a:xfrm>
            <a:off x="457200" y="182880"/>
            <a:ext cx="8229600" cy="594360"/>
          </a:xfrm>
          <a:prstGeom prst="rect">
            <a:avLst/>
          </a:prstGeom>
          <a:noFill/>
          <a:ln/>
        </p:spPr>
        <p:txBody>
          <a:bodyPr wrap="square" lIns="0" tIns="0" rIns="0" bIns="0" rtlCol="0" anchor="ctr"/>
          <a:lstStyle/>
          <a:p>
            <a:pPr algn="ctr" indent="0" marL="0">
              <a:buNone/>
            </a:pPr>
            <a:r>
              <a:rPr lang="en-US" sz="3200" b="1" dirty="0">
                <a:solidFill>
                  <a:srgbClr val="0E1C42"/>
                </a:solidFill>
                <a:latin typeface="Calibri" pitchFamily="34" charset="0"/>
                <a:ea typeface="Calibri" pitchFamily="34" charset="-122"/>
                <a:cs typeface="Calibri" pitchFamily="34" charset="-120"/>
              </a:rPr>
              <a:t>Write</a:t>
            </a:r>
            <a:endParaRPr lang="en-US" sz="3200" dirty="0"/>
          </a:p>
        </p:txBody>
      </p:sp>
      <p:sp>
        <p:nvSpPr>
          <p:cNvPr id="3" name="Text 1"/>
          <p:cNvSpPr/>
          <p:nvPr/>
        </p:nvSpPr>
        <p:spPr>
          <a:xfrm>
            <a:off x="914400" y="749808"/>
            <a:ext cx="7315200" cy="347472"/>
          </a:xfrm>
          <a:prstGeom prst="rect">
            <a:avLst/>
          </a:prstGeom>
          <a:noFill/>
          <a:ln/>
        </p:spPr>
        <p:txBody>
          <a:bodyPr wrap="square" lIns="0" tIns="0" rIns="0" bIns="0" rtlCol="0" anchor="ctr"/>
          <a:lstStyle/>
          <a:p>
            <a:pPr algn="ctr" indent="0" marL="0">
              <a:buNone/>
            </a:pPr>
            <a:r>
              <a:rPr lang="en-US" sz="1500" dirty="0">
                <a:solidFill>
                  <a:srgbClr val="C7922C"/>
                </a:solidFill>
                <a:latin typeface="Calibri" pitchFamily="34" charset="0"/>
                <a:ea typeface="Calibri" pitchFamily="34" charset="-122"/>
                <a:cs typeface="Calibri" pitchFamily="34" charset="-120"/>
              </a:rPr>
              <a:t>10 minutes - keep your pencil moving!</a:t>
            </a:r>
            <a:endParaRPr lang="en-US" sz="1500" dirty="0"/>
          </a:p>
        </p:txBody>
      </p:sp>
      <p:sp>
        <p:nvSpPr>
          <p:cNvPr id="4" name="Shape 2"/>
          <p:cNvSpPr/>
          <p:nvPr/>
        </p:nvSpPr>
        <p:spPr>
          <a:xfrm>
            <a:off x="457200" y="1170432"/>
            <a:ext cx="8229600" cy="822960"/>
          </a:xfrm>
          <a:prstGeom prst="roundRect">
            <a:avLst>
              <a:gd name="adj" fmla="val 11111"/>
            </a:avLst>
          </a:prstGeom>
          <a:solidFill>
            <a:srgbClr val="FFFFFF"/>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640080" y="1225296"/>
            <a:ext cx="7863840" cy="731520"/>
          </a:xfrm>
          <a:prstGeom prst="rect">
            <a:avLst/>
          </a:prstGeom>
          <a:noFill/>
          <a:ln/>
        </p:spPr>
        <p:txBody>
          <a:bodyPr wrap="square" lIns="0" tIns="0" rIns="0" bIns="0" rtlCol="0" anchor="t"/>
          <a:lstStyle/>
          <a:p>
            <a:pPr indent="0" marL="0">
              <a:buNone/>
            </a:pPr>
            <a:r>
              <a:rPr lang="en-US" sz="1200" b="1" dirty="0">
                <a:solidFill>
                  <a:srgbClr val="C7922C"/>
                </a:solidFill>
                <a:latin typeface="Calibri" pitchFamily="34" charset="0"/>
                <a:ea typeface="Calibri" pitchFamily="34" charset="-122"/>
                <a:cs typeface="Calibri" pitchFamily="34" charset="-120"/>
              </a:rPr>
              <a:t>Prompt: </a:t>
            </a:r>
            <a:pPr indent="0" marL="0">
              <a:buNone/>
            </a:pPr>
            <a:r>
              <a:rPr lang="en-US" sz="1200" i="1" dirty="0">
                <a:solidFill>
                  <a:srgbClr val="1E293B"/>
                </a:solidFill>
                <a:latin typeface="Calibri" pitchFamily="34" charset="0"/>
                <a:ea typeface="Calibri" pitchFamily="34" charset="-122"/>
                <a:cs typeface="Calibri" pitchFamily="34" charset="-120"/>
              </a:rPr>
              <a:t>Write a postcard from Mrs. Frisby to a friend, describing the underground rat community she is about to discover — make it exciting enough that a friend would want to visit.</a:t>
            </a:r>
            <a:endParaRPr lang="en-US" sz="1200" dirty="0"/>
          </a:p>
        </p:txBody>
      </p:sp>
      <p:sp>
        <p:nvSpPr>
          <p:cNvPr id="6" name="Shape 4"/>
          <p:cNvSpPr/>
          <p:nvPr/>
        </p:nvSpPr>
        <p:spPr>
          <a:xfrm>
            <a:off x="457200" y="2121408"/>
            <a:ext cx="8229600" cy="655320"/>
          </a:xfrm>
          <a:prstGeom prst="roundRect">
            <a:avLst>
              <a:gd name="adj" fmla="val 13953"/>
            </a:avLst>
          </a:prstGeom>
          <a:solidFill>
            <a:srgbClr val="FFFFFF"/>
          </a:solidFill>
          <a:ln w="15875">
            <a:solidFill>
              <a:srgbClr val="8B6FC0"/>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640080" y="2176272"/>
            <a:ext cx="7863840" cy="545592"/>
          </a:xfrm>
          <a:prstGeom prst="rect">
            <a:avLst/>
          </a:prstGeom>
          <a:noFill/>
          <a:ln/>
        </p:spPr>
        <p:txBody>
          <a:bodyPr wrap="square" lIns="0" tIns="0" rIns="0" bIns="0" rtlCol="0" anchor="t"/>
          <a:lstStyle/>
          <a:p>
            <a:pPr indent="0" marL="0">
              <a:buNone/>
            </a:pPr>
            <a:r>
              <a:rPr lang="en-US" sz="1300" b="1" dirty="0">
                <a:solidFill>
                  <a:srgbClr val="8B6FC0"/>
                </a:solidFill>
                <a:latin typeface="Calibri" pitchFamily="34" charset="0"/>
                <a:ea typeface="Calibri" pitchFamily="34" charset="-122"/>
                <a:cs typeface="Calibri" pitchFamily="34" charset="-120"/>
              </a:rPr>
              <a:t>Today's craft move: </a:t>
            </a:r>
            <a:pPr indent="0" marL="0">
              <a:buNone/>
            </a:pPr>
            <a:r>
              <a:rPr lang="en-US" sz="1300" dirty="0">
                <a:solidFill>
                  <a:srgbClr val="1E293B"/>
                </a:solidFill>
                <a:latin typeface="Calibri" pitchFamily="34" charset="0"/>
                <a:ea typeface="Calibri" pitchFamily="34" charset="-122"/>
                <a:cs typeface="Calibri" pitchFamily="34" charset="-120"/>
              </a:rPr>
              <a:t>Open with an action + dialogue tag (like the author does) to pull your reader straight into the scene.</a:t>
            </a:r>
            <a:endParaRPr lang="en-US" sz="1300" dirty="0"/>
          </a:p>
        </p:txBody>
      </p:sp>
      <p:sp>
        <p:nvSpPr>
          <p:cNvPr id="8" name="Text 6"/>
          <p:cNvSpPr/>
          <p:nvPr/>
        </p:nvSpPr>
        <p:spPr>
          <a:xfrm>
            <a:off x="548640" y="2868168"/>
            <a:ext cx="8046720" cy="431292"/>
          </a:xfrm>
          <a:prstGeom prst="rect">
            <a:avLst/>
          </a:prstGeom>
          <a:noFill/>
          <a:ln/>
        </p:spPr>
        <p:txBody>
          <a:bodyPr wrap="square" lIns="0" tIns="0" rIns="0" bIns="0" rtlCol="0" anchor="ctr"/>
          <a:lstStyle/>
          <a:p>
            <a:pPr indent="0" marL="0">
              <a:buNone/>
            </a:pPr>
            <a:r>
              <a:rPr lang="en-US" sz="1150" i="1" dirty="0">
                <a:solidFill>
                  <a:srgbClr val="64748B"/>
                </a:solidFill>
                <a:latin typeface="Calibri" pitchFamily="34" charset="0"/>
                <a:ea typeface="Calibri" pitchFamily="34" charset="-122"/>
                <a:cs typeface="Calibri" pitchFamily="34" charset="-120"/>
              </a:rPr>
              <a:t>Level-Up (optional): ⭐ Add one sound detail  ⭐⭐ Add one smell or texture detail  ⭐⭐⭐ Use a dialogue tag other than "said"  ⭐⭐⭐⭐ Open with action, not with "One day..."</a:t>
            </a:r>
            <a:endParaRPr lang="en-US" sz="1150" dirty="0"/>
          </a:p>
        </p:txBody>
      </p:sp>
      <p:sp>
        <p:nvSpPr>
          <p:cNvPr id="9" name="Text 7"/>
          <p:cNvSpPr/>
          <p:nvPr/>
        </p:nvSpPr>
        <p:spPr>
          <a:xfrm>
            <a:off x="548640" y="3372612"/>
            <a:ext cx="8046720" cy="1656588"/>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Keep writing the whole time. If you get stuck, reread the prompt or write "I am thinking..." until a new idea comes.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8F8EF"/>
        </a:solidFill>
      </p:bgPr>
    </p:bg>
    <p:spTree>
      <p:nvGrpSpPr>
        <p:cNvPr id="1" name=""/>
        <p:cNvGrpSpPr/>
        <p:nvPr/>
      </p:nvGrpSpPr>
      <p:grpSpPr>
        <a:xfrm>
          <a:off x="0" y="0"/>
          <a:ext cx="0" cy="0"/>
          <a:chOff x="0" y="0"/>
          <a:chExt cx="0" cy="0"/>
        </a:xfrm>
      </p:grpSpPr>
      <p:sp>
        <p:nvSpPr>
          <p:cNvPr id="2" name="Text 0"/>
          <p:cNvSpPr/>
          <p:nvPr/>
        </p:nvSpPr>
        <p:spPr>
          <a:xfrm>
            <a:off x="914400" y="640080"/>
            <a:ext cx="7315200" cy="594360"/>
          </a:xfrm>
          <a:prstGeom prst="rect">
            <a:avLst/>
          </a:prstGeom>
          <a:noFill/>
          <a:ln/>
        </p:spPr>
        <p:txBody>
          <a:bodyPr wrap="square" lIns="0" tIns="0" rIns="0" bIns="0" rtlCol="0" anchor="ctr"/>
          <a:lstStyle/>
          <a:p>
            <a:pPr algn="ctr" indent="0" marL="0">
              <a:buNone/>
            </a:pPr>
            <a:r>
              <a:rPr lang="en-US" sz="3200" b="1" dirty="0">
                <a:solidFill>
                  <a:srgbClr val="0E1C42"/>
                </a:solidFill>
                <a:latin typeface="Calibri" pitchFamily="34" charset="0"/>
                <a:ea typeface="Calibri" pitchFamily="34" charset="-122"/>
                <a:cs typeface="Calibri" pitchFamily="34" charset="-120"/>
              </a:rPr>
              <a:t>Revise</a:t>
            </a:r>
            <a:endParaRPr lang="en-US" sz="3200" dirty="0"/>
          </a:p>
        </p:txBody>
      </p:sp>
      <p:sp>
        <p:nvSpPr>
          <p:cNvPr id="3" name="Text 1"/>
          <p:cNvSpPr/>
          <p:nvPr/>
        </p:nvSpPr>
        <p:spPr>
          <a:xfrm>
            <a:off x="914400" y="1234440"/>
            <a:ext cx="7315200" cy="411480"/>
          </a:xfrm>
          <a:prstGeom prst="rect">
            <a:avLst/>
          </a:prstGeom>
          <a:noFill/>
          <a:ln/>
        </p:spPr>
        <p:txBody>
          <a:bodyPr wrap="square" lIns="0" tIns="0" rIns="0" bIns="0" rtlCol="0" anchor="ctr"/>
          <a:lstStyle/>
          <a:p>
            <a:pPr algn="ctr" indent="0" marL="0">
              <a:buNone/>
            </a:pPr>
            <a:r>
              <a:rPr lang="en-US" sz="1500" dirty="0">
                <a:solidFill>
                  <a:srgbClr val="34B76F"/>
                </a:solidFill>
                <a:latin typeface="Calibri" pitchFamily="34" charset="0"/>
                <a:ea typeface="Calibri" pitchFamily="34" charset="-122"/>
                <a:cs typeface="Calibri" pitchFamily="34" charset="-120"/>
              </a:rPr>
              <a:t>2 minutes - improve ONE specific thing</a:t>
            </a:r>
            <a:endParaRPr lang="en-US" sz="1500" dirty="0"/>
          </a:p>
        </p:txBody>
      </p:sp>
      <p:sp>
        <p:nvSpPr>
          <p:cNvPr id="4" name="Shape 2"/>
          <p:cNvSpPr/>
          <p:nvPr/>
        </p:nvSpPr>
        <p:spPr>
          <a:xfrm>
            <a:off x="1097280" y="1828800"/>
            <a:ext cx="6949440" cy="777240"/>
          </a:xfrm>
          <a:prstGeom prst="roundRect">
            <a:avLst>
              <a:gd name="adj" fmla="val 11765"/>
            </a:avLst>
          </a:prstGeom>
          <a:solidFill>
            <a:srgbClr val="FFFFFF"/>
          </a:solidFill>
          <a:ln w="19050">
            <a:solidFill>
              <a:srgbClr val="34B76F"/>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1280160" y="1901952"/>
            <a:ext cx="6583680" cy="640080"/>
          </a:xfrm>
          <a:prstGeom prst="rect">
            <a:avLst/>
          </a:prstGeom>
          <a:noFill/>
          <a:ln/>
        </p:spPr>
        <p:txBody>
          <a:bodyPr wrap="square" lIns="0" tIns="0" rIns="0" bIns="0" rtlCol="0" anchor="ctr"/>
          <a:lstStyle/>
          <a:p>
            <a:pPr indent="0" marL="0">
              <a:buNone/>
            </a:pPr>
            <a:r>
              <a:rPr lang="en-US" sz="1400" b="1" dirty="0">
                <a:solidFill>
                  <a:srgbClr val="34B76F"/>
                </a:solidFill>
                <a:latin typeface="Calibri" pitchFamily="34" charset="0"/>
                <a:ea typeface="Calibri" pitchFamily="34" charset="-122"/>
                <a:cs typeface="Calibri" pitchFamily="34" charset="-120"/>
              </a:rPr>
              <a:t>Today's revision task: </a:t>
            </a:r>
            <a:pPr indent="0" marL="0">
              <a:buNone/>
            </a:pPr>
            <a:r>
              <a:rPr lang="en-US" sz="1400" dirty="0">
                <a:solidFill>
                  <a:srgbClr val="1E293B"/>
                </a:solidFill>
                <a:latin typeface="Calibri" pitchFamily="34" charset="0"/>
                <a:ea typeface="Calibri" pitchFamily="34" charset="-122"/>
                <a:cs typeface="Calibri" pitchFamily="34" charset="-120"/>
              </a:rPr>
              <a:t>Look at your first sentence. Does it start with action? If not, revise it so it does.</a:t>
            </a:r>
            <a:endParaRPr lang="en-US" sz="1400" dirty="0"/>
          </a:p>
        </p:txBody>
      </p:sp>
      <p:sp>
        <p:nvSpPr>
          <p:cNvPr id="6" name="Shape 4"/>
          <p:cNvSpPr/>
          <p:nvPr/>
        </p:nvSpPr>
        <p:spPr>
          <a:xfrm>
            <a:off x="1097280" y="2788920"/>
            <a:ext cx="6949440" cy="1554480"/>
          </a:xfrm>
          <a:prstGeom prst="roundRect">
            <a:avLst>
              <a:gd name="adj" fmla="val 5882"/>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1280160" y="2880360"/>
            <a:ext cx="6583680" cy="1463040"/>
          </a:xfrm>
          <a:prstGeom prst="rect">
            <a:avLst/>
          </a:prstGeom>
          <a:noFill/>
          <a:ln/>
        </p:spPr>
        <p:txBody>
          <a:bodyPr wrap="square" lIns="0" tIns="0" rIns="0" bIns="0" rtlCol="0" anchor="t"/>
          <a:lstStyle/>
          <a:p>
            <a:pPr indent="0" marL="0">
              <a:spcAft>
                <a:spcPts val="200"/>
              </a:spcAft>
              <a:buNone/>
            </a:pPr>
            <a:r>
              <a:rPr lang="en-US" sz="1250" b="1" dirty="0">
                <a:solidFill>
                  <a:srgbClr val="0E1C42"/>
                </a:solidFill>
                <a:latin typeface="Calibri" pitchFamily="34" charset="0"/>
                <a:ea typeface="Calibri" pitchFamily="34" charset="-122"/>
                <a:cs typeface="Calibri" pitchFamily="34" charset="-120"/>
              </a:rPr>
              <a:t>Remember - revision is about ideas, not spelling: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Circle your strongest sentence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Replace one weak verb with a precise one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Add one detail, or cut one you do not need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Improve your opening line</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914400" y="731520"/>
            <a:ext cx="7315200" cy="594360"/>
          </a:xfrm>
          <a:prstGeom prst="rect">
            <a:avLst/>
          </a:prstGeom>
          <a:noFill/>
          <a:ln/>
        </p:spPr>
        <p:txBody>
          <a:bodyPr wrap="square" lIns="0" tIns="0" rIns="0" bIns="0" rtlCol="0" anchor="ctr"/>
          <a:lstStyle/>
          <a:p>
            <a:pPr algn="ctr" indent="0" marL="0">
              <a:buNone/>
            </a:pPr>
            <a:r>
              <a:rPr lang="en-US" sz="3200" b="1" dirty="0">
                <a:solidFill>
                  <a:srgbClr val="0E1C42"/>
                </a:solidFill>
                <a:latin typeface="Calibri" pitchFamily="34" charset="0"/>
                <a:ea typeface="Calibri" pitchFamily="34" charset="-122"/>
                <a:cs typeface="Calibri" pitchFamily="34" charset="-120"/>
              </a:rPr>
              <a:t>Share</a:t>
            </a:r>
            <a:endParaRPr lang="en-US" sz="3200" dirty="0"/>
          </a:p>
        </p:txBody>
      </p:sp>
      <p:sp>
        <p:nvSpPr>
          <p:cNvPr id="3" name="Text 1"/>
          <p:cNvSpPr/>
          <p:nvPr/>
        </p:nvSpPr>
        <p:spPr>
          <a:xfrm>
            <a:off x="914400" y="1325880"/>
            <a:ext cx="7315200" cy="411480"/>
          </a:xfrm>
          <a:prstGeom prst="rect">
            <a:avLst/>
          </a:prstGeom>
          <a:noFill/>
          <a:ln/>
        </p:spPr>
        <p:txBody>
          <a:bodyPr wrap="square" lIns="0" tIns="0" rIns="0" bIns="0" rtlCol="0" anchor="ctr"/>
          <a:lstStyle/>
          <a:p>
            <a:pPr algn="ctr" indent="0" marL="0">
              <a:buNone/>
            </a:pPr>
            <a:r>
              <a:rPr lang="en-US" sz="1500" dirty="0">
                <a:solidFill>
                  <a:srgbClr val="55C8E8"/>
                </a:solidFill>
                <a:latin typeface="Calibri" pitchFamily="34" charset="0"/>
                <a:ea typeface="Calibri" pitchFamily="34" charset="-122"/>
                <a:cs typeface="Calibri" pitchFamily="34" charset="-120"/>
              </a:rPr>
              <a:t>2-3 minutes - celebrate a craft move</a:t>
            </a:r>
            <a:endParaRPr lang="en-US" sz="1500" dirty="0"/>
          </a:p>
        </p:txBody>
      </p:sp>
      <p:sp>
        <p:nvSpPr>
          <p:cNvPr id="4" name="Shape 2"/>
          <p:cNvSpPr/>
          <p:nvPr/>
        </p:nvSpPr>
        <p:spPr>
          <a:xfrm>
            <a:off x="1371600" y="1965960"/>
            <a:ext cx="6400800" cy="914400"/>
          </a:xfrm>
          <a:prstGeom prst="roundRect">
            <a:avLst>
              <a:gd name="adj" fmla="val 12000"/>
            </a:avLst>
          </a:prstGeom>
          <a:solidFill>
            <a:srgbClr val="FFFFFF"/>
          </a:solidFill>
          <a:ln w="15875">
            <a:solidFill>
              <a:srgbClr val="55C8E8"/>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1554480" y="2029968"/>
            <a:ext cx="6035040" cy="786384"/>
          </a:xfrm>
          <a:prstGeom prst="rect">
            <a:avLst/>
          </a:prstGeom>
          <a:noFill/>
          <a:ln/>
        </p:spPr>
        <p:txBody>
          <a:bodyPr wrap="square" lIns="0" tIns="0" rIns="0" bIns="0" rtlCol="0" anchor="ctr"/>
          <a:lstStyle/>
          <a:p>
            <a:pPr indent="0" marL="0">
              <a:buNone/>
            </a:pPr>
            <a:r>
              <a:rPr lang="en-US" sz="1400" b="1" dirty="0">
                <a:solidFill>
                  <a:srgbClr val="0E1C42"/>
                </a:solidFill>
                <a:latin typeface="Calibri" pitchFamily="34" charset="0"/>
                <a:ea typeface="Calibri" pitchFamily="34" charset="-122"/>
                <a:cs typeface="Calibri" pitchFamily="34" charset="-120"/>
              </a:rPr>
              <a:t>Read your opening line — the one that pulls us straight into the scene.</a:t>
            </a:r>
            <a:endParaRPr lang="en-US" sz="1400" dirty="0"/>
          </a:p>
        </p:txBody>
      </p:sp>
      <p:sp>
        <p:nvSpPr>
          <p:cNvPr id="6" name="Shape 4"/>
          <p:cNvSpPr/>
          <p:nvPr/>
        </p:nvSpPr>
        <p:spPr>
          <a:xfrm>
            <a:off x="1371600" y="3017520"/>
            <a:ext cx="6400800" cy="914400"/>
          </a:xfrm>
          <a:prstGeom prst="roundRect">
            <a:avLst>
              <a:gd name="adj" fmla="val 12000"/>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1554480" y="3090672"/>
            <a:ext cx="6035040" cy="777240"/>
          </a:xfrm>
          <a:prstGeom prst="rect">
            <a:avLst/>
          </a:prstGeom>
          <a:noFill/>
          <a:ln/>
        </p:spPr>
        <p:txBody>
          <a:bodyPr wrap="square" lIns="0" tIns="0" rIns="0" bIns="0" rtlCol="0" anchor="t"/>
          <a:lstStyle/>
          <a:p>
            <a:pPr indent="0" marL="0">
              <a:spcAft>
                <a:spcPts val="200"/>
              </a:spcAft>
              <a:buNone/>
            </a:pPr>
            <a:r>
              <a:rPr lang="en-US" sz="1250" dirty="0">
                <a:solidFill>
                  <a:srgbClr val="1E293B"/>
                </a:solidFill>
                <a:latin typeface="Calibri" pitchFamily="34" charset="0"/>
                <a:ea typeface="Calibri" pitchFamily="34" charset="-122"/>
                <a:cs typeface="Calibri" pitchFamily="34" charset="-120"/>
              </a:rPr>
              <a:t>Raise your hand, or paste it in the chat.
</a:t>
            </a:r>
            <a:pPr indent="0" marL="0">
              <a:spcAft>
                <a:spcPts val="200"/>
              </a:spcAft>
              <a:buNone/>
            </a:pPr>
            <a:r>
              <a:rPr lang="en-US" sz="1150" i="1" dirty="0">
                <a:solidFill>
                  <a:srgbClr val="64748B"/>
                </a:solidFill>
                <a:latin typeface="Calibri" pitchFamily="34" charset="0"/>
                <a:ea typeface="Calibri" pitchFamily="34" charset="-122"/>
                <a:cs typeface="Calibri" pitchFamily="34" charset="-120"/>
              </a:rPr>
              <a:t>Every writer's craft move counts - there are no wrong answers.</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Reflect</a:t>
            </a:r>
            <a:endParaRPr lang="en-US" sz="28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Shape 2"/>
          <p:cNvSpPr/>
          <p:nvPr/>
        </p:nvSpPr>
        <p:spPr>
          <a:xfrm>
            <a:off x="457200" y="1005840"/>
            <a:ext cx="8229600" cy="1280160"/>
          </a:xfrm>
          <a:prstGeom prst="roundRect">
            <a:avLst>
              <a:gd name="adj" fmla="val 7143"/>
            </a:avLst>
          </a:prstGeom>
          <a:solidFill>
            <a:srgbClr val="E8F8EF"/>
          </a:solidFill>
          <a:ln/>
          <a:effectLst>
            <a:outerShdw sx="100000" sy="100000" kx="0" ky="0" algn="bl" rotWithShape="0" blurRad="101600" dist="38100" dir="2700000">
              <a:srgbClr val="000000">
                <a:alpha val="12000"/>
              </a:srgbClr>
            </a:outerShdw>
          </a:effectLst>
        </p:spPr>
      </p:sp>
      <p:sp>
        <p:nvSpPr>
          <p:cNvPr id="5" name="Text 3"/>
          <p:cNvSpPr/>
          <p:nvPr/>
        </p:nvSpPr>
        <p:spPr>
          <a:xfrm>
            <a:off x="685800" y="1143000"/>
            <a:ext cx="7772400" cy="1005840"/>
          </a:xfrm>
          <a:prstGeom prst="rect">
            <a:avLst/>
          </a:prstGeom>
          <a:noFill/>
          <a:ln/>
        </p:spPr>
        <p:txBody>
          <a:bodyPr wrap="square" lIns="0" tIns="0" rIns="0" bIns="0" rtlCol="0" anchor="ctr"/>
          <a:lstStyle/>
          <a:p>
            <a:pPr indent="0" marL="0">
              <a:buNone/>
            </a:pPr>
            <a:r>
              <a:rPr lang="en-US" sz="1900" b="1" dirty="0">
                <a:solidFill>
                  <a:srgbClr val="0E1C42"/>
                </a:solidFill>
                <a:latin typeface="Calibri" pitchFamily="34" charset="0"/>
                <a:ea typeface="Calibri" pitchFamily="34" charset="-122"/>
                <a:cs typeface="Calibri" pitchFamily="34" charset="-120"/>
              </a:rPr>
              <a:t>What did you do today that made your writing stronger?</a:t>
            </a:r>
            <a:endParaRPr lang="en-US" sz="1900" dirty="0"/>
          </a:p>
        </p:txBody>
      </p:sp>
      <p:sp>
        <p:nvSpPr>
          <p:cNvPr id="6" name="Text 4"/>
          <p:cNvSpPr/>
          <p:nvPr/>
        </p:nvSpPr>
        <p:spPr>
          <a:xfrm>
            <a:off x="548640" y="2468880"/>
            <a:ext cx="8046720" cy="457200"/>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Turn and tell a partner, or jot one sentence in your writing notebook.</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Recap + Today's Focus</a:t>
            </a:r>
            <a:endParaRPr lang="en-US" sz="2800" dirty="0"/>
          </a:p>
        </p:txBody>
      </p:sp>
      <p:sp>
        <p:nvSpPr>
          <p:cNvPr id="3" name="Shape 1"/>
          <p:cNvSpPr/>
          <p:nvPr/>
        </p:nvSpPr>
        <p:spPr>
          <a:xfrm>
            <a:off x="365760" y="749808"/>
            <a:ext cx="8412480" cy="0"/>
          </a:xfrm>
          <a:prstGeom prst="line">
            <a:avLst/>
          </a:prstGeom>
          <a:noFill/>
          <a:ln w="19050">
            <a:solidFill>
              <a:srgbClr val="8FBF7A"/>
            </a:solidFill>
            <a:prstDash val="solid"/>
          </a:ln>
        </p:spPr>
      </p:sp>
      <p:sp>
        <p:nvSpPr>
          <p:cNvPr id="4" name="Shape 2"/>
          <p:cNvSpPr/>
          <p:nvPr/>
        </p:nvSpPr>
        <p:spPr>
          <a:xfrm>
            <a:off x="6492240" y="173736"/>
            <a:ext cx="2286000" cy="502920"/>
          </a:xfrm>
          <a:prstGeom prst="roundRect">
            <a:avLst>
              <a:gd name="adj" fmla="val 21818"/>
            </a:avLst>
          </a:prstGeom>
          <a:solidFill>
            <a:srgbClr val="8FBF7A"/>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YESTERDAY</a:t>
            </a:r>
            <a:endParaRPr lang="en-US" sz="1100" dirty="0"/>
          </a:p>
        </p:txBody>
      </p:sp>
      <p:sp>
        <p:nvSpPr>
          <p:cNvPr id="7" name="Shape 5"/>
          <p:cNvSpPr/>
          <p:nvPr/>
        </p:nvSpPr>
        <p:spPr>
          <a:xfrm>
            <a:off x="365760" y="1078992"/>
            <a:ext cx="8412480" cy="749808"/>
          </a:xfrm>
          <a:prstGeom prst="roundRect">
            <a:avLst>
              <a:gd name="adj" fmla="val 12195"/>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863840" cy="566928"/>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Last week, the Great Owl agreed to help Mrs. Frisby and sent her to the rats living under the rosebush.</a:t>
            </a:r>
            <a:endParaRPr lang="en-US" sz="1400" dirty="0"/>
          </a:p>
        </p:txBody>
      </p:sp>
      <p:sp>
        <p:nvSpPr>
          <p:cNvPr id="9" name="Text 7"/>
          <p:cNvSpPr/>
          <p:nvPr/>
        </p:nvSpPr>
        <p:spPr>
          <a:xfrm>
            <a:off x="365760" y="1938528"/>
            <a:ext cx="8046720" cy="292608"/>
          </a:xfrm>
          <a:prstGeom prst="rect">
            <a:avLst/>
          </a:prstGeom>
          <a:noFill/>
          <a:ln/>
        </p:spPr>
        <p:txBody>
          <a:bodyPr wrap="square" lIns="0" tIns="0" rIns="0" bIns="0" rtlCol="0" anchor="ctr"/>
          <a:lstStyle/>
          <a:p>
            <a:pPr indent="0" marL="0">
              <a:buNone/>
            </a:pPr>
            <a:r>
              <a:rPr lang="en-US" sz="1100" b="1" spc="200" kern="0" dirty="0">
                <a:solidFill>
                  <a:srgbClr val="8FBF7A"/>
                </a:solidFill>
                <a:latin typeface="Calibri" pitchFamily="34" charset="0"/>
                <a:ea typeface="Calibri" pitchFamily="34" charset="-122"/>
                <a:cs typeface="Calibri" pitchFamily="34" charset="-120"/>
              </a:rPr>
              <a:t>TODAY</a:t>
            </a:r>
            <a:endParaRPr lang="en-US" sz="1100" dirty="0"/>
          </a:p>
        </p:txBody>
      </p:sp>
      <p:sp>
        <p:nvSpPr>
          <p:cNvPr id="10" name="Shape 8"/>
          <p:cNvSpPr/>
          <p:nvPr/>
        </p:nvSpPr>
        <p:spPr>
          <a:xfrm>
            <a:off x="365760" y="2194560"/>
            <a:ext cx="8412480" cy="713232"/>
          </a:xfrm>
          <a:prstGeom prst="roundRect">
            <a:avLst>
              <a:gd name="adj" fmla="val 12821"/>
            </a:avLst>
          </a:prstGeom>
          <a:solidFill>
            <a:srgbClr val="FEF6E8"/>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286000"/>
            <a:ext cx="7863840" cy="530352"/>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Follow Mrs. Frisby into the rat colony for the very first time.</a:t>
            </a:r>
            <a:endParaRPr lang="en-US" sz="1400" dirty="0"/>
          </a:p>
        </p:txBody>
      </p:sp>
      <p:sp>
        <p:nvSpPr>
          <p:cNvPr id="12" name="Text 10"/>
          <p:cNvSpPr/>
          <p:nvPr/>
        </p:nvSpPr>
        <p:spPr>
          <a:xfrm>
            <a:off x="365760" y="3035808"/>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BIG QUESTION</a:t>
            </a:r>
            <a:endParaRPr lang="en-US" sz="1100" dirty="0"/>
          </a:p>
        </p:txBody>
      </p:sp>
      <p:sp>
        <p:nvSpPr>
          <p:cNvPr id="13" name="Shape 11"/>
          <p:cNvSpPr/>
          <p:nvPr/>
        </p:nvSpPr>
        <p:spPr>
          <a:xfrm>
            <a:off x="365760" y="3291840"/>
            <a:ext cx="8412480" cy="749808"/>
          </a:xfrm>
          <a:prstGeom prst="roundRect">
            <a:avLst>
              <a:gd name="adj" fmla="val 12195"/>
            </a:avLst>
          </a:prstGeom>
          <a:solidFill>
            <a:srgbClr val="F0E8FF"/>
          </a:solidFill>
          <a:ln/>
          <a:effectLst>
            <a:outerShdw sx="100000" sy="100000" kx="0" ky="0" algn="bl" rotWithShape="0" blurRad="101600" dist="38100" dir="2700000">
              <a:srgbClr val="000000">
                <a:alpha val="12000"/>
              </a:srgbClr>
            </a:outerShdw>
          </a:effectLst>
        </p:spPr>
      </p:sp>
      <p:sp>
        <p:nvSpPr>
          <p:cNvPr id="14" name="Text 12"/>
          <p:cNvSpPr/>
          <p:nvPr/>
        </p:nvSpPr>
        <p:spPr>
          <a:xfrm>
            <a:off x="594360" y="3383280"/>
            <a:ext cx="7863840" cy="566928"/>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As you read today, watch for the setting, the main character, and the first problem. Where does the family live? Who is Mrs. Frisby? What is the trouble?</a:t>
            </a:r>
            <a:endParaRPr lang="en-US" sz="1300" dirty="0"/>
          </a:p>
        </p:txBody>
      </p:sp>
      <p:sp>
        <p:nvSpPr>
          <p:cNvPr id="15" name="Text 13"/>
          <p:cNvSpPr/>
          <p:nvPr/>
        </p:nvSpPr>
        <p:spPr>
          <a:xfrm>
            <a:off x="365760" y="4169664"/>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READING LENS</a:t>
            </a:r>
            <a:endParaRPr lang="en-US" sz="1100" dirty="0"/>
          </a:p>
        </p:txBody>
      </p:sp>
      <p:sp>
        <p:nvSpPr>
          <p:cNvPr id="16" name="Text 14"/>
          <p:cNvSpPr/>
          <p:nvPr/>
        </p:nvSpPr>
        <p:spPr>
          <a:xfrm>
            <a:off x="457200" y="4407408"/>
            <a:ext cx="8229600" cy="32004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Good readers slow down at the start of a book. The first chapters tell you who the characters are, where they live, and what troub</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Daily Oral Language - Study What's Right</a:t>
            </a:r>
            <a:endParaRPr lang="en-US" sz="2800" dirty="0"/>
          </a:p>
        </p:txBody>
      </p:sp>
      <p:sp>
        <p:nvSpPr>
          <p:cNvPr id="3" name="Shape 1"/>
          <p:cNvSpPr/>
          <p:nvPr/>
        </p:nvSpPr>
        <p:spPr>
          <a:xfrm>
            <a:off x="365760" y="749808"/>
            <a:ext cx="8412480" cy="0"/>
          </a:xfrm>
          <a:prstGeom prst="line">
            <a:avLst/>
          </a:prstGeom>
          <a:noFill/>
          <a:ln w="19050">
            <a:solidFill>
              <a:srgbClr val="8FBF7A"/>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CORRECT MODEL - FROM THE TEXT</a:t>
            </a:r>
            <a:endParaRPr lang="en-US" sz="1100" dirty="0"/>
          </a:p>
        </p:txBody>
      </p:sp>
      <p:sp>
        <p:nvSpPr>
          <p:cNvPr id="5" name="Shape 3"/>
          <p:cNvSpPr/>
          <p:nvPr/>
        </p:nvSpPr>
        <p:spPr>
          <a:xfrm>
            <a:off x="365760" y="1078992"/>
            <a:ext cx="8412480" cy="777240"/>
          </a:xfrm>
          <a:prstGeom prst="roundRect">
            <a:avLst>
              <a:gd name="adj" fmla="val 11765"/>
            </a:avLst>
          </a:prstGeom>
          <a:solidFill>
            <a:srgbClr val="E8F8EF"/>
          </a:solidFill>
          <a:ln w="1270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48640" y="1188720"/>
            <a:ext cx="8046720" cy="5486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"I’m home," called Mrs. Frisby, hurrying down the tunnel.</a:t>
            </a:r>
            <a:endParaRPr lang="en-US" sz="1600" dirty="0"/>
          </a:p>
        </p:txBody>
      </p:sp>
      <p:sp>
        <p:nvSpPr>
          <p:cNvPr id="7" name="Text 5"/>
          <p:cNvSpPr/>
          <p:nvPr/>
        </p:nvSpPr>
        <p:spPr>
          <a:xfrm>
            <a:off x="457200" y="2002536"/>
            <a:ext cx="8229600" cy="384048"/>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Circle: capitals, quotation marks, punctuation, proper nouns</a:t>
            </a:r>
            <a:endParaRPr lang="en-US" sz="1400" dirty="0"/>
          </a:p>
        </p:txBody>
      </p:sp>
      <p:sp>
        <p:nvSpPr>
          <p:cNvPr id="8" name="Text 6"/>
          <p:cNvSpPr/>
          <p:nvPr/>
        </p:nvSpPr>
        <p:spPr>
          <a:xfrm>
            <a:off x="457200" y="2459736"/>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Copy this sentence in your journal. Circle one thing you notice.</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Daily Oral Language - Fix It</a:t>
            </a:r>
            <a:endParaRPr lang="en-US" sz="2800" dirty="0"/>
          </a:p>
        </p:txBody>
      </p:sp>
      <p:sp>
        <p:nvSpPr>
          <p:cNvPr id="3" name="Shape 1"/>
          <p:cNvSpPr/>
          <p:nvPr/>
        </p:nvSpPr>
        <p:spPr>
          <a:xfrm>
            <a:off x="365760" y="749808"/>
            <a:ext cx="8412480" cy="0"/>
          </a:xfrm>
          <a:prstGeom prst="line">
            <a:avLst/>
          </a:prstGeom>
          <a:noFill/>
          <a:ln w="19050">
            <a:solidFill>
              <a:srgbClr val="8FBF7A"/>
            </a:solidFill>
            <a:prstDash val="solid"/>
          </a:ln>
        </p:spPr>
      </p:sp>
      <p:sp>
        <p:nvSpPr>
          <p:cNvPr id="4" name="Shape 2"/>
          <p:cNvSpPr/>
          <p:nvPr/>
        </p:nvSpPr>
        <p:spPr>
          <a:xfrm>
            <a:off x="6492240" y="173736"/>
            <a:ext cx="2286000" cy="502920"/>
          </a:xfrm>
          <a:prstGeom prst="roundRect">
            <a:avLst>
              <a:gd name="adj" fmla="val 21818"/>
            </a:avLst>
          </a:prstGeom>
          <a:solidFill>
            <a:srgbClr val="8FBF7A"/>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685800"/>
          </a:xfrm>
          <a:prstGeom prst="roundRect">
            <a:avLst>
              <a:gd name="adj" fmla="val 13333"/>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45720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im hungry said martin racing toward the supper bowl</a:t>
            </a:r>
            <a:endParaRPr lang="en-US" sz="1600" dirty="0"/>
          </a:p>
        </p:txBody>
      </p:sp>
      <p:sp>
        <p:nvSpPr>
          <p:cNvPr id="9" name="Text 7"/>
          <p:cNvSpPr/>
          <p:nvPr/>
        </p:nvSpPr>
        <p:spPr>
          <a:xfrm>
            <a:off x="457200" y="1911096"/>
            <a:ext cx="8229600" cy="365760"/>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Daily Oral Language - Fix It</a:t>
            </a:r>
            <a:endParaRPr lang="en-US" sz="2800" dirty="0"/>
          </a:p>
        </p:txBody>
      </p:sp>
      <p:sp>
        <p:nvSpPr>
          <p:cNvPr id="3" name="Shape 1"/>
          <p:cNvSpPr/>
          <p:nvPr/>
        </p:nvSpPr>
        <p:spPr>
          <a:xfrm>
            <a:off x="365760" y="749808"/>
            <a:ext cx="8412480" cy="0"/>
          </a:xfrm>
          <a:prstGeom prst="line">
            <a:avLst/>
          </a:prstGeom>
          <a:noFill/>
          <a:ln w="19050">
            <a:solidFill>
              <a:srgbClr val="8FBF7A"/>
            </a:solidFill>
            <a:prstDash val="solid"/>
          </a:ln>
        </p:spPr>
      </p:sp>
      <p:sp>
        <p:nvSpPr>
          <p:cNvPr id="4" name="Shape 2"/>
          <p:cNvSpPr/>
          <p:nvPr/>
        </p:nvSpPr>
        <p:spPr>
          <a:xfrm>
            <a:off x="6492240" y="173736"/>
            <a:ext cx="2286000" cy="502920"/>
          </a:xfrm>
          <a:prstGeom prst="roundRect">
            <a:avLst>
              <a:gd name="adj" fmla="val 21818"/>
            </a:avLst>
          </a:prstGeom>
          <a:solidFill>
            <a:srgbClr val="8FBF7A"/>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685800"/>
          </a:xfrm>
          <a:prstGeom prst="roundRect">
            <a:avLst>
              <a:gd name="adj" fmla="val 13333"/>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45720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im hungry said martin racing toward the supper bowl</a:t>
            </a:r>
            <a:endParaRPr lang="en-US" sz="1600" dirty="0"/>
          </a:p>
        </p:txBody>
      </p:sp>
      <p:sp>
        <p:nvSpPr>
          <p:cNvPr id="9" name="Text 7"/>
          <p:cNvSpPr/>
          <p:nvPr/>
        </p:nvSpPr>
        <p:spPr>
          <a:xfrm>
            <a:off x="457200" y="1911096"/>
            <a:ext cx="8229600" cy="365760"/>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
        <p:nvSpPr>
          <p:cNvPr id="10" name="Shape 8"/>
          <p:cNvSpPr/>
          <p:nvPr/>
        </p:nvSpPr>
        <p:spPr>
          <a:xfrm>
            <a:off x="365760" y="2350008"/>
            <a:ext cx="8412480" cy="708660"/>
          </a:xfrm>
          <a:prstGeom prst="roundRect">
            <a:avLst>
              <a:gd name="adj" fmla="val 12903"/>
            </a:avLst>
          </a:prstGeom>
          <a:solidFill>
            <a:srgbClr val="E8F8EF"/>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404872"/>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CORRECTED</a:t>
            </a:r>
            <a:endParaRPr lang="en-US" sz="1100" dirty="0"/>
          </a:p>
        </p:txBody>
      </p:sp>
      <p:sp>
        <p:nvSpPr>
          <p:cNvPr id="12" name="Text 10"/>
          <p:cNvSpPr/>
          <p:nvPr/>
        </p:nvSpPr>
        <p:spPr>
          <a:xfrm>
            <a:off x="594360" y="2697480"/>
            <a:ext cx="7863840" cy="324612"/>
          </a:xfrm>
          <a:prstGeom prst="rect">
            <a:avLst/>
          </a:prstGeom>
          <a:noFill/>
          <a:ln/>
        </p:spPr>
        <p:txBody>
          <a:bodyPr wrap="square" lIns="0" tIns="0" rIns="0" bIns="0" rtlCol="0" anchor="ctr"/>
          <a:lstStyle/>
          <a:p>
            <a:pPr indent="0" marL="0">
              <a:buNone/>
            </a:pPr>
            <a:r>
              <a:rPr lang="en-US" sz="1500" i="1" dirty="0">
                <a:solidFill>
                  <a:srgbClr val="1E293B"/>
                </a:solidFill>
                <a:latin typeface="Calibri" pitchFamily="34" charset="0"/>
                <a:ea typeface="Calibri" pitchFamily="34" charset="-122"/>
                <a:cs typeface="Calibri" pitchFamily="34" charset="-120"/>
              </a:rPr>
              <a:t>“I’m hungry,” said Martin, racing toward the supper bowl.</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Morphology</a:t>
            </a:r>
            <a:endParaRPr lang="en-US" sz="2800" dirty="0"/>
          </a:p>
        </p:txBody>
      </p:sp>
      <p:sp>
        <p:nvSpPr>
          <p:cNvPr id="3" name="Shape 1"/>
          <p:cNvSpPr/>
          <p:nvPr/>
        </p:nvSpPr>
        <p:spPr>
          <a:xfrm>
            <a:off x="365760" y="749808"/>
            <a:ext cx="8412480" cy="0"/>
          </a:xfrm>
          <a:prstGeom prst="line">
            <a:avLst/>
          </a:prstGeom>
          <a:noFill/>
          <a:ln w="19050">
            <a:solidFill>
              <a:srgbClr val="8FBF7A"/>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Morphology: Prefixes Review</a:t>
            </a:r>
            <a:endParaRPr lang="en-US" sz="1100" dirty="0"/>
          </a:p>
        </p:txBody>
      </p:sp>
      <p:sp>
        <p:nvSpPr>
          <p:cNvPr id="5" name="Shape 3"/>
          <p:cNvSpPr/>
          <p:nvPr/>
        </p:nvSpPr>
        <p:spPr>
          <a:xfrm>
            <a:off x="365760" y="1060704"/>
            <a:ext cx="8412480" cy="457200"/>
          </a:xfrm>
          <a:prstGeom prst="roundRect">
            <a:avLst>
              <a:gd name="adj" fmla="val 20000"/>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15568"/>
            <a:ext cx="8046720" cy="365760"/>
          </a:xfrm>
          <a:prstGeom prst="rect">
            <a:avLst/>
          </a:prstGeom>
          <a:noFill/>
          <a:ln/>
        </p:spPr>
        <p:txBody>
          <a:bodyPr wrap="square" lIns="0" tIns="0" rIns="0" bIns="0" rtlCol="0" anchor="ctr"/>
          <a:lstStyle/>
          <a:p>
            <a:pPr indent="0" marL="0">
              <a:buNone/>
            </a:pPr>
            <a:r>
              <a:rPr lang="en-US" sz="1150" i="1" dirty="0">
                <a:solidFill>
                  <a:srgbClr val="8B6FC0"/>
                </a:solidFill>
                <a:latin typeface="Calibri" pitchFamily="34" charset="0"/>
                <a:ea typeface="Calibri" pitchFamily="34" charset="-122"/>
                <a:cs typeface="Calibri" pitchFamily="34" charset="-120"/>
              </a:rPr>
              <a:t>A prefix is a word part at the beginning of a word. This week's prefixes: re- (again), pre- (before), un- (not), dis- (not / opposite of).</a:t>
            </a:r>
            <a:endParaRPr lang="en-US" sz="1150" dirty="0"/>
          </a:p>
        </p:txBody>
      </p:sp>
      <p:sp>
        <p:nvSpPr>
          <p:cNvPr id="7" name="Text 5"/>
          <p:cNvSpPr/>
          <p:nvPr/>
        </p:nvSpPr>
        <p:spPr>
          <a:xfrm>
            <a:off x="365760" y="1591056"/>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WORD PARTS REFERENCE</a:t>
            </a:r>
            <a:endParaRPr lang="en-US" sz="1100" dirty="0"/>
          </a:p>
        </p:txBody>
      </p:sp>
      <p:sp>
        <p:nvSpPr>
          <p:cNvPr id="8" name="Shape 6"/>
          <p:cNvSpPr/>
          <p:nvPr/>
        </p:nvSpPr>
        <p:spPr>
          <a:xfrm>
            <a:off x="365760" y="1847088"/>
            <a:ext cx="2011680" cy="502920"/>
          </a:xfrm>
          <a:prstGeom prst="roundRect">
            <a:avLst>
              <a:gd name="adj" fmla="val 14545"/>
            </a:avLst>
          </a:prstGeom>
          <a:solidFill>
            <a:srgbClr val="F8F4FF"/>
          </a:solidFill>
          <a:ln w="12700">
            <a:solidFill>
              <a:srgbClr val="8B6FC0"/>
            </a:solidFill>
            <a:prstDash val="solid"/>
          </a:ln>
        </p:spPr>
      </p:sp>
      <p:sp>
        <p:nvSpPr>
          <p:cNvPr id="9" name="Text 7"/>
          <p:cNvSpPr/>
          <p:nvPr/>
        </p:nvSpPr>
        <p:spPr>
          <a:xfrm>
            <a:off x="438912" y="1892808"/>
            <a:ext cx="1865376" cy="411480"/>
          </a:xfrm>
          <a:prstGeom prst="rect">
            <a:avLst/>
          </a:prstGeom>
          <a:noFill/>
          <a:ln/>
        </p:spPr>
        <p:txBody>
          <a:bodyPr wrap="square" lIns="0" tIns="0" rIns="0" bIns="0" rtlCol="0" anchor="ctr"/>
          <a:lstStyle/>
          <a:p>
            <a:pPr algn="ctr" indent="0" marL="0">
              <a:buNone/>
            </a:pPr>
            <a:r>
              <a:rPr lang="en-US" sz="1100" b="1" dirty="0">
                <a:solidFill>
                  <a:srgbClr val="8B6FC0"/>
                </a:solidFill>
                <a:latin typeface="Calibri" pitchFamily="34" charset="0"/>
                <a:ea typeface="Calibri" pitchFamily="34" charset="-122"/>
                <a:cs typeface="Calibri" pitchFamily="34" charset="-120"/>
              </a:rPr>
              <a:t>rebuild = re- + build (build again)</a:t>
            </a:r>
            <a:endParaRPr lang="en-US" sz="1100" dirty="0"/>
          </a:p>
        </p:txBody>
      </p:sp>
      <p:sp>
        <p:nvSpPr>
          <p:cNvPr id="10" name="Shape 8"/>
          <p:cNvSpPr/>
          <p:nvPr/>
        </p:nvSpPr>
        <p:spPr>
          <a:xfrm>
            <a:off x="2468880" y="1847088"/>
            <a:ext cx="2011680" cy="502920"/>
          </a:xfrm>
          <a:prstGeom prst="roundRect">
            <a:avLst>
              <a:gd name="adj" fmla="val 14545"/>
            </a:avLst>
          </a:prstGeom>
          <a:solidFill>
            <a:srgbClr val="F8F4FF"/>
          </a:solidFill>
          <a:ln w="12700">
            <a:solidFill>
              <a:srgbClr val="8B6FC0"/>
            </a:solidFill>
            <a:prstDash val="solid"/>
          </a:ln>
        </p:spPr>
      </p:sp>
      <p:sp>
        <p:nvSpPr>
          <p:cNvPr id="11" name="Text 9"/>
          <p:cNvSpPr/>
          <p:nvPr/>
        </p:nvSpPr>
        <p:spPr>
          <a:xfrm>
            <a:off x="2542032" y="1892808"/>
            <a:ext cx="1865376" cy="411480"/>
          </a:xfrm>
          <a:prstGeom prst="rect">
            <a:avLst/>
          </a:prstGeom>
          <a:noFill/>
          <a:ln/>
        </p:spPr>
        <p:txBody>
          <a:bodyPr wrap="square" lIns="0" tIns="0" rIns="0" bIns="0" rtlCol="0" anchor="ctr"/>
          <a:lstStyle/>
          <a:p>
            <a:pPr algn="ctr" indent="0" marL="0">
              <a:buNone/>
            </a:pPr>
            <a:r>
              <a:rPr lang="en-US" sz="1100" b="1" dirty="0">
                <a:solidFill>
                  <a:srgbClr val="8B6FC0"/>
                </a:solidFill>
                <a:latin typeface="Calibri" pitchFamily="34" charset="0"/>
                <a:ea typeface="Calibri" pitchFamily="34" charset="-122"/>
                <a:cs typeface="Calibri" pitchFamily="34" charset="-120"/>
              </a:rPr>
              <a:t>preheat = pre- + heat (heat before)</a:t>
            </a:r>
            <a:endParaRPr lang="en-US" sz="1100" dirty="0"/>
          </a:p>
        </p:txBody>
      </p:sp>
      <p:sp>
        <p:nvSpPr>
          <p:cNvPr id="12" name="Shape 10"/>
          <p:cNvSpPr/>
          <p:nvPr/>
        </p:nvSpPr>
        <p:spPr>
          <a:xfrm>
            <a:off x="4572000" y="1847088"/>
            <a:ext cx="2011680" cy="502920"/>
          </a:xfrm>
          <a:prstGeom prst="roundRect">
            <a:avLst>
              <a:gd name="adj" fmla="val 14545"/>
            </a:avLst>
          </a:prstGeom>
          <a:solidFill>
            <a:srgbClr val="F8F4FF"/>
          </a:solidFill>
          <a:ln w="12700">
            <a:solidFill>
              <a:srgbClr val="8B6FC0"/>
            </a:solidFill>
            <a:prstDash val="solid"/>
          </a:ln>
        </p:spPr>
      </p:sp>
      <p:sp>
        <p:nvSpPr>
          <p:cNvPr id="13" name="Text 11"/>
          <p:cNvSpPr/>
          <p:nvPr/>
        </p:nvSpPr>
        <p:spPr>
          <a:xfrm>
            <a:off x="4645152" y="1892808"/>
            <a:ext cx="1865376" cy="411480"/>
          </a:xfrm>
          <a:prstGeom prst="rect">
            <a:avLst/>
          </a:prstGeom>
          <a:noFill/>
          <a:ln/>
        </p:spPr>
        <p:txBody>
          <a:bodyPr wrap="square" lIns="0" tIns="0" rIns="0" bIns="0" rtlCol="0" anchor="ctr"/>
          <a:lstStyle/>
          <a:p>
            <a:pPr algn="ctr" indent="0" marL="0">
              <a:buNone/>
            </a:pPr>
            <a:r>
              <a:rPr lang="en-US" sz="1100" b="1" dirty="0">
                <a:solidFill>
                  <a:srgbClr val="8B6FC0"/>
                </a:solidFill>
                <a:latin typeface="Calibri" pitchFamily="34" charset="0"/>
                <a:ea typeface="Calibri" pitchFamily="34" charset="-122"/>
                <a:cs typeface="Calibri" pitchFamily="34" charset="-120"/>
              </a:rPr>
              <a:t>unfair = un- + fair (not fair)</a:t>
            </a:r>
            <a:endParaRPr lang="en-US" sz="1100" dirty="0"/>
          </a:p>
        </p:txBody>
      </p:sp>
      <p:sp>
        <p:nvSpPr>
          <p:cNvPr id="14" name="Shape 12"/>
          <p:cNvSpPr/>
          <p:nvPr/>
        </p:nvSpPr>
        <p:spPr>
          <a:xfrm>
            <a:off x="6675120" y="1847088"/>
            <a:ext cx="2011680" cy="502920"/>
          </a:xfrm>
          <a:prstGeom prst="roundRect">
            <a:avLst>
              <a:gd name="adj" fmla="val 14545"/>
            </a:avLst>
          </a:prstGeom>
          <a:solidFill>
            <a:srgbClr val="F8F4FF"/>
          </a:solidFill>
          <a:ln w="12700">
            <a:solidFill>
              <a:srgbClr val="8B6FC0"/>
            </a:solidFill>
            <a:prstDash val="solid"/>
          </a:ln>
        </p:spPr>
      </p:sp>
      <p:sp>
        <p:nvSpPr>
          <p:cNvPr id="15" name="Text 13"/>
          <p:cNvSpPr/>
          <p:nvPr/>
        </p:nvSpPr>
        <p:spPr>
          <a:xfrm>
            <a:off x="6748272" y="1892808"/>
            <a:ext cx="1865376" cy="411480"/>
          </a:xfrm>
          <a:prstGeom prst="rect">
            <a:avLst/>
          </a:prstGeom>
          <a:noFill/>
          <a:ln/>
        </p:spPr>
        <p:txBody>
          <a:bodyPr wrap="square" lIns="0" tIns="0" rIns="0" bIns="0" rtlCol="0" anchor="ctr"/>
          <a:lstStyle/>
          <a:p>
            <a:pPr algn="ctr" indent="0" marL="0">
              <a:buNone/>
            </a:pPr>
            <a:r>
              <a:rPr lang="en-US" sz="1100" b="1" dirty="0">
                <a:solidFill>
                  <a:srgbClr val="8B6FC0"/>
                </a:solidFill>
                <a:latin typeface="Calibri" pitchFamily="34" charset="0"/>
                <a:ea typeface="Calibri" pitchFamily="34" charset="-122"/>
                <a:cs typeface="Calibri" pitchFamily="34" charset="-120"/>
              </a:rPr>
              <a:t>dislike = dis- + like (not like)</a:t>
            </a:r>
            <a:endParaRPr lang="en-US" sz="1100" dirty="0"/>
          </a:p>
        </p:txBody>
      </p:sp>
      <p:sp>
        <p:nvSpPr>
          <p:cNvPr id="16" name="Text 14"/>
          <p:cNvSpPr/>
          <p:nvPr/>
        </p:nvSpPr>
        <p:spPr>
          <a:xfrm>
            <a:off x="365760" y="246888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TRY IT - FILL IN THE MISSING PART</a:t>
            </a:r>
            <a:endParaRPr lang="en-US" sz="1100" dirty="0"/>
          </a:p>
        </p:txBody>
      </p:sp>
      <p:sp>
        <p:nvSpPr>
          <p:cNvPr id="17" name="Shape 15"/>
          <p:cNvSpPr/>
          <p:nvPr/>
        </p:nvSpPr>
        <p:spPr>
          <a:xfrm>
            <a:off x="365760" y="2724912"/>
            <a:ext cx="8412480" cy="384048"/>
          </a:xfrm>
          <a:prstGeom prst="roundRect">
            <a:avLst>
              <a:gd name="adj" fmla="val 23810"/>
            </a:avLst>
          </a:prstGeom>
          <a:solidFill>
            <a:srgbClr val="F0E8FF"/>
          </a:solidFill>
          <a:ln/>
          <a:effectLst>
            <a:outerShdw sx="100000" sy="100000" kx="0" ky="0" algn="bl" rotWithShape="0" blurRad="101600" dist="38100" dir="2700000">
              <a:srgbClr val="000000">
                <a:alpha val="12000"/>
              </a:srgbClr>
            </a:outerShdw>
          </a:effectLst>
        </p:spPr>
      </p:sp>
      <p:sp>
        <p:nvSpPr>
          <p:cNvPr id="18" name="Text 16"/>
          <p:cNvSpPr/>
          <p:nvPr/>
        </p:nvSpPr>
        <p:spPr>
          <a:xfrm>
            <a:off x="594360" y="2770632"/>
            <a:ext cx="7863840" cy="292608"/>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unwrap — to take the cover off</a:t>
            </a:r>
            <a:endParaRPr lang="en-US" sz="1300" dirty="0"/>
          </a:p>
        </p:txBody>
      </p:sp>
      <p:sp>
        <p:nvSpPr>
          <p:cNvPr id="19" name="Shape 17"/>
          <p:cNvSpPr/>
          <p:nvPr/>
        </p:nvSpPr>
        <p:spPr>
          <a:xfrm>
            <a:off x="365760" y="3182112"/>
            <a:ext cx="8412480" cy="384048"/>
          </a:xfrm>
          <a:prstGeom prst="roundRect">
            <a:avLst>
              <a:gd name="adj" fmla="val 23810"/>
            </a:avLst>
          </a:prstGeom>
          <a:solidFill>
            <a:srgbClr val="F8F4FF"/>
          </a:solidFill>
          <a:ln/>
          <a:effectLst>
            <a:outerShdw sx="100000" sy="100000" kx="0" ky="0" algn="bl" rotWithShape="0" blurRad="101600" dist="38100" dir="2700000">
              <a:srgbClr val="000000">
                <a:alpha val="12000"/>
              </a:srgbClr>
            </a:outerShdw>
          </a:effectLst>
        </p:spPr>
      </p:sp>
      <p:sp>
        <p:nvSpPr>
          <p:cNvPr id="20" name="Text 18"/>
          <p:cNvSpPr/>
          <p:nvPr/>
        </p:nvSpPr>
        <p:spPr>
          <a:xfrm>
            <a:off x="594360" y="3227832"/>
            <a:ext cx="7863840" cy="292608"/>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helper — someone who helps</a:t>
            </a:r>
            <a:endParaRPr lang="en-US" sz="1300" dirty="0"/>
          </a:p>
        </p:txBody>
      </p:sp>
      <p:sp>
        <p:nvSpPr>
          <p:cNvPr id="21" name="Shape 19"/>
          <p:cNvSpPr/>
          <p:nvPr/>
        </p:nvSpPr>
        <p:spPr>
          <a:xfrm>
            <a:off x="365760" y="3639312"/>
            <a:ext cx="8412480" cy="384048"/>
          </a:xfrm>
          <a:prstGeom prst="roundRect">
            <a:avLst>
              <a:gd name="adj" fmla="val 23810"/>
            </a:avLst>
          </a:prstGeom>
          <a:solidFill>
            <a:srgbClr val="F0E8FF"/>
          </a:solidFill>
          <a:ln/>
          <a:effectLst>
            <a:outerShdw sx="100000" sy="100000" kx="0" ky="0" algn="bl" rotWithShape="0" blurRad="101600" dist="38100" dir="2700000">
              <a:srgbClr val="000000">
                <a:alpha val="12000"/>
              </a:srgbClr>
            </a:outerShdw>
          </a:effectLst>
        </p:spPr>
      </p:sp>
      <p:sp>
        <p:nvSpPr>
          <p:cNvPr id="22" name="Text 20"/>
          <p:cNvSpPr/>
          <p:nvPr/>
        </p:nvSpPr>
        <p:spPr>
          <a:xfrm>
            <a:off x="594360" y="3685032"/>
            <a:ext cx="7863840" cy="292608"/>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resting — taking a break right now</a:t>
            </a:r>
            <a:endParaRPr lang="en-US" sz="1300" dirty="0"/>
          </a:p>
        </p:txBody>
      </p:sp>
      <p:sp>
        <p:nvSpPr>
          <p:cNvPr id="23" name="Shape 21"/>
          <p:cNvSpPr/>
          <p:nvPr/>
        </p:nvSpPr>
        <p:spPr>
          <a:xfrm>
            <a:off x="365760" y="4096512"/>
            <a:ext cx="8412480" cy="384048"/>
          </a:xfrm>
          <a:prstGeom prst="roundRect">
            <a:avLst>
              <a:gd name="adj" fmla="val 23810"/>
            </a:avLst>
          </a:prstGeom>
          <a:solidFill>
            <a:srgbClr val="F8F4FF"/>
          </a:solidFill>
          <a:ln/>
          <a:effectLst>
            <a:outerShdw sx="100000" sy="100000" kx="0" ky="0" algn="bl" rotWithShape="0" blurRad="101600" dist="38100" dir="2700000">
              <a:srgbClr val="000000">
                <a:alpha val="12000"/>
              </a:srgbClr>
            </a:outerShdw>
          </a:effectLst>
        </p:spPr>
      </p:sp>
      <p:sp>
        <p:nvSpPr>
          <p:cNvPr id="24" name="Text 22"/>
          <p:cNvSpPr/>
          <p:nvPr/>
        </p:nvSpPr>
        <p:spPr>
          <a:xfrm>
            <a:off x="594360" y="4142232"/>
            <a:ext cx="7863840" cy="292608"/>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kindly — in a kind way</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Word Detective: "eavesdrop"</a:t>
            </a:r>
            <a:endParaRPr lang="en-US" sz="2800" dirty="0"/>
          </a:p>
        </p:txBody>
      </p:sp>
      <p:sp>
        <p:nvSpPr>
          <p:cNvPr id="3" name="Shape 1"/>
          <p:cNvSpPr/>
          <p:nvPr/>
        </p:nvSpPr>
        <p:spPr>
          <a:xfrm>
            <a:off x="365760" y="749808"/>
            <a:ext cx="8412480" cy="0"/>
          </a:xfrm>
          <a:prstGeom prst="line">
            <a:avLst/>
          </a:prstGeom>
          <a:noFill/>
          <a:ln w="19050">
            <a:solidFill>
              <a:srgbClr val="8FBF7A"/>
            </a:solidFill>
            <a:prstDash val="solid"/>
          </a:ln>
        </p:spPr>
      </p:sp>
      <p:sp>
        <p:nvSpPr>
          <p:cNvPr id="4" name="Shape 2"/>
          <p:cNvSpPr/>
          <p:nvPr/>
        </p:nvSpPr>
        <p:spPr>
          <a:xfrm>
            <a:off x="365760" y="841248"/>
            <a:ext cx="8412480" cy="960120"/>
          </a:xfrm>
          <a:prstGeom prst="roundRect">
            <a:avLst>
              <a:gd name="adj" fmla="val 7619"/>
            </a:avLst>
          </a:prstGeom>
          <a:solidFill>
            <a:srgbClr val="E5F7FC"/>
          </a:solidFill>
          <a:ln w="12700">
            <a:solidFill>
              <a:srgbClr val="55C8E8"/>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502920" y="896112"/>
            <a:ext cx="8138160" cy="274320"/>
          </a:xfrm>
          <a:prstGeom prst="rect">
            <a:avLst/>
          </a:prstGeom>
          <a:noFill/>
          <a:ln/>
        </p:spPr>
        <p:txBody>
          <a:bodyPr wrap="square" lIns="0" tIns="0" rIns="0" bIns="0" rtlCol="0" anchor="ctr"/>
          <a:lstStyle/>
          <a:p>
            <a:pPr indent="0" marL="0">
              <a:buNone/>
            </a:pPr>
            <a:r>
              <a:rPr lang="en-US" sz="1300" b="1" dirty="0">
                <a:solidFill>
                  <a:srgbClr val="55C8E8"/>
                </a:solidFill>
                <a:latin typeface="Calibri" pitchFamily="34" charset="0"/>
                <a:ea typeface="Calibri" pitchFamily="34" charset="-122"/>
                <a:cs typeface="Calibri" pitchFamily="34" charset="-120"/>
              </a:rPr>
              <a:t>1. Read the Sentence</a:t>
            </a:r>
            <a:endParaRPr lang="en-US" sz="1300" dirty="0"/>
          </a:p>
        </p:txBody>
      </p:sp>
      <p:sp>
        <p:nvSpPr>
          <p:cNvPr id="6" name="Text 4"/>
          <p:cNvSpPr/>
          <p:nvPr/>
        </p:nvSpPr>
        <p:spPr>
          <a:xfrm>
            <a:off x="594360" y="1170432"/>
            <a:ext cx="7955280" cy="274320"/>
          </a:xfrm>
          <a:prstGeom prst="rect">
            <a:avLst/>
          </a:prstGeom>
          <a:noFill/>
          <a:ln/>
        </p:spPr>
        <p:txBody>
          <a:bodyPr wrap="square" lIns="0" tIns="0" rIns="0" bIns="0" rtlCol="0" anchor="ctr"/>
          <a:lstStyle/>
          <a:p>
            <a:pPr indent="0" marL="0">
              <a:buNone/>
            </a:pPr>
            <a:r>
              <a:rPr lang="en-US" sz="1200" i="1" dirty="0">
                <a:solidFill>
                  <a:srgbClr val="0E1C42"/>
                </a:solidFill>
                <a:latin typeface="Calibri" pitchFamily="34" charset="0"/>
                <a:ea typeface="Calibri" pitchFamily="34" charset="-122"/>
                <a:cs typeface="Calibri" pitchFamily="34" charset="-120"/>
              </a:rPr>
              <a:t>"She paused a moment to eavesdrop on their conversation."</a:t>
            </a:r>
            <a:endParaRPr lang="en-US" sz="1200" dirty="0"/>
          </a:p>
        </p:txBody>
      </p:sp>
      <p:sp>
        <p:nvSpPr>
          <p:cNvPr id="7" name="Text 5"/>
          <p:cNvSpPr/>
          <p:nvPr/>
        </p:nvSpPr>
        <p:spPr>
          <a:xfrm>
            <a:off x="594360" y="1463040"/>
            <a:ext cx="7955280" cy="292608"/>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Find the word in the book. What clues does the sentence give you? Mrs. Frisby has just gotten home and hears her children talking. She is quiet and listens without them knowing. So eavesdrop probably means listening to others when they don't know you're there.</a:t>
            </a:r>
            <a:endParaRPr lang="en-US" sz="1100" dirty="0"/>
          </a:p>
        </p:txBody>
      </p:sp>
      <p:sp>
        <p:nvSpPr>
          <p:cNvPr id="8" name="Shape 6"/>
          <p:cNvSpPr/>
          <p:nvPr/>
        </p:nvSpPr>
        <p:spPr>
          <a:xfrm>
            <a:off x="365760" y="1892808"/>
            <a:ext cx="8412480" cy="566928"/>
          </a:xfrm>
          <a:prstGeom prst="roundRect">
            <a:avLst>
              <a:gd name="adj" fmla="val 12903"/>
            </a:avLst>
          </a:prstGeom>
          <a:solidFill>
            <a:srgbClr val="F0E8FF"/>
          </a:solidFill>
          <a:ln w="12700">
            <a:solidFill>
              <a:srgbClr val="8B6FC0"/>
            </a:solidFill>
            <a:prstDash val="solid"/>
          </a:ln>
          <a:effectLst>
            <a:outerShdw sx="100000" sy="100000" kx="0" ky="0" algn="bl" rotWithShape="0" blurRad="101600" dist="38100" dir="2700000">
              <a:srgbClr val="000000">
                <a:alpha val="12000"/>
              </a:srgbClr>
            </a:outerShdw>
          </a:effectLst>
        </p:spPr>
      </p:sp>
      <p:sp>
        <p:nvSpPr>
          <p:cNvPr id="9" name="Text 7"/>
          <p:cNvSpPr/>
          <p:nvPr/>
        </p:nvSpPr>
        <p:spPr>
          <a:xfrm>
            <a:off x="502920" y="1947672"/>
            <a:ext cx="8138160" cy="274320"/>
          </a:xfrm>
          <a:prstGeom prst="rect">
            <a:avLst/>
          </a:prstGeom>
          <a:noFill/>
          <a:ln/>
        </p:spPr>
        <p:txBody>
          <a:bodyPr wrap="square" lIns="0" tIns="0" rIns="0" bIns="0" rtlCol="0" anchor="ctr"/>
          <a:lstStyle/>
          <a:p>
            <a:pPr indent="0" marL="0">
              <a:buNone/>
            </a:pPr>
            <a:r>
              <a:rPr lang="en-US" sz="1300" b="1" dirty="0">
                <a:solidFill>
                  <a:srgbClr val="8B6FC0"/>
                </a:solidFill>
                <a:latin typeface="Calibri" pitchFamily="34" charset="0"/>
                <a:ea typeface="Calibri" pitchFamily="34" charset="-122"/>
                <a:cs typeface="Calibri" pitchFamily="34" charset="-120"/>
              </a:rPr>
              <a:t>2. Look at the Word Parts</a:t>
            </a:r>
            <a:endParaRPr lang="en-US" sz="1300" dirty="0"/>
          </a:p>
        </p:txBody>
      </p:sp>
      <p:sp>
        <p:nvSpPr>
          <p:cNvPr id="10" name="Text 8"/>
          <p:cNvSpPr/>
          <p:nvPr/>
        </p:nvSpPr>
        <p:spPr>
          <a:xfrm>
            <a:off x="594360" y="2221992"/>
            <a:ext cx="7955280" cy="192024"/>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Do you see a root, prefix, or suffix you recognize?</a:t>
            </a:r>
            <a:endParaRPr lang="en-US" sz="1100" dirty="0"/>
          </a:p>
        </p:txBody>
      </p:sp>
      <p:sp>
        <p:nvSpPr>
          <p:cNvPr id="11" name="Shape 9"/>
          <p:cNvSpPr/>
          <p:nvPr/>
        </p:nvSpPr>
        <p:spPr>
          <a:xfrm>
            <a:off x="365760" y="2551176"/>
            <a:ext cx="8412480" cy="566928"/>
          </a:xfrm>
          <a:prstGeom prst="roundRect">
            <a:avLst>
              <a:gd name="adj" fmla="val 12903"/>
            </a:avLst>
          </a:prstGeom>
          <a:solidFill>
            <a:srgbClr val="E8F8EF"/>
          </a:solidFill>
          <a:ln w="12700">
            <a:solidFill>
              <a:srgbClr val="34B76F"/>
            </a:solidFill>
            <a:prstDash val="solid"/>
          </a:ln>
          <a:effectLst>
            <a:outerShdw sx="100000" sy="100000" kx="0" ky="0" algn="bl" rotWithShape="0" blurRad="101600" dist="38100" dir="2700000">
              <a:srgbClr val="000000">
                <a:alpha val="12000"/>
              </a:srgbClr>
            </a:outerShdw>
          </a:effectLst>
        </p:spPr>
      </p:sp>
      <p:sp>
        <p:nvSpPr>
          <p:cNvPr id="12" name="Text 10"/>
          <p:cNvSpPr/>
          <p:nvPr/>
        </p:nvSpPr>
        <p:spPr>
          <a:xfrm>
            <a:off x="502920" y="2606040"/>
            <a:ext cx="8138160" cy="274320"/>
          </a:xfrm>
          <a:prstGeom prst="rect">
            <a:avLst/>
          </a:prstGeom>
          <a:noFill/>
          <a:ln/>
        </p:spPr>
        <p:txBody>
          <a:bodyPr wrap="square" lIns="0" tIns="0" rIns="0" bIns="0" rtlCol="0" anchor="ctr"/>
          <a:lstStyle/>
          <a:p>
            <a:pPr indent="0" marL="0">
              <a:buNone/>
            </a:pPr>
            <a:r>
              <a:rPr lang="en-US" sz="1300" b="1" dirty="0">
                <a:solidFill>
                  <a:srgbClr val="34B76F"/>
                </a:solidFill>
                <a:latin typeface="Calibri" pitchFamily="34" charset="0"/>
                <a:ea typeface="Calibri" pitchFamily="34" charset="-122"/>
                <a:cs typeface="Calibri" pitchFamily="34" charset="-120"/>
              </a:rPr>
              <a:t>3. Confirm</a:t>
            </a:r>
            <a:endParaRPr lang="en-US" sz="1300" dirty="0"/>
          </a:p>
        </p:txBody>
      </p:sp>
      <p:sp>
        <p:nvSpPr>
          <p:cNvPr id="13" name="Text 11"/>
          <p:cNvSpPr/>
          <p:nvPr/>
        </p:nvSpPr>
        <p:spPr>
          <a:xfrm>
            <a:off x="594360" y="2880360"/>
            <a:ext cx="7955280" cy="192024"/>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Were we close?</a:t>
            </a:r>
            <a:endParaRPr lang="en-US" sz="1100" dirty="0"/>
          </a:p>
        </p:txBody>
      </p:sp>
      <p:sp>
        <p:nvSpPr>
          <p:cNvPr id="14" name="Shape 12"/>
          <p:cNvSpPr/>
          <p:nvPr/>
        </p:nvSpPr>
        <p:spPr>
          <a:xfrm>
            <a:off x="365760" y="3209544"/>
            <a:ext cx="8412480" cy="502920"/>
          </a:xfrm>
          <a:prstGeom prst="roundRect">
            <a:avLst>
              <a:gd name="adj" fmla="val 14545"/>
            </a:avLst>
          </a:prstGeom>
          <a:solidFill>
            <a:srgbClr val="E8F8EF"/>
          </a:solidFill>
          <a:ln/>
          <a:effectLst>
            <a:outerShdw sx="100000" sy="100000" kx="0" ky="0" algn="bl" rotWithShape="0" blurRad="101600" dist="38100" dir="2700000">
              <a:srgbClr val="000000">
                <a:alpha val="12000"/>
              </a:srgbClr>
            </a:outerShdw>
          </a:effectLst>
        </p:spPr>
      </p:sp>
      <p:sp>
        <p:nvSpPr>
          <p:cNvPr id="15" name="Text 13"/>
          <p:cNvSpPr/>
          <p:nvPr/>
        </p:nvSpPr>
        <p:spPr>
          <a:xfrm>
            <a:off x="548640" y="3264408"/>
            <a:ext cx="8046720" cy="393192"/>
          </a:xfrm>
          <a:prstGeom prst="rect">
            <a:avLst/>
          </a:prstGeom>
          <a:noFill/>
          <a:ln/>
        </p:spPr>
        <p:txBody>
          <a:bodyPr wrap="square" lIns="0" tIns="0" rIns="0" bIns="0" rtlCol="0" anchor="ctr"/>
          <a:lstStyle/>
          <a:p>
            <a:pPr indent="0" marL="0">
              <a:buNone/>
            </a:pPr>
            <a:r>
              <a:rPr lang="en-US" sz="1200" b="1" dirty="0">
                <a:solidFill>
                  <a:srgbClr val="34B76F"/>
                </a:solidFill>
                <a:latin typeface="Calibri" pitchFamily="34" charset="0"/>
                <a:ea typeface="Calibri" pitchFamily="34" charset="-122"/>
                <a:cs typeface="Calibri" pitchFamily="34" charset="-120"/>
              </a:rPr>
              <a:t>Eavesdrop means to secretly listen to a conversation you weren't meant to hear. Our context and word parts got us there!</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Vocabulary</a:t>
            </a:r>
            <a:endParaRPr lang="en-US" sz="2800" dirty="0"/>
          </a:p>
        </p:txBody>
      </p:sp>
      <p:sp>
        <p:nvSpPr>
          <p:cNvPr id="3" name="Shape 1"/>
          <p:cNvSpPr/>
          <p:nvPr/>
        </p:nvSpPr>
        <p:spPr>
          <a:xfrm>
            <a:off x="365760" y="749808"/>
            <a:ext cx="8412480" cy="0"/>
          </a:xfrm>
          <a:prstGeom prst="line">
            <a:avLst/>
          </a:prstGeom>
          <a:noFill/>
          <a:ln w="19050">
            <a:solidFill>
              <a:srgbClr val="8FBF7A"/>
            </a:solidFill>
            <a:prstDash val="solid"/>
          </a:ln>
        </p:spPr>
      </p:sp>
      <p:sp>
        <p:nvSpPr>
          <p:cNvPr id="4" name="Text 2"/>
          <p:cNvSpPr/>
          <p:nvPr/>
        </p:nvSpPr>
        <p:spPr>
          <a:xfrm>
            <a:off x="365760" y="786384"/>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3 WORDS - READ THE SENTENCE, THEN THE MEANING</a:t>
            </a:r>
            <a:endParaRPr lang="en-US" sz="1100" dirty="0"/>
          </a:p>
        </p:txBody>
      </p:sp>
      <p:sp>
        <p:nvSpPr>
          <p:cNvPr id="5" name="Shape 3"/>
          <p:cNvSpPr/>
          <p:nvPr/>
        </p:nvSpPr>
        <p:spPr>
          <a:xfrm>
            <a:off x="320040" y="914400"/>
            <a:ext cx="4069080" cy="1360932"/>
          </a:xfrm>
          <a:prstGeom prst="roundRect">
            <a:avLst>
              <a:gd name="adj" fmla="val 6719"/>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457200" y="1005840"/>
            <a:ext cx="3794760" cy="352044"/>
          </a:xfrm>
          <a:prstGeom prst="rect">
            <a:avLst/>
          </a:prstGeom>
          <a:noFill/>
          <a:ln/>
        </p:spPr>
        <p:txBody>
          <a:bodyPr wrap="square" lIns="0" tIns="0" rIns="0" bIns="0" rtlCol="0" anchor="ctr"/>
          <a:lstStyle/>
          <a:p>
            <a:pPr indent="0" marL="0">
              <a:buNone/>
            </a:pPr>
            <a:r>
              <a:rPr lang="en-US" sz="1050" i="1" dirty="0">
                <a:solidFill>
                  <a:srgbClr val="64748B"/>
                </a:solidFill>
                <a:latin typeface="Calibri" pitchFamily="34" charset="0"/>
                <a:ea typeface="Calibri" pitchFamily="34" charset="-122"/>
                <a:cs typeface="Calibri" pitchFamily="34" charset="-120"/>
              </a:rPr>
              <a:t>“He was greatly oversized and muscular, and his eyes were bright enough.”</a:t>
            </a:r>
            <a:endParaRPr lang="en-US" sz="1050" dirty="0"/>
          </a:p>
        </p:txBody>
      </p:sp>
      <p:sp>
        <p:nvSpPr>
          <p:cNvPr id="7" name="Text 5"/>
          <p:cNvSpPr/>
          <p:nvPr/>
        </p:nvSpPr>
        <p:spPr>
          <a:xfrm>
            <a:off x="457200" y="1412748"/>
            <a:ext cx="3794760" cy="292608"/>
          </a:xfrm>
          <a:prstGeom prst="rect">
            <a:avLst/>
          </a:prstGeom>
          <a:noFill/>
          <a:ln/>
        </p:spPr>
        <p:txBody>
          <a:bodyPr wrap="square" lIns="0" tIns="0" rIns="0" bIns="0" rtlCol="0" anchor="ctr"/>
          <a:lstStyle/>
          <a:p>
            <a:pPr indent="0" marL="0">
              <a:buNone/>
            </a:pPr>
            <a:r>
              <a:rPr lang="en-US" sz="1400" b="1" dirty="0">
                <a:solidFill>
                  <a:srgbClr val="8B6FC0"/>
                </a:solidFill>
                <a:latin typeface="Calibri" pitchFamily="34" charset="0"/>
                <a:ea typeface="Calibri" pitchFamily="34" charset="-122"/>
                <a:cs typeface="Calibri" pitchFamily="34" charset="-120"/>
              </a:rPr>
              <a:t>💪  muscular</a:t>
            </a:r>
            <a:endParaRPr lang="en-US" sz="1400" dirty="0"/>
          </a:p>
        </p:txBody>
      </p:sp>
      <p:sp>
        <p:nvSpPr>
          <p:cNvPr id="8" name="Text 6"/>
          <p:cNvSpPr/>
          <p:nvPr/>
        </p:nvSpPr>
        <p:spPr>
          <a:xfrm>
            <a:off x="457200" y="1723644"/>
            <a:ext cx="3794760" cy="496824"/>
          </a:xfrm>
          <a:prstGeom prst="rect">
            <a:avLst/>
          </a:prstGeom>
          <a:noFill/>
          <a:ln/>
        </p:spPr>
        <p:txBody>
          <a:bodyPr wrap="square" lIns="0" tIns="0" rIns="0" bIns="0" rtlCol="0" anchor="ctr"/>
          <a:lstStyle/>
          <a:p>
            <a:pPr indent="0" marL="0">
              <a:buNone/>
            </a:pPr>
            <a:r>
              <a:rPr lang="en-US" sz="1100" i="1" dirty="0">
                <a:solidFill>
                  <a:srgbClr val="1E293B"/>
                </a:solidFill>
                <a:latin typeface="Calibri" pitchFamily="34" charset="0"/>
                <a:ea typeface="Calibri" pitchFamily="34" charset="-122"/>
                <a:cs typeface="Calibri" pitchFamily="34" charset="-120"/>
              </a:rPr>
              <a:t>Having strong, well-developed muscles.</a:t>
            </a:r>
            <a:endParaRPr lang="en-US" sz="1100" dirty="0"/>
          </a:p>
        </p:txBody>
      </p:sp>
      <p:sp>
        <p:nvSpPr>
          <p:cNvPr id="9" name="Shape 7"/>
          <p:cNvSpPr/>
          <p:nvPr/>
        </p:nvSpPr>
        <p:spPr>
          <a:xfrm>
            <a:off x="4572000" y="914400"/>
            <a:ext cx="4069080" cy="1360932"/>
          </a:xfrm>
          <a:prstGeom prst="roundRect">
            <a:avLst>
              <a:gd name="adj" fmla="val 6719"/>
            </a:avLst>
          </a:prstGeom>
          <a:solidFill>
            <a:srgbClr val="F0E8FF"/>
          </a:solidFill>
          <a:ln/>
          <a:effectLst>
            <a:outerShdw sx="100000" sy="100000" kx="0" ky="0" algn="bl" rotWithShape="0" blurRad="101600" dist="38100" dir="2700000">
              <a:srgbClr val="000000">
                <a:alpha val="12000"/>
              </a:srgbClr>
            </a:outerShdw>
          </a:effectLst>
        </p:spPr>
      </p:sp>
      <p:sp>
        <p:nvSpPr>
          <p:cNvPr id="10" name="Text 8"/>
          <p:cNvSpPr/>
          <p:nvPr/>
        </p:nvSpPr>
        <p:spPr>
          <a:xfrm>
            <a:off x="4709160" y="1005840"/>
            <a:ext cx="3794760" cy="352044"/>
          </a:xfrm>
          <a:prstGeom prst="rect">
            <a:avLst/>
          </a:prstGeom>
          <a:noFill/>
          <a:ln/>
        </p:spPr>
        <p:txBody>
          <a:bodyPr wrap="square" lIns="0" tIns="0" rIns="0" bIns="0" rtlCol="0" anchor="ctr"/>
          <a:lstStyle/>
          <a:p>
            <a:pPr indent="0" marL="0">
              <a:buNone/>
            </a:pPr>
            <a:r>
              <a:rPr lang="en-US" sz="1050" i="1" dirty="0">
                <a:solidFill>
                  <a:srgbClr val="64748B"/>
                </a:solidFill>
                <a:latin typeface="Calibri" pitchFamily="34" charset="0"/>
                <a:ea typeface="Calibri" pitchFamily="34" charset="-122"/>
                <a:cs typeface="Calibri" pitchFamily="34" charset="-120"/>
              </a:rPr>
              <a:t>“Every foot or so on both sides a tiny light bulb had been recessed into the wall.”</a:t>
            </a:r>
            <a:endParaRPr lang="en-US" sz="1050" dirty="0"/>
          </a:p>
        </p:txBody>
      </p:sp>
      <p:sp>
        <p:nvSpPr>
          <p:cNvPr id="11" name="Text 9"/>
          <p:cNvSpPr/>
          <p:nvPr/>
        </p:nvSpPr>
        <p:spPr>
          <a:xfrm>
            <a:off x="4709160" y="1412748"/>
            <a:ext cx="3794760" cy="292608"/>
          </a:xfrm>
          <a:prstGeom prst="rect">
            <a:avLst/>
          </a:prstGeom>
          <a:noFill/>
          <a:ln/>
        </p:spPr>
        <p:txBody>
          <a:bodyPr wrap="square" lIns="0" tIns="0" rIns="0" bIns="0" rtlCol="0" anchor="ctr"/>
          <a:lstStyle/>
          <a:p>
            <a:pPr indent="0" marL="0">
              <a:buNone/>
            </a:pPr>
            <a:r>
              <a:rPr lang="en-US" sz="1400" b="1" dirty="0">
                <a:solidFill>
                  <a:srgbClr val="8B6FC0"/>
                </a:solidFill>
                <a:latin typeface="Calibri" pitchFamily="34" charset="0"/>
                <a:ea typeface="Calibri" pitchFamily="34" charset="-122"/>
                <a:cs typeface="Calibri" pitchFamily="34" charset="-120"/>
              </a:rPr>
              <a:t>💡  recessed</a:t>
            </a:r>
            <a:endParaRPr lang="en-US" sz="1400" dirty="0"/>
          </a:p>
        </p:txBody>
      </p:sp>
      <p:sp>
        <p:nvSpPr>
          <p:cNvPr id="12" name="Text 10"/>
          <p:cNvSpPr/>
          <p:nvPr/>
        </p:nvSpPr>
        <p:spPr>
          <a:xfrm>
            <a:off x="4709160" y="1723644"/>
            <a:ext cx="3794760" cy="496824"/>
          </a:xfrm>
          <a:prstGeom prst="rect">
            <a:avLst/>
          </a:prstGeom>
          <a:noFill/>
          <a:ln/>
        </p:spPr>
        <p:txBody>
          <a:bodyPr wrap="square" lIns="0" tIns="0" rIns="0" bIns="0" rtlCol="0" anchor="ctr"/>
          <a:lstStyle/>
          <a:p>
            <a:pPr indent="0" marL="0">
              <a:buNone/>
            </a:pPr>
            <a:r>
              <a:rPr lang="en-US" sz="1100" i="1" dirty="0">
                <a:solidFill>
                  <a:srgbClr val="1E293B"/>
                </a:solidFill>
                <a:latin typeface="Calibri" pitchFamily="34" charset="0"/>
                <a:ea typeface="Calibri" pitchFamily="34" charset="-122"/>
                <a:cs typeface="Calibri" pitchFamily="34" charset="-120"/>
              </a:rPr>
              <a:t>Set back into a wall or surface so it doesn't stick out.</a:t>
            </a:r>
            <a:endParaRPr lang="en-US" sz="1100" dirty="0"/>
          </a:p>
        </p:txBody>
      </p:sp>
      <p:sp>
        <p:nvSpPr>
          <p:cNvPr id="13" name="Shape 11"/>
          <p:cNvSpPr/>
          <p:nvPr/>
        </p:nvSpPr>
        <p:spPr>
          <a:xfrm>
            <a:off x="320040" y="2385060"/>
            <a:ext cx="4069080" cy="1000506"/>
          </a:xfrm>
          <a:prstGeom prst="roundRect">
            <a:avLst>
              <a:gd name="adj" fmla="val 9139"/>
            </a:avLst>
          </a:prstGeom>
          <a:solidFill>
            <a:srgbClr val="F0E8FF"/>
          </a:solidFill>
          <a:ln/>
          <a:effectLst>
            <a:outerShdw sx="100000" sy="100000" kx="0" ky="0" algn="bl" rotWithShape="0" blurRad="101600" dist="38100" dir="2700000">
              <a:srgbClr val="000000">
                <a:alpha val="12000"/>
              </a:srgbClr>
            </a:outerShdw>
          </a:effectLst>
        </p:spPr>
      </p:sp>
      <p:sp>
        <p:nvSpPr>
          <p:cNvPr id="14" name="Text 12"/>
          <p:cNvSpPr/>
          <p:nvPr/>
        </p:nvSpPr>
        <p:spPr>
          <a:xfrm>
            <a:off x="457200" y="2476500"/>
            <a:ext cx="3794760" cy="176022"/>
          </a:xfrm>
          <a:prstGeom prst="rect">
            <a:avLst/>
          </a:prstGeom>
          <a:noFill/>
          <a:ln/>
        </p:spPr>
        <p:txBody>
          <a:bodyPr wrap="square" lIns="0" tIns="0" rIns="0" bIns="0" rtlCol="0" anchor="ctr"/>
          <a:lstStyle/>
          <a:p>
            <a:pPr indent="0" marL="0">
              <a:buNone/>
            </a:pPr>
            <a:r>
              <a:rPr lang="en-US" sz="1050" i="1" dirty="0">
                <a:solidFill>
                  <a:srgbClr val="64748B"/>
                </a:solidFill>
                <a:latin typeface="Calibri" pitchFamily="34" charset="0"/>
                <a:ea typeface="Calibri" pitchFamily="34" charset="-122"/>
                <a:cs typeface="Calibri" pitchFamily="34" charset="-120"/>
              </a:rPr>
              <a:t>“It was entirely deserted and silent.”</a:t>
            </a:r>
            <a:endParaRPr lang="en-US" sz="1050" dirty="0"/>
          </a:p>
        </p:txBody>
      </p:sp>
      <p:sp>
        <p:nvSpPr>
          <p:cNvPr id="15" name="Text 13"/>
          <p:cNvSpPr/>
          <p:nvPr/>
        </p:nvSpPr>
        <p:spPr>
          <a:xfrm>
            <a:off x="457200" y="2707386"/>
            <a:ext cx="3794760" cy="292608"/>
          </a:xfrm>
          <a:prstGeom prst="rect">
            <a:avLst/>
          </a:prstGeom>
          <a:noFill/>
          <a:ln/>
        </p:spPr>
        <p:txBody>
          <a:bodyPr wrap="square" lIns="0" tIns="0" rIns="0" bIns="0" rtlCol="0" anchor="ctr"/>
          <a:lstStyle/>
          <a:p>
            <a:pPr indent="0" marL="0">
              <a:buNone/>
            </a:pPr>
            <a:r>
              <a:rPr lang="en-US" sz="1400" b="1" dirty="0">
                <a:solidFill>
                  <a:srgbClr val="8B6FC0"/>
                </a:solidFill>
                <a:latin typeface="Calibri" pitchFamily="34" charset="0"/>
                <a:ea typeface="Calibri" pitchFamily="34" charset="-122"/>
                <a:cs typeface="Calibri" pitchFamily="34" charset="-120"/>
              </a:rPr>
              <a:t>🚪  deserted</a:t>
            </a:r>
            <a:endParaRPr lang="en-US" sz="1400" dirty="0"/>
          </a:p>
        </p:txBody>
      </p:sp>
      <p:sp>
        <p:nvSpPr>
          <p:cNvPr id="16" name="Text 14"/>
          <p:cNvSpPr/>
          <p:nvPr/>
        </p:nvSpPr>
        <p:spPr>
          <a:xfrm>
            <a:off x="457200" y="3018282"/>
            <a:ext cx="3794760" cy="312420"/>
          </a:xfrm>
          <a:prstGeom prst="rect">
            <a:avLst/>
          </a:prstGeom>
          <a:noFill/>
          <a:ln/>
        </p:spPr>
        <p:txBody>
          <a:bodyPr wrap="square" lIns="0" tIns="0" rIns="0" bIns="0" rtlCol="0" anchor="ctr"/>
          <a:lstStyle/>
          <a:p>
            <a:pPr indent="0" marL="0">
              <a:buNone/>
            </a:pPr>
            <a:r>
              <a:rPr lang="en-US" sz="1100" i="1" dirty="0">
                <a:solidFill>
                  <a:srgbClr val="1E293B"/>
                </a:solidFill>
                <a:latin typeface="Calibri" pitchFamily="34" charset="0"/>
                <a:ea typeface="Calibri" pitchFamily="34" charset="-122"/>
                <a:cs typeface="Calibri" pitchFamily="34" charset="-120"/>
              </a:rPr>
              <a:t>Empty — completely without people.</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Grammar - Grammar: Nouns &amp; Subjects</a:t>
            </a:r>
            <a:endParaRPr lang="en-US" sz="2800" dirty="0"/>
          </a:p>
        </p:txBody>
      </p:sp>
      <p:sp>
        <p:nvSpPr>
          <p:cNvPr id="3" name="Shape 1"/>
          <p:cNvSpPr/>
          <p:nvPr/>
        </p:nvSpPr>
        <p:spPr>
          <a:xfrm>
            <a:off x="365760" y="749808"/>
            <a:ext cx="8412480" cy="0"/>
          </a:xfrm>
          <a:prstGeom prst="line">
            <a:avLst/>
          </a:prstGeom>
          <a:noFill/>
          <a:ln w="19050">
            <a:solidFill>
              <a:srgbClr val="8FBF7A"/>
            </a:solidFill>
            <a:prstDash val="solid"/>
          </a:ln>
        </p:spPr>
      </p:sp>
      <p:sp>
        <p:nvSpPr>
          <p:cNvPr id="4" name="Shape 2"/>
          <p:cNvSpPr/>
          <p:nvPr/>
        </p:nvSpPr>
        <p:spPr>
          <a:xfrm>
            <a:off x="6492240" y="173736"/>
            <a:ext cx="2286000" cy="502920"/>
          </a:xfrm>
          <a:prstGeom prst="roundRect">
            <a:avLst>
              <a:gd name="adj" fmla="val 21818"/>
            </a:avLst>
          </a:prstGeom>
          <a:solidFill>
            <a:srgbClr val="8FBF7A"/>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SPOT THE TARGET WORD</a:t>
            </a:r>
            <a:endParaRPr lang="en-US" sz="1100" dirty="0"/>
          </a:p>
        </p:txBody>
      </p:sp>
      <p:sp>
        <p:nvSpPr>
          <p:cNvPr id="7" name="Shape 5"/>
          <p:cNvSpPr/>
          <p:nvPr/>
        </p:nvSpPr>
        <p:spPr>
          <a:xfrm>
            <a:off x="365760" y="1078992"/>
            <a:ext cx="8412480" cy="621792"/>
          </a:xfrm>
          <a:prstGeom prst="roundRect">
            <a:avLst>
              <a:gd name="adj" fmla="val 11765"/>
            </a:avLst>
          </a:prstGeom>
          <a:solidFill>
            <a:srgbClr val="FEF6E8"/>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863840" cy="438912"/>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Mrs. Frisby hurried down the tunnel.</a:t>
            </a:r>
            <a:endParaRPr lang="en-US" sz="1500" dirty="0"/>
          </a:p>
        </p:txBody>
      </p:sp>
      <p:sp>
        <p:nvSpPr>
          <p:cNvPr id="9" name="Shape 7"/>
          <p:cNvSpPr/>
          <p:nvPr/>
        </p:nvSpPr>
        <p:spPr>
          <a:xfrm>
            <a:off x="365760" y="1792224"/>
            <a:ext cx="8412480" cy="621792"/>
          </a:xfrm>
          <a:prstGeom prst="roundRect">
            <a:avLst>
              <a:gd name="adj" fmla="val 11765"/>
            </a:avLst>
          </a:prstGeom>
          <a:solidFill>
            <a:srgbClr val="FEF6E8"/>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1883664"/>
            <a:ext cx="7863840" cy="438912"/>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Brutus blocked the entrance to the rosebush.</a:t>
            </a:r>
            <a:endParaRPr lang="en-US" sz="1500" dirty="0"/>
          </a:p>
        </p:txBody>
      </p:sp>
      <p:sp>
        <p:nvSpPr>
          <p:cNvPr id="11" name="Shape 9"/>
          <p:cNvSpPr/>
          <p:nvPr/>
        </p:nvSpPr>
        <p:spPr>
          <a:xfrm>
            <a:off x="365760" y="2505456"/>
            <a:ext cx="8412480" cy="621792"/>
          </a:xfrm>
          <a:prstGeom prst="roundRect">
            <a:avLst>
              <a:gd name="adj" fmla="val 11765"/>
            </a:avLst>
          </a:prstGeom>
          <a:solidFill>
            <a:srgbClr val="FEF6E8"/>
          </a:solidFill>
          <a:ln/>
          <a:effectLst>
            <a:outerShdw sx="100000" sy="100000" kx="0" ky="0" algn="bl" rotWithShape="0" blurRad="101600" dist="38100" dir="2700000">
              <a:srgbClr val="000000">
                <a:alpha val="12000"/>
              </a:srgbClr>
            </a:outerShdw>
          </a:effectLst>
        </p:spPr>
      </p:sp>
      <p:sp>
        <p:nvSpPr>
          <p:cNvPr id="12" name="Text 10"/>
          <p:cNvSpPr/>
          <p:nvPr/>
        </p:nvSpPr>
        <p:spPr>
          <a:xfrm>
            <a:off x="594360" y="2596896"/>
            <a:ext cx="7863840" cy="438912"/>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Justin explained the rats’ plan.</a:t>
            </a:r>
            <a:endParaRPr lang="en-US" sz="1500" dirty="0"/>
          </a:p>
        </p:txBody>
      </p:sp>
      <p:sp>
        <p:nvSpPr>
          <p:cNvPr id="13" name="Shape 11"/>
          <p:cNvSpPr/>
          <p:nvPr/>
        </p:nvSpPr>
        <p:spPr>
          <a:xfrm>
            <a:off x="365760" y="3218688"/>
            <a:ext cx="8412480" cy="621792"/>
          </a:xfrm>
          <a:prstGeom prst="roundRect">
            <a:avLst>
              <a:gd name="adj" fmla="val 11765"/>
            </a:avLst>
          </a:prstGeom>
          <a:solidFill>
            <a:srgbClr val="FEF6E8"/>
          </a:solidFill>
          <a:ln/>
          <a:effectLst>
            <a:outerShdw sx="100000" sy="100000" kx="0" ky="0" algn="bl" rotWithShape="0" blurRad="101600" dist="38100" dir="2700000">
              <a:srgbClr val="000000">
                <a:alpha val="12000"/>
              </a:srgbClr>
            </a:outerShdw>
          </a:effectLst>
        </p:spPr>
      </p:sp>
      <p:sp>
        <p:nvSpPr>
          <p:cNvPr id="14" name="Text 12"/>
          <p:cNvSpPr/>
          <p:nvPr/>
        </p:nvSpPr>
        <p:spPr>
          <a:xfrm>
            <a:off x="594360" y="3310128"/>
            <a:ext cx="7863840" cy="438912"/>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Timothy could not get out of bed.</a:t>
            </a:r>
            <a:endParaRPr lang="en-US" sz="1500" dirty="0"/>
          </a:p>
        </p:txBody>
      </p:sp>
      <p:sp>
        <p:nvSpPr>
          <p:cNvPr id="15" name="Text 13"/>
          <p:cNvSpPr/>
          <p:nvPr/>
        </p:nvSpPr>
        <p:spPr>
          <a:xfrm>
            <a:off x="457200" y="3977640"/>
            <a:ext cx="8229600" cy="347472"/>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Find the target word. Write it in your notebook.</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Grammar - Grammar: Nouns &amp; Subjects</a:t>
            </a:r>
            <a:endParaRPr lang="en-US" sz="2800" dirty="0"/>
          </a:p>
        </p:txBody>
      </p:sp>
      <p:sp>
        <p:nvSpPr>
          <p:cNvPr id="3" name="Shape 1"/>
          <p:cNvSpPr/>
          <p:nvPr/>
        </p:nvSpPr>
        <p:spPr>
          <a:xfrm>
            <a:off x="365760" y="749808"/>
            <a:ext cx="8412480" cy="0"/>
          </a:xfrm>
          <a:prstGeom prst="line">
            <a:avLst/>
          </a:prstGeom>
          <a:noFill/>
          <a:ln w="19050">
            <a:solidFill>
              <a:srgbClr val="8FBF7A"/>
            </a:solidFill>
            <a:prstDash val="solid"/>
          </a:ln>
        </p:spPr>
      </p:sp>
      <p:sp>
        <p:nvSpPr>
          <p:cNvPr id="4" name="Shape 2"/>
          <p:cNvSpPr/>
          <p:nvPr/>
        </p:nvSpPr>
        <p:spPr>
          <a:xfrm>
            <a:off x="6492240" y="173736"/>
            <a:ext cx="2286000" cy="502920"/>
          </a:xfrm>
          <a:prstGeom prst="roundRect">
            <a:avLst>
              <a:gd name="adj" fmla="val 21818"/>
            </a:avLst>
          </a:prstGeom>
          <a:solidFill>
            <a:srgbClr val="8FBF7A"/>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ANSWERS REVEALED</a:t>
            </a:r>
            <a:endParaRPr lang="en-US" sz="1100" dirty="0"/>
          </a:p>
        </p:txBody>
      </p:sp>
      <p:sp>
        <p:nvSpPr>
          <p:cNvPr id="7" name="Shape 5"/>
          <p:cNvSpPr/>
          <p:nvPr/>
        </p:nvSpPr>
        <p:spPr>
          <a:xfrm>
            <a:off x="365760" y="1078992"/>
            <a:ext cx="8412480" cy="621792"/>
          </a:xfrm>
          <a:prstGeom prst="roundRect">
            <a:avLst>
              <a:gd name="adj" fmla="val 11765"/>
            </a:avLst>
          </a:prstGeom>
          <a:solidFill>
            <a:srgbClr val="E8F8EF"/>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863840" cy="438912"/>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Mrs. Frisby </a:t>
            </a:r>
            <a:pPr indent="0" marL="0">
              <a:buNone/>
            </a:pPr>
            <a:r>
              <a:rPr lang="en-US" sz="1500" b="1" u="sng" dirty="0">
                <a:solidFill>
                  <a:srgbClr val="34B76F"/>
                </a:solidFill>
                <a:latin typeface="Calibri" pitchFamily="34" charset="0"/>
                <a:ea typeface="Calibri" pitchFamily="34" charset="-122"/>
                <a:cs typeface="Calibri" pitchFamily="34" charset="-120"/>
              </a:rPr>
              <a:t>hurried</a:t>
            </a:r>
            <a:pPr indent="0" marL="0">
              <a:buNone/>
            </a:pPr>
            <a:r>
              <a:rPr lang="en-US" sz="1500" dirty="0">
                <a:solidFill>
                  <a:srgbClr val="1E293B"/>
                </a:solidFill>
                <a:latin typeface="Calibri" pitchFamily="34" charset="0"/>
                <a:ea typeface="Calibri" pitchFamily="34" charset="-122"/>
                <a:cs typeface="Calibri" pitchFamily="34" charset="-120"/>
              </a:rPr>
              <a:t> down the tunnel.</a:t>
            </a:r>
            <a:endParaRPr lang="en-US" sz="1500" dirty="0"/>
          </a:p>
        </p:txBody>
      </p:sp>
      <p:sp>
        <p:nvSpPr>
          <p:cNvPr id="9" name="Shape 7"/>
          <p:cNvSpPr/>
          <p:nvPr/>
        </p:nvSpPr>
        <p:spPr>
          <a:xfrm>
            <a:off x="365760" y="1792224"/>
            <a:ext cx="8412480" cy="621792"/>
          </a:xfrm>
          <a:prstGeom prst="roundRect">
            <a:avLst>
              <a:gd name="adj" fmla="val 11765"/>
            </a:avLst>
          </a:prstGeom>
          <a:solidFill>
            <a:srgbClr val="E8F8EF"/>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1883664"/>
            <a:ext cx="7863840" cy="438912"/>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Brutus </a:t>
            </a:r>
            <a:pPr indent="0" marL="0">
              <a:buNone/>
            </a:pPr>
            <a:r>
              <a:rPr lang="en-US" sz="1500" b="1" u="sng" dirty="0">
                <a:solidFill>
                  <a:srgbClr val="34B76F"/>
                </a:solidFill>
                <a:latin typeface="Calibri" pitchFamily="34" charset="0"/>
                <a:ea typeface="Calibri" pitchFamily="34" charset="-122"/>
                <a:cs typeface="Calibri" pitchFamily="34" charset="-120"/>
              </a:rPr>
              <a:t>blocked</a:t>
            </a:r>
            <a:pPr indent="0" marL="0">
              <a:buNone/>
            </a:pPr>
            <a:r>
              <a:rPr lang="en-US" sz="1500" dirty="0">
                <a:solidFill>
                  <a:srgbClr val="1E293B"/>
                </a:solidFill>
                <a:latin typeface="Calibri" pitchFamily="34" charset="0"/>
                <a:ea typeface="Calibri" pitchFamily="34" charset="-122"/>
                <a:cs typeface="Calibri" pitchFamily="34" charset="-120"/>
              </a:rPr>
              <a:t> the entrance to the rosebush.</a:t>
            </a:r>
            <a:endParaRPr lang="en-US" sz="1500" dirty="0"/>
          </a:p>
        </p:txBody>
      </p:sp>
      <p:sp>
        <p:nvSpPr>
          <p:cNvPr id="11" name="Shape 9"/>
          <p:cNvSpPr/>
          <p:nvPr/>
        </p:nvSpPr>
        <p:spPr>
          <a:xfrm>
            <a:off x="365760" y="2505456"/>
            <a:ext cx="8412480" cy="621792"/>
          </a:xfrm>
          <a:prstGeom prst="roundRect">
            <a:avLst>
              <a:gd name="adj" fmla="val 11765"/>
            </a:avLst>
          </a:prstGeom>
          <a:solidFill>
            <a:srgbClr val="E8F8EF"/>
          </a:solidFill>
          <a:ln/>
          <a:effectLst>
            <a:outerShdw sx="100000" sy="100000" kx="0" ky="0" algn="bl" rotWithShape="0" blurRad="101600" dist="38100" dir="2700000">
              <a:srgbClr val="000000">
                <a:alpha val="12000"/>
              </a:srgbClr>
            </a:outerShdw>
          </a:effectLst>
        </p:spPr>
      </p:sp>
      <p:sp>
        <p:nvSpPr>
          <p:cNvPr id="12" name="Text 10"/>
          <p:cNvSpPr/>
          <p:nvPr/>
        </p:nvSpPr>
        <p:spPr>
          <a:xfrm>
            <a:off x="594360" y="2596896"/>
            <a:ext cx="7863840" cy="438912"/>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Justin </a:t>
            </a:r>
            <a:pPr indent="0" marL="0">
              <a:buNone/>
            </a:pPr>
            <a:r>
              <a:rPr lang="en-US" sz="1500" b="1" u="sng" dirty="0">
                <a:solidFill>
                  <a:srgbClr val="34B76F"/>
                </a:solidFill>
                <a:latin typeface="Calibri" pitchFamily="34" charset="0"/>
                <a:ea typeface="Calibri" pitchFamily="34" charset="-122"/>
                <a:cs typeface="Calibri" pitchFamily="34" charset="-120"/>
              </a:rPr>
              <a:t>explained</a:t>
            </a:r>
            <a:pPr indent="0" marL="0">
              <a:buNone/>
            </a:pPr>
            <a:r>
              <a:rPr lang="en-US" sz="1500" dirty="0">
                <a:solidFill>
                  <a:srgbClr val="1E293B"/>
                </a:solidFill>
                <a:latin typeface="Calibri" pitchFamily="34" charset="0"/>
                <a:ea typeface="Calibri" pitchFamily="34" charset="-122"/>
                <a:cs typeface="Calibri" pitchFamily="34" charset="-120"/>
              </a:rPr>
              <a:t> the rats’ plan.</a:t>
            </a:r>
            <a:endParaRPr lang="en-US" sz="1500" dirty="0"/>
          </a:p>
        </p:txBody>
      </p:sp>
      <p:sp>
        <p:nvSpPr>
          <p:cNvPr id="13" name="Shape 11"/>
          <p:cNvSpPr/>
          <p:nvPr/>
        </p:nvSpPr>
        <p:spPr>
          <a:xfrm>
            <a:off x="365760" y="3218688"/>
            <a:ext cx="8412480" cy="621792"/>
          </a:xfrm>
          <a:prstGeom prst="roundRect">
            <a:avLst>
              <a:gd name="adj" fmla="val 11765"/>
            </a:avLst>
          </a:prstGeom>
          <a:solidFill>
            <a:srgbClr val="E8F8EF"/>
          </a:solidFill>
          <a:ln/>
          <a:effectLst>
            <a:outerShdw sx="100000" sy="100000" kx="0" ky="0" algn="bl" rotWithShape="0" blurRad="101600" dist="38100" dir="2700000">
              <a:srgbClr val="000000">
                <a:alpha val="12000"/>
              </a:srgbClr>
            </a:outerShdw>
          </a:effectLst>
        </p:spPr>
      </p:sp>
      <p:sp>
        <p:nvSpPr>
          <p:cNvPr id="14" name="Text 12"/>
          <p:cNvSpPr/>
          <p:nvPr/>
        </p:nvSpPr>
        <p:spPr>
          <a:xfrm>
            <a:off x="594360" y="3310128"/>
            <a:ext cx="7863840" cy="438912"/>
          </a:xfrm>
          <a:prstGeom prst="rect">
            <a:avLst/>
          </a:prstGeom>
          <a:noFill/>
          <a:ln/>
        </p:spPr>
        <p:txBody>
          <a:bodyPr wrap="square" lIns="0" tIns="0" rIns="0" bIns="0" rtlCol="0" anchor="ctr"/>
          <a:lstStyle/>
          <a:p>
            <a:pPr indent="0" marL="0">
              <a:buNone/>
            </a:pPr>
            <a:pPr indent="0" marL="0">
              <a:buNone/>
            </a:pPr>
            <a:r>
              <a:rPr lang="en-US" sz="1500" b="1" u="sng" dirty="0">
                <a:solidFill>
                  <a:srgbClr val="34B76F"/>
                </a:solidFill>
                <a:latin typeface="Calibri" pitchFamily="34" charset="0"/>
                <a:ea typeface="Calibri" pitchFamily="34" charset="-122"/>
                <a:cs typeface="Calibri" pitchFamily="34" charset="-120"/>
              </a:rPr>
              <a:t>Timothy</a:t>
            </a:r>
            <a:pPr indent="0" marL="0">
              <a:buNone/>
            </a:pPr>
            <a:r>
              <a:rPr lang="en-US" sz="1500" dirty="0">
                <a:solidFill>
                  <a:srgbClr val="1E293B"/>
                </a:solidFill>
                <a:latin typeface="Calibri" pitchFamily="34" charset="0"/>
                <a:ea typeface="Calibri" pitchFamily="34" charset="-122"/>
                <a:cs typeface="Calibri" pitchFamily="34" charset="-120"/>
              </a:rPr>
              <a:t> could not get out of bed.</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Spelling - Spelling: Open &amp; Closed Syllables</a:t>
            </a:r>
            <a:endParaRPr lang="en-US" sz="2800" dirty="0"/>
          </a:p>
        </p:txBody>
      </p:sp>
      <p:sp>
        <p:nvSpPr>
          <p:cNvPr id="3" name="Shape 1"/>
          <p:cNvSpPr/>
          <p:nvPr/>
        </p:nvSpPr>
        <p:spPr>
          <a:xfrm>
            <a:off x="365760" y="749808"/>
            <a:ext cx="8412480" cy="0"/>
          </a:xfrm>
          <a:prstGeom prst="line">
            <a:avLst/>
          </a:prstGeom>
          <a:noFill/>
          <a:ln w="19050">
            <a:solidFill>
              <a:srgbClr val="8FBF7A"/>
            </a:solidFill>
            <a:prstDash val="solid"/>
          </a:ln>
        </p:spPr>
      </p:sp>
      <p:sp>
        <p:nvSpPr>
          <p:cNvPr id="4" name="Shape 2"/>
          <p:cNvSpPr/>
          <p:nvPr/>
        </p:nvSpPr>
        <p:spPr>
          <a:xfrm>
            <a:off x="6492240" y="173736"/>
            <a:ext cx="2286000" cy="502920"/>
          </a:xfrm>
          <a:prstGeom prst="roundRect">
            <a:avLst>
              <a:gd name="adj" fmla="val 21818"/>
            </a:avLst>
          </a:prstGeom>
          <a:solidFill>
            <a:srgbClr val="8FBF7A"/>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SORT THE WORDS</a:t>
            </a:r>
            <a:endParaRPr lang="en-US" sz="1100" dirty="0"/>
          </a:p>
        </p:txBody>
      </p:sp>
      <p:sp>
        <p:nvSpPr>
          <p:cNvPr id="7" name="Shape 5"/>
          <p:cNvSpPr/>
          <p:nvPr/>
        </p:nvSpPr>
        <p:spPr>
          <a:xfrm>
            <a:off x="365760" y="1024128"/>
            <a:ext cx="8412480" cy="685800"/>
          </a:xfrm>
          <a:prstGeom prst="roundRect">
            <a:avLst>
              <a:gd name="adj" fmla="val 13333"/>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078992"/>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WORD BANK</a:t>
            </a:r>
            <a:endParaRPr lang="en-US" sz="1100" dirty="0"/>
          </a:p>
        </p:txBody>
      </p:sp>
      <p:sp>
        <p:nvSpPr>
          <p:cNvPr id="9" name="Text 7"/>
          <p:cNvSpPr/>
          <p:nvPr/>
        </p:nvSpPr>
        <p:spPr>
          <a:xfrm>
            <a:off x="594360" y="1325880"/>
            <a:ext cx="7863840" cy="320040"/>
          </a:xfrm>
          <a:prstGeom prst="rect">
            <a:avLst/>
          </a:prstGeom>
          <a:noFill/>
          <a:ln/>
        </p:spPr>
        <p:txBody>
          <a:bodyPr wrap="square" lIns="0" tIns="0" rIns="0" bIns="0" rtlCol="0" anchor="ctr"/>
          <a:lstStyle/>
          <a:p>
            <a:pPr indent="0" marL="0">
              <a:buNone/>
            </a:pPr>
            <a:r>
              <a:rPr lang="en-US" sz="1600" b="1" dirty="0">
                <a:solidFill>
                  <a:srgbClr val="0E1C42"/>
                </a:solidFill>
                <a:latin typeface="Calibri" pitchFamily="34" charset="0"/>
                <a:ea typeface="Calibri" pitchFamily="34" charset="-122"/>
                <a:cs typeface="Calibri" pitchFamily="34" charset="-120"/>
              </a:rPr>
              <a:t>rabbit   -   garden   -   basket   -   paper   -   tiger   -   music</a:t>
            </a:r>
            <a:endParaRPr lang="en-US" sz="1600" dirty="0"/>
          </a:p>
        </p:txBody>
      </p:sp>
      <p:sp>
        <p:nvSpPr>
          <p:cNvPr id="10" name="Text 8"/>
          <p:cNvSpPr/>
          <p:nvPr/>
        </p:nvSpPr>
        <p:spPr>
          <a:xfrm>
            <a:off x="365760" y="187452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SORT INTO GROUPS</a:t>
            </a:r>
            <a:endParaRPr lang="en-US" sz="1100" dirty="0"/>
          </a:p>
        </p:txBody>
      </p:sp>
      <p:sp>
        <p:nvSpPr>
          <p:cNvPr id="11" name="Shape 9"/>
          <p:cNvSpPr/>
          <p:nvPr/>
        </p:nvSpPr>
        <p:spPr>
          <a:xfrm>
            <a:off x="365760" y="2176272"/>
            <a:ext cx="4114800" cy="1051560"/>
          </a:xfrm>
          <a:prstGeom prst="roundRect">
            <a:avLst>
              <a:gd name="adj" fmla="val 8696"/>
            </a:avLst>
          </a:prstGeom>
          <a:solidFill>
            <a:srgbClr val="E8F8EF"/>
          </a:solidFill>
          <a:ln w="19050">
            <a:solidFill>
              <a:srgbClr val="4A7C2E"/>
            </a:solidFill>
            <a:prstDash val="solid"/>
          </a:ln>
        </p:spPr>
      </p:sp>
      <p:sp>
        <p:nvSpPr>
          <p:cNvPr id="12" name="Text 10"/>
          <p:cNvSpPr/>
          <p:nvPr/>
        </p:nvSpPr>
        <p:spPr>
          <a:xfrm>
            <a:off x="502920" y="2286000"/>
            <a:ext cx="3840480" cy="411480"/>
          </a:xfrm>
          <a:prstGeom prst="rect">
            <a:avLst/>
          </a:prstGeom>
          <a:noFill/>
          <a:ln/>
        </p:spPr>
        <p:txBody>
          <a:bodyPr wrap="square" lIns="0" tIns="0" rIns="0" bIns="0" rtlCol="0" anchor="ctr"/>
          <a:lstStyle/>
          <a:p>
            <a:pPr indent="0" marL="0">
              <a:buNone/>
            </a:pPr>
            <a:r>
              <a:rPr lang="en-US" sz="1300" b="1" dirty="0">
                <a:solidFill>
                  <a:srgbClr val="4A7C2E"/>
                </a:solidFill>
                <a:latin typeface="Calibri" pitchFamily="34" charset="0"/>
                <a:ea typeface="Calibri" pitchFamily="34" charset="-122"/>
                <a:cs typeface="Calibri" pitchFamily="34" charset="-120"/>
              </a:rPr>
              <a:t>VCCV (divide between consonants)</a:t>
            </a:r>
            <a:endParaRPr lang="en-US" sz="1300" dirty="0"/>
          </a:p>
        </p:txBody>
      </p:sp>
      <p:sp>
        <p:nvSpPr>
          <p:cNvPr id="13" name="Shape 11"/>
          <p:cNvSpPr/>
          <p:nvPr/>
        </p:nvSpPr>
        <p:spPr>
          <a:xfrm>
            <a:off x="4800600" y="2176272"/>
            <a:ext cx="4114800" cy="1051560"/>
          </a:xfrm>
          <a:prstGeom prst="roundRect">
            <a:avLst>
              <a:gd name="adj" fmla="val 8696"/>
            </a:avLst>
          </a:prstGeom>
          <a:solidFill>
            <a:srgbClr val="F0E8FF"/>
          </a:solidFill>
          <a:ln w="19050">
            <a:solidFill>
              <a:srgbClr val="5C2D91"/>
            </a:solidFill>
            <a:prstDash val="solid"/>
          </a:ln>
        </p:spPr>
      </p:sp>
      <p:sp>
        <p:nvSpPr>
          <p:cNvPr id="14" name="Text 12"/>
          <p:cNvSpPr/>
          <p:nvPr/>
        </p:nvSpPr>
        <p:spPr>
          <a:xfrm>
            <a:off x="4937760" y="2286000"/>
            <a:ext cx="3840480" cy="411480"/>
          </a:xfrm>
          <a:prstGeom prst="rect">
            <a:avLst/>
          </a:prstGeom>
          <a:noFill/>
          <a:ln/>
        </p:spPr>
        <p:txBody>
          <a:bodyPr wrap="square" lIns="0" tIns="0" rIns="0" bIns="0" rtlCol="0" anchor="ctr"/>
          <a:lstStyle/>
          <a:p>
            <a:pPr indent="0" marL="0">
              <a:buNone/>
            </a:pPr>
            <a:r>
              <a:rPr lang="en-US" sz="1300" b="1" dirty="0">
                <a:solidFill>
                  <a:srgbClr val="5C2D91"/>
                </a:solidFill>
                <a:latin typeface="Calibri" pitchFamily="34" charset="0"/>
                <a:ea typeface="Calibri" pitchFamily="34" charset="-122"/>
                <a:cs typeface="Calibri" pitchFamily="34" charset="-120"/>
              </a:rPr>
              <a:t>Other pattern</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Spelling - Spelling: Open &amp; Closed Syllables</a:t>
            </a:r>
            <a:endParaRPr lang="en-US" sz="2800" dirty="0"/>
          </a:p>
        </p:txBody>
      </p:sp>
      <p:sp>
        <p:nvSpPr>
          <p:cNvPr id="3" name="Shape 1"/>
          <p:cNvSpPr/>
          <p:nvPr/>
        </p:nvSpPr>
        <p:spPr>
          <a:xfrm>
            <a:off x="365760" y="749808"/>
            <a:ext cx="8412480" cy="0"/>
          </a:xfrm>
          <a:prstGeom prst="line">
            <a:avLst/>
          </a:prstGeom>
          <a:noFill/>
          <a:ln w="19050">
            <a:solidFill>
              <a:srgbClr val="8FBF7A"/>
            </a:solidFill>
            <a:prstDash val="solid"/>
          </a:ln>
        </p:spPr>
      </p:sp>
      <p:sp>
        <p:nvSpPr>
          <p:cNvPr id="4" name="Shape 2"/>
          <p:cNvSpPr/>
          <p:nvPr/>
        </p:nvSpPr>
        <p:spPr>
          <a:xfrm>
            <a:off x="6492240" y="173736"/>
            <a:ext cx="2286000" cy="502920"/>
          </a:xfrm>
          <a:prstGeom prst="roundRect">
            <a:avLst>
              <a:gd name="adj" fmla="val 21818"/>
            </a:avLst>
          </a:prstGeom>
          <a:solidFill>
            <a:srgbClr val="8FBF7A"/>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SORTED</a:t>
            </a:r>
            <a:endParaRPr lang="en-US" sz="1100" dirty="0"/>
          </a:p>
        </p:txBody>
      </p:sp>
      <p:sp>
        <p:nvSpPr>
          <p:cNvPr id="7" name="Shape 5"/>
          <p:cNvSpPr/>
          <p:nvPr/>
        </p:nvSpPr>
        <p:spPr>
          <a:xfrm>
            <a:off x="365760" y="1024128"/>
            <a:ext cx="4114800" cy="1453896"/>
          </a:xfrm>
          <a:prstGeom prst="roundRect">
            <a:avLst>
              <a:gd name="adj" fmla="val 6289"/>
            </a:avLst>
          </a:prstGeom>
          <a:solidFill>
            <a:srgbClr val="E8F8EF"/>
          </a:solidFill>
          <a:ln w="19050">
            <a:solidFill>
              <a:srgbClr val="4A7C2E"/>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02920" y="1097280"/>
            <a:ext cx="3840480" cy="347472"/>
          </a:xfrm>
          <a:prstGeom prst="rect">
            <a:avLst/>
          </a:prstGeom>
          <a:noFill/>
          <a:ln/>
        </p:spPr>
        <p:txBody>
          <a:bodyPr wrap="square" lIns="0" tIns="0" rIns="0" bIns="0" rtlCol="0" anchor="ctr"/>
          <a:lstStyle/>
          <a:p>
            <a:pPr indent="0" marL="0">
              <a:buNone/>
            </a:pPr>
            <a:r>
              <a:rPr lang="en-US" sz="1200" b="1" dirty="0">
                <a:solidFill>
                  <a:srgbClr val="4A7C2E"/>
                </a:solidFill>
                <a:latin typeface="Calibri" pitchFamily="34" charset="0"/>
                <a:ea typeface="Calibri" pitchFamily="34" charset="-122"/>
                <a:cs typeface="Calibri" pitchFamily="34" charset="-120"/>
              </a:rPr>
              <a:t>VCCV (divide between consonants)</a:t>
            </a:r>
            <a:endParaRPr lang="en-US" sz="1200" dirty="0"/>
          </a:p>
        </p:txBody>
      </p:sp>
      <p:sp>
        <p:nvSpPr>
          <p:cNvPr id="9" name="Text 7"/>
          <p:cNvSpPr/>
          <p:nvPr/>
        </p:nvSpPr>
        <p:spPr>
          <a:xfrm>
            <a:off x="594360" y="1463040"/>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rabbit</a:t>
            </a:r>
            <a:endParaRPr lang="en-US" sz="1400" dirty="0"/>
          </a:p>
        </p:txBody>
      </p:sp>
      <p:sp>
        <p:nvSpPr>
          <p:cNvPr id="10" name="Text 8"/>
          <p:cNvSpPr/>
          <p:nvPr/>
        </p:nvSpPr>
        <p:spPr>
          <a:xfrm>
            <a:off x="594360" y="1810512"/>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garden</a:t>
            </a:r>
            <a:endParaRPr lang="en-US" sz="1400" dirty="0"/>
          </a:p>
        </p:txBody>
      </p:sp>
      <p:sp>
        <p:nvSpPr>
          <p:cNvPr id="11" name="Text 9"/>
          <p:cNvSpPr/>
          <p:nvPr/>
        </p:nvSpPr>
        <p:spPr>
          <a:xfrm>
            <a:off x="594360" y="2157984"/>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basket</a:t>
            </a:r>
            <a:endParaRPr lang="en-US" sz="1400" dirty="0"/>
          </a:p>
        </p:txBody>
      </p:sp>
      <p:sp>
        <p:nvSpPr>
          <p:cNvPr id="12" name="Shape 10"/>
          <p:cNvSpPr/>
          <p:nvPr/>
        </p:nvSpPr>
        <p:spPr>
          <a:xfrm>
            <a:off x="4681728" y="1024128"/>
            <a:ext cx="4114800" cy="1453896"/>
          </a:xfrm>
          <a:prstGeom prst="roundRect">
            <a:avLst>
              <a:gd name="adj" fmla="val 6289"/>
            </a:avLst>
          </a:prstGeom>
          <a:solidFill>
            <a:srgbClr val="F0E8FF"/>
          </a:solidFill>
          <a:ln w="19050">
            <a:solidFill>
              <a:srgbClr val="5C2D91"/>
            </a:solidFill>
            <a:prstDash val="solid"/>
          </a:ln>
          <a:effectLst>
            <a:outerShdw sx="100000" sy="100000" kx="0" ky="0" algn="bl" rotWithShape="0" blurRad="101600" dist="38100" dir="2700000">
              <a:srgbClr val="000000">
                <a:alpha val="12000"/>
              </a:srgbClr>
            </a:outerShdw>
          </a:effectLst>
        </p:spPr>
      </p:sp>
      <p:sp>
        <p:nvSpPr>
          <p:cNvPr id="13" name="Text 11"/>
          <p:cNvSpPr/>
          <p:nvPr/>
        </p:nvSpPr>
        <p:spPr>
          <a:xfrm>
            <a:off x="4818888" y="1097280"/>
            <a:ext cx="3840480" cy="347472"/>
          </a:xfrm>
          <a:prstGeom prst="rect">
            <a:avLst/>
          </a:prstGeom>
          <a:noFill/>
          <a:ln/>
        </p:spPr>
        <p:txBody>
          <a:bodyPr wrap="square" lIns="0" tIns="0" rIns="0" bIns="0" rtlCol="0" anchor="ctr"/>
          <a:lstStyle/>
          <a:p>
            <a:pPr indent="0" marL="0">
              <a:buNone/>
            </a:pPr>
            <a:r>
              <a:rPr lang="en-US" sz="1200" b="1" dirty="0">
                <a:solidFill>
                  <a:srgbClr val="5C2D91"/>
                </a:solidFill>
                <a:latin typeface="Calibri" pitchFamily="34" charset="0"/>
                <a:ea typeface="Calibri" pitchFamily="34" charset="-122"/>
                <a:cs typeface="Calibri" pitchFamily="34" charset="-120"/>
              </a:rPr>
              <a:t>Other pattern</a:t>
            </a:r>
            <a:endParaRPr lang="en-US" sz="1200" dirty="0"/>
          </a:p>
        </p:txBody>
      </p:sp>
      <p:sp>
        <p:nvSpPr>
          <p:cNvPr id="14" name="Text 12"/>
          <p:cNvSpPr/>
          <p:nvPr/>
        </p:nvSpPr>
        <p:spPr>
          <a:xfrm>
            <a:off x="4910328" y="1463040"/>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paper</a:t>
            </a:r>
            <a:endParaRPr lang="en-US" sz="1400" dirty="0"/>
          </a:p>
        </p:txBody>
      </p:sp>
      <p:sp>
        <p:nvSpPr>
          <p:cNvPr id="15" name="Text 13"/>
          <p:cNvSpPr/>
          <p:nvPr/>
        </p:nvSpPr>
        <p:spPr>
          <a:xfrm>
            <a:off x="4910328" y="1810512"/>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tiger</a:t>
            </a:r>
            <a:endParaRPr lang="en-US" sz="1400" dirty="0"/>
          </a:p>
        </p:txBody>
      </p:sp>
      <p:sp>
        <p:nvSpPr>
          <p:cNvPr id="16" name="Text 14"/>
          <p:cNvSpPr/>
          <p:nvPr/>
        </p:nvSpPr>
        <p:spPr>
          <a:xfrm>
            <a:off x="4910328" y="2157984"/>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music</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Reading - Chapters 7–8</a:t>
            </a:r>
            <a:endParaRPr lang="en-US" sz="2800" dirty="0"/>
          </a:p>
        </p:txBody>
      </p:sp>
      <p:sp>
        <p:nvSpPr>
          <p:cNvPr id="3" name="Shape 1"/>
          <p:cNvSpPr/>
          <p:nvPr/>
        </p:nvSpPr>
        <p:spPr>
          <a:xfrm>
            <a:off x="365760" y="749808"/>
            <a:ext cx="8412480" cy="0"/>
          </a:xfrm>
          <a:prstGeom prst="line">
            <a:avLst/>
          </a:prstGeom>
          <a:noFill/>
          <a:ln w="19050">
            <a:solidFill>
              <a:srgbClr val="8FBF7A"/>
            </a:solidFill>
            <a:prstDash val="solid"/>
          </a:ln>
        </p:spPr>
      </p:sp>
      <p:sp>
        <p:nvSpPr>
          <p:cNvPr id="4" name="Text 2"/>
          <p:cNvSpPr/>
          <p:nvPr/>
        </p:nvSpPr>
        <p:spPr>
          <a:xfrm>
            <a:off x="457200" y="841248"/>
            <a:ext cx="8229600" cy="502920"/>
          </a:xfrm>
          <a:prstGeom prst="rect">
            <a:avLst/>
          </a:prstGeom>
          <a:noFill/>
          <a:ln/>
        </p:spPr>
        <p:txBody>
          <a:bodyPr wrap="square" lIns="0" tIns="0" rIns="0" bIns="0" rtlCol="0" anchor="ctr"/>
          <a:lstStyle/>
          <a:p>
            <a:pPr indent="0" marL="0">
              <a:buNone/>
            </a:pPr>
            <a:r>
              <a:rPr lang="en-US" sz="1700" b="1" i="1" dirty="0">
                <a:solidFill>
                  <a:srgbClr val="0E1C42"/>
                </a:solidFill>
                <a:latin typeface="Calibri" pitchFamily="34" charset="0"/>
                <a:ea typeface="Calibri" pitchFamily="34" charset="-122"/>
                <a:cs typeface="Calibri" pitchFamily="34" charset="-120"/>
              </a:rPr>
              <a:t>Mrs. Frisby Returns</a:t>
            </a:r>
            <a:endParaRPr lang="en-US" sz="1700" dirty="0"/>
          </a:p>
        </p:txBody>
      </p:sp>
      <p:sp>
        <p:nvSpPr>
          <p:cNvPr id="5" name="Text 3"/>
          <p:cNvSpPr/>
          <p:nvPr/>
        </p:nvSpPr>
        <p:spPr>
          <a:xfrm>
            <a:off x="365760" y="146304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PAUSE &amp; THINK</a:t>
            </a:r>
            <a:endParaRPr lang="en-US" sz="1100" dirty="0"/>
          </a:p>
        </p:txBody>
      </p:sp>
      <p:sp>
        <p:nvSpPr>
          <p:cNvPr id="6" name="Shape 4"/>
          <p:cNvSpPr/>
          <p:nvPr/>
        </p:nvSpPr>
        <p:spPr>
          <a:xfrm>
            <a:off x="365760" y="1719072"/>
            <a:ext cx="8412480" cy="822960"/>
          </a:xfrm>
          <a:prstGeom prst="roundRect">
            <a:avLst>
              <a:gd name="adj" fmla="val 8889"/>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594360" y="1810512"/>
            <a:ext cx="7863840" cy="64008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1.  Look at the letters around the dot in each word. Count: vowel, consonant, consonant, vowel. That's the VCCV pattern.</a:t>
            </a:r>
            <a:endParaRPr lang="en-US" sz="1400" dirty="0"/>
          </a:p>
        </p:txBody>
      </p:sp>
      <p:sp>
        <p:nvSpPr>
          <p:cNvPr id="8" name="Shape 6"/>
          <p:cNvSpPr/>
          <p:nvPr/>
        </p:nvSpPr>
        <p:spPr>
          <a:xfrm>
            <a:off x="365760" y="2651760"/>
            <a:ext cx="8412480" cy="685800"/>
          </a:xfrm>
          <a:prstGeom prst="roundRect">
            <a:avLst>
              <a:gd name="adj" fmla="val 10667"/>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9" name="Text 7"/>
          <p:cNvSpPr/>
          <p:nvPr/>
        </p:nvSpPr>
        <p:spPr>
          <a:xfrm>
            <a:off x="594360" y="2743200"/>
            <a:ext cx="7863840" cy="50292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2.  Where does the dot fall — before, between, or after the two consonants?</a:t>
            </a:r>
            <a:endParaRPr lang="en-US" sz="1400" dirty="0"/>
          </a:p>
        </p:txBody>
      </p:sp>
      <p:sp>
        <p:nvSpPr>
          <p:cNvPr id="10" name="Shape 8"/>
          <p:cNvSpPr/>
          <p:nvPr/>
        </p:nvSpPr>
        <p:spPr>
          <a:xfrm>
            <a:off x="365760" y="3447288"/>
            <a:ext cx="8412480" cy="685800"/>
          </a:xfrm>
          <a:prstGeom prst="roundRect">
            <a:avLst>
              <a:gd name="adj" fmla="val 10667"/>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11" name="Text 9"/>
          <p:cNvSpPr/>
          <p:nvPr/>
        </p:nvSpPr>
        <p:spPr>
          <a:xfrm>
            <a:off x="594360" y="3538728"/>
            <a:ext cx="7863840" cy="50292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3.  Can you say the rule in your own words?</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Writer's Workshop</a:t>
            </a:r>
            <a:endParaRPr lang="en-US" sz="2800" dirty="0"/>
          </a:p>
        </p:txBody>
      </p:sp>
      <p:sp>
        <p:nvSpPr>
          <p:cNvPr id="3" name="Shape 1"/>
          <p:cNvSpPr/>
          <p:nvPr/>
        </p:nvSpPr>
        <p:spPr>
          <a:xfrm>
            <a:off x="365760" y="749808"/>
            <a:ext cx="8412480" cy="0"/>
          </a:xfrm>
          <a:prstGeom prst="line">
            <a:avLst/>
          </a:prstGeom>
          <a:noFill/>
          <a:ln w="19050">
            <a:solidFill>
              <a:srgbClr val="8FBF7A"/>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WRITING STAGE</a:t>
            </a:r>
            <a:endParaRPr lang="en-US" sz="1100" dirty="0"/>
          </a:p>
        </p:txBody>
      </p:sp>
      <p:sp>
        <p:nvSpPr>
          <p:cNvPr id="5" name="Shape 3"/>
          <p:cNvSpPr/>
          <p:nvPr/>
        </p:nvSpPr>
        <p:spPr>
          <a:xfrm>
            <a:off x="365760" y="1042416"/>
            <a:ext cx="8412480" cy="658368"/>
          </a:xfrm>
          <a:prstGeom prst="roundRect">
            <a:avLst>
              <a:gd name="adj" fmla="val 13889"/>
            </a:avLst>
          </a:prstGeom>
          <a:solidFill>
            <a:srgbClr val="FEF6E8"/>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133856"/>
            <a:ext cx="7863840" cy="475488"/>
          </a:xfrm>
          <a:prstGeom prst="rect">
            <a:avLst/>
          </a:prstGeom>
          <a:noFill/>
          <a:ln/>
        </p:spPr>
        <p:txBody>
          <a:bodyPr wrap="square" lIns="0" tIns="0" rIns="0" bIns="0" rtlCol="0" anchor="ctr"/>
          <a:lstStyle/>
          <a:p>
            <a:pPr indent="0" marL="0">
              <a:buNone/>
            </a:pPr>
            <a:r>
              <a:rPr lang="en-US" sz="2200" b="1" dirty="0">
                <a:solidFill>
                  <a:srgbClr val="C7922C"/>
                </a:solidFill>
                <a:latin typeface="Calibri" pitchFamily="34" charset="0"/>
                <a:ea typeface="Calibri" pitchFamily="34" charset="-122"/>
                <a:cs typeface="Calibri" pitchFamily="34" charset="-120"/>
              </a:rPr>
              <a:t>Narrative Writing — Sensory Draft</a:t>
            </a:r>
            <a:endParaRPr lang="en-US" sz="2200" dirty="0"/>
          </a:p>
        </p:txBody>
      </p:sp>
      <p:sp>
        <p:nvSpPr>
          <p:cNvPr id="7" name="Text 5"/>
          <p:cNvSpPr/>
          <p:nvPr/>
        </p:nvSpPr>
        <p:spPr>
          <a:xfrm>
            <a:off x="365760" y="1828800"/>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TODAY'S FOCUS</a:t>
            </a:r>
            <a:endParaRPr lang="en-US" sz="1100" dirty="0"/>
          </a:p>
        </p:txBody>
      </p:sp>
      <p:sp>
        <p:nvSpPr>
          <p:cNvPr id="8" name="Text 6"/>
          <p:cNvSpPr/>
          <p:nvPr/>
        </p:nvSpPr>
        <p:spPr>
          <a:xfrm>
            <a:off x="457200" y="2084832"/>
            <a:ext cx="8229600" cy="594360"/>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Begin your full sensory draft. Bring your moment map to life with sight, sound, and touch details.</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2026-07-11T21:52:57Z</dcterms:created>
  <dcterms:modified xsi:type="dcterms:W3CDTF">2026-07-11T21:52:57Z</dcterms:modified>
</cp:coreProperties>
</file>