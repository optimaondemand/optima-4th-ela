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14,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Proofread by reading aloud — catch anything that sounds wrong even if it looks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Proofread by reading aloud — catch anything that sounds wrong even if it looks correct.. Level-up: ⭐ Read one paragraph aloud  ⭐⭐ Read the whole essay aloud  ⭐⭐⭐ Fix one sentence that sounded wrong  ⭐⭐⭐⭐ Ask a partner to listen and give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Read your essay aloud one full time before you consider it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one sentence you changed after hearing it read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learned wonderful news about a scholarship she had won. Today: Sit with a difficult, sorrowful turn in Anne’s story. Big Q: In Ch. 38, Anne tells Marilla she will not go to Redmond. She will stay home, teach at Carmody, and care for Marilla’s failing eyes. Then Gilbert — the boy she called ‘Carrots’ in Ch. 15 and refused to forgive for years — gives up the Avonlea school so Anne can teach close to home. They stand at the gate for half an hour. They are friends now. Anne looks down the road she didn’t plan for and says: ‘I don’t know what lies around the bend, but I’m going to believe that the best does.’ That is the heart of the whole novel. Anne started as the orphan at the train station who nobody wanted. She ends as a young woman choosing the life she has —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"Matthew had worked on the farm his whole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could not cry at first her grief was too deep for tears" Corrected: "Anne could not cry at first. Her grief was too deep for tears."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could not cry at first her grief was too deep for tears" Corrected: "Anne could not cry at first. Her grief was too deep for tears."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subject — — to throw under; the topic of a sentence | inject — — to throw IN (like medicine into the arm) | transcribe — — to write across (copy down spoken words) | inscribe — — to write into (engrave a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consolation: Mrs. Lynde’s words were a _____ to Marilla after Matthew’s death. | ambition: Anne’s _____ changed: she still wanted to learn, but home came first. | obstinate: Anne called herself _____ as a mule for refusing to give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will stay home with Marilla." -&gt; will | "Gilbert has given up the school." -&gt; has | "They can be friends now." -&gt;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will stay home with Marilla." -&gt; will | "Gilbert has given up the school." -&gt; has | "They can be friends now." -&gt;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"“Anne wept her heart out. Marilla heard her and crept in to comfort her.”"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Character Growth Essay — Type Final Draft
Focus: Type your final essay draft, reading each sentence aloud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14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37</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 Season of Sorrow</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14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Matthew had worked on the farm his whole life.</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"Anne wept her heart out. Marilla heard her and crept in to comfort her."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Notice how short and plain these two sentences are for such a sad moment. Why might the author choose simple words here instead of dramatic ones?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As you type your final essay, read each sentence aloud. Fix any sentence that doesn’t sound right.</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Proofread by reading aloud — catch anything that sounds wrong even if it looks correct.</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Read one paragraph aloud  ⭐⭐ Read the whole essay aloud  ⭐⭐⭐ Fix one sentence that sounded wrong  ⭐⭐⭐⭐ Ask a partner to listen and give feedback</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Read your essay aloud one full time before you consider it finished.</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one sentence you changed after hearing it read aloud.</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learned wonderful news about a scholarship she had won.</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Sit with a difficult, sorrowful turn in Anne’s story.</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In Ch. 38, Anne tells Marilla she will not go to Redmond. She will stay home, teach at Carmody, and care for Marilla’s failing eyes. Then Gilbert — the boy she called ‘Carrots’ in Ch. 15 and refused to forgive for years — gives up the Avonlea school so Anne can teach close to home. They stand at the gate for half an hour. They are friends now. Anne looks down the road she didn’t plan for and says: ‘I don’t know what lies around the bend, but I’m going to believe that the best does.’ That is the heart of the whole novel. Anne started as the orphan at the train station who nobody wanted. She ends as a young woman choosing the life she has — on purpose.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how problems grow. The first problem in a book is rarely the only one — new trouble appears as the story moves.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Matthew had worked on the farm his whole life.</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could not cry at first her grief was too deep for tears</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could not cry at first her grief was too deep for tears</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could not cry at first. Her grief was too deep for tears.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script/scribe, ject</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Final week roots. script and scribe both mean to write. You find them in words about writing or written things. ject means to throw. You find it in words about throwing or pushing things in a direction.</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describe = de- + scribe (to write down about)</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manuscript = manu- (hand) + script (written by hand)</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reject = re- + ject (to throw back)</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project = pro- + ject (to throw forward)</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subject — — to throw under; the topic of a sentence</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inject — — to throw IN (like medicine into the arm)</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transcribe — — to write across (copy down spoken words)</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inscribe — — to write into (engrave a name)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Mrs. Lynde’s words were a _____ to Marilla after Matthew’s death.</a:t>
            </a:r>
            <a:endParaRPr lang="en-US" sz="1050" dirty="0"/>
          </a:p>
        </p:txBody>
      </p:sp>
      <p:sp>
        <p:nvSpPr>
          <p:cNvPr id="7" name="Text 5"/>
          <p:cNvSpPr/>
          <p:nvPr/>
        </p:nvSpPr>
        <p:spPr>
          <a:xfrm>
            <a:off x="45720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consolation</a:t>
            </a:r>
            <a:endParaRPr lang="en-US" sz="1300" dirty="0"/>
          </a:p>
        </p:txBody>
      </p:sp>
      <p:sp>
        <p:nvSpPr>
          <p:cNvPr id="8" name="Shape 6"/>
          <p:cNvSpPr/>
          <p:nvPr/>
        </p:nvSpPr>
        <p:spPr>
          <a:xfrm>
            <a:off x="4572000" y="9144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Anne’s _____ changed: she still wanted to learn, but home came first.</a:t>
            </a:r>
            <a:endParaRPr lang="en-US" sz="1050" dirty="0"/>
          </a:p>
        </p:txBody>
      </p:sp>
      <p:sp>
        <p:nvSpPr>
          <p:cNvPr id="10" name="Text 8"/>
          <p:cNvSpPr/>
          <p:nvPr/>
        </p:nvSpPr>
        <p:spPr>
          <a:xfrm>
            <a:off x="4709160" y="14127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ambition</a:t>
            </a:r>
            <a:endParaRPr lang="en-US" sz="1300" dirty="0"/>
          </a:p>
        </p:txBody>
      </p:sp>
      <p:sp>
        <p:nvSpPr>
          <p:cNvPr id="11" name="Shape 9"/>
          <p:cNvSpPr/>
          <p:nvPr/>
        </p:nvSpPr>
        <p:spPr>
          <a:xfrm>
            <a:off x="320040" y="1943100"/>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345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 called herself _____ as a mule for refusing to give in.</a:t>
            </a:r>
            <a:endParaRPr lang="en-US" sz="1050" dirty="0"/>
          </a:p>
        </p:txBody>
      </p:sp>
      <p:sp>
        <p:nvSpPr>
          <p:cNvPr id="13" name="Text 11"/>
          <p:cNvSpPr/>
          <p:nvPr/>
        </p:nvSpPr>
        <p:spPr>
          <a:xfrm>
            <a:off x="457200" y="2441448"/>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obstinate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Main &amp; Helping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will stay home with Marilla.</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Gilbert has given up the school.</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They can be friends now.</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Main &amp; Helping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will</a:t>
            </a:r>
            <a:pPr indent="0" marL="0">
              <a:buNone/>
            </a:pPr>
            <a:r>
              <a:rPr lang="en-US" sz="1500" dirty="0">
                <a:solidFill>
                  <a:srgbClr val="1E293B"/>
                </a:solidFill>
                <a:latin typeface="Calibri" pitchFamily="34" charset="0"/>
                <a:ea typeface="Calibri" pitchFamily="34" charset="-122"/>
                <a:cs typeface="Calibri" pitchFamily="34" charset="-120"/>
              </a:rPr>
              <a:t> stay home with Marilla.</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Gilbert </a:t>
            </a:r>
            <a:pPr indent="0" marL="0">
              <a:buNone/>
            </a:pPr>
            <a:r>
              <a:rPr lang="en-US" sz="1500" b="1" u="sng" dirty="0">
                <a:solidFill>
                  <a:srgbClr val="34B76F"/>
                </a:solidFill>
                <a:latin typeface="Calibri" pitchFamily="34" charset="0"/>
                <a:ea typeface="Calibri" pitchFamily="34" charset="-122"/>
                <a:cs typeface="Calibri" pitchFamily="34" charset="-120"/>
              </a:rPr>
              <a:t>has</a:t>
            </a:r>
            <a:pPr indent="0" marL="0">
              <a:buNone/>
            </a:pPr>
            <a:r>
              <a:rPr lang="en-US" sz="1500" dirty="0">
                <a:solidFill>
                  <a:srgbClr val="1E293B"/>
                </a:solidFill>
                <a:latin typeface="Calibri" pitchFamily="34" charset="0"/>
                <a:ea typeface="Calibri" pitchFamily="34" charset="-122"/>
                <a:cs typeface="Calibri" pitchFamily="34" charset="-120"/>
              </a:rPr>
              <a:t> given up the school.</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They </a:t>
            </a:r>
            <a:pPr indent="0" marL="0">
              <a:buNone/>
            </a:pPr>
            <a:r>
              <a:rPr lang="en-US" sz="1500" b="1" u="sng" dirty="0">
                <a:solidFill>
                  <a:srgbClr val="34B76F"/>
                </a:solidFill>
                <a:latin typeface="Calibri" pitchFamily="34" charset="0"/>
                <a:ea typeface="Calibri" pitchFamily="34" charset="-122"/>
                <a:cs typeface="Calibri" pitchFamily="34" charset="-120"/>
              </a:rPr>
              <a:t>can</a:t>
            </a:r>
            <a:pPr indent="0" marL="0">
              <a:buNone/>
            </a:pPr>
            <a:r>
              <a:rPr lang="en-US" sz="1500" dirty="0">
                <a:solidFill>
                  <a:srgbClr val="1E293B"/>
                </a:solidFill>
                <a:latin typeface="Calibri" pitchFamily="34" charset="0"/>
                <a:ea typeface="Calibri" pitchFamily="34" charset="-122"/>
                <a:cs typeface="Calibri" pitchFamily="34" charset="-120"/>
              </a:rPr>
              <a:t> be friends now.</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37</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 Season of Sorrow</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As you read today, ask yourself: What new problem appears in these chapters? How does it connect to the first problem (Timothy's sickness)?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Anne can’t cry at first. Then in the night, she remembers Matthew’s voice. Why do the tears come then and not before?</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wakes up and looks out the window. How does her view of Green Gables make YOU see the place differently?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“Anne wept her heart out. Marilla heard her and crept in to comfort her.”</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731520"/>
          </a:xfrm>
          <a:prstGeom prst="roundRect">
            <a:avLst>
              <a:gd name="adj" fmla="val 12500"/>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happening between Anne and Marilla in these two short sentences? What CHOICE is Marilla making by “creeping” in?</a:t>
            </a:r>
            <a:endParaRPr lang="en-US" sz="1200" dirty="0"/>
          </a:p>
        </p:txBody>
      </p:sp>
      <p:sp>
        <p:nvSpPr>
          <p:cNvPr id="11" name="Shape 9"/>
          <p:cNvSpPr/>
          <p:nvPr/>
        </p:nvSpPr>
        <p:spPr>
          <a:xfrm>
            <a:off x="365760" y="3060192"/>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124200"/>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124200"/>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these sentences? Notice the word crept</a:t>
            </a:r>
            <a:endParaRPr lang="en-US" sz="1200" dirty="0"/>
          </a:p>
        </p:txBody>
      </p:sp>
      <p:sp>
        <p:nvSpPr>
          <p:cNvPr id="14" name="Shape 12"/>
          <p:cNvSpPr/>
          <p:nvPr/>
        </p:nvSpPr>
        <p:spPr>
          <a:xfrm>
            <a:off x="365760" y="3681984"/>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74599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74599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Character Growth Essay — Type Final Draft</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Type your final essay draft, reading each sentence aloud as you go.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