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9, Day 2.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Identify a repeated action as a way to build personality, then apply it in two connected short sentences.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12-minute timer. Craft move: Identify a repeated action as a way to build personality, then apply it in two connected short sentences.. Level-up: ⭐ Name the habit  ⭐⭐ Use it in two separate short sentences  ⭐⭐⭐ Make the second sentence explain the first  ⭐⭐⭐⭐ Use this habit again later in your story for consistency.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Find a character trait you have mentioned once. Try mentioning it again in a new, short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"Read your two sentences about a character’s habit."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Anne shared her honest impressions of Sunday School. Today: Witness Anne and Diana’s solemn vow of friendship. Big Q: Today, watch for how the author introduces Anne. What does she say? What does she do? How does her voice make her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"“I solemnly swear to be faithful to my bosom friend,” Anne said."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"diana and anne promised to be friends forever they joined hands" Corrected: "Diana and Anne promised to be friends forever. They joined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"diana and anne promised to be friends forever they joined hands" Corrected: "Diana and Anne promised to be friends forever. They joined hands."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solemn: Serious; deeply earnest; not joking. | enraptured: Filled with great joy or delight; carried away by happiness. | resolute: Firm; determined; not easily changed. | vindictive: Wanting to get back at someone; full of revenge.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 kept her promise to Diana." -&gt; promise | "Marilla felt a twinge of guilt." -&gt; guilt. | "Anne’s imagination filled the playhouse with magic." -&gt; imagination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"Anne kept her promise to Diana." -&gt; promise | "Marilla felt a twinge of guilt." -&gt; guilt. | "Anne’s imagination filled the playhouse with magic." -&gt; imagination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Has a schwa: ribbon, lemon, banana | All clear vowels: table, sleeve, treat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Has a schwa: ribbon, lemon, banana | All clear vowels: table, sleeve, treat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Chapters 12-13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RWM: "“Diana laughed. Diana always laughed before she spoke.”"
Craft: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Realistic Fiction — Friendship Scene
Focus: Write the moment your character and their new friend promise to be close friends.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B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D98BB0">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D98BB0"/>
                </a:solidFill>
                <a:latin typeface="Calibri" pitchFamily="34" charset="0"/>
                <a:ea typeface="Calibri" pitchFamily="34" charset="-122"/>
                <a:cs typeface="Calibri" pitchFamily="34" charset="-120"/>
              </a:rPr>
              <a:t>WEEK 9  ·  DAY 2</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Chapters 12-13</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A Solemn Vow of Friendship</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9  ·  Virtue: Imagination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 solemnly swear to be faithful to my bosom friend," Anne said.</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"Diana laughed. Diana always laughed before she spoke."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What does repeating "Diana laughed" twice, in two different sentences, tell us about her personality?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12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two short sentences about a character’s habit — something they always do before they do something else — the way the mentor sentences do with Diana’s laugh.</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Identify a repeated action as a way to build personality, then apply it in two connected short sentences.</a:t>
            </a:r>
            <a:endParaRPr lang="en-US" sz="1300" dirty="0"/>
          </a:p>
        </p:txBody>
      </p:sp>
      <p:sp>
        <p:nvSpPr>
          <p:cNvPr id="8" name="Text 6"/>
          <p:cNvSpPr/>
          <p:nvPr/>
        </p:nvSpPr>
        <p:spPr>
          <a:xfrm>
            <a:off x="548640" y="2868168"/>
            <a:ext cx="8046720" cy="431292"/>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Name the habit  ⭐⭐ Use it in two separate short sentences  ⭐⭐⭐ Make the second sentence explain the first  ⭐⭐⭐⭐ Use this habit again later in your story for consistency</a:t>
            </a:r>
            <a:endParaRPr lang="en-US" sz="1150" dirty="0"/>
          </a:p>
        </p:txBody>
      </p:sp>
      <p:sp>
        <p:nvSpPr>
          <p:cNvPr id="9" name="Text 7"/>
          <p:cNvSpPr/>
          <p:nvPr/>
        </p:nvSpPr>
        <p:spPr>
          <a:xfrm>
            <a:off x="548640" y="3372612"/>
            <a:ext cx="8046720" cy="1656588"/>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Find a character trait you have mentioned once. Try mentioning it again in a new, short sentence.</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Read your two sentences about a character’s habit.</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Anne shared her honest impressions of Sunday School.</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D98BB0"/>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Witness Anne and Diana’s solemn vow of friendship.</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Today, watch for how the author introduces Anne. What does she say? What does she do? How does her voice make her real?</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notice character VOICE — the way a person's words sound, the words they choose, the things they get excited about. Anne has one of the most...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“I solemnly swear to be faithful to my bosom friend,” Anne said.</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diana and anne promised to be friends forever they joined hands</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diana and anne promised to be friends forever they joined hands</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Diana and Anne promised to be friends forever. They joined hands.</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solemn</a:t>
            </a:r>
            <a:endParaRPr lang="en-US" sz="1400" dirty="0"/>
          </a:p>
        </p:txBody>
      </p:sp>
      <p:sp>
        <p:nvSpPr>
          <p:cNvPr id="7" name="Text 5"/>
          <p:cNvSpPr/>
          <p:nvPr/>
        </p:nvSpPr>
        <p:spPr>
          <a:xfrm>
            <a:off x="45720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Serious; deeply earnest; not joking.</a:t>
            </a:r>
            <a:endParaRPr lang="en-US" sz="1100" dirty="0"/>
          </a:p>
        </p:txBody>
      </p:sp>
      <p:sp>
        <p:nvSpPr>
          <p:cNvPr id="8" name="Shape 6"/>
          <p:cNvSpPr/>
          <p:nvPr/>
        </p:nvSpPr>
        <p:spPr>
          <a:xfrm>
            <a:off x="4572000" y="914400"/>
            <a:ext cx="4069080" cy="954024"/>
          </a:xfrm>
          <a:prstGeom prst="roundRect">
            <a:avLst>
              <a:gd name="adj" fmla="val 9585"/>
            </a:avLst>
          </a:prstGeom>
          <a:solidFill>
            <a:srgbClr val="F0E8FF"/>
          </a:solidFill>
          <a:ln/>
          <a:effectLst>
            <a:outerShdw sx="100000" sy="100000" kx="0" ky="0" algn="bl" rotWithShape="0" blurRad="101600" dist="38100" dir="2700000">
              <a:srgbClr val="000000">
                <a:alpha val="12000"/>
              </a:srgbClr>
            </a:outerShdw>
          </a:effectLst>
        </p:spPr>
      </p:sp>
      <p:sp>
        <p:nvSpPr>
          <p:cNvPr id="9" name="Text 7"/>
          <p:cNvSpPr/>
          <p:nvPr/>
        </p:nvSpPr>
        <p:spPr>
          <a:xfrm>
            <a:off x="4709160" y="1005840"/>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enraptured</a:t>
            </a:r>
            <a:endParaRPr lang="en-US" sz="1400" dirty="0"/>
          </a:p>
        </p:txBody>
      </p:sp>
      <p:sp>
        <p:nvSpPr>
          <p:cNvPr id="10" name="Text 8"/>
          <p:cNvSpPr/>
          <p:nvPr/>
        </p:nvSpPr>
        <p:spPr>
          <a:xfrm>
            <a:off x="4709160" y="1316736"/>
            <a:ext cx="3794760" cy="496824"/>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Filled with great joy or delight; carried away by happiness.</a:t>
            </a:r>
            <a:endParaRPr lang="en-US" sz="1100" dirty="0"/>
          </a:p>
        </p:txBody>
      </p:sp>
      <p:sp>
        <p:nvSpPr>
          <p:cNvPr id="11" name="Shape 9"/>
          <p:cNvSpPr/>
          <p:nvPr/>
        </p:nvSpPr>
        <p:spPr>
          <a:xfrm>
            <a:off x="320040" y="1978152"/>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45720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resolute</a:t>
            </a:r>
            <a:endParaRPr lang="en-US" sz="1400" dirty="0"/>
          </a:p>
        </p:txBody>
      </p:sp>
      <p:sp>
        <p:nvSpPr>
          <p:cNvPr id="13" name="Text 11"/>
          <p:cNvSpPr/>
          <p:nvPr/>
        </p:nvSpPr>
        <p:spPr>
          <a:xfrm>
            <a:off x="457200" y="2380488"/>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Firm; determined; not easily changed.</a:t>
            </a:r>
            <a:endParaRPr lang="en-US" sz="1100" dirty="0"/>
          </a:p>
        </p:txBody>
      </p:sp>
      <p:sp>
        <p:nvSpPr>
          <p:cNvPr id="14" name="Shape 12"/>
          <p:cNvSpPr/>
          <p:nvPr/>
        </p:nvSpPr>
        <p:spPr>
          <a:xfrm>
            <a:off x="4572000" y="1978152"/>
            <a:ext cx="4069080" cy="914400"/>
          </a:xfrm>
          <a:prstGeom prst="roundRect">
            <a:avLst>
              <a:gd name="adj" fmla="val 10000"/>
            </a:avLst>
          </a:prstGeom>
          <a:solidFill>
            <a:srgbClr val="F0E8FF"/>
          </a:solidFill>
          <a:ln/>
          <a:effectLst>
            <a:outerShdw sx="100000" sy="100000" kx="0" ky="0" algn="bl" rotWithShape="0" blurRad="101600" dist="38100" dir="2700000">
              <a:srgbClr val="000000">
                <a:alpha val="12000"/>
              </a:srgbClr>
            </a:outerShdw>
          </a:effectLst>
        </p:spPr>
      </p:sp>
      <p:sp>
        <p:nvSpPr>
          <p:cNvPr id="15" name="Text 13"/>
          <p:cNvSpPr/>
          <p:nvPr/>
        </p:nvSpPr>
        <p:spPr>
          <a:xfrm>
            <a:off x="4709160" y="2069592"/>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vindictive</a:t>
            </a:r>
            <a:endParaRPr lang="en-US" sz="1400" dirty="0"/>
          </a:p>
        </p:txBody>
      </p:sp>
      <p:sp>
        <p:nvSpPr>
          <p:cNvPr id="16" name="Text 14"/>
          <p:cNvSpPr/>
          <p:nvPr/>
        </p:nvSpPr>
        <p:spPr>
          <a:xfrm>
            <a:off x="4709160" y="2380488"/>
            <a:ext cx="3794760" cy="45720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Wanting to get back at someone; full of revenge.</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Concrete &amp; Abstract Nouns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kept her promise to Diana.</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Marilla felt a twinge of guilt.</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Anne’s imagination filled the playhouse with magic.</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Concrete &amp; Abstract Nouns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 kept her </a:t>
            </a:r>
            <a:pPr indent="0" marL="0">
              <a:buNone/>
            </a:pPr>
            <a:r>
              <a:rPr lang="en-US" sz="1500" b="1" u="sng" dirty="0">
                <a:solidFill>
                  <a:srgbClr val="34B76F"/>
                </a:solidFill>
                <a:latin typeface="Calibri" pitchFamily="34" charset="0"/>
                <a:ea typeface="Calibri" pitchFamily="34" charset="-122"/>
                <a:cs typeface="Calibri" pitchFamily="34" charset="-120"/>
              </a:rPr>
              <a:t>promise</a:t>
            </a:r>
            <a:pPr indent="0" marL="0">
              <a:buNone/>
            </a:pPr>
            <a:r>
              <a:rPr lang="en-US" sz="1500" dirty="0">
                <a:solidFill>
                  <a:srgbClr val="1E293B"/>
                </a:solidFill>
                <a:latin typeface="Calibri" pitchFamily="34" charset="0"/>
                <a:ea typeface="Calibri" pitchFamily="34" charset="-122"/>
                <a:cs typeface="Calibri" pitchFamily="34" charset="-120"/>
              </a:rPr>
              <a:t> to Diana.</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Marilla felt a twinge of guilt.</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Anne’s </a:t>
            </a:r>
            <a:pPr indent="0" marL="0">
              <a:buNone/>
            </a:pPr>
            <a:r>
              <a:rPr lang="en-US" sz="1500" b="1" u="sng" dirty="0">
                <a:solidFill>
                  <a:srgbClr val="34B76F"/>
                </a:solidFill>
                <a:latin typeface="Calibri" pitchFamily="34" charset="0"/>
                <a:ea typeface="Calibri" pitchFamily="34" charset="-122"/>
                <a:cs typeface="Calibri" pitchFamily="34" charset="-120"/>
              </a:rPr>
              <a:t>imagination</a:t>
            </a:r>
            <a:pPr indent="0" marL="0">
              <a:buNone/>
            </a:pPr>
            <a:r>
              <a:rPr lang="en-US" sz="1500" dirty="0">
                <a:solidFill>
                  <a:srgbClr val="1E293B"/>
                </a:solidFill>
                <a:latin typeface="Calibri" pitchFamily="34" charset="0"/>
                <a:ea typeface="Calibri" pitchFamily="34" charset="-122"/>
                <a:cs typeface="Calibri" pitchFamily="34" charset="-120"/>
              </a:rPr>
              <a:t> filled the playhouse with magic.</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Schwa in Unstressed Syllables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ribbon   -   lemon   -   banana   -   table   -   sleeve   -   treat</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Has a schwa</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All clear vowels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Schwa in Unstressed Syllables</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Shape 2"/>
          <p:cNvSpPr/>
          <p:nvPr/>
        </p:nvSpPr>
        <p:spPr>
          <a:xfrm>
            <a:off x="6492240" y="173736"/>
            <a:ext cx="2286000" cy="502920"/>
          </a:xfrm>
          <a:prstGeom prst="roundRect">
            <a:avLst>
              <a:gd name="adj" fmla="val 21818"/>
            </a:avLst>
          </a:prstGeom>
          <a:solidFill>
            <a:srgbClr val="D98BB0"/>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Has a schwa</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ribbon</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lemon</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banana</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All clear vowels</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table</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sleeve</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treat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Chapters 12-13</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A Solemn Vow of Friendship</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What feeling does the poet have for the mouse? Find one line that shows it.</a:t>
            </a:r>
            <a:endParaRPr lang="en-US" sz="1400" dirty="0"/>
          </a:p>
        </p:txBody>
      </p:sp>
      <p:sp>
        <p:nvSpPr>
          <p:cNvPr id="8" name="Shape 6"/>
          <p:cNvSpPr/>
          <p:nvPr/>
        </p:nvSpPr>
        <p:spPr>
          <a:xfrm>
            <a:off x="365760" y="2514600"/>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Anne has invented Katie Maurice and Violetta because no one stayed. In Ch. 12, she clasps hands with Diana over an imaginary running stream and they vow to be bosom friends forever. It is half-pretend and entirely real. By the end of Ch. 15, when Anne quits school over the slate-and-Gilbert disaster, the deepest grief is leaving Diana. Friendship isn’t the story’s subplot anymore. It is the story.</a:t>
            </a:r>
            <a:endParaRPr lang="en-US" sz="1400" dirty="0"/>
          </a:p>
        </p:txBody>
      </p:sp>
      <p:sp>
        <p:nvSpPr>
          <p:cNvPr id="10" name="Shape 8"/>
          <p:cNvSpPr/>
          <p:nvPr/>
        </p:nvSpPr>
        <p:spPr>
          <a:xfrm>
            <a:off x="365760" y="344728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53872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Anne and Diana hold hands and swear to be friends. For a child who has had no family, what does it mean to be promised forever by another person?</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 like a Reader, Writer, Mimic</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MENTOR SENTENCE</a:t>
            </a:r>
            <a:endParaRPr lang="en-US" sz="1100" dirty="0"/>
          </a:p>
        </p:txBody>
      </p:sp>
      <p:sp>
        <p:nvSpPr>
          <p:cNvPr id="5" name="Shape 3"/>
          <p:cNvSpPr/>
          <p:nvPr/>
        </p:nvSpPr>
        <p:spPr>
          <a:xfrm>
            <a:off x="365760" y="1042416"/>
            <a:ext cx="8412480" cy="685800"/>
          </a:xfrm>
          <a:prstGeom prst="roundRect">
            <a:avLst>
              <a:gd name="adj" fmla="val 13333"/>
            </a:avLst>
          </a:prstGeom>
          <a:solidFill>
            <a:srgbClr val="F0E8FF"/>
          </a:solidFill>
          <a:ln w="12700">
            <a:solidFill>
              <a:srgbClr val="8B6FC0"/>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52144"/>
            <a:ext cx="8046720" cy="457200"/>
          </a:xfrm>
          <a:prstGeom prst="rect">
            <a:avLst/>
          </a:prstGeom>
          <a:noFill/>
          <a:ln/>
        </p:spPr>
        <p:txBody>
          <a:bodyPr wrap="square" lIns="0" tIns="0" rIns="0" bIns="0" rtlCol="0" anchor="ctr"/>
          <a:lstStyle/>
          <a:p>
            <a:pPr indent="0" marL="0">
              <a:buNone/>
            </a:pPr>
            <a:r>
              <a:rPr lang="en-US" sz="1600" i="1" dirty="0">
                <a:solidFill>
                  <a:srgbClr val="0E1C42"/>
                </a:solidFill>
                <a:latin typeface="Calibri" pitchFamily="34" charset="0"/>
                <a:ea typeface="Calibri" pitchFamily="34" charset="-122"/>
                <a:cs typeface="Calibri" pitchFamily="34" charset="-120"/>
              </a:rPr>
              <a:t>“Diana laughed. Diana always laughed before she spoke.”</a:t>
            </a:r>
            <a:endParaRPr lang="en-US" sz="1600" dirty="0"/>
          </a:p>
        </p:txBody>
      </p:sp>
      <p:sp>
        <p:nvSpPr>
          <p:cNvPr id="7" name="Text 5"/>
          <p:cNvSpPr/>
          <p:nvPr/>
        </p:nvSpPr>
        <p:spPr>
          <a:xfrm>
            <a:off x="365760" y="1856232"/>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YOUR THREE JOBS</a:t>
            </a:r>
            <a:endParaRPr lang="en-US" sz="1100" dirty="0"/>
          </a:p>
        </p:txBody>
      </p:sp>
      <p:sp>
        <p:nvSpPr>
          <p:cNvPr id="8" name="Shape 6"/>
          <p:cNvSpPr/>
          <p:nvPr/>
        </p:nvSpPr>
        <p:spPr>
          <a:xfrm>
            <a:off x="365760" y="2112264"/>
            <a:ext cx="8412480" cy="530352"/>
          </a:xfrm>
          <a:prstGeom prst="roundRect">
            <a:avLst>
              <a:gd name="adj" fmla="val 17241"/>
            </a:avLst>
          </a:prstGeom>
          <a:solidFill>
            <a:srgbClr val="E5F7FC"/>
          </a:solidFill>
          <a:ln/>
          <a:effectLst>
            <a:outerShdw sx="100000" sy="100000" kx="0" ky="0" algn="bl" rotWithShape="0" blurRad="101600" dist="38100" dir="2700000">
              <a:srgbClr val="000000">
                <a:alpha val="12000"/>
              </a:srgbClr>
            </a:outerShdw>
          </a:effectLst>
        </p:spPr>
      </p:sp>
      <p:sp>
        <p:nvSpPr>
          <p:cNvPr id="9" name="Text 7"/>
          <p:cNvSpPr/>
          <p:nvPr/>
        </p:nvSpPr>
        <p:spPr>
          <a:xfrm>
            <a:off x="594360" y="2176272"/>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Reader</a:t>
            </a:r>
            <a:endParaRPr lang="en-US" sz="1300" dirty="0"/>
          </a:p>
        </p:txBody>
      </p:sp>
      <p:sp>
        <p:nvSpPr>
          <p:cNvPr id="10" name="Text 8"/>
          <p:cNvSpPr/>
          <p:nvPr/>
        </p:nvSpPr>
        <p:spPr>
          <a:xfrm>
            <a:off x="3337560" y="2176272"/>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What does this short pair of sentences tell you about Diana? How is Diana different from Anne?</a:t>
            </a:r>
            <a:endParaRPr lang="en-US" sz="1200" dirty="0"/>
          </a:p>
        </p:txBody>
      </p:sp>
      <p:sp>
        <p:nvSpPr>
          <p:cNvPr id="11" name="Shape 9"/>
          <p:cNvSpPr/>
          <p:nvPr/>
        </p:nvSpPr>
        <p:spPr>
          <a:xfrm>
            <a:off x="365760" y="2734056"/>
            <a:ext cx="8412480" cy="530352"/>
          </a:xfrm>
          <a:prstGeom prst="roundRect">
            <a:avLst>
              <a:gd name="adj" fmla="val 17241"/>
            </a:avLst>
          </a:prstGeom>
          <a:solidFill>
            <a:srgbClr val="F0E8F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798064"/>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Read like a Writer</a:t>
            </a:r>
            <a:endParaRPr lang="en-US" sz="1300" dirty="0"/>
          </a:p>
        </p:txBody>
      </p:sp>
      <p:sp>
        <p:nvSpPr>
          <p:cNvPr id="13" name="Text 11"/>
          <p:cNvSpPr/>
          <p:nvPr/>
        </p:nvSpPr>
        <p:spPr>
          <a:xfrm>
            <a:off x="3337560" y="2798064"/>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How did Montgomery build these sentences? Notice the repetition</a:t>
            </a:r>
            <a:endParaRPr lang="en-US" sz="1200" dirty="0"/>
          </a:p>
        </p:txBody>
      </p:sp>
      <p:sp>
        <p:nvSpPr>
          <p:cNvPr id="14" name="Shape 12"/>
          <p:cNvSpPr/>
          <p:nvPr/>
        </p:nvSpPr>
        <p:spPr>
          <a:xfrm>
            <a:off x="365760" y="3355848"/>
            <a:ext cx="8412480" cy="530352"/>
          </a:xfrm>
          <a:prstGeom prst="roundRect">
            <a:avLst>
              <a:gd name="adj" fmla="val 17241"/>
            </a:avLst>
          </a:prstGeom>
          <a:solidFill>
            <a:srgbClr val="E8F8EF"/>
          </a:solidFill>
          <a:ln/>
          <a:effectLst>
            <a:outerShdw sx="100000" sy="100000" kx="0" ky="0" algn="bl" rotWithShape="0" blurRad="101600" dist="38100" dir="2700000">
              <a:srgbClr val="000000">
                <a:alpha val="12000"/>
              </a:srgbClr>
            </a:outerShdw>
          </a:effectLst>
        </p:spPr>
      </p:sp>
      <p:sp>
        <p:nvSpPr>
          <p:cNvPr id="15" name="Text 13"/>
          <p:cNvSpPr/>
          <p:nvPr/>
        </p:nvSpPr>
        <p:spPr>
          <a:xfrm>
            <a:off x="594360" y="3419856"/>
            <a:ext cx="2651760" cy="402336"/>
          </a:xfrm>
          <a:prstGeom prst="rect">
            <a:avLst/>
          </a:prstGeom>
          <a:noFill/>
          <a:ln/>
        </p:spPr>
        <p:txBody>
          <a:bodyPr wrap="square" lIns="0" tIns="0" rIns="0" bIns="0" rtlCol="0" anchor="t"/>
          <a:lstStyle/>
          <a:p>
            <a:pPr indent="0" marL="0">
              <a:buNone/>
            </a:pPr>
            <a:r>
              <a:rPr lang="en-US" sz="1300" b="1" dirty="0">
                <a:solidFill>
                  <a:srgbClr val="0E1C42"/>
                </a:solidFill>
                <a:latin typeface="Calibri" pitchFamily="34" charset="0"/>
                <a:ea typeface="Calibri" pitchFamily="34" charset="-122"/>
                <a:cs typeface="Calibri" pitchFamily="34" charset="-120"/>
              </a:rPr>
              <a:t>🖊️ Mimic</a:t>
            </a:r>
            <a:endParaRPr lang="en-US" sz="1300" dirty="0"/>
          </a:p>
        </p:txBody>
      </p:sp>
      <p:sp>
        <p:nvSpPr>
          <p:cNvPr id="16" name="Text 14"/>
          <p:cNvSpPr/>
          <p:nvPr/>
        </p:nvSpPr>
        <p:spPr>
          <a:xfrm>
            <a:off x="3337560" y="3419856"/>
            <a:ext cx="5303520" cy="402336"/>
          </a:xfrm>
          <a:prstGeom prst="rect">
            <a:avLst/>
          </a:prstGeom>
          <a:noFill/>
          <a:ln/>
        </p:spPr>
        <p:txBody>
          <a:bodyPr wrap="square" lIns="0" tIns="0" rIns="0" bIns="0" rtlCol="0" anchor="t"/>
          <a:lstStyle/>
          <a:p>
            <a:pPr indent="0" marL="0">
              <a:buNone/>
            </a:pPr>
            <a:r>
              <a:rPr lang="en-US" sz="1200" dirty="0">
                <a:solidFill>
                  <a:srgbClr val="1E293B"/>
                </a:solidFill>
                <a:latin typeface="Calibri" pitchFamily="34" charset="0"/>
                <a:ea typeface="Calibri" pitchFamily="34" charset="-122"/>
                <a:cs typeface="Calibri" pitchFamily="34" charset="-120"/>
              </a:rPr>
              <a:t>Write your own sentence using the same pattern in your notebook.</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D98BB0"/>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Realistic Fiction — Friendship Scene</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Write the moment your character and their new friend promise to be close friends.</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2026-07-11T22:13:20Z</dcterms:created>
  <dcterms:modified xsi:type="dcterms:W3CDTF">2026-07-11T22:13:20Z</dcterms:modified>
</cp:coreProperties>
</file>