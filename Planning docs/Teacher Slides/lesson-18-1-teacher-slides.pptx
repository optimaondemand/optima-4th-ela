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Week 18, Day 1. Novel emoji: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students 1 quiet minute to look/read closely before any talk.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Push toward naming the craft move: State a clear claim — one sentence that names a specific moment and argues why it was the bravest.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a 15-minute timer. Craft move: State a clear claim — one sentence that names a specific moment and argues why it was the bravest.. Level-up: ⭐ State your claim in one sentence  ⭐⭐ Name the specific moment  ⭐⭐⭐ Use the word "because"  ⭐⭐⭐⭐ Preview two reasons you will use to support your claim.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a 2-minute timer. Today's revision focus: Read your claim sentence aloud. Does it name ONE specific moment, not the whole book in general?.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Call on 3-5 students. Keep sharing craft-focused: "Read your claim sentence about Annemarie's bravest moment."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1-minute close.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Last week, we learned that someone in the story had died. Today: See how Henrik handles the truth with Annemarie this time. Big Q: As you read today, watch for the setting, the characters, and the moment of danger. What is Copenhagen like in 1943? Who is Annemarie? What small thing happens that tells you life is not normal?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DOL model: "Henrik did not lie to Annemarie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"annemarie didnt understand the lie but she trusted henrik anyway" Corrected: "Annemarie didn’t understand the lie, but she trusted Henrik anyway."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"annemarie didnt understand the lie but she trusted henrik anyway" Corrected: "Annemarie didn’t understand the lie, but she trusted Henrik anyway."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Morphology: proceed — — to move forward | exceed — — to go beyond what was expected | concede — — to yield; to give in | access — — a way to enter or reach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Vocab: proceed: To move forward; to continue. | concede: To give in; to admit defeat or yield. | access: A way to reach or enter something. | symbol: An object or image that stands for an idea.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"Annemarie didn’t understand the lie." -&gt; didn’t | "Peter won’t see the Rosens for a long time." -&gt; won’t | "Henrik can’t tell her everything." -&gt; can’t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"Annemarie didn’t understand the lie." -&gt; didn’t | "Peter won’t see the Rosens for a long time." -&gt; won’t | "Henrik can’t tell her everything." -&gt; can’t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Spelling: Consonant + LE (-tle, -ple, -tle): little, simple, gentle | Consonant + LE (-dle, -ble): candle, needle, trouble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Spelling: Consonant + LE (-tle, -ple, -tle): little, simple, gentle | Consonant + LE (-dle, -ble): candle, needle, trouble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Chapter 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Writing: Opinion Essay — Claim
Focus: Write your claim: what was Annemarie's bravest moment, and why does it matter?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2E4A"/>
        </a:solidFill>
      </p:bgPr>
    </p:bg>
    <p:spTree>
      <p:nvGrpSpPr>
        <p:cNvPr id="1" name=""/>
        <p:cNvGrpSpPr/>
        <p:nvPr/>
      </p:nvGrpSpPr>
      <p:grpSpPr>
        <a:xfrm>
          <a:off x="0" y="0"/>
          <a:ext cx="0" cy="0"/>
          <a:chOff x="0" y="0"/>
          <a:chExt cx="0" cy="0"/>
        </a:xfrm>
      </p:grpSpPr>
      <p:sp>
        <p:nvSpPr>
          <p:cNvPr id="2" name="Shape 0"/>
          <p:cNvSpPr/>
          <p:nvPr/>
        </p:nvSpPr>
        <p:spPr>
          <a:xfrm>
            <a:off x="0" y="4114800"/>
            <a:ext cx="9144000" cy="1028700"/>
          </a:xfrm>
          <a:prstGeom prst="rect">
            <a:avLst/>
          </a:prstGeom>
          <a:solidFill>
            <a:srgbClr val="6E9BD9">
              <a:alpha val="15000"/>
            </a:srgbClr>
          </a:solidFill>
          <a:ln/>
        </p:spPr>
      </p:sp>
      <p:sp>
        <p:nvSpPr>
          <p:cNvPr id="3" name="Text 1"/>
          <p:cNvSpPr/>
          <p:nvPr/>
        </p:nvSpPr>
        <p:spPr>
          <a:xfrm>
            <a:off x="457200" y="640080"/>
            <a:ext cx="8229600" cy="365760"/>
          </a:xfrm>
          <a:prstGeom prst="rect">
            <a:avLst/>
          </a:prstGeom>
          <a:noFill/>
          <a:ln/>
        </p:spPr>
        <p:txBody>
          <a:bodyPr wrap="square" lIns="0" tIns="0" rIns="0" bIns="0" rtlCol="0" anchor="ctr"/>
          <a:lstStyle/>
          <a:p>
            <a:pPr algn="l" indent="0" marL="0">
              <a:buNone/>
            </a:pPr>
            <a:r>
              <a:rPr lang="en-US" sz="1300" b="1" spc="400" kern="0" dirty="0">
                <a:solidFill>
                  <a:srgbClr val="6E9BD9"/>
                </a:solidFill>
                <a:latin typeface="Calibri" pitchFamily="34" charset="0"/>
                <a:ea typeface="Calibri" pitchFamily="34" charset="-122"/>
                <a:cs typeface="Calibri" pitchFamily="34" charset="-120"/>
              </a:rPr>
              <a:t>WEEK 18  ·  DAY 1</a:t>
            </a:r>
            <a:endParaRPr lang="en-US" sz="1300" dirty="0"/>
          </a:p>
        </p:txBody>
      </p:sp>
      <p:sp>
        <p:nvSpPr>
          <p:cNvPr id="4" name="Text 2"/>
          <p:cNvSpPr/>
          <p:nvPr/>
        </p:nvSpPr>
        <p:spPr>
          <a:xfrm>
            <a:off x="457200" y="1097280"/>
            <a:ext cx="8229600" cy="1645920"/>
          </a:xfrm>
          <a:prstGeom prst="rect">
            <a:avLst/>
          </a:prstGeom>
          <a:noFill/>
          <a:ln/>
        </p:spPr>
        <p:txBody>
          <a:bodyPr wrap="square" lIns="0" tIns="0" rIns="0" bIns="0" rtlCol="0" anchor="ctr"/>
          <a:lstStyle/>
          <a:p>
            <a:pPr algn="l" indent="0" marL="0">
              <a:buNone/>
            </a:pPr>
            <a:r>
              <a:rPr lang="en-US" sz="3200" b="1" dirty="0">
                <a:solidFill>
                  <a:srgbClr val="FFFFFF"/>
                </a:solidFill>
                <a:latin typeface="Calibri" pitchFamily="34" charset="0"/>
                <a:ea typeface="Calibri" pitchFamily="34" charset="-122"/>
                <a:cs typeface="Calibri" pitchFamily="34" charset="-120"/>
              </a:rPr>
              <a:t>Chapter 9</a:t>
            </a:r>
            <a:endParaRPr lang="en-US" sz="3200" dirty="0"/>
          </a:p>
          <a:p>
            <a:pPr algn="l" indent="0" marL="0">
              <a:buNone/>
            </a:pPr>
            <a:r>
              <a:rPr lang="en-US" sz="3200" b="1" dirty="0">
                <a:solidFill>
                  <a:srgbClr val="FFFFFF"/>
                </a:solidFill>
                <a:latin typeface="Calibri" pitchFamily="34" charset="0"/>
                <a:ea typeface="Calibri" pitchFamily="34" charset="-122"/>
                <a:cs typeface="Calibri" pitchFamily="34" charset="-120"/>
              </a:rPr>
              <a:t>Henrik's Promise</a:t>
            </a:r>
            <a:endParaRPr lang="en-US" sz="3200" dirty="0"/>
          </a:p>
        </p:txBody>
      </p:sp>
      <p:sp>
        <p:nvSpPr>
          <p:cNvPr id="5" name="Text 3"/>
          <p:cNvSpPr/>
          <p:nvPr/>
        </p:nvSpPr>
        <p:spPr>
          <a:xfrm>
            <a:off x="457200" y="4434840"/>
            <a:ext cx="8229600" cy="365760"/>
          </a:xfrm>
          <a:prstGeom prst="rect">
            <a:avLst/>
          </a:prstGeom>
          <a:noFill/>
          <a:ln/>
        </p:spPr>
        <p:txBody>
          <a:bodyPr wrap="square" lIns="0" tIns="0" rIns="0" bIns="0" rtlCol="0" anchor="ctr"/>
          <a:lstStyle/>
          <a:p>
            <a:pPr algn="l" indent="0" marL="0">
              <a:buNone/>
            </a:pPr>
            <a:r>
              <a:rPr lang="en-US" sz="1200" dirty="0">
                <a:solidFill>
                  <a:srgbClr val="FFFFFF"/>
                </a:solidFill>
                <a:latin typeface="Calibri" pitchFamily="34" charset="0"/>
                <a:ea typeface="Calibri" pitchFamily="34" charset="-122"/>
                <a:cs typeface="Calibri" pitchFamily="34" charset="-120"/>
              </a:rPr>
              <a:t>⭐  Week 18  ·  Virtue: Courage</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Notice</a:t>
            </a:r>
            <a:endParaRPr lang="en-US" sz="2800" dirty="0"/>
          </a:p>
        </p:txBody>
      </p:sp>
      <p:sp>
        <p:nvSpPr>
          <p:cNvPr id="3" name="Shape 1"/>
          <p:cNvSpPr/>
          <p:nvPr/>
        </p:nvSpPr>
        <p:spPr>
          <a:xfrm>
            <a:off x="365760" y="749808"/>
            <a:ext cx="8412480" cy="0"/>
          </a:xfrm>
          <a:prstGeom prst="line">
            <a:avLst/>
          </a:prstGeom>
          <a:noFill/>
          <a:ln w="19050">
            <a:solidFill>
              <a:srgbClr val="C7922C"/>
            </a:solidFill>
            <a:prstDash val="solid"/>
          </a:ln>
        </p:spPr>
      </p:sp>
      <p:sp>
        <p:nvSpPr>
          <p:cNvPr id="4" name="Text 2"/>
          <p:cNvSpPr/>
          <p:nvPr/>
        </p:nvSpPr>
        <p:spPr>
          <a:xfrm>
            <a:off x="457200" y="96012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LOOK CLOSELY - 1 MINUTE</a:t>
            </a:r>
            <a:endParaRPr lang="en-US" sz="1100" dirty="0"/>
          </a:p>
        </p:txBody>
      </p:sp>
      <p:sp>
        <p:nvSpPr>
          <p:cNvPr id="5" name="Shape 3"/>
          <p:cNvSpPr/>
          <p:nvPr/>
        </p:nvSpPr>
        <p:spPr>
          <a:xfrm>
            <a:off x="457200" y="1325880"/>
            <a:ext cx="8229600" cy="1005840"/>
          </a:xfrm>
          <a:prstGeom prst="roundRect">
            <a:avLst>
              <a:gd name="adj" fmla="val 9091"/>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640080" y="1435608"/>
            <a:ext cx="7863840" cy="77724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Henrik did not lie to Annemarie again.</a:t>
            </a:r>
            <a:endParaRPr lang="en-US" sz="1600" dirty="0"/>
          </a:p>
        </p:txBody>
      </p:sp>
      <p:sp>
        <p:nvSpPr>
          <p:cNvPr id="7" name="Text 5"/>
          <p:cNvSpPr/>
          <p:nvPr/>
        </p:nvSpPr>
        <p:spPr>
          <a:xfrm>
            <a:off x="548640" y="2496312"/>
            <a:ext cx="8046720" cy="2441448"/>
          </a:xfrm>
          <a:prstGeom prst="rect">
            <a:avLst/>
          </a:prstGeom>
          <a:noFill/>
          <a:ln/>
        </p:spPr>
        <p:txBody>
          <a:bodyPr wrap="square" lIns="0" tIns="0" rIns="0" bIns="0" rtlCol="0" anchor="t"/>
          <a:lstStyle/>
          <a:p>
            <a:pPr indent="0" marL="0">
              <a:buNone/>
            </a:pPr>
            <a:r>
              <a:rPr lang="en-US" sz="1200" b="1" dirty="0">
                <a:solidFill>
                  <a:srgbClr val="8B6FC0"/>
                </a:solidFill>
                <a:latin typeface="Calibri" pitchFamily="34" charset="0"/>
                <a:ea typeface="Calibri" pitchFamily="34" charset="-122"/>
                <a:cs typeface="Calibri" pitchFamily="34" charset="-120"/>
              </a:rPr>
              <a:t>From the novel: </a:t>
            </a:r>
            <a:pPr indent="0" marL="0">
              <a:buNone/>
            </a:pPr>
            <a:r>
              <a:rPr lang="en-US" sz="1200" i="1" dirty="0">
                <a:solidFill>
                  <a:srgbClr val="1E293B"/>
                </a:solidFill>
                <a:latin typeface="Calibri" pitchFamily="34" charset="0"/>
                <a:ea typeface="Calibri" pitchFamily="34" charset="-122"/>
                <a:cs typeface="Calibri" pitchFamily="34" charset="-120"/>
              </a:rPr>
              <a:t>"Henrik did not lie to Annemarie again."</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Discuss</a:t>
            </a:r>
            <a:endParaRPr lang="en-US" sz="2800" dirty="0"/>
          </a:p>
        </p:txBody>
      </p:sp>
      <p:sp>
        <p:nvSpPr>
          <p:cNvPr id="3" name="Shape 1"/>
          <p:cNvSpPr/>
          <p:nvPr/>
        </p:nvSpPr>
        <p:spPr>
          <a:xfrm>
            <a:off x="365760" y="749808"/>
            <a:ext cx="8412480" cy="0"/>
          </a:xfrm>
          <a:prstGeom prst="line">
            <a:avLst/>
          </a:prstGeom>
          <a:noFill/>
          <a:ln w="19050">
            <a:solidFill>
              <a:srgbClr val="6E9BD9"/>
            </a:solidFill>
            <a:prstDash val="solid"/>
          </a:ln>
        </p:spPr>
      </p:sp>
      <p:sp>
        <p:nvSpPr>
          <p:cNvPr id="4" name="Shape 2"/>
          <p:cNvSpPr/>
          <p:nvPr/>
        </p:nvSpPr>
        <p:spPr>
          <a:xfrm>
            <a:off x="6492240" y="173736"/>
            <a:ext cx="2286000" cy="502920"/>
          </a:xfrm>
          <a:prstGeom prst="roundRect">
            <a:avLst>
              <a:gd name="adj" fmla="val 21818"/>
            </a:avLst>
          </a:prstGeom>
          <a:solidFill>
            <a:srgbClr val="6E9BD9"/>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6E9BD9"/>
                </a:solidFill>
                <a:latin typeface="Calibri" pitchFamily="34" charset="0"/>
                <a:ea typeface="Calibri" pitchFamily="34" charset="-122"/>
                <a:cs typeface="Calibri" pitchFamily="34" charset="-120"/>
              </a:rPr>
              <a:t>TALK IT OVER - 2 MINUTES</a:t>
            </a:r>
            <a:endParaRPr lang="en-US" sz="1100" dirty="0"/>
          </a:p>
        </p:txBody>
      </p:sp>
      <p:sp>
        <p:nvSpPr>
          <p:cNvPr id="7" name="Shape 5"/>
          <p:cNvSpPr/>
          <p:nvPr/>
        </p:nvSpPr>
        <p:spPr>
          <a:xfrm>
            <a:off x="365760" y="1097280"/>
            <a:ext cx="8412480" cy="1097280"/>
          </a:xfrm>
          <a:prstGeom prst="roundRect">
            <a:avLst>
              <a:gd name="adj" fmla="val 8333"/>
            </a:avLst>
          </a:prstGeom>
          <a:solidFill>
            <a:srgbClr val="F8FAFC"/>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188720"/>
            <a:ext cx="7863840" cy="914400"/>
          </a:xfrm>
          <a:prstGeom prst="rect">
            <a:avLst/>
          </a:prstGeom>
          <a:noFill/>
          <a:ln/>
        </p:spPr>
        <p:txBody>
          <a:bodyPr wrap="square" lIns="0" tIns="0" rIns="0" bIns="0" rtlCol="0" anchor="ctr"/>
          <a:lstStyle/>
          <a:p>
            <a:pPr indent="0" marL="0">
              <a:buNone/>
            </a:pPr>
            <a:r>
              <a:rPr lang="en-US" sz="1600" dirty="0">
                <a:solidFill>
                  <a:srgbClr val="1E293B"/>
                </a:solidFill>
                <a:latin typeface="Calibri" pitchFamily="34" charset="0"/>
                <a:ea typeface="Calibri" pitchFamily="34" charset="-122"/>
                <a:cs typeface="Calibri" pitchFamily="34" charset="-120"/>
              </a:rPr>
              <a:t>Think back across the whole book so far: what was Annemarie's bravest moment, and why does it matter? Turn and talk.</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EF6E8"/>
        </a:solidFill>
      </p:bgPr>
    </p:bg>
    <p:spTree>
      <p:nvGrpSpPr>
        <p:cNvPr id="1" name=""/>
        <p:cNvGrpSpPr/>
        <p:nvPr/>
      </p:nvGrpSpPr>
      <p:grpSpPr>
        <a:xfrm>
          <a:off x="0" y="0"/>
          <a:ext cx="0" cy="0"/>
          <a:chOff x="0" y="0"/>
          <a:chExt cx="0" cy="0"/>
        </a:xfrm>
      </p:grpSpPr>
      <p:sp>
        <p:nvSpPr>
          <p:cNvPr id="2" name="Text 0"/>
          <p:cNvSpPr/>
          <p:nvPr/>
        </p:nvSpPr>
        <p:spPr>
          <a:xfrm>
            <a:off x="457200" y="182880"/>
            <a:ext cx="8229600" cy="594360"/>
          </a:xfrm>
          <a:prstGeom prst="rect">
            <a:avLst/>
          </a:prstGeom>
          <a:noFill/>
          <a:ln/>
        </p:spPr>
        <p:txBody>
          <a:bodyPr wrap="square" lIns="0" tIns="0" rIns="0" bIns="0" rtlCol="0" anchor="ctr"/>
          <a:lstStyle/>
          <a:p>
            <a:pPr algn="ctr" indent="0" marL="0">
              <a:buNone/>
            </a:pPr>
            <a:r>
              <a:rPr lang="en-US" sz="3200" b="1" dirty="0">
                <a:solidFill>
                  <a:srgbClr val="0E1C42"/>
                </a:solidFill>
                <a:latin typeface="Calibri" pitchFamily="34" charset="0"/>
                <a:ea typeface="Calibri" pitchFamily="34" charset="-122"/>
                <a:cs typeface="Calibri" pitchFamily="34" charset="-120"/>
              </a:rPr>
              <a:t>Write</a:t>
            </a:r>
            <a:endParaRPr lang="en-US" sz="3200" dirty="0"/>
          </a:p>
        </p:txBody>
      </p:sp>
      <p:sp>
        <p:nvSpPr>
          <p:cNvPr id="3" name="Text 1"/>
          <p:cNvSpPr/>
          <p:nvPr/>
        </p:nvSpPr>
        <p:spPr>
          <a:xfrm>
            <a:off x="914400" y="749808"/>
            <a:ext cx="7315200" cy="347472"/>
          </a:xfrm>
          <a:prstGeom prst="rect">
            <a:avLst/>
          </a:prstGeom>
          <a:noFill/>
          <a:ln/>
        </p:spPr>
        <p:txBody>
          <a:bodyPr wrap="square" lIns="0" tIns="0" rIns="0" bIns="0" rtlCol="0" anchor="ctr"/>
          <a:lstStyle/>
          <a:p>
            <a:pPr algn="ctr" indent="0" marL="0">
              <a:buNone/>
            </a:pPr>
            <a:r>
              <a:rPr lang="en-US" sz="1500" dirty="0">
                <a:solidFill>
                  <a:srgbClr val="C7922C"/>
                </a:solidFill>
                <a:latin typeface="Calibri" pitchFamily="34" charset="0"/>
                <a:ea typeface="Calibri" pitchFamily="34" charset="-122"/>
                <a:cs typeface="Calibri" pitchFamily="34" charset="-120"/>
              </a:rPr>
              <a:t>15 minutes - keep your pencil moving!</a:t>
            </a:r>
            <a:endParaRPr lang="en-US" sz="1500" dirty="0"/>
          </a:p>
        </p:txBody>
      </p:sp>
      <p:sp>
        <p:nvSpPr>
          <p:cNvPr id="4" name="Shape 2"/>
          <p:cNvSpPr/>
          <p:nvPr/>
        </p:nvSpPr>
        <p:spPr>
          <a:xfrm>
            <a:off x="457200" y="1170432"/>
            <a:ext cx="8229600" cy="822960"/>
          </a:xfrm>
          <a:prstGeom prst="roundRect">
            <a:avLst>
              <a:gd name="adj" fmla="val 11111"/>
            </a:avLst>
          </a:prstGeom>
          <a:solidFill>
            <a:srgbClr val="FFFFFF"/>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640080" y="1225296"/>
            <a:ext cx="7863840" cy="731520"/>
          </a:xfrm>
          <a:prstGeom prst="rect">
            <a:avLst/>
          </a:prstGeom>
          <a:noFill/>
          <a:ln/>
        </p:spPr>
        <p:txBody>
          <a:bodyPr wrap="square" lIns="0" tIns="0" rIns="0" bIns="0" rtlCol="0" anchor="t"/>
          <a:lstStyle/>
          <a:p>
            <a:pPr indent="0" marL="0">
              <a:buNone/>
            </a:pPr>
            <a:r>
              <a:rPr lang="en-US" sz="1200" b="1" dirty="0">
                <a:solidFill>
                  <a:srgbClr val="C7922C"/>
                </a:solidFill>
                <a:latin typeface="Calibri" pitchFamily="34" charset="0"/>
                <a:ea typeface="Calibri" pitchFamily="34" charset="-122"/>
                <a:cs typeface="Calibri" pitchFamily="34" charset="-120"/>
              </a:rPr>
              <a:t>Prompt: </a:t>
            </a:r>
            <a:pPr indent="0" marL="0">
              <a:buNone/>
            </a:pPr>
            <a:r>
              <a:rPr lang="en-US" sz="1200" i="1" dirty="0">
                <a:solidFill>
                  <a:srgbClr val="1E293B"/>
                </a:solidFill>
                <a:latin typeface="Calibri" pitchFamily="34" charset="0"/>
                <a:ea typeface="Calibri" pitchFamily="34" charset="-122"/>
                <a:cs typeface="Calibri" pitchFamily="34" charset="-120"/>
              </a:rPr>
              <a:t>Write your claim: what was Annemarie's bravest moment in the book, and why does it matter? This starts your opinion essay.</a:t>
            </a:r>
            <a:endParaRPr lang="en-US" sz="1200" dirty="0"/>
          </a:p>
        </p:txBody>
      </p:sp>
      <p:sp>
        <p:nvSpPr>
          <p:cNvPr id="6" name="Shape 4"/>
          <p:cNvSpPr/>
          <p:nvPr/>
        </p:nvSpPr>
        <p:spPr>
          <a:xfrm>
            <a:off x="457200" y="2121408"/>
            <a:ext cx="8229600" cy="655320"/>
          </a:xfrm>
          <a:prstGeom prst="roundRect">
            <a:avLst>
              <a:gd name="adj" fmla="val 13953"/>
            </a:avLst>
          </a:prstGeom>
          <a:solidFill>
            <a:srgbClr val="FFFFFF"/>
          </a:solidFill>
          <a:ln w="15875">
            <a:solidFill>
              <a:srgbClr val="8B6FC0"/>
            </a:solidFill>
            <a:prstDash val="solid"/>
          </a:ln>
          <a:effectLst>
            <a:outerShdw sx="100000" sy="100000" kx="0" ky="0" algn="bl" rotWithShape="0" blurRad="101600" dist="38100" dir="2700000">
              <a:srgbClr val="000000">
                <a:alpha val="12000"/>
              </a:srgbClr>
            </a:outerShdw>
          </a:effectLst>
        </p:spPr>
      </p:sp>
      <p:sp>
        <p:nvSpPr>
          <p:cNvPr id="7" name="Text 5"/>
          <p:cNvSpPr/>
          <p:nvPr/>
        </p:nvSpPr>
        <p:spPr>
          <a:xfrm>
            <a:off x="640080" y="2176272"/>
            <a:ext cx="7863840" cy="545592"/>
          </a:xfrm>
          <a:prstGeom prst="rect">
            <a:avLst/>
          </a:prstGeom>
          <a:noFill/>
          <a:ln/>
        </p:spPr>
        <p:txBody>
          <a:bodyPr wrap="square" lIns="0" tIns="0" rIns="0" bIns="0" rtlCol="0" anchor="t"/>
          <a:lstStyle/>
          <a:p>
            <a:pPr indent="0" marL="0">
              <a:buNone/>
            </a:pPr>
            <a:r>
              <a:rPr lang="en-US" sz="1300" b="1" dirty="0">
                <a:solidFill>
                  <a:srgbClr val="8B6FC0"/>
                </a:solidFill>
                <a:latin typeface="Calibri" pitchFamily="34" charset="0"/>
                <a:ea typeface="Calibri" pitchFamily="34" charset="-122"/>
                <a:cs typeface="Calibri" pitchFamily="34" charset="-120"/>
              </a:rPr>
              <a:t>Today's craft move: </a:t>
            </a:r>
            <a:pPr indent="0" marL="0">
              <a:buNone/>
            </a:pPr>
            <a:r>
              <a:rPr lang="en-US" sz="1300" dirty="0">
                <a:solidFill>
                  <a:srgbClr val="1E293B"/>
                </a:solidFill>
                <a:latin typeface="Calibri" pitchFamily="34" charset="0"/>
                <a:ea typeface="Calibri" pitchFamily="34" charset="-122"/>
                <a:cs typeface="Calibri" pitchFamily="34" charset="-120"/>
              </a:rPr>
              <a:t>State a clear claim — one sentence that names a specific moment and argues why it was the bravest.</a:t>
            </a:r>
            <a:endParaRPr lang="en-US" sz="1300" dirty="0"/>
          </a:p>
        </p:txBody>
      </p:sp>
      <p:sp>
        <p:nvSpPr>
          <p:cNvPr id="8" name="Text 6"/>
          <p:cNvSpPr/>
          <p:nvPr/>
        </p:nvSpPr>
        <p:spPr>
          <a:xfrm>
            <a:off x="548640" y="2868168"/>
            <a:ext cx="8046720" cy="431292"/>
          </a:xfrm>
          <a:prstGeom prst="rect">
            <a:avLst/>
          </a:prstGeom>
          <a:noFill/>
          <a:ln/>
        </p:spPr>
        <p:txBody>
          <a:bodyPr wrap="square" lIns="0" tIns="0" rIns="0" bIns="0" rtlCol="0" anchor="ctr"/>
          <a:lstStyle/>
          <a:p>
            <a:pPr indent="0" marL="0">
              <a:buNone/>
            </a:pPr>
            <a:r>
              <a:rPr lang="en-US" sz="1150" i="1" dirty="0">
                <a:solidFill>
                  <a:srgbClr val="64748B"/>
                </a:solidFill>
                <a:latin typeface="Calibri" pitchFamily="34" charset="0"/>
                <a:ea typeface="Calibri" pitchFamily="34" charset="-122"/>
                <a:cs typeface="Calibri" pitchFamily="34" charset="-120"/>
              </a:rPr>
              <a:t>Level-Up (optional): ⭐ State your claim in one sentence  ⭐⭐ Name the specific moment  ⭐⭐⭐ Use the word "because"  ⭐⭐⭐⭐ Preview two reasons you will use to support your claim</a:t>
            </a:r>
            <a:endParaRPr lang="en-US" sz="1150" dirty="0"/>
          </a:p>
        </p:txBody>
      </p:sp>
      <p:sp>
        <p:nvSpPr>
          <p:cNvPr id="9" name="Text 7"/>
          <p:cNvSpPr/>
          <p:nvPr/>
        </p:nvSpPr>
        <p:spPr>
          <a:xfrm>
            <a:off x="548640" y="3372612"/>
            <a:ext cx="8046720" cy="1656588"/>
          </a:xfrm>
          <a:prstGeom prst="rect">
            <a:avLst/>
          </a:prstGeom>
          <a:noFill/>
          <a:ln/>
        </p:spPr>
        <p:txBody>
          <a:bodyPr wrap="square" lIns="0" tIns="0" rIns="0" bIns="0" rtlCol="0" anchor="ctr"/>
          <a:lstStyle/>
          <a:p>
            <a:pPr indent="0" marL="0">
              <a:buNone/>
            </a:pPr>
            <a:r>
              <a:rPr lang="en-US" sz="1100" i="1" dirty="0">
                <a:solidFill>
                  <a:srgbClr val="64748B"/>
                </a:solidFill>
                <a:latin typeface="Calibri" pitchFamily="34" charset="0"/>
                <a:ea typeface="Calibri" pitchFamily="34" charset="-122"/>
                <a:cs typeface="Calibri" pitchFamily="34" charset="-120"/>
              </a:rPr>
              <a:t>Keep writing the whole time. If you get stuck, reread the prompt or write "I am thinking..." until a new idea comes.</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8F8EF"/>
        </a:solidFill>
      </p:bgPr>
    </p:bg>
    <p:spTree>
      <p:nvGrpSpPr>
        <p:cNvPr id="1" name=""/>
        <p:cNvGrpSpPr/>
        <p:nvPr/>
      </p:nvGrpSpPr>
      <p:grpSpPr>
        <a:xfrm>
          <a:off x="0" y="0"/>
          <a:ext cx="0" cy="0"/>
          <a:chOff x="0" y="0"/>
          <a:chExt cx="0" cy="0"/>
        </a:xfrm>
      </p:grpSpPr>
      <p:sp>
        <p:nvSpPr>
          <p:cNvPr id="2" name="Text 0"/>
          <p:cNvSpPr/>
          <p:nvPr/>
        </p:nvSpPr>
        <p:spPr>
          <a:xfrm>
            <a:off x="914400" y="640080"/>
            <a:ext cx="7315200" cy="594360"/>
          </a:xfrm>
          <a:prstGeom prst="rect">
            <a:avLst/>
          </a:prstGeom>
          <a:noFill/>
          <a:ln/>
        </p:spPr>
        <p:txBody>
          <a:bodyPr wrap="square" lIns="0" tIns="0" rIns="0" bIns="0" rtlCol="0" anchor="ctr"/>
          <a:lstStyle/>
          <a:p>
            <a:pPr algn="ctr" indent="0" marL="0">
              <a:buNone/>
            </a:pPr>
            <a:r>
              <a:rPr lang="en-US" sz="3200" b="1" dirty="0">
                <a:solidFill>
                  <a:srgbClr val="0E1C42"/>
                </a:solidFill>
                <a:latin typeface="Calibri" pitchFamily="34" charset="0"/>
                <a:ea typeface="Calibri" pitchFamily="34" charset="-122"/>
                <a:cs typeface="Calibri" pitchFamily="34" charset="-120"/>
              </a:rPr>
              <a:t>Revise</a:t>
            </a:r>
            <a:endParaRPr lang="en-US" sz="3200" dirty="0"/>
          </a:p>
        </p:txBody>
      </p:sp>
      <p:sp>
        <p:nvSpPr>
          <p:cNvPr id="3" name="Text 1"/>
          <p:cNvSpPr/>
          <p:nvPr/>
        </p:nvSpPr>
        <p:spPr>
          <a:xfrm>
            <a:off x="914400" y="1234440"/>
            <a:ext cx="7315200" cy="411480"/>
          </a:xfrm>
          <a:prstGeom prst="rect">
            <a:avLst/>
          </a:prstGeom>
          <a:noFill/>
          <a:ln/>
        </p:spPr>
        <p:txBody>
          <a:bodyPr wrap="square" lIns="0" tIns="0" rIns="0" bIns="0" rtlCol="0" anchor="ctr"/>
          <a:lstStyle/>
          <a:p>
            <a:pPr algn="ctr" indent="0" marL="0">
              <a:buNone/>
            </a:pPr>
            <a:r>
              <a:rPr lang="en-US" sz="1500" dirty="0">
                <a:solidFill>
                  <a:srgbClr val="34B76F"/>
                </a:solidFill>
                <a:latin typeface="Calibri" pitchFamily="34" charset="0"/>
                <a:ea typeface="Calibri" pitchFamily="34" charset="-122"/>
                <a:cs typeface="Calibri" pitchFamily="34" charset="-120"/>
              </a:rPr>
              <a:t>2 minutes - improve ONE specific thing</a:t>
            </a:r>
            <a:endParaRPr lang="en-US" sz="1500" dirty="0"/>
          </a:p>
        </p:txBody>
      </p:sp>
      <p:sp>
        <p:nvSpPr>
          <p:cNvPr id="4" name="Shape 2"/>
          <p:cNvSpPr/>
          <p:nvPr/>
        </p:nvSpPr>
        <p:spPr>
          <a:xfrm>
            <a:off x="1097280" y="1828800"/>
            <a:ext cx="6949440" cy="777240"/>
          </a:xfrm>
          <a:prstGeom prst="roundRect">
            <a:avLst>
              <a:gd name="adj" fmla="val 11765"/>
            </a:avLst>
          </a:prstGeom>
          <a:solidFill>
            <a:srgbClr val="FFFFFF"/>
          </a:solidFill>
          <a:ln w="19050">
            <a:solidFill>
              <a:srgbClr val="34B76F"/>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1280160" y="1901952"/>
            <a:ext cx="6583680" cy="640080"/>
          </a:xfrm>
          <a:prstGeom prst="rect">
            <a:avLst/>
          </a:prstGeom>
          <a:noFill/>
          <a:ln/>
        </p:spPr>
        <p:txBody>
          <a:bodyPr wrap="square" lIns="0" tIns="0" rIns="0" bIns="0" rtlCol="0" anchor="ctr"/>
          <a:lstStyle/>
          <a:p>
            <a:pPr indent="0" marL="0">
              <a:buNone/>
            </a:pPr>
            <a:r>
              <a:rPr lang="en-US" sz="1400" b="1" dirty="0">
                <a:solidFill>
                  <a:srgbClr val="34B76F"/>
                </a:solidFill>
                <a:latin typeface="Calibri" pitchFamily="34" charset="0"/>
                <a:ea typeface="Calibri" pitchFamily="34" charset="-122"/>
                <a:cs typeface="Calibri" pitchFamily="34" charset="-120"/>
              </a:rPr>
              <a:t>Today's revision task: </a:t>
            </a:r>
            <a:pPr indent="0" marL="0">
              <a:buNone/>
            </a:pPr>
            <a:r>
              <a:rPr lang="en-US" sz="1400" dirty="0">
                <a:solidFill>
                  <a:srgbClr val="1E293B"/>
                </a:solidFill>
                <a:latin typeface="Calibri" pitchFamily="34" charset="0"/>
                <a:ea typeface="Calibri" pitchFamily="34" charset="-122"/>
                <a:cs typeface="Calibri" pitchFamily="34" charset="-120"/>
              </a:rPr>
              <a:t>Read your claim sentence aloud. Does it name ONE specific moment, not the whole book in general?</a:t>
            </a:r>
            <a:endParaRPr lang="en-US" sz="1400" dirty="0"/>
          </a:p>
        </p:txBody>
      </p:sp>
      <p:sp>
        <p:nvSpPr>
          <p:cNvPr id="6" name="Shape 4"/>
          <p:cNvSpPr/>
          <p:nvPr/>
        </p:nvSpPr>
        <p:spPr>
          <a:xfrm>
            <a:off x="1097280" y="2788920"/>
            <a:ext cx="6949440" cy="1554480"/>
          </a:xfrm>
          <a:prstGeom prst="roundRect">
            <a:avLst>
              <a:gd name="adj" fmla="val 5882"/>
            </a:avLst>
          </a:prstGeom>
          <a:solidFill>
            <a:srgbClr val="FFFFFF"/>
          </a:solidFill>
          <a:ln/>
          <a:effectLst>
            <a:outerShdw sx="100000" sy="100000" kx="0" ky="0" algn="bl" rotWithShape="0" blurRad="101600" dist="38100" dir="2700000">
              <a:srgbClr val="000000">
                <a:alpha val="12000"/>
              </a:srgbClr>
            </a:outerShdw>
          </a:effectLst>
        </p:spPr>
      </p:sp>
      <p:sp>
        <p:nvSpPr>
          <p:cNvPr id="7" name="Text 5"/>
          <p:cNvSpPr/>
          <p:nvPr/>
        </p:nvSpPr>
        <p:spPr>
          <a:xfrm>
            <a:off x="1280160" y="2880360"/>
            <a:ext cx="6583680" cy="1463040"/>
          </a:xfrm>
          <a:prstGeom prst="rect">
            <a:avLst/>
          </a:prstGeom>
          <a:noFill/>
          <a:ln/>
        </p:spPr>
        <p:txBody>
          <a:bodyPr wrap="square" lIns="0" tIns="0" rIns="0" bIns="0" rtlCol="0" anchor="t"/>
          <a:lstStyle/>
          <a:p>
            <a:pPr indent="0" marL="0">
              <a:spcAft>
                <a:spcPts val="200"/>
              </a:spcAft>
              <a:buNone/>
            </a:pPr>
            <a:r>
              <a:rPr lang="en-US" sz="1250" b="1" dirty="0">
                <a:solidFill>
                  <a:srgbClr val="0E1C42"/>
                </a:solidFill>
                <a:latin typeface="Calibri" pitchFamily="34" charset="0"/>
                <a:ea typeface="Calibri" pitchFamily="34" charset="-122"/>
                <a:cs typeface="Calibri" pitchFamily="34" charset="-120"/>
              </a:rPr>
              <a:t>Remember - revision is about ideas, not spelling:
</a:t>
            </a:r>
            <a:pPr indent="0" marL="0">
              <a:spcAft>
                <a:spcPts val="200"/>
              </a:spcAft>
              <a:buNone/>
            </a:pPr>
            <a:r>
              <a:rPr lang="en-US" sz="1200" dirty="0">
                <a:solidFill>
                  <a:srgbClr val="1E293B"/>
                </a:solidFill>
                <a:latin typeface="Calibri" pitchFamily="34" charset="0"/>
                <a:ea typeface="Calibri" pitchFamily="34" charset="-122"/>
                <a:cs typeface="Calibri" pitchFamily="34" charset="-120"/>
              </a:rPr>
              <a:t>- Circle your strongest sentence
</a:t>
            </a:r>
            <a:pPr indent="0" marL="0">
              <a:spcAft>
                <a:spcPts val="200"/>
              </a:spcAft>
              <a:buNone/>
            </a:pPr>
            <a:r>
              <a:rPr lang="en-US" sz="1200" dirty="0">
                <a:solidFill>
                  <a:srgbClr val="1E293B"/>
                </a:solidFill>
                <a:latin typeface="Calibri" pitchFamily="34" charset="0"/>
                <a:ea typeface="Calibri" pitchFamily="34" charset="-122"/>
                <a:cs typeface="Calibri" pitchFamily="34" charset="-120"/>
              </a:rPr>
              <a:t>- Replace one weak verb with a precise one
</a:t>
            </a:r>
            <a:pPr indent="0" marL="0">
              <a:spcAft>
                <a:spcPts val="200"/>
              </a:spcAft>
              <a:buNone/>
            </a:pPr>
            <a:r>
              <a:rPr lang="en-US" sz="1200" dirty="0">
                <a:solidFill>
                  <a:srgbClr val="1E293B"/>
                </a:solidFill>
                <a:latin typeface="Calibri" pitchFamily="34" charset="0"/>
                <a:ea typeface="Calibri" pitchFamily="34" charset="-122"/>
                <a:cs typeface="Calibri" pitchFamily="34" charset="-120"/>
              </a:rPr>
              <a:t>- Add one detail, or cut one you do not need
</a:t>
            </a:r>
            <a:pPr indent="0" marL="0">
              <a:spcAft>
                <a:spcPts val="200"/>
              </a:spcAft>
              <a:buNone/>
            </a:pPr>
            <a:r>
              <a:rPr lang="en-US" sz="1200" dirty="0">
                <a:solidFill>
                  <a:srgbClr val="1E293B"/>
                </a:solidFill>
                <a:latin typeface="Calibri" pitchFamily="34" charset="0"/>
                <a:ea typeface="Calibri" pitchFamily="34" charset="-122"/>
                <a:cs typeface="Calibri" pitchFamily="34" charset="-120"/>
              </a:rPr>
              <a:t>- Improve your opening line</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914400" y="731520"/>
            <a:ext cx="7315200" cy="594360"/>
          </a:xfrm>
          <a:prstGeom prst="rect">
            <a:avLst/>
          </a:prstGeom>
          <a:noFill/>
          <a:ln/>
        </p:spPr>
        <p:txBody>
          <a:bodyPr wrap="square" lIns="0" tIns="0" rIns="0" bIns="0" rtlCol="0" anchor="ctr"/>
          <a:lstStyle/>
          <a:p>
            <a:pPr algn="ctr" indent="0" marL="0">
              <a:buNone/>
            </a:pPr>
            <a:r>
              <a:rPr lang="en-US" sz="3200" b="1" dirty="0">
                <a:solidFill>
                  <a:srgbClr val="0E1C42"/>
                </a:solidFill>
                <a:latin typeface="Calibri" pitchFamily="34" charset="0"/>
                <a:ea typeface="Calibri" pitchFamily="34" charset="-122"/>
                <a:cs typeface="Calibri" pitchFamily="34" charset="-120"/>
              </a:rPr>
              <a:t>Share</a:t>
            </a:r>
            <a:endParaRPr lang="en-US" sz="3200" dirty="0"/>
          </a:p>
        </p:txBody>
      </p:sp>
      <p:sp>
        <p:nvSpPr>
          <p:cNvPr id="3" name="Text 1"/>
          <p:cNvSpPr/>
          <p:nvPr/>
        </p:nvSpPr>
        <p:spPr>
          <a:xfrm>
            <a:off x="914400" y="1325880"/>
            <a:ext cx="7315200" cy="411480"/>
          </a:xfrm>
          <a:prstGeom prst="rect">
            <a:avLst/>
          </a:prstGeom>
          <a:noFill/>
          <a:ln/>
        </p:spPr>
        <p:txBody>
          <a:bodyPr wrap="square" lIns="0" tIns="0" rIns="0" bIns="0" rtlCol="0" anchor="ctr"/>
          <a:lstStyle/>
          <a:p>
            <a:pPr algn="ctr" indent="0" marL="0">
              <a:buNone/>
            </a:pPr>
            <a:r>
              <a:rPr lang="en-US" sz="1500" dirty="0">
                <a:solidFill>
                  <a:srgbClr val="55C8E8"/>
                </a:solidFill>
                <a:latin typeface="Calibri" pitchFamily="34" charset="0"/>
                <a:ea typeface="Calibri" pitchFamily="34" charset="-122"/>
                <a:cs typeface="Calibri" pitchFamily="34" charset="-120"/>
              </a:rPr>
              <a:t>2-3 minutes - celebrate a craft move</a:t>
            </a:r>
            <a:endParaRPr lang="en-US" sz="1500" dirty="0"/>
          </a:p>
        </p:txBody>
      </p:sp>
      <p:sp>
        <p:nvSpPr>
          <p:cNvPr id="4" name="Shape 2"/>
          <p:cNvSpPr/>
          <p:nvPr/>
        </p:nvSpPr>
        <p:spPr>
          <a:xfrm>
            <a:off x="1371600" y="1965960"/>
            <a:ext cx="6400800" cy="914400"/>
          </a:xfrm>
          <a:prstGeom prst="roundRect">
            <a:avLst>
              <a:gd name="adj" fmla="val 12000"/>
            </a:avLst>
          </a:prstGeom>
          <a:solidFill>
            <a:srgbClr val="FFFFFF"/>
          </a:solidFill>
          <a:ln w="15875">
            <a:solidFill>
              <a:srgbClr val="55C8E8"/>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1554480" y="2029968"/>
            <a:ext cx="6035040" cy="786384"/>
          </a:xfrm>
          <a:prstGeom prst="rect">
            <a:avLst/>
          </a:prstGeom>
          <a:noFill/>
          <a:ln/>
        </p:spPr>
        <p:txBody>
          <a:bodyPr wrap="square" lIns="0" tIns="0" rIns="0" bIns="0" rtlCol="0" anchor="ctr"/>
          <a:lstStyle/>
          <a:p>
            <a:pPr indent="0" marL="0">
              <a:buNone/>
            </a:pPr>
            <a:r>
              <a:rPr lang="en-US" sz="1400" b="1" dirty="0">
                <a:solidFill>
                  <a:srgbClr val="0E1C42"/>
                </a:solidFill>
                <a:latin typeface="Calibri" pitchFamily="34" charset="0"/>
                <a:ea typeface="Calibri" pitchFamily="34" charset="-122"/>
                <a:cs typeface="Calibri" pitchFamily="34" charset="-120"/>
              </a:rPr>
              <a:t>Read your claim sentence about Annemarie's bravest moment.</a:t>
            </a:r>
            <a:endParaRPr lang="en-US" sz="1400" dirty="0"/>
          </a:p>
        </p:txBody>
      </p:sp>
      <p:sp>
        <p:nvSpPr>
          <p:cNvPr id="6" name="Shape 4"/>
          <p:cNvSpPr/>
          <p:nvPr/>
        </p:nvSpPr>
        <p:spPr>
          <a:xfrm>
            <a:off x="1371600" y="3017520"/>
            <a:ext cx="6400800" cy="914400"/>
          </a:xfrm>
          <a:prstGeom prst="roundRect">
            <a:avLst>
              <a:gd name="adj" fmla="val 12000"/>
            </a:avLst>
          </a:prstGeom>
          <a:solidFill>
            <a:srgbClr val="FFFFFF"/>
          </a:solidFill>
          <a:ln/>
          <a:effectLst>
            <a:outerShdw sx="100000" sy="100000" kx="0" ky="0" algn="bl" rotWithShape="0" blurRad="101600" dist="38100" dir="2700000">
              <a:srgbClr val="000000">
                <a:alpha val="12000"/>
              </a:srgbClr>
            </a:outerShdw>
          </a:effectLst>
        </p:spPr>
      </p:sp>
      <p:sp>
        <p:nvSpPr>
          <p:cNvPr id="7" name="Text 5"/>
          <p:cNvSpPr/>
          <p:nvPr/>
        </p:nvSpPr>
        <p:spPr>
          <a:xfrm>
            <a:off x="1554480" y="3090672"/>
            <a:ext cx="6035040" cy="777240"/>
          </a:xfrm>
          <a:prstGeom prst="rect">
            <a:avLst/>
          </a:prstGeom>
          <a:noFill/>
          <a:ln/>
        </p:spPr>
        <p:txBody>
          <a:bodyPr wrap="square" lIns="0" tIns="0" rIns="0" bIns="0" rtlCol="0" anchor="t"/>
          <a:lstStyle/>
          <a:p>
            <a:pPr indent="0" marL="0">
              <a:spcAft>
                <a:spcPts val="200"/>
              </a:spcAft>
              <a:buNone/>
            </a:pPr>
            <a:r>
              <a:rPr lang="en-US" sz="1250" dirty="0">
                <a:solidFill>
                  <a:srgbClr val="1E293B"/>
                </a:solidFill>
                <a:latin typeface="Calibri" pitchFamily="34" charset="0"/>
                <a:ea typeface="Calibri" pitchFamily="34" charset="-122"/>
                <a:cs typeface="Calibri" pitchFamily="34" charset="-120"/>
              </a:rPr>
              <a:t>Raise your hand, or paste it in the chat.
</a:t>
            </a:r>
            <a:pPr indent="0" marL="0">
              <a:spcAft>
                <a:spcPts val="200"/>
              </a:spcAft>
              <a:buNone/>
            </a:pPr>
            <a:r>
              <a:rPr lang="en-US" sz="1150" i="1" dirty="0">
                <a:solidFill>
                  <a:srgbClr val="64748B"/>
                </a:solidFill>
                <a:latin typeface="Calibri" pitchFamily="34" charset="0"/>
                <a:ea typeface="Calibri" pitchFamily="34" charset="-122"/>
                <a:cs typeface="Calibri" pitchFamily="34" charset="-120"/>
              </a:rPr>
              <a:t>Every writer's craft move counts - there are no wrong answers.</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Reflect</a:t>
            </a:r>
            <a:endParaRPr lang="en-US" sz="2800" dirty="0"/>
          </a:p>
        </p:txBody>
      </p:sp>
      <p:sp>
        <p:nvSpPr>
          <p:cNvPr id="3" name="Shape 1"/>
          <p:cNvSpPr/>
          <p:nvPr/>
        </p:nvSpPr>
        <p:spPr>
          <a:xfrm>
            <a:off x="365760" y="749808"/>
            <a:ext cx="8412480" cy="0"/>
          </a:xfrm>
          <a:prstGeom prst="line">
            <a:avLst/>
          </a:prstGeom>
          <a:noFill/>
          <a:ln w="19050">
            <a:solidFill>
              <a:srgbClr val="34B76F"/>
            </a:solidFill>
            <a:prstDash val="solid"/>
          </a:ln>
        </p:spPr>
      </p:sp>
      <p:sp>
        <p:nvSpPr>
          <p:cNvPr id="4" name="Shape 2"/>
          <p:cNvSpPr/>
          <p:nvPr/>
        </p:nvSpPr>
        <p:spPr>
          <a:xfrm>
            <a:off x="457200" y="1005840"/>
            <a:ext cx="8229600" cy="1280160"/>
          </a:xfrm>
          <a:prstGeom prst="roundRect">
            <a:avLst>
              <a:gd name="adj" fmla="val 7143"/>
            </a:avLst>
          </a:prstGeom>
          <a:solidFill>
            <a:srgbClr val="E8F8EF"/>
          </a:solidFill>
          <a:ln/>
          <a:effectLst>
            <a:outerShdw sx="100000" sy="100000" kx="0" ky="0" algn="bl" rotWithShape="0" blurRad="101600" dist="38100" dir="2700000">
              <a:srgbClr val="000000">
                <a:alpha val="12000"/>
              </a:srgbClr>
            </a:outerShdw>
          </a:effectLst>
        </p:spPr>
      </p:sp>
      <p:sp>
        <p:nvSpPr>
          <p:cNvPr id="5" name="Text 3"/>
          <p:cNvSpPr/>
          <p:nvPr/>
        </p:nvSpPr>
        <p:spPr>
          <a:xfrm>
            <a:off x="685800" y="1143000"/>
            <a:ext cx="7772400" cy="1005840"/>
          </a:xfrm>
          <a:prstGeom prst="rect">
            <a:avLst/>
          </a:prstGeom>
          <a:noFill/>
          <a:ln/>
        </p:spPr>
        <p:txBody>
          <a:bodyPr wrap="square" lIns="0" tIns="0" rIns="0" bIns="0" rtlCol="0" anchor="ctr"/>
          <a:lstStyle/>
          <a:p>
            <a:pPr indent="0" marL="0">
              <a:buNone/>
            </a:pPr>
            <a:r>
              <a:rPr lang="en-US" sz="1900" b="1" dirty="0">
                <a:solidFill>
                  <a:srgbClr val="0E1C42"/>
                </a:solidFill>
                <a:latin typeface="Calibri" pitchFamily="34" charset="0"/>
                <a:ea typeface="Calibri" pitchFamily="34" charset="-122"/>
                <a:cs typeface="Calibri" pitchFamily="34" charset="-120"/>
              </a:rPr>
              <a:t>What did you do today that made your writing stronger?</a:t>
            </a:r>
            <a:endParaRPr lang="en-US" sz="1900" dirty="0"/>
          </a:p>
        </p:txBody>
      </p:sp>
      <p:sp>
        <p:nvSpPr>
          <p:cNvPr id="6" name="Text 4"/>
          <p:cNvSpPr/>
          <p:nvPr/>
        </p:nvSpPr>
        <p:spPr>
          <a:xfrm>
            <a:off x="548640" y="2468880"/>
            <a:ext cx="8046720" cy="457200"/>
          </a:xfrm>
          <a:prstGeom prst="rect">
            <a:avLst/>
          </a:prstGeom>
          <a:noFill/>
          <a:ln/>
        </p:spPr>
        <p:txBody>
          <a:bodyPr wrap="square" lIns="0" tIns="0" rIns="0" bIns="0" rtlCol="0" anchor="ctr"/>
          <a:lstStyle/>
          <a:p>
            <a:pPr indent="0" marL="0">
              <a:buNone/>
            </a:pPr>
            <a:r>
              <a:rPr lang="en-US" sz="1300" i="1" dirty="0">
                <a:solidFill>
                  <a:srgbClr val="64748B"/>
                </a:solidFill>
                <a:latin typeface="Calibri" pitchFamily="34" charset="0"/>
                <a:ea typeface="Calibri" pitchFamily="34" charset="-122"/>
                <a:cs typeface="Calibri" pitchFamily="34" charset="-120"/>
              </a:rPr>
              <a:t>Turn and tell a partner, or jot one sentence in your writing notebook.</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Recap + Today's Focus</a:t>
            </a:r>
            <a:endParaRPr lang="en-US" sz="2800" dirty="0"/>
          </a:p>
        </p:txBody>
      </p:sp>
      <p:sp>
        <p:nvSpPr>
          <p:cNvPr id="3" name="Shape 1"/>
          <p:cNvSpPr/>
          <p:nvPr/>
        </p:nvSpPr>
        <p:spPr>
          <a:xfrm>
            <a:off x="365760" y="749808"/>
            <a:ext cx="8412480" cy="0"/>
          </a:xfrm>
          <a:prstGeom prst="line">
            <a:avLst/>
          </a:prstGeom>
          <a:noFill/>
          <a:ln w="19050">
            <a:solidFill>
              <a:srgbClr val="6E9BD9"/>
            </a:solidFill>
            <a:prstDash val="solid"/>
          </a:ln>
        </p:spPr>
      </p:sp>
      <p:sp>
        <p:nvSpPr>
          <p:cNvPr id="4" name="Shape 2"/>
          <p:cNvSpPr/>
          <p:nvPr/>
        </p:nvSpPr>
        <p:spPr>
          <a:xfrm>
            <a:off x="6492240" y="173736"/>
            <a:ext cx="2286000" cy="502920"/>
          </a:xfrm>
          <a:prstGeom prst="roundRect">
            <a:avLst>
              <a:gd name="adj" fmla="val 21818"/>
            </a:avLst>
          </a:prstGeom>
          <a:solidFill>
            <a:srgbClr val="6E9BD9"/>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YESTERDAY</a:t>
            </a:r>
            <a:endParaRPr lang="en-US" sz="1100" dirty="0"/>
          </a:p>
        </p:txBody>
      </p:sp>
      <p:sp>
        <p:nvSpPr>
          <p:cNvPr id="7" name="Shape 5"/>
          <p:cNvSpPr/>
          <p:nvPr/>
        </p:nvSpPr>
        <p:spPr>
          <a:xfrm>
            <a:off x="365760" y="1078992"/>
            <a:ext cx="8412480" cy="749808"/>
          </a:xfrm>
          <a:prstGeom prst="roundRect">
            <a:avLst>
              <a:gd name="adj" fmla="val 12195"/>
            </a:avLst>
          </a:prstGeom>
          <a:solidFill>
            <a:srgbClr val="F8FAFC"/>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170432"/>
            <a:ext cx="7863840" cy="566928"/>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Last week, we learned that someone in the story had died.</a:t>
            </a:r>
            <a:endParaRPr lang="en-US" sz="1400" dirty="0"/>
          </a:p>
        </p:txBody>
      </p:sp>
      <p:sp>
        <p:nvSpPr>
          <p:cNvPr id="9" name="Text 7"/>
          <p:cNvSpPr/>
          <p:nvPr/>
        </p:nvSpPr>
        <p:spPr>
          <a:xfrm>
            <a:off x="365760" y="1938528"/>
            <a:ext cx="8046720" cy="292608"/>
          </a:xfrm>
          <a:prstGeom prst="rect">
            <a:avLst/>
          </a:prstGeom>
          <a:noFill/>
          <a:ln/>
        </p:spPr>
        <p:txBody>
          <a:bodyPr wrap="square" lIns="0" tIns="0" rIns="0" bIns="0" rtlCol="0" anchor="ctr"/>
          <a:lstStyle/>
          <a:p>
            <a:pPr indent="0" marL="0">
              <a:buNone/>
            </a:pPr>
            <a:r>
              <a:rPr lang="en-US" sz="1100" b="1" spc="200" kern="0" dirty="0">
                <a:solidFill>
                  <a:srgbClr val="6E9BD9"/>
                </a:solidFill>
                <a:latin typeface="Calibri" pitchFamily="34" charset="0"/>
                <a:ea typeface="Calibri" pitchFamily="34" charset="-122"/>
                <a:cs typeface="Calibri" pitchFamily="34" charset="-120"/>
              </a:rPr>
              <a:t>TODAY</a:t>
            </a:r>
            <a:endParaRPr lang="en-US" sz="1100" dirty="0"/>
          </a:p>
        </p:txBody>
      </p:sp>
      <p:sp>
        <p:nvSpPr>
          <p:cNvPr id="10" name="Shape 8"/>
          <p:cNvSpPr/>
          <p:nvPr/>
        </p:nvSpPr>
        <p:spPr>
          <a:xfrm>
            <a:off x="365760" y="2194560"/>
            <a:ext cx="8412480" cy="713232"/>
          </a:xfrm>
          <a:prstGeom prst="roundRect">
            <a:avLst>
              <a:gd name="adj" fmla="val 12821"/>
            </a:avLst>
          </a:prstGeom>
          <a:solidFill>
            <a:srgbClr val="FEF6E8"/>
          </a:solidFill>
          <a:ln/>
          <a:effectLst>
            <a:outerShdw sx="100000" sy="100000" kx="0" ky="0" algn="bl" rotWithShape="0" blurRad="101600" dist="38100" dir="2700000">
              <a:srgbClr val="000000">
                <a:alpha val="12000"/>
              </a:srgbClr>
            </a:outerShdw>
          </a:effectLst>
        </p:spPr>
      </p:sp>
      <p:sp>
        <p:nvSpPr>
          <p:cNvPr id="11" name="Text 9"/>
          <p:cNvSpPr/>
          <p:nvPr/>
        </p:nvSpPr>
        <p:spPr>
          <a:xfrm>
            <a:off x="594360" y="2286000"/>
            <a:ext cx="7863840" cy="530352"/>
          </a:xfrm>
          <a:prstGeom prst="rect">
            <a:avLst/>
          </a:prstGeom>
          <a:noFill/>
          <a:ln/>
        </p:spPr>
        <p:txBody>
          <a:bodyPr wrap="square" lIns="0" tIns="0" rIns="0" bIns="0" rtlCol="0" anchor="ctr"/>
          <a:lstStyle/>
          <a:p>
            <a:pPr indent="0" marL="0">
              <a:buNone/>
            </a:pPr>
            <a:r>
              <a:rPr lang="en-US" sz="1400" b="1" dirty="0">
                <a:solidFill>
                  <a:srgbClr val="1E293B"/>
                </a:solidFill>
                <a:latin typeface="Calibri" pitchFamily="34" charset="0"/>
                <a:ea typeface="Calibri" pitchFamily="34" charset="-122"/>
                <a:cs typeface="Calibri" pitchFamily="34" charset="-120"/>
              </a:rPr>
              <a:t>See how Henrik handles the truth with Annemarie this time.</a:t>
            </a:r>
            <a:endParaRPr lang="en-US" sz="1400" dirty="0"/>
          </a:p>
        </p:txBody>
      </p:sp>
      <p:sp>
        <p:nvSpPr>
          <p:cNvPr id="12" name="Text 10"/>
          <p:cNvSpPr/>
          <p:nvPr/>
        </p:nvSpPr>
        <p:spPr>
          <a:xfrm>
            <a:off x="365760" y="3035808"/>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BIG QUESTION</a:t>
            </a:r>
            <a:endParaRPr lang="en-US" sz="1100" dirty="0"/>
          </a:p>
        </p:txBody>
      </p:sp>
      <p:sp>
        <p:nvSpPr>
          <p:cNvPr id="13" name="Shape 11"/>
          <p:cNvSpPr/>
          <p:nvPr/>
        </p:nvSpPr>
        <p:spPr>
          <a:xfrm>
            <a:off x="365760" y="3291840"/>
            <a:ext cx="8412480" cy="749808"/>
          </a:xfrm>
          <a:prstGeom prst="roundRect">
            <a:avLst>
              <a:gd name="adj" fmla="val 12195"/>
            </a:avLst>
          </a:prstGeom>
          <a:solidFill>
            <a:srgbClr val="F0E8FF"/>
          </a:solidFill>
          <a:ln/>
          <a:effectLst>
            <a:outerShdw sx="100000" sy="100000" kx="0" ky="0" algn="bl" rotWithShape="0" blurRad="101600" dist="38100" dir="2700000">
              <a:srgbClr val="000000">
                <a:alpha val="12000"/>
              </a:srgbClr>
            </a:outerShdw>
          </a:effectLst>
        </p:spPr>
      </p:sp>
      <p:sp>
        <p:nvSpPr>
          <p:cNvPr id="14" name="Text 12"/>
          <p:cNvSpPr/>
          <p:nvPr/>
        </p:nvSpPr>
        <p:spPr>
          <a:xfrm>
            <a:off x="594360" y="3383280"/>
            <a:ext cx="7863840" cy="566928"/>
          </a:xfrm>
          <a:prstGeom prst="rect">
            <a:avLst/>
          </a:prstGeom>
          <a:noFill/>
          <a:ln/>
        </p:spPr>
        <p:txBody>
          <a:bodyPr wrap="square" lIns="0" tIns="0" rIns="0" bIns="0" rtlCol="0" anchor="ctr"/>
          <a:lstStyle/>
          <a:p>
            <a:pPr indent="0" marL="0">
              <a:buNone/>
            </a:pPr>
            <a:r>
              <a:rPr lang="en-US" sz="1300" i="1" dirty="0">
                <a:solidFill>
                  <a:srgbClr val="1E293B"/>
                </a:solidFill>
                <a:latin typeface="Calibri" pitchFamily="34" charset="0"/>
                <a:ea typeface="Calibri" pitchFamily="34" charset="-122"/>
                <a:cs typeface="Calibri" pitchFamily="34" charset="-120"/>
              </a:rPr>
              <a:t>As you read today, watch for the setting, the characters, and the moment of danger. What is Copenhagen like in 1943? Who is Annemarie? What small thing happens that tells you life is not normal?</a:t>
            </a:r>
            <a:endParaRPr lang="en-US" sz="1300" dirty="0"/>
          </a:p>
        </p:txBody>
      </p:sp>
      <p:sp>
        <p:nvSpPr>
          <p:cNvPr id="15" name="Text 13"/>
          <p:cNvSpPr/>
          <p:nvPr/>
        </p:nvSpPr>
        <p:spPr>
          <a:xfrm>
            <a:off x="365760" y="4169664"/>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READING LENS</a:t>
            </a:r>
            <a:endParaRPr lang="en-US" sz="1100" dirty="0"/>
          </a:p>
        </p:txBody>
      </p:sp>
      <p:sp>
        <p:nvSpPr>
          <p:cNvPr id="16" name="Text 14"/>
          <p:cNvSpPr/>
          <p:nvPr/>
        </p:nvSpPr>
        <p:spPr>
          <a:xfrm>
            <a:off x="457200" y="4407408"/>
            <a:ext cx="8229600" cy="457200"/>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Good readers slow down at the start of a book. The first chapters tell you who the characters are, where they live, and what trouble is about to begin.</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Daily Oral Language - Study What's Right</a:t>
            </a:r>
            <a:endParaRPr lang="en-US" sz="2800" dirty="0"/>
          </a:p>
        </p:txBody>
      </p:sp>
      <p:sp>
        <p:nvSpPr>
          <p:cNvPr id="3" name="Shape 1"/>
          <p:cNvSpPr/>
          <p:nvPr/>
        </p:nvSpPr>
        <p:spPr>
          <a:xfrm>
            <a:off x="365760" y="749808"/>
            <a:ext cx="8412480" cy="0"/>
          </a:xfrm>
          <a:prstGeom prst="line">
            <a:avLst/>
          </a:prstGeom>
          <a:noFill/>
          <a:ln w="19050">
            <a:solidFill>
              <a:srgbClr val="6E9BD9"/>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CORRECT MODEL - FROM THE TEXT</a:t>
            </a:r>
            <a:endParaRPr lang="en-US" sz="1100" dirty="0"/>
          </a:p>
        </p:txBody>
      </p:sp>
      <p:sp>
        <p:nvSpPr>
          <p:cNvPr id="5" name="Shape 3"/>
          <p:cNvSpPr/>
          <p:nvPr/>
        </p:nvSpPr>
        <p:spPr>
          <a:xfrm>
            <a:off x="365760" y="1078992"/>
            <a:ext cx="8412480" cy="777240"/>
          </a:xfrm>
          <a:prstGeom prst="roundRect">
            <a:avLst>
              <a:gd name="adj" fmla="val 11765"/>
            </a:avLst>
          </a:prstGeom>
          <a:solidFill>
            <a:srgbClr val="E8F8EF"/>
          </a:solidFill>
          <a:ln w="12700">
            <a:solidFill>
              <a:srgbClr val="34B76F"/>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548640" y="1188720"/>
            <a:ext cx="8046720" cy="54864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Henrik did not lie to Annemarie again.</a:t>
            </a:r>
            <a:endParaRPr lang="en-US" sz="1600" dirty="0"/>
          </a:p>
        </p:txBody>
      </p:sp>
      <p:sp>
        <p:nvSpPr>
          <p:cNvPr id="7" name="Text 5"/>
          <p:cNvSpPr/>
          <p:nvPr/>
        </p:nvSpPr>
        <p:spPr>
          <a:xfrm>
            <a:off x="457200" y="2002536"/>
            <a:ext cx="8229600" cy="384048"/>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Circle: capitals, quotation marks, punctuation, proper nouns</a:t>
            </a:r>
            <a:endParaRPr lang="en-US" sz="1400" dirty="0"/>
          </a:p>
        </p:txBody>
      </p:sp>
      <p:sp>
        <p:nvSpPr>
          <p:cNvPr id="8" name="Text 6"/>
          <p:cNvSpPr/>
          <p:nvPr/>
        </p:nvSpPr>
        <p:spPr>
          <a:xfrm>
            <a:off x="457200" y="2459736"/>
            <a:ext cx="8229600" cy="384048"/>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Copy this sentence in your journal. Circle one thing you notice.</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Daily Oral Language - Fix It</a:t>
            </a:r>
            <a:endParaRPr lang="en-US" sz="2800" dirty="0"/>
          </a:p>
        </p:txBody>
      </p:sp>
      <p:sp>
        <p:nvSpPr>
          <p:cNvPr id="3" name="Shape 1"/>
          <p:cNvSpPr/>
          <p:nvPr/>
        </p:nvSpPr>
        <p:spPr>
          <a:xfrm>
            <a:off x="365760" y="749808"/>
            <a:ext cx="8412480" cy="0"/>
          </a:xfrm>
          <a:prstGeom prst="line">
            <a:avLst/>
          </a:prstGeom>
          <a:noFill/>
          <a:ln w="19050">
            <a:solidFill>
              <a:srgbClr val="6E9BD9"/>
            </a:solidFill>
            <a:prstDash val="solid"/>
          </a:ln>
        </p:spPr>
      </p:sp>
      <p:sp>
        <p:nvSpPr>
          <p:cNvPr id="4" name="Shape 2"/>
          <p:cNvSpPr/>
          <p:nvPr/>
        </p:nvSpPr>
        <p:spPr>
          <a:xfrm>
            <a:off x="6492240" y="173736"/>
            <a:ext cx="2286000" cy="502920"/>
          </a:xfrm>
          <a:prstGeom prst="roundRect">
            <a:avLst>
              <a:gd name="adj" fmla="val 21818"/>
            </a:avLst>
          </a:prstGeom>
          <a:solidFill>
            <a:srgbClr val="6E9BD9"/>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NEEDS FIXING</a:t>
            </a:r>
            <a:endParaRPr lang="en-US" sz="1100" dirty="0"/>
          </a:p>
        </p:txBody>
      </p:sp>
      <p:sp>
        <p:nvSpPr>
          <p:cNvPr id="7" name="Shape 5"/>
          <p:cNvSpPr/>
          <p:nvPr/>
        </p:nvSpPr>
        <p:spPr>
          <a:xfrm>
            <a:off x="365760" y="1078992"/>
            <a:ext cx="8412480" cy="685800"/>
          </a:xfrm>
          <a:prstGeom prst="roundRect">
            <a:avLst>
              <a:gd name="adj" fmla="val 13333"/>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48640" y="1188720"/>
            <a:ext cx="8046720" cy="45720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annemarie didnt understand the lie but she trusted henrik anyway</a:t>
            </a:r>
            <a:endParaRPr lang="en-US" sz="1600" dirty="0"/>
          </a:p>
        </p:txBody>
      </p:sp>
      <p:sp>
        <p:nvSpPr>
          <p:cNvPr id="9" name="Text 7"/>
          <p:cNvSpPr/>
          <p:nvPr/>
        </p:nvSpPr>
        <p:spPr>
          <a:xfrm>
            <a:off x="457200" y="1911096"/>
            <a:ext cx="8229600" cy="365760"/>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Rewrite the corrected sentence in your notebook.</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Daily Oral Language - Fix It</a:t>
            </a:r>
            <a:endParaRPr lang="en-US" sz="2800" dirty="0"/>
          </a:p>
        </p:txBody>
      </p:sp>
      <p:sp>
        <p:nvSpPr>
          <p:cNvPr id="3" name="Shape 1"/>
          <p:cNvSpPr/>
          <p:nvPr/>
        </p:nvSpPr>
        <p:spPr>
          <a:xfrm>
            <a:off x="365760" y="749808"/>
            <a:ext cx="8412480" cy="0"/>
          </a:xfrm>
          <a:prstGeom prst="line">
            <a:avLst/>
          </a:prstGeom>
          <a:noFill/>
          <a:ln w="19050">
            <a:solidFill>
              <a:srgbClr val="6E9BD9"/>
            </a:solidFill>
            <a:prstDash val="solid"/>
          </a:ln>
        </p:spPr>
      </p:sp>
      <p:sp>
        <p:nvSpPr>
          <p:cNvPr id="4" name="Shape 2"/>
          <p:cNvSpPr/>
          <p:nvPr/>
        </p:nvSpPr>
        <p:spPr>
          <a:xfrm>
            <a:off x="6492240" y="173736"/>
            <a:ext cx="2286000" cy="502920"/>
          </a:xfrm>
          <a:prstGeom prst="roundRect">
            <a:avLst>
              <a:gd name="adj" fmla="val 21818"/>
            </a:avLst>
          </a:prstGeom>
          <a:solidFill>
            <a:srgbClr val="6E9BD9"/>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NEEDS FIXING</a:t>
            </a:r>
            <a:endParaRPr lang="en-US" sz="1100" dirty="0"/>
          </a:p>
        </p:txBody>
      </p:sp>
      <p:sp>
        <p:nvSpPr>
          <p:cNvPr id="7" name="Shape 5"/>
          <p:cNvSpPr/>
          <p:nvPr/>
        </p:nvSpPr>
        <p:spPr>
          <a:xfrm>
            <a:off x="365760" y="1078992"/>
            <a:ext cx="8412480" cy="685800"/>
          </a:xfrm>
          <a:prstGeom prst="roundRect">
            <a:avLst>
              <a:gd name="adj" fmla="val 13333"/>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48640" y="1188720"/>
            <a:ext cx="8046720" cy="45720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annemarie didnt understand the lie but she trusted henrik anyway</a:t>
            </a:r>
            <a:endParaRPr lang="en-US" sz="1600" dirty="0"/>
          </a:p>
        </p:txBody>
      </p:sp>
      <p:sp>
        <p:nvSpPr>
          <p:cNvPr id="9" name="Text 7"/>
          <p:cNvSpPr/>
          <p:nvPr/>
        </p:nvSpPr>
        <p:spPr>
          <a:xfrm>
            <a:off x="457200" y="1911096"/>
            <a:ext cx="8229600" cy="365760"/>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Rewrite the corrected sentence in your notebook.</a:t>
            </a:r>
            <a:endParaRPr lang="en-US" sz="1500" dirty="0"/>
          </a:p>
        </p:txBody>
      </p:sp>
      <p:sp>
        <p:nvSpPr>
          <p:cNvPr id="10" name="Shape 8"/>
          <p:cNvSpPr/>
          <p:nvPr/>
        </p:nvSpPr>
        <p:spPr>
          <a:xfrm>
            <a:off x="365760" y="2350008"/>
            <a:ext cx="8412480" cy="708660"/>
          </a:xfrm>
          <a:prstGeom prst="roundRect">
            <a:avLst>
              <a:gd name="adj" fmla="val 12903"/>
            </a:avLst>
          </a:prstGeom>
          <a:solidFill>
            <a:srgbClr val="E8F8EF"/>
          </a:solidFill>
          <a:ln/>
          <a:effectLst>
            <a:outerShdw sx="100000" sy="100000" kx="0" ky="0" algn="bl" rotWithShape="0" blurRad="101600" dist="38100" dir="2700000">
              <a:srgbClr val="000000">
                <a:alpha val="12000"/>
              </a:srgbClr>
            </a:outerShdw>
          </a:effectLst>
        </p:spPr>
      </p:sp>
      <p:sp>
        <p:nvSpPr>
          <p:cNvPr id="11" name="Text 9"/>
          <p:cNvSpPr/>
          <p:nvPr/>
        </p:nvSpPr>
        <p:spPr>
          <a:xfrm>
            <a:off x="594360" y="2404872"/>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CORRECTED</a:t>
            </a:r>
            <a:endParaRPr lang="en-US" sz="1100" dirty="0"/>
          </a:p>
        </p:txBody>
      </p:sp>
      <p:sp>
        <p:nvSpPr>
          <p:cNvPr id="12" name="Text 10"/>
          <p:cNvSpPr/>
          <p:nvPr/>
        </p:nvSpPr>
        <p:spPr>
          <a:xfrm>
            <a:off x="594360" y="2697480"/>
            <a:ext cx="7863840" cy="324612"/>
          </a:xfrm>
          <a:prstGeom prst="rect">
            <a:avLst/>
          </a:prstGeom>
          <a:noFill/>
          <a:ln/>
        </p:spPr>
        <p:txBody>
          <a:bodyPr wrap="square" lIns="0" tIns="0" rIns="0" bIns="0" rtlCol="0" anchor="ctr"/>
          <a:lstStyle/>
          <a:p>
            <a:pPr indent="0" marL="0">
              <a:buNone/>
            </a:pPr>
            <a:r>
              <a:rPr lang="en-US" sz="1500" i="1" dirty="0">
                <a:solidFill>
                  <a:srgbClr val="1E293B"/>
                </a:solidFill>
                <a:latin typeface="Calibri" pitchFamily="34" charset="0"/>
                <a:ea typeface="Calibri" pitchFamily="34" charset="-122"/>
                <a:cs typeface="Calibri" pitchFamily="34" charset="-120"/>
              </a:rPr>
              <a:t>Annemarie didn’t understand the lie, but she trusted Henrik anyway.</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Morphology</a:t>
            </a:r>
            <a:endParaRPr lang="en-US" sz="2800" dirty="0"/>
          </a:p>
        </p:txBody>
      </p:sp>
      <p:sp>
        <p:nvSpPr>
          <p:cNvPr id="3" name="Shape 1"/>
          <p:cNvSpPr/>
          <p:nvPr/>
        </p:nvSpPr>
        <p:spPr>
          <a:xfrm>
            <a:off x="365760" y="749808"/>
            <a:ext cx="8412480" cy="0"/>
          </a:xfrm>
          <a:prstGeom prst="line">
            <a:avLst/>
          </a:prstGeom>
          <a:noFill/>
          <a:ln w="19050">
            <a:solidFill>
              <a:srgbClr val="6E9BD9"/>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Morphology: Word Bases: ceed + cede + cess</a:t>
            </a:r>
            <a:endParaRPr lang="en-US" sz="1100" dirty="0"/>
          </a:p>
        </p:txBody>
      </p:sp>
      <p:sp>
        <p:nvSpPr>
          <p:cNvPr id="5" name="Shape 3"/>
          <p:cNvSpPr/>
          <p:nvPr/>
        </p:nvSpPr>
        <p:spPr>
          <a:xfrm>
            <a:off x="365760" y="1060704"/>
            <a:ext cx="8412480" cy="457200"/>
          </a:xfrm>
          <a:prstGeom prst="roundRect">
            <a:avLst>
              <a:gd name="adj" fmla="val 20000"/>
            </a:avLst>
          </a:prstGeom>
          <a:solidFill>
            <a:srgbClr val="F0E8FF"/>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115568"/>
            <a:ext cx="8046720" cy="365760"/>
          </a:xfrm>
          <a:prstGeom prst="rect">
            <a:avLst/>
          </a:prstGeom>
          <a:noFill/>
          <a:ln/>
        </p:spPr>
        <p:txBody>
          <a:bodyPr wrap="square" lIns="0" tIns="0" rIns="0" bIns="0" rtlCol="0" anchor="ctr"/>
          <a:lstStyle/>
          <a:p>
            <a:pPr indent="0" marL="0">
              <a:buNone/>
            </a:pPr>
            <a:r>
              <a:rPr lang="en-US" sz="1150" i="1" dirty="0">
                <a:solidFill>
                  <a:srgbClr val="8B6FC0"/>
                </a:solidFill>
                <a:latin typeface="Calibri" pitchFamily="34" charset="0"/>
                <a:ea typeface="Calibri" pitchFamily="34" charset="-122"/>
                <a:cs typeface="Calibri" pitchFamily="34" charset="-120"/>
              </a:rPr>
              <a:t>English has THREE spellings of one root that means to go or to yield: ceed, cede, and cess. They all share a history. Knowing them helps you decode AND spell big new words.</a:t>
            </a:r>
            <a:endParaRPr lang="en-US" sz="1150" dirty="0"/>
          </a:p>
        </p:txBody>
      </p:sp>
      <p:sp>
        <p:nvSpPr>
          <p:cNvPr id="7" name="Text 5"/>
          <p:cNvSpPr/>
          <p:nvPr/>
        </p:nvSpPr>
        <p:spPr>
          <a:xfrm>
            <a:off x="365760" y="1591056"/>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WORD PARTS REFERENCE</a:t>
            </a:r>
            <a:endParaRPr lang="en-US" sz="1100" dirty="0"/>
          </a:p>
        </p:txBody>
      </p:sp>
      <p:sp>
        <p:nvSpPr>
          <p:cNvPr id="8" name="Shape 6"/>
          <p:cNvSpPr/>
          <p:nvPr/>
        </p:nvSpPr>
        <p:spPr>
          <a:xfrm>
            <a:off x="365760" y="1847088"/>
            <a:ext cx="2011680" cy="662940"/>
          </a:xfrm>
          <a:prstGeom prst="roundRect">
            <a:avLst>
              <a:gd name="adj" fmla="val 11034"/>
            </a:avLst>
          </a:prstGeom>
          <a:solidFill>
            <a:srgbClr val="F8F4FF"/>
          </a:solidFill>
          <a:ln w="12700">
            <a:solidFill>
              <a:srgbClr val="8B6FC0"/>
            </a:solidFill>
            <a:prstDash val="solid"/>
          </a:ln>
        </p:spPr>
      </p:sp>
      <p:sp>
        <p:nvSpPr>
          <p:cNvPr id="9" name="Text 7"/>
          <p:cNvSpPr/>
          <p:nvPr/>
        </p:nvSpPr>
        <p:spPr>
          <a:xfrm>
            <a:off x="438912" y="1892808"/>
            <a:ext cx="1865376" cy="571500"/>
          </a:xfrm>
          <a:prstGeom prst="rect">
            <a:avLst/>
          </a:prstGeom>
          <a:noFill/>
          <a:ln/>
        </p:spPr>
        <p:txBody>
          <a:bodyPr wrap="square" lIns="0" tIns="0" rIns="0" bIns="0" rtlCol="0" anchor="ctr"/>
          <a:lstStyle/>
          <a:p>
            <a:pPr algn="ctr" indent="0" marL="0">
              <a:buNone/>
            </a:pPr>
            <a:r>
              <a:rPr lang="en-US" sz="1100" b="1" dirty="0">
                <a:solidFill>
                  <a:srgbClr val="8B6FC0"/>
                </a:solidFill>
                <a:latin typeface="Calibri" pitchFamily="34" charset="0"/>
                <a:ea typeface="Calibri" pitchFamily="34" charset="-122"/>
                <a:cs typeface="Calibri" pitchFamily="34" charset="-120"/>
              </a:rPr>
              <a:t>proceed = pro- + ceed (go forward)</a:t>
            </a:r>
            <a:endParaRPr lang="en-US" sz="1100" dirty="0"/>
          </a:p>
        </p:txBody>
      </p:sp>
      <p:sp>
        <p:nvSpPr>
          <p:cNvPr id="10" name="Shape 8"/>
          <p:cNvSpPr/>
          <p:nvPr/>
        </p:nvSpPr>
        <p:spPr>
          <a:xfrm>
            <a:off x="2468880" y="1847088"/>
            <a:ext cx="2011680" cy="662940"/>
          </a:xfrm>
          <a:prstGeom prst="roundRect">
            <a:avLst>
              <a:gd name="adj" fmla="val 11034"/>
            </a:avLst>
          </a:prstGeom>
          <a:solidFill>
            <a:srgbClr val="F8F4FF"/>
          </a:solidFill>
          <a:ln w="12700">
            <a:solidFill>
              <a:srgbClr val="8B6FC0"/>
            </a:solidFill>
            <a:prstDash val="solid"/>
          </a:ln>
        </p:spPr>
      </p:sp>
      <p:sp>
        <p:nvSpPr>
          <p:cNvPr id="11" name="Text 9"/>
          <p:cNvSpPr/>
          <p:nvPr/>
        </p:nvSpPr>
        <p:spPr>
          <a:xfrm>
            <a:off x="2542032" y="1892808"/>
            <a:ext cx="1865376" cy="571500"/>
          </a:xfrm>
          <a:prstGeom prst="rect">
            <a:avLst/>
          </a:prstGeom>
          <a:noFill/>
          <a:ln/>
        </p:spPr>
        <p:txBody>
          <a:bodyPr wrap="square" lIns="0" tIns="0" rIns="0" bIns="0" rtlCol="0" anchor="ctr"/>
          <a:lstStyle/>
          <a:p>
            <a:pPr algn="ctr" indent="0" marL="0">
              <a:buNone/>
            </a:pPr>
            <a:r>
              <a:rPr lang="en-US" sz="1100" b="1" dirty="0">
                <a:solidFill>
                  <a:srgbClr val="8B6FC0"/>
                </a:solidFill>
                <a:latin typeface="Calibri" pitchFamily="34" charset="0"/>
                <a:ea typeface="Calibri" pitchFamily="34" charset="-122"/>
                <a:cs typeface="Calibri" pitchFamily="34" charset="-120"/>
              </a:rPr>
              <a:t>concede = con- + cede (yield together)</a:t>
            </a:r>
            <a:endParaRPr lang="en-US" sz="1100" dirty="0"/>
          </a:p>
        </p:txBody>
      </p:sp>
      <p:sp>
        <p:nvSpPr>
          <p:cNvPr id="12" name="Shape 10"/>
          <p:cNvSpPr/>
          <p:nvPr/>
        </p:nvSpPr>
        <p:spPr>
          <a:xfrm>
            <a:off x="4572000" y="1847088"/>
            <a:ext cx="2011680" cy="662940"/>
          </a:xfrm>
          <a:prstGeom prst="roundRect">
            <a:avLst>
              <a:gd name="adj" fmla="val 11034"/>
            </a:avLst>
          </a:prstGeom>
          <a:solidFill>
            <a:srgbClr val="F8F4FF"/>
          </a:solidFill>
          <a:ln w="12700">
            <a:solidFill>
              <a:srgbClr val="8B6FC0"/>
            </a:solidFill>
            <a:prstDash val="solid"/>
          </a:ln>
        </p:spPr>
      </p:sp>
      <p:sp>
        <p:nvSpPr>
          <p:cNvPr id="13" name="Text 11"/>
          <p:cNvSpPr/>
          <p:nvPr/>
        </p:nvSpPr>
        <p:spPr>
          <a:xfrm>
            <a:off x="4645152" y="1892808"/>
            <a:ext cx="1865376" cy="571500"/>
          </a:xfrm>
          <a:prstGeom prst="rect">
            <a:avLst/>
          </a:prstGeom>
          <a:noFill/>
          <a:ln/>
        </p:spPr>
        <p:txBody>
          <a:bodyPr wrap="square" lIns="0" tIns="0" rIns="0" bIns="0" rtlCol="0" anchor="ctr"/>
          <a:lstStyle/>
          <a:p>
            <a:pPr algn="ctr" indent="0" marL="0">
              <a:buNone/>
            </a:pPr>
            <a:r>
              <a:rPr lang="en-US" sz="1100" b="1" dirty="0">
                <a:solidFill>
                  <a:srgbClr val="8B6FC0"/>
                </a:solidFill>
                <a:latin typeface="Calibri" pitchFamily="34" charset="0"/>
                <a:ea typeface="Calibri" pitchFamily="34" charset="-122"/>
                <a:cs typeface="Calibri" pitchFamily="34" charset="-120"/>
              </a:rPr>
              <a:t>access = ac- + cess (a way to go in)</a:t>
            </a:r>
            <a:endParaRPr lang="en-US" sz="1100" dirty="0"/>
          </a:p>
        </p:txBody>
      </p:sp>
      <p:sp>
        <p:nvSpPr>
          <p:cNvPr id="14" name="Shape 12"/>
          <p:cNvSpPr/>
          <p:nvPr/>
        </p:nvSpPr>
        <p:spPr>
          <a:xfrm>
            <a:off x="6675120" y="1847088"/>
            <a:ext cx="2011680" cy="662940"/>
          </a:xfrm>
          <a:prstGeom prst="roundRect">
            <a:avLst>
              <a:gd name="adj" fmla="val 11034"/>
            </a:avLst>
          </a:prstGeom>
          <a:solidFill>
            <a:srgbClr val="F8F4FF"/>
          </a:solidFill>
          <a:ln w="12700">
            <a:solidFill>
              <a:srgbClr val="8B6FC0"/>
            </a:solidFill>
            <a:prstDash val="solid"/>
          </a:ln>
        </p:spPr>
      </p:sp>
      <p:sp>
        <p:nvSpPr>
          <p:cNvPr id="15" name="Text 13"/>
          <p:cNvSpPr/>
          <p:nvPr/>
        </p:nvSpPr>
        <p:spPr>
          <a:xfrm>
            <a:off x="6748272" y="1892808"/>
            <a:ext cx="1865376" cy="571500"/>
          </a:xfrm>
          <a:prstGeom prst="rect">
            <a:avLst/>
          </a:prstGeom>
          <a:noFill/>
          <a:ln/>
        </p:spPr>
        <p:txBody>
          <a:bodyPr wrap="square" lIns="0" tIns="0" rIns="0" bIns="0" rtlCol="0" anchor="ctr"/>
          <a:lstStyle/>
          <a:p>
            <a:pPr algn="ctr" indent="0" marL="0">
              <a:buNone/>
            </a:pPr>
            <a:r>
              <a:rPr lang="en-US" sz="1100" b="1" dirty="0">
                <a:solidFill>
                  <a:srgbClr val="8B6FC0"/>
                </a:solidFill>
                <a:latin typeface="Calibri" pitchFamily="34" charset="0"/>
                <a:ea typeface="Calibri" pitchFamily="34" charset="-122"/>
                <a:cs typeface="Calibri" pitchFamily="34" charset="-120"/>
              </a:rPr>
              <a:t>process = pro- + cess (a forward-going way of doing things)</a:t>
            </a:r>
            <a:endParaRPr lang="en-US" sz="1100" dirty="0"/>
          </a:p>
        </p:txBody>
      </p:sp>
      <p:sp>
        <p:nvSpPr>
          <p:cNvPr id="16" name="Text 14"/>
          <p:cNvSpPr/>
          <p:nvPr/>
        </p:nvSpPr>
        <p:spPr>
          <a:xfrm>
            <a:off x="365760" y="262890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TRY IT - FILL IN THE MISSING PART</a:t>
            </a:r>
            <a:endParaRPr lang="en-US" sz="1100" dirty="0"/>
          </a:p>
        </p:txBody>
      </p:sp>
      <p:sp>
        <p:nvSpPr>
          <p:cNvPr id="17" name="Shape 15"/>
          <p:cNvSpPr/>
          <p:nvPr/>
        </p:nvSpPr>
        <p:spPr>
          <a:xfrm>
            <a:off x="365760" y="2884932"/>
            <a:ext cx="8412480" cy="384048"/>
          </a:xfrm>
          <a:prstGeom prst="roundRect">
            <a:avLst>
              <a:gd name="adj" fmla="val 23810"/>
            </a:avLst>
          </a:prstGeom>
          <a:solidFill>
            <a:srgbClr val="F0E8FF"/>
          </a:solidFill>
          <a:ln/>
          <a:effectLst>
            <a:outerShdw sx="100000" sy="100000" kx="0" ky="0" algn="bl" rotWithShape="0" blurRad="101600" dist="38100" dir="2700000">
              <a:srgbClr val="000000">
                <a:alpha val="12000"/>
              </a:srgbClr>
            </a:outerShdw>
          </a:effectLst>
        </p:spPr>
      </p:sp>
      <p:sp>
        <p:nvSpPr>
          <p:cNvPr id="18" name="Text 16"/>
          <p:cNvSpPr/>
          <p:nvPr/>
        </p:nvSpPr>
        <p:spPr>
          <a:xfrm>
            <a:off x="594360" y="2930652"/>
            <a:ext cx="7863840" cy="292608"/>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proceed — — to move forward</a:t>
            </a:r>
            <a:endParaRPr lang="en-US" sz="1300" dirty="0"/>
          </a:p>
        </p:txBody>
      </p:sp>
      <p:sp>
        <p:nvSpPr>
          <p:cNvPr id="19" name="Shape 17"/>
          <p:cNvSpPr/>
          <p:nvPr/>
        </p:nvSpPr>
        <p:spPr>
          <a:xfrm>
            <a:off x="365760" y="3342132"/>
            <a:ext cx="8412480" cy="384048"/>
          </a:xfrm>
          <a:prstGeom prst="roundRect">
            <a:avLst>
              <a:gd name="adj" fmla="val 23810"/>
            </a:avLst>
          </a:prstGeom>
          <a:solidFill>
            <a:srgbClr val="F8F4FF"/>
          </a:solidFill>
          <a:ln/>
          <a:effectLst>
            <a:outerShdw sx="100000" sy="100000" kx="0" ky="0" algn="bl" rotWithShape="0" blurRad="101600" dist="38100" dir="2700000">
              <a:srgbClr val="000000">
                <a:alpha val="12000"/>
              </a:srgbClr>
            </a:outerShdw>
          </a:effectLst>
        </p:spPr>
      </p:sp>
      <p:sp>
        <p:nvSpPr>
          <p:cNvPr id="20" name="Text 18"/>
          <p:cNvSpPr/>
          <p:nvPr/>
        </p:nvSpPr>
        <p:spPr>
          <a:xfrm>
            <a:off x="594360" y="3387852"/>
            <a:ext cx="7863840" cy="292608"/>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exceed — — to go beyond what was expected</a:t>
            </a:r>
            <a:endParaRPr lang="en-US" sz="1300" dirty="0"/>
          </a:p>
        </p:txBody>
      </p:sp>
      <p:sp>
        <p:nvSpPr>
          <p:cNvPr id="21" name="Shape 19"/>
          <p:cNvSpPr/>
          <p:nvPr/>
        </p:nvSpPr>
        <p:spPr>
          <a:xfrm>
            <a:off x="365760" y="3799332"/>
            <a:ext cx="8412480" cy="384048"/>
          </a:xfrm>
          <a:prstGeom prst="roundRect">
            <a:avLst>
              <a:gd name="adj" fmla="val 23810"/>
            </a:avLst>
          </a:prstGeom>
          <a:solidFill>
            <a:srgbClr val="F0E8FF"/>
          </a:solidFill>
          <a:ln/>
          <a:effectLst>
            <a:outerShdw sx="100000" sy="100000" kx="0" ky="0" algn="bl" rotWithShape="0" blurRad="101600" dist="38100" dir="2700000">
              <a:srgbClr val="000000">
                <a:alpha val="12000"/>
              </a:srgbClr>
            </a:outerShdw>
          </a:effectLst>
        </p:spPr>
      </p:sp>
      <p:sp>
        <p:nvSpPr>
          <p:cNvPr id="22" name="Text 20"/>
          <p:cNvSpPr/>
          <p:nvPr/>
        </p:nvSpPr>
        <p:spPr>
          <a:xfrm>
            <a:off x="594360" y="3845052"/>
            <a:ext cx="7863840" cy="292608"/>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concede — — to yield; to give in</a:t>
            </a:r>
            <a:endParaRPr lang="en-US" sz="1300" dirty="0"/>
          </a:p>
        </p:txBody>
      </p:sp>
      <p:sp>
        <p:nvSpPr>
          <p:cNvPr id="23" name="Shape 21"/>
          <p:cNvSpPr/>
          <p:nvPr/>
        </p:nvSpPr>
        <p:spPr>
          <a:xfrm>
            <a:off x="365760" y="4256532"/>
            <a:ext cx="8412480" cy="384048"/>
          </a:xfrm>
          <a:prstGeom prst="roundRect">
            <a:avLst>
              <a:gd name="adj" fmla="val 23810"/>
            </a:avLst>
          </a:prstGeom>
          <a:solidFill>
            <a:srgbClr val="F8F4FF"/>
          </a:solidFill>
          <a:ln/>
          <a:effectLst>
            <a:outerShdw sx="100000" sy="100000" kx="0" ky="0" algn="bl" rotWithShape="0" blurRad="101600" dist="38100" dir="2700000">
              <a:srgbClr val="000000">
                <a:alpha val="12000"/>
              </a:srgbClr>
            </a:outerShdw>
          </a:effectLst>
        </p:spPr>
      </p:sp>
      <p:sp>
        <p:nvSpPr>
          <p:cNvPr id="24" name="Text 22"/>
          <p:cNvSpPr/>
          <p:nvPr/>
        </p:nvSpPr>
        <p:spPr>
          <a:xfrm>
            <a:off x="594360" y="4302252"/>
            <a:ext cx="7863840" cy="292608"/>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access — — a way to enter or reach</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Vocabulary</a:t>
            </a:r>
            <a:endParaRPr lang="en-US" sz="2800" dirty="0"/>
          </a:p>
        </p:txBody>
      </p:sp>
      <p:sp>
        <p:nvSpPr>
          <p:cNvPr id="3" name="Shape 1"/>
          <p:cNvSpPr/>
          <p:nvPr/>
        </p:nvSpPr>
        <p:spPr>
          <a:xfrm>
            <a:off x="365760" y="749808"/>
            <a:ext cx="8412480" cy="0"/>
          </a:xfrm>
          <a:prstGeom prst="line">
            <a:avLst/>
          </a:prstGeom>
          <a:noFill/>
          <a:ln w="19050">
            <a:solidFill>
              <a:srgbClr val="6E9BD9"/>
            </a:solidFill>
            <a:prstDash val="solid"/>
          </a:ln>
        </p:spPr>
      </p:sp>
      <p:sp>
        <p:nvSpPr>
          <p:cNvPr id="4" name="Text 2"/>
          <p:cNvSpPr/>
          <p:nvPr/>
        </p:nvSpPr>
        <p:spPr>
          <a:xfrm>
            <a:off x="365760" y="786384"/>
            <a:ext cx="8046720" cy="292608"/>
          </a:xfrm>
          <a:prstGeom prst="rect">
            <a:avLst/>
          </a:prstGeom>
          <a:noFill/>
          <a:ln/>
        </p:spPr>
        <p:txBody>
          <a:bodyPr wrap="square" lIns="0" tIns="0" rIns="0" bIns="0" rtlCol="0" anchor="ctr"/>
          <a:lstStyle/>
          <a:p>
            <a:pPr indent="0" marL="0">
              <a:buNone/>
            </a:pPr>
            <a:r>
              <a:rPr lang="en-US" sz="1100" b="1" spc="200" kern="0" dirty="0">
                <a:solidFill>
                  <a:srgbClr val="0E1C42"/>
                </a:solidFill>
                <a:latin typeface="Calibri" pitchFamily="34" charset="0"/>
                <a:ea typeface="Calibri" pitchFamily="34" charset="-122"/>
                <a:cs typeface="Calibri" pitchFamily="34" charset="-120"/>
              </a:rPr>
              <a:t>4 WORDS - READ THE SENTENCE, THEN THE MEANING</a:t>
            </a:r>
            <a:endParaRPr lang="en-US" sz="1100" dirty="0"/>
          </a:p>
        </p:txBody>
      </p:sp>
      <p:sp>
        <p:nvSpPr>
          <p:cNvPr id="5" name="Shape 3"/>
          <p:cNvSpPr/>
          <p:nvPr/>
        </p:nvSpPr>
        <p:spPr>
          <a:xfrm>
            <a:off x="320040" y="914400"/>
            <a:ext cx="4069080" cy="1176528"/>
          </a:xfrm>
          <a:prstGeom prst="roundRect">
            <a:avLst>
              <a:gd name="adj" fmla="val 7772"/>
            </a:avLst>
          </a:prstGeom>
          <a:solidFill>
            <a:srgbClr val="F0E8FF"/>
          </a:solidFill>
          <a:ln/>
          <a:effectLst>
            <a:outerShdw sx="100000" sy="100000" kx="0" ky="0" algn="bl" rotWithShape="0" blurRad="101600" dist="38100" dir="2700000">
              <a:srgbClr val="000000">
                <a:alpha val="12000"/>
              </a:srgbClr>
            </a:outerShdw>
          </a:effectLst>
        </p:spPr>
      </p:sp>
      <p:sp>
        <p:nvSpPr>
          <p:cNvPr id="6" name="Text 4"/>
          <p:cNvSpPr/>
          <p:nvPr/>
        </p:nvSpPr>
        <p:spPr>
          <a:xfrm>
            <a:off x="457200" y="1005840"/>
            <a:ext cx="3794760" cy="352044"/>
          </a:xfrm>
          <a:prstGeom prst="rect">
            <a:avLst/>
          </a:prstGeom>
          <a:noFill/>
          <a:ln/>
        </p:spPr>
        <p:txBody>
          <a:bodyPr wrap="square" lIns="0" tIns="0" rIns="0" bIns="0" rtlCol="0" anchor="ctr"/>
          <a:lstStyle/>
          <a:p>
            <a:pPr indent="0" marL="0">
              <a:buNone/>
            </a:pPr>
            <a:r>
              <a:rPr lang="en-US" sz="1050" i="1" dirty="0">
                <a:solidFill>
                  <a:srgbClr val="64748B"/>
                </a:solidFill>
                <a:latin typeface="Calibri" pitchFamily="34" charset="0"/>
                <a:ea typeface="Calibri" pitchFamily="34" charset="-122"/>
                <a:cs typeface="Calibri" pitchFamily="34" charset="-120"/>
              </a:rPr>
              <a:t>“After the soldiers left, the family could proceed with the funeral.”</a:t>
            </a:r>
            <a:endParaRPr lang="en-US" sz="1050" dirty="0"/>
          </a:p>
        </p:txBody>
      </p:sp>
      <p:sp>
        <p:nvSpPr>
          <p:cNvPr id="7" name="Text 5"/>
          <p:cNvSpPr/>
          <p:nvPr/>
        </p:nvSpPr>
        <p:spPr>
          <a:xfrm>
            <a:off x="457200" y="1412748"/>
            <a:ext cx="3794760" cy="292608"/>
          </a:xfrm>
          <a:prstGeom prst="rect">
            <a:avLst/>
          </a:prstGeom>
          <a:noFill/>
          <a:ln/>
        </p:spPr>
        <p:txBody>
          <a:bodyPr wrap="square" lIns="0" tIns="0" rIns="0" bIns="0" rtlCol="0" anchor="ctr"/>
          <a:lstStyle/>
          <a:p>
            <a:pPr indent="0" marL="0">
              <a:buNone/>
            </a:pPr>
            <a:r>
              <a:rPr lang="en-US" sz="1400" b="1" dirty="0">
                <a:solidFill>
                  <a:srgbClr val="8B6FC0"/>
                </a:solidFill>
                <a:latin typeface="Calibri" pitchFamily="34" charset="0"/>
                <a:ea typeface="Calibri" pitchFamily="34" charset="-122"/>
                <a:cs typeface="Calibri" pitchFamily="34" charset="-120"/>
              </a:rPr>
              <a:t>➡️  proceed</a:t>
            </a:r>
            <a:endParaRPr lang="en-US" sz="1400" dirty="0"/>
          </a:p>
        </p:txBody>
      </p:sp>
      <p:sp>
        <p:nvSpPr>
          <p:cNvPr id="8" name="Text 6"/>
          <p:cNvSpPr/>
          <p:nvPr/>
        </p:nvSpPr>
        <p:spPr>
          <a:xfrm>
            <a:off x="457200" y="1723644"/>
            <a:ext cx="3794760" cy="312420"/>
          </a:xfrm>
          <a:prstGeom prst="rect">
            <a:avLst/>
          </a:prstGeom>
          <a:noFill/>
          <a:ln/>
        </p:spPr>
        <p:txBody>
          <a:bodyPr wrap="square" lIns="0" tIns="0" rIns="0" bIns="0" rtlCol="0" anchor="ctr"/>
          <a:lstStyle/>
          <a:p>
            <a:pPr indent="0" marL="0">
              <a:buNone/>
            </a:pPr>
            <a:r>
              <a:rPr lang="en-US" sz="1100" i="1" dirty="0">
                <a:solidFill>
                  <a:srgbClr val="1E293B"/>
                </a:solidFill>
                <a:latin typeface="Calibri" pitchFamily="34" charset="0"/>
                <a:ea typeface="Calibri" pitchFamily="34" charset="-122"/>
                <a:cs typeface="Calibri" pitchFamily="34" charset="-120"/>
              </a:rPr>
              <a:t>To move forward; to continue.</a:t>
            </a:r>
            <a:endParaRPr lang="en-US" sz="1100" dirty="0"/>
          </a:p>
        </p:txBody>
      </p:sp>
      <p:sp>
        <p:nvSpPr>
          <p:cNvPr id="9" name="Shape 7"/>
          <p:cNvSpPr/>
          <p:nvPr/>
        </p:nvSpPr>
        <p:spPr>
          <a:xfrm>
            <a:off x="4572000" y="914400"/>
            <a:ext cx="4069080" cy="1176528"/>
          </a:xfrm>
          <a:prstGeom prst="roundRect">
            <a:avLst>
              <a:gd name="adj" fmla="val 7772"/>
            </a:avLst>
          </a:prstGeom>
          <a:solidFill>
            <a:srgbClr val="F0E8FF"/>
          </a:solidFill>
          <a:ln/>
          <a:effectLst>
            <a:outerShdw sx="100000" sy="100000" kx="0" ky="0" algn="bl" rotWithShape="0" blurRad="101600" dist="38100" dir="2700000">
              <a:srgbClr val="000000">
                <a:alpha val="12000"/>
              </a:srgbClr>
            </a:outerShdw>
          </a:effectLst>
        </p:spPr>
      </p:sp>
      <p:sp>
        <p:nvSpPr>
          <p:cNvPr id="10" name="Text 8"/>
          <p:cNvSpPr/>
          <p:nvPr/>
        </p:nvSpPr>
        <p:spPr>
          <a:xfrm>
            <a:off x="4709160" y="1005840"/>
            <a:ext cx="3794760" cy="352044"/>
          </a:xfrm>
          <a:prstGeom prst="rect">
            <a:avLst/>
          </a:prstGeom>
          <a:noFill/>
          <a:ln/>
        </p:spPr>
        <p:txBody>
          <a:bodyPr wrap="square" lIns="0" tIns="0" rIns="0" bIns="0" rtlCol="0" anchor="ctr"/>
          <a:lstStyle/>
          <a:p>
            <a:pPr indent="0" marL="0">
              <a:buNone/>
            </a:pPr>
            <a:r>
              <a:rPr lang="en-US" sz="1050" i="1" dirty="0">
                <a:solidFill>
                  <a:srgbClr val="64748B"/>
                </a:solidFill>
                <a:latin typeface="Calibri" pitchFamily="34" charset="0"/>
                <a:ea typeface="Calibri" pitchFamily="34" charset="-122"/>
                <a:cs typeface="Calibri" pitchFamily="34" charset="-120"/>
              </a:rPr>
              <a:t>“Uncle Henrik would not concede that he was lying — not at first.”</a:t>
            </a:r>
            <a:endParaRPr lang="en-US" sz="1050" dirty="0"/>
          </a:p>
        </p:txBody>
      </p:sp>
      <p:sp>
        <p:nvSpPr>
          <p:cNvPr id="11" name="Text 9"/>
          <p:cNvSpPr/>
          <p:nvPr/>
        </p:nvSpPr>
        <p:spPr>
          <a:xfrm>
            <a:off x="4709160" y="1412748"/>
            <a:ext cx="3794760" cy="292608"/>
          </a:xfrm>
          <a:prstGeom prst="rect">
            <a:avLst/>
          </a:prstGeom>
          <a:noFill/>
          <a:ln/>
        </p:spPr>
        <p:txBody>
          <a:bodyPr wrap="square" lIns="0" tIns="0" rIns="0" bIns="0" rtlCol="0" anchor="ctr"/>
          <a:lstStyle/>
          <a:p>
            <a:pPr indent="0" marL="0">
              <a:buNone/>
            </a:pPr>
            <a:r>
              <a:rPr lang="en-US" sz="1400" b="1" dirty="0">
                <a:solidFill>
                  <a:srgbClr val="8B6FC0"/>
                </a:solidFill>
                <a:latin typeface="Calibri" pitchFamily="34" charset="0"/>
                <a:ea typeface="Calibri" pitchFamily="34" charset="-122"/>
                <a:cs typeface="Calibri" pitchFamily="34" charset="-120"/>
              </a:rPr>
              <a:t>🤝  concede</a:t>
            </a:r>
            <a:endParaRPr lang="en-US" sz="1400" dirty="0"/>
          </a:p>
        </p:txBody>
      </p:sp>
      <p:sp>
        <p:nvSpPr>
          <p:cNvPr id="12" name="Text 10"/>
          <p:cNvSpPr/>
          <p:nvPr/>
        </p:nvSpPr>
        <p:spPr>
          <a:xfrm>
            <a:off x="4709160" y="1723644"/>
            <a:ext cx="3794760" cy="312420"/>
          </a:xfrm>
          <a:prstGeom prst="rect">
            <a:avLst/>
          </a:prstGeom>
          <a:noFill/>
          <a:ln/>
        </p:spPr>
        <p:txBody>
          <a:bodyPr wrap="square" lIns="0" tIns="0" rIns="0" bIns="0" rtlCol="0" anchor="ctr"/>
          <a:lstStyle/>
          <a:p>
            <a:pPr indent="0" marL="0">
              <a:buNone/>
            </a:pPr>
            <a:r>
              <a:rPr lang="en-US" sz="1100" i="1" dirty="0">
                <a:solidFill>
                  <a:srgbClr val="1E293B"/>
                </a:solidFill>
                <a:latin typeface="Calibri" pitchFamily="34" charset="0"/>
                <a:ea typeface="Calibri" pitchFamily="34" charset="-122"/>
                <a:cs typeface="Calibri" pitchFamily="34" charset="-120"/>
              </a:rPr>
              <a:t>To give in; to admit defeat or yield.</a:t>
            </a:r>
            <a:endParaRPr lang="en-US" sz="1100" dirty="0"/>
          </a:p>
        </p:txBody>
      </p:sp>
      <p:sp>
        <p:nvSpPr>
          <p:cNvPr id="13" name="Shape 11"/>
          <p:cNvSpPr/>
          <p:nvPr/>
        </p:nvSpPr>
        <p:spPr>
          <a:xfrm>
            <a:off x="320040" y="2200656"/>
            <a:ext cx="4069080" cy="1176528"/>
          </a:xfrm>
          <a:prstGeom prst="roundRect">
            <a:avLst>
              <a:gd name="adj" fmla="val 7772"/>
            </a:avLst>
          </a:prstGeom>
          <a:solidFill>
            <a:srgbClr val="F0E8FF"/>
          </a:solidFill>
          <a:ln/>
          <a:effectLst>
            <a:outerShdw sx="100000" sy="100000" kx="0" ky="0" algn="bl" rotWithShape="0" blurRad="101600" dist="38100" dir="2700000">
              <a:srgbClr val="000000">
                <a:alpha val="12000"/>
              </a:srgbClr>
            </a:outerShdw>
          </a:effectLst>
        </p:spPr>
      </p:sp>
      <p:sp>
        <p:nvSpPr>
          <p:cNvPr id="14" name="Text 12"/>
          <p:cNvSpPr/>
          <p:nvPr/>
        </p:nvSpPr>
        <p:spPr>
          <a:xfrm>
            <a:off x="457200" y="2292096"/>
            <a:ext cx="3794760" cy="352044"/>
          </a:xfrm>
          <a:prstGeom prst="rect">
            <a:avLst/>
          </a:prstGeom>
          <a:noFill/>
          <a:ln/>
        </p:spPr>
        <p:txBody>
          <a:bodyPr wrap="square" lIns="0" tIns="0" rIns="0" bIns="0" rtlCol="0" anchor="ctr"/>
          <a:lstStyle/>
          <a:p>
            <a:pPr indent="0" marL="0">
              <a:buNone/>
            </a:pPr>
            <a:r>
              <a:rPr lang="en-US" sz="1050" i="1" dirty="0">
                <a:solidFill>
                  <a:srgbClr val="64748B"/>
                </a:solidFill>
                <a:latin typeface="Calibri" pitchFamily="34" charset="0"/>
                <a:ea typeface="Calibri" pitchFamily="34" charset="-122"/>
                <a:cs typeface="Calibri" pitchFamily="34" charset="-120"/>
              </a:rPr>
              <a:t>“The soldiers wanted access to the casket before the family could close it.”</a:t>
            </a:r>
            <a:endParaRPr lang="en-US" sz="1050" dirty="0"/>
          </a:p>
        </p:txBody>
      </p:sp>
      <p:sp>
        <p:nvSpPr>
          <p:cNvPr id="15" name="Text 13"/>
          <p:cNvSpPr/>
          <p:nvPr/>
        </p:nvSpPr>
        <p:spPr>
          <a:xfrm>
            <a:off x="457200" y="2699004"/>
            <a:ext cx="3794760" cy="292608"/>
          </a:xfrm>
          <a:prstGeom prst="rect">
            <a:avLst/>
          </a:prstGeom>
          <a:noFill/>
          <a:ln/>
        </p:spPr>
        <p:txBody>
          <a:bodyPr wrap="square" lIns="0" tIns="0" rIns="0" bIns="0" rtlCol="0" anchor="ctr"/>
          <a:lstStyle/>
          <a:p>
            <a:pPr indent="0" marL="0">
              <a:buNone/>
            </a:pPr>
            <a:r>
              <a:rPr lang="en-US" sz="1400" b="1" dirty="0">
                <a:solidFill>
                  <a:srgbClr val="8B6FC0"/>
                </a:solidFill>
                <a:latin typeface="Calibri" pitchFamily="34" charset="0"/>
                <a:ea typeface="Calibri" pitchFamily="34" charset="-122"/>
                <a:cs typeface="Calibri" pitchFamily="34" charset="-120"/>
              </a:rPr>
              <a:t>🔑  access</a:t>
            </a:r>
            <a:endParaRPr lang="en-US" sz="1400" dirty="0"/>
          </a:p>
        </p:txBody>
      </p:sp>
      <p:sp>
        <p:nvSpPr>
          <p:cNvPr id="16" name="Text 14"/>
          <p:cNvSpPr/>
          <p:nvPr/>
        </p:nvSpPr>
        <p:spPr>
          <a:xfrm>
            <a:off x="457200" y="3009900"/>
            <a:ext cx="3794760" cy="312420"/>
          </a:xfrm>
          <a:prstGeom prst="rect">
            <a:avLst/>
          </a:prstGeom>
          <a:noFill/>
          <a:ln/>
        </p:spPr>
        <p:txBody>
          <a:bodyPr wrap="square" lIns="0" tIns="0" rIns="0" bIns="0" rtlCol="0" anchor="ctr"/>
          <a:lstStyle/>
          <a:p>
            <a:pPr indent="0" marL="0">
              <a:buNone/>
            </a:pPr>
            <a:r>
              <a:rPr lang="en-US" sz="1100" i="1" dirty="0">
                <a:solidFill>
                  <a:srgbClr val="1E293B"/>
                </a:solidFill>
                <a:latin typeface="Calibri" pitchFamily="34" charset="0"/>
                <a:ea typeface="Calibri" pitchFamily="34" charset="-122"/>
                <a:cs typeface="Calibri" pitchFamily="34" charset="-120"/>
              </a:rPr>
              <a:t>A way to reach or enter something.</a:t>
            </a:r>
            <a:endParaRPr lang="en-US" sz="1100" dirty="0"/>
          </a:p>
        </p:txBody>
      </p:sp>
      <p:sp>
        <p:nvSpPr>
          <p:cNvPr id="17" name="Shape 15"/>
          <p:cNvSpPr/>
          <p:nvPr/>
        </p:nvSpPr>
        <p:spPr>
          <a:xfrm>
            <a:off x="4572000" y="2200656"/>
            <a:ext cx="4069080" cy="1176528"/>
          </a:xfrm>
          <a:prstGeom prst="roundRect">
            <a:avLst>
              <a:gd name="adj" fmla="val 7772"/>
            </a:avLst>
          </a:prstGeom>
          <a:solidFill>
            <a:srgbClr val="F0E8FF"/>
          </a:solidFill>
          <a:ln/>
          <a:effectLst>
            <a:outerShdw sx="100000" sy="100000" kx="0" ky="0" algn="bl" rotWithShape="0" blurRad="101600" dist="38100" dir="2700000">
              <a:srgbClr val="000000">
                <a:alpha val="12000"/>
              </a:srgbClr>
            </a:outerShdw>
          </a:effectLst>
        </p:spPr>
      </p:sp>
      <p:sp>
        <p:nvSpPr>
          <p:cNvPr id="18" name="Text 16"/>
          <p:cNvSpPr/>
          <p:nvPr/>
        </p:nvSpPr>
        <p:spPr>
          <a:xfrm>
            <a:off x="4709160" y="2292096"/>
            <a:ext cx="3794760" cy="352044"/>
          </a:xfrm>
          <a:prstGeom prst="rect">
            <a:avLst/>
          </a:prstGeom>
          <a:noFill/>
          <a:ln/>
        </p:spPr>
        <p:txBody>
          <a:bodyPr wrap="square" lIns="0" tIns="0" rIns="0" bIns="0" rtlCol="0" anchor="ctr"/>
          <a:lstStyle/>
          <a:p>
            <a:pPr indent="0" marL="0">
              <a:buNone/>
            </a:pPr>
            <a:r>
              <a:rPr lang="en-US" sz="1050" i="1" dirty="0">
                <a:solidFill>
                  <a:srgbClr val="64748B"/>
                </a:solidFill>
                <a:latin typeface="Calibri" pitchFamily="34" charset="0"/>
                <a:ea typeface="Calibri" pitchFamily="34" charset="-122"/>
                <a:cs typeface="Calibri" pitchFamily="34" charset="-120"/>
              </a:rPr>
              <a:t>“The Star of David necklace is a symbol of Ellen’s family and faith.”</a:t>
            </a:r>
            <a:endParaRPr lang="en-US" sz="1050" dirty="0"/>
          </a:p>
        </p:txBody>
      </p:sp>
      <p:sp>
        <p:nvSpPr>
          <p:cNvPr id="19" name="Text 17"/>
          <p:cNvSpPr/>
          <p:nvPr/>
        </p:nvSpPr>
        <p:spPr>
          <a:xfrm>
            <a:off x="4709160" y="2699004"/>
            <a:ext cx="3794760" cy="292608"/>
          </a:xfrm>
          <a:prstGeom prst="rect">
            <a:avLst/>
          </a:prstGeom>
          <a:noFill/>
          <a:ln/>
        </p:spPr>
        <p:txBody>
          <a:bodyPr wrap="square" lIns="0" tIns="0" rIns="0" bIns="0" rtlCol="0" anchor="ctr"/>
          <a:lstStyle/>
          <a:p>
            <a:pPr indent="0" marL="0">
              <a:buNone/>
            </a:pPr>
            <a:r>
              <a:rPr lang="en-US" sz="1400" b="1" dirty="0">
                <a:solidFill>
                  <a:srgbClr val="8B6FC0"/>
                </a:solidFill>
                <a:latin typeface="Calibri" pitchFamily="34" charset="0"/>
                <a:ea typeface="Calibri" pitchFamily="34" charset="-122"/>
                <a:cs typeface="Calibri" pitchFamily="34" charset="-120"/>
              </a:rPr>
              <a:t>⭐  symbol</a:t>
            </a:r>
            <a:endParaRPr lang="en-US" sz="1400" dirty="0"/>
          </a:p>
        </p:txBody>
      </p:sp>
      <p:sp>
        <p:nvSpPr>
          <p:cNvPr id="20" name="Text 18"/>
          <p:cNvSpPr/>
          <p:nvPr/>
        </p:nvSpPr>
        <p:spPr>
          <a:xfrm>
            <a:off x="4709160" y="3009900"/>
            <a:ext cx="3794760" cy="312420"/>
          </a:xfrm>
          <a:prstGeom prst="rect">
            <a:avLst/>
          </a:prstGeom>
          <a:noFill/>
          <a:ln/>
        </p:spPr>
        <p:txBody>
          <a:bodyPr wrap="square" lIns="0" tIns="0" rIns="0" bIns="0" rtlCol="0" anchor="ctr"/>
          <a:lstStyle/>
          <a:p>
            <a:pPr indent="0" marL="0">
              <a:buNone/>
            </a:pPr>
            <a:r>
              <a:rPr lang="en-US" sz="1100" i="1" dirty="0">
                <a:solidFill>
                  <a:srgbClr val="1E293B"/>
                </a:solidFill>
                <a:latin typeface="Calibri" pitchFamily="34" charset="0"/>
                <a:ea typeface="Calibri" pitchFamily="34" charset="-122"/>
                <a:cs typeface="Calibri" pitchFamily="34" charset="-120"/>
              </a:rPr>
              <a:t>An object or image that stands for an idea.</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Grammar - Grammar: Contractions</a:t>
            </a:r>
            <a:endParaRPr lang="en-US" sz="2800" dirty="0"/>
          </a:p>
        </p:txBody>
      </p:sp>
      <p:sp>
        <p:nvSpPr>
          <p:cNvPr id="3" name="Shape 1"/>
          <p:cNvSpPr/>
          <p:nvPr/>
        </p:nvSpPr>
        <p:spPr>
          <a:xfrm>
            <a:off x="365760" y="749808"/>
            <a:ext cx="8412480" cy="0"/>
          </a:xfrm>
          <a:prstGeom prst="line">
            <a:avLst/>
          </a:prstGeom>
          <a:noFill/>
          <a:ln w="19050">
            <a:solidFill>
              <a:srgbClr val="6E9BD9"/>
            </a:solidFill>
            <a:prstDash val="solid"/>
          </a:ln>
        </p:spPr>
      </p:sp>
      <p:sp>
        <p:nvSpPr>
          <p:cNvPr id="4" name="Shape 2"/>
          <p:cNvSpPr/>
          <p:nvPr/>
        </p:nvSpPr>
        <p:spPr>
          <a:xfrm>
            <a:off x="6492240" y="173736"/>
            <a:ext cx="2286000" cy="502920"/>
          </a:xfrm>
          <a:prstGeom prst="roundRect">
            <a:avLst>
              <a:gd name="adj" fmla="val 21818"/>
            </a:avLst>
          </a:prstGeom>
          <a:solidFill>
            <a:srgbClr val="6E9BD9"/>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SPOT THE TARGET WORD</a:t>
            </a:r>
            <a:endParaRPr lang="en-US" sz="1100" dirty="0"/>
          </a:p>
        </p:txBody>
      </p:sp>
      <p:sp>
        <p:nvSpPr>
          <p:cNvPr id="7" name="Shape 5"/>
          <p:cNvSpPr/>
          <p:nvPr/>
        </p:nvSpPr>
        <p:spPr>
          <a:xfrm>
            <a:off x="365760" y="1078992"/>
            <a:ext cx="8412480" cy="749808"/>
          </a:xfrm>
          <a:prstGeom prst="roundRect">
            <a:avLst>
              <a:gd name="adj" fmla="val 9756"/>
            </a:avLst>
          </a:prstGeom>
          <a:solidFill>
            <a:srgbClr val="FEF6E8"/>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170432"/>
            <a:ext cx="7863840" cy="566928"/>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Annemarie didn’t understand the lie.</a:t>
            </a:r>
            <a:endParaRPr lang="en-US" sz="1500" dirty="0"/>
          </a:p>
        </p:txBody>
      </p:sp>
      <p:sp>
        <p:nvSpPr>
          <p:cNvPr id="9" name="Shape 7"/>
          <p:cNvSpPr/>
          <p:nvPr/>
        </p:nvSpPr>
        <p:spPr>
          <a:xfrm>
            <a:off x="365760" y="1920240"/>
            <a:ext cx="8412480" cy="749808"/>
          </a:xfrm>
          <a:prstGeom prst="roundRect">
            <a:avLst>
              <a:gd name="adj" fmla="val 9756"/>
            </a:avLst>
          </a:prstGeom>
          <a:solidFill>
            <a:srgbClr val="FEF6E8"/>
          </a:solidFill>
          <a:ln/>
          <a:effectLst>
            <a:outerShdw sx="100000" sy="100000" kx="0" ky="0" algn="bl" rotWithShape="0" blurRad="101600" dist="38100" dir="2700000">
              <a:srgbClr val="000000">
                <a:alpha val="12000"/>
              </a:srgbClr>
            </a:outerShdw>
          </a:effectLst>
        </p:spPr>
      </p:sp>
      <p:sp>
        <p:nvSpPr>
          <p:cNvPr id="10" name="Text 8"/>
          <p:cNvSpPr/>
          <p:nvPr/>
        </p:nvSpPr>
        <p:spPr>
          <a:xfrm>
            <a:off x="594360" y="2011680"/>
            <a:ext cx="7863840" cy="566928"/>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Peter won’t see the Rosens for a long time.</a:t>
            </a:r>
            <a:endParaRPr lang="en-US" sz="1500" dirty="0"/>
          </a:p>
        </p:txBody>
      </p:sp>
      <p:sp>
        <p:nvSpPr>
          <p:cNvPr id="11" name="Shape 9"/>
          <p:cNvSpPr/>
          <p:nvPr/>
        </p:nvSpPr>
        <p:spPr>
          <a:xfrm>
            <a:off x="365760" y="2761488"/>
            <a:ext cx="8412480" cy="749808"/>
          </a:xfrm>
          <a:prstGeom prst="roundRect">
            <a:avLst>
              <a:gd name="adj" fmla="val 9756"/>
            </a:avLst>
          </a:prstGeom>
          <a:solidFill>
            <a:srgbClr val="FEF6E8"/>
          </a:solidFill>
          <a:ln/>
          <a:effectLst>
            <a:outerShdw sx="100000" sy="100000" kx="0" ky="0" algn="bl" rotWithShape="0" blurRad="101600" dist="38100" dir="2700000">
              <a:srgbClr val="000000">
                <a:alpha val="12000"/>
              </a:srgbClr>
            </a:outerShdw>
          </a:effectLst>
        </p:spPr>
      </p:sp>
      <p:sp>
        <p:nvSpPr>
          <p:cNvPr id="12" name="Text 10"/>
          <p:cNvSpPr/>
          <p:nvPr/>
        </p:nvSpPr>
        <p:spPr>
          <a:xfrm>
            <a:off x="594360" y="2852928"/>
            <a:ext cx="7863840" cy="566928"/>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Henrik can’t tell her everything.</a:t>
            </a:r>
            <a:endParaRPr lang="en-US" sz="1500" dirty="0"/>
          </a:p>
        </p:txBody>
      </p:sp>
      <p:sp>
        <p:nvSpPr>
          <p:cNvPr id="13" name="Text 11"/>
          <p:cNvSpPr/>
          <p:nvPr/>
        </p:nvSpPr>
        <p:spPr>
          <a:xfrm>
            <a:off x="457200" y="3648456"/>
            <a:ext cx="8229600" cy="347472"/>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Find the target word. Write it in your notebook.</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Grammar - Grammar: Contractions</a:t>
            </a:r>
            <a:endParaRPr lang="en-US" sz="2800" dirty="0"/>
          </a:p>
        </p:txBody>
      </p:sp>
      <p:sp>
        <p:nvSpPr>
          <p:cNvPr id="3" name="Shape 1"/>
          <p:cNvSpPr/>
          <p:nvPr/>
        </p:nvSpPr>
        <p:spPr>
          <a:xfrm>
            <a:off x="365760" y="749808"/>
            <a:ext cx="8412480" cy="0"/>
          </a:xfrm>
          <a:prstGeom prst="line">
            <a:avLst/>
          </a:prstGeom>
          <a:noFill/>
          <a:ln w="19050">
            <a:solidFill>
              <a:srgbClr val="6E9BD9"/>
            </a:solidFill>
            <a:prstDash val="solid"/>
          </a:ln>
        </p:spPr>
      </p:sp>
      <p:sp>
        <p:nvSpPr>
          <p:cNvPr id="4" name="Shape 2"/>
          <p:cNvSpPr/>
          <p:nvPr/>
        </p:nvSpPr>
        <p:spPr>
          <a:xfrm>
            <a:off x="6492240" y="173736"/>
            <a:ext cx="2286000" cy="502920"/>
          </a:xfrm>
          <a:prstGeom prst="roundRect">
            <a:avLst>
              <a:gd name="adj" fmla="val 21818"/>
            </a:avLst>
          </a:prstGeom>
          <a:solidFill>
            <a:srgbClr val="6E9BD9"/>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ANSWERS REVEALED</a:t>
            </a:r>
            <a:endParaRPr lang="en-US" sz="1100" dirty="0"/>
          </a:p>
        </p:txBody>
      </p:sp>
      <p:sp>
        <p:nvSpPr>
          <p:cNvPr id="7" name="Shape 5"/>
          <p:cNvSpPr/>
          <p:nvPr/>
        </p:nvSpPr>
        <p:spPr>
          <a:xfrm>
            <a:off x="365760" y="1078992"/>
            <a:ext cx="8412480" cy="749808"/>
          </a:xfrm>
          <a:prstGeom prst="roundRect">
            <a:avLst>
              <a:gd name="adj" fmla="val 9756"/>
            </a:avLst>
          </a:prstGeom>
          <a:solidFill>
            <a:srgbClr val="E8F8EF"/>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170432"/>
            <a:ext cx="7863840" cy="566928"/>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Annemarie </a:t>
            </a:r>
            <a:pPr indent="0" marL="0">
              <a:buNone/>
            </a:pPr>
            <a:r>
              <a:rPr lang="en-US" sz="1500" b="1" u="sng" dirty="0">
                <a:solidFill>
                  <a:srgbClr val="34B76F"/>
                </a:solidFill>
                <a:latin typeface="Calibri" pitchFamily="34" charset="0"/>
                <a:ea typeface="Calibri" pitchFamily="34" charset="-122"/>
                <a:cs typeface="Calibri" pitchFamily="34" charset="-120"/>
              </a:rPr>
              <a:t>didn’t</a:t>
            </a:r>
            <a:pPr indent="0" marL="0">
              <a:buNone/>
            </a:pPr>
            <a:r>
              <a:rPr lang="en-US" sz="1500" dirty="0">
                <a:solidFill>
                  <a:srgbClr val="1E293B"/>
                </a:solidFill>
                <a:latin typeface="Calibri" pitchFamily="34" charset="0"/>
                <a:ea typeface="Calibri" pitchFamily="34" charset="-122"/>
                <a:cs typeface="Calibri" pitchFamily="34" charset="-120"/>
              </a:rPr>
              <a:t> understand the lie.</a:t>
            </a:r>
            <a:endParaRPr lang="en-US" sz="1500" dirty="0"/>
          </a:p>
        </p:txBody>
      </p:sp>
      <p:sp>
        <p:nvSpPr>
          <p:cNvPr id="9" name="Shape 7"/>
          <p:cNvSpPr/>
          <p:nvPr/>
        </p:nvSpPr>
        <p:spPr>
          <a:xfrm>
            <a:off x="365760" y="1920240"/>
            <a:ext cx="8412480" cy="749808"/>
          </a:xfrm>
          <a:prstGeom prst="roundRect">
            <a:avLst>
              <a:gd name="adj" fmla="val 9756"/>
            </a:avLst>
          </a:prstGeom>
          <a:solidFill>
            <a:srgbClr val="E8F8EF"/>
          </a:solidFill>
          <a:ln/>
          <a:effectLst>
            <a:outerShdw sx="100000" sy="100000" kx="0" ky="0" algn="bl" rotWithShape="0" blurRad="101600" dist="38100" dir="2700000">
              <a:srgbClr val="000000">
                <a:alpha val="12000"/>
              </a:srgbClr>
            </a:outerShdw>
          </a:effectLst>
        </p:spPr>
      </p:sp>
      <p:sp>
        <p:nvSpPr>
          <p:cNvPr id="10" name="Text 8"/>
          <p:cNvSpPr/>
          <p:nvPr/>
        </p:nvSpPr>
        <p:spPr>
          <a:xfrm>
            <a:off x="594360" y="2011680"/>
            <a:ext cx="7863840" cy="566928"/>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Peter </a:t>
            </a:r>
            <a:pPr indent="0" marL="0">
              <a:buNone/>
            </a:pPr>
            <a:r>
              <a:rPr lang="en-US" sz="1500" b="1" u="sng" dirty="0">
                <a:solidFill>
                  <a:srgbClr val="34B76F"/>
                </a:solidFill>
                <a:latin typeface="Calibri" pitchFamily="34" charset="0"/>
                <a:ea typeface="Calibri" pitchFamily="34" charset="-122"/>
                <a:cs typeface="Calibri" pitchFamily="34" charset="-120"/>
              </a:rPr>
              <a:t>won’t</a:t>
            </a:r>
            <a:pPr indent="0" marL="0">
              <a:buNone/>
            </a:pPr>
            <a:r>
              <a:rPr lang="en-US" sz="1500" dirty="0">
                <a:solidFill>
                  <a:srgbClr val="1E293B"/>
                </a:solidFill>
                <a:latin typeface="Calibri" pitchFamily="34" charset="0"/>
                <a:ea typeface="Calibri" pitchFamily="34" charset="-122"/>
                <a:cs typeface="Calibri" pitchFamily="34" charset="-120"/>
              </a:rPr>
              <a:t> see the Rosens for a long time.</a:t>
            </a:r>
            <a:endParaRPr lang="en-US" sz="1500" dirty="0"/>
          </a:p>
        </p:txBody>
      </p:sp>
      <p:sp>
        <p:nvSpPr>
          <p:cNvPr id="11" name="Shape 9"/>
          <p:cNvSpPr/>
          <p:nvPr/>
        </p:nvSpPr>
        <p:spPr>
          <a:xfrm>
            <a:off x="365760" y="2761488"/>
            <a:ext cx="8412480" cy="749808"/>
          </a:xfrm>
          <a:prstGeom prst="roundRect">
            <a:avLst>
              <a:gd name="adj" fmla="val 9756"/>
            </a:avLst>
          </a:prstGeom>
          <a:solidFill>
            <a:srgbClr val="E8F8EF"/>
          </a:solidFill>
          <a:ln/>
          <a:effectLst>
            <a:outerShdw sx="100000" sy="100000" kx="0" ky="0" algn="bl" rotWithShape="0" blurRad="101600" dist="38100" dir="2700000">
              <a:srgbClr val="000000">
                <a:alpha val="12000"/>
              </a:srgbClr>
            </a:outerShdw>
          </a:effectLst>
        </p:spPr>
      </p:sp>
      <p:sp>
        <p:nvSpPr>
          <p:cNvPr id="12" name="Text 10"/>
          <p:cNvSpPr/>
          <p:nvPr/>
        </p:nvSpPr>
        <p:spPr>
          <a:xfrm>
            <a:off x="594360" y="2852928"/>
            <a:ext cx="7863840" cy="566928"/>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Henrik </a:t>
            </a:r>
            <a:pPr indent="0" marL="0">
              <a:buNone/>
            </a:pPr>
            <a:r>
              <a:rPr lang="en-US" sz="1500" b="1" u="sng" dirty="0">
                <a:solidFill>
                  <a:srgbClr val="34B76F"/>
                </a:solidFill>
                <a:latin typeface="Calibri" pitchFamily="34" charset="0"/>
                <a:ea typeface="Calibri" pitchFamily="34" charset="-122"/>
                <a:cs typeface="Calibri" pitchFamily="34" charset="-120"/>
              </a:rPr>
              <a:t>can’t</a:t>
            </a:r>
            <a:pPr indent="0" marL="0">
              <a:buNone/>
            </a:pPr>
            <a:r>
              <a:rPr lang="en-US" sz="1500" dirty="0">
                <a:solidFill>
                  <a:srgbClr val="1E293B"/>
                </a:solidFill>
                <a:latin typeface="Calibri" pitchFamily="34" charset="0"/>
                <a:ea typeface="Calibri" pitchFamily="34" charset="-122"/>
                <a:cs typeface="Calibri" pitchFamily="34" charset="-120"/>
              </a:rPr>
              <a:t> tell her everything.</a:t>
            </a:r>
            <a:endParaRPr lang="en-US" sz="15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Spelling - Spelling: Consonant-le Review</a:t>
            </a:r>
            <a:endParaRPr lang="en-US" sz="2800" dirty="0"/>
          </a:p>
        </p:txBody>
      </p:sp>
      <p:sp>
        <p:nvSpPr>
          <p:cNvPr id="3" name="Shape 1"/>
          <p:cNvSpPr/>
          <p:nvPr/>
        </p:nvSpPr>
        <p:spPr>
          <a:xfrm>
            <a:off x="365760" y="749808"/>
            <a:ext cx="8412480" cy="0"/>
          </a:xfrm>
          <a:prstGeom prst="line">
            <a:avLst/>
          </a:prstGeom>
          <a:noFill/>
          <a:ln w="19050">
            <a:solidFill>
              <a:srgbClr val="6E9BD9"/>
            </a:solidFill>
            <a:prstDash val="solid"/>
          </a:ln>
        </p:spPr>
      </p:sp>
      <p:sp>
        <p:nvSpPr>
          <p:cNvPr id="4" name="Shape 2"/>
          <p:cNvSpPr/>
          <p:nvPr/>
        </p:nvSpPr>
        <p:spPr>
          <a:xfrm>
            <a:off x="6492240" y="173736"/>
            <a:ext cx="2286000" cy="502920"/>
          </a:xfrm>
          <a:prstGeom prst="roundRect">
            <a:avLst>
              <a:gd name="adj" fmla="val 21818"/>
            </a:avLst>
          </a:prstGeom>
          <a:solidFill>
            <a:srgbClr val="6E9BD9"/>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SORT THE WORDS</a:t>
            </a:r>
            <a:endParaRPr lang="en-US" sz="1100" dirty="0"/>
          </a:p>
        </p:txBody>
      </p:sp>
      <p:sp>
        <p:nvSpPr>
          <p:cNvPr id="7" name="Shape 5"/>
          <p:cNvSpPr/>
          <p:nvPr/>
        </p:nvSpPr>
        <p:spPr>
          <a:xfrm>
            <a:off x="365760" y="1024128"/>
            <a:ext cx="8412480" cy="685800"/>
          </a:xfrm>
          <a:prstGeom prst="roundRect">
            <a:avLst>
              <a:gd name="adj" fmla="val 13333"/>
            </a:avLst>
          </a:prstGeom>
          <a:solidFill>
            <a:srgbClr val="F8FAFC"/>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078992"/>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WORD BANK</a:t>
            </a:r>
            <a:endParaRPr lang="en-US" sz="1100" dirty="0"/>
          </a:p>
        </p:txBody>
      </p:sp>
      <p:sp>
        <p:nvSpPr>
          <p:cNvPr id="9" name="Text 7"/>
          <p:cNvSpPr/>
          <p:nvPr/>
        </p:nvSpPr>
        <p:spPr>
          <a:xfrm>
            <a:off x="594360" y="1325880"/>
            <a:ext cx="7863840" cy="320040"/>
          </a:xfrm>
          <a:prstGeom prst="rect">
            <a:avLst/>
          </a:prstGeom>
          <a:noFill/>
          <a:ln/>
        </p:spPr>
        <p:txBody>
          <a:bodyPr wrap="square" lIns="0" tIns="0" rIns="0" bIns="0" rtlCol="0" anchor="ctr"/>
          <a:lstStyle/>
          <a:p>
            <a:pPr indent="0" marL="0">
              <a:buNone/>
            </a:pPr>
            <a:r>
              <a:rPr lang="en-US" sz="1600" b="1" dirty="0">
                <a:solidFill>
                  <a:srgbClr val="0E1C42"/>
                </a:solidFill>
                <a:latin typeface="Calibri" pitchFamily="34" charset="0"/>
                <a:ea typeface="Calibri" pitchFamily="34" charset="-122"/>
                <a:cs typeface="Calibri" pitchFamily="34" charset="-120"/>
              </a:rPr>
              <a:t>little   -   simple   -   gentle   -   candle   -   needle   -   trouble</a:t>
            </a:r>
            <a:endParaRPr lang="en-US" sz="1600" dirty="0"/>
          </a:p>
        </p:txBody>
      </p:sp>
      <p:sp>
        <p:nvSpPr>
          <p:cNvPr id="10" name="Text 8"/>
          <p:cNvSpPr/>
          <p:nvPr/>
        </p:nvSpPr>
        <p:spPr>
          <a:xfrm>
            <a:off x="365760" y="187452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SORT INTO GROUPS</a:t>
            </a:r>
            <a:endParaRPr lang="en-US" sz="1100" dirty="0"/>
          </a:p>
        </p:txBody>
      </p:sp>
      <p:sp>
        <p:nvSpPr>
          <p:cNvPr id="11" name="Shape 9"/>
          <p:cNvSpPr/>
          <p:nvPr/>
        </p:nvSpPr>
        <p:spPr>
          <a:xfrm>
            <a:off x="365760" y="2176272"/>
            <a:ext cx="4114800" cy="1051560"/>
          </a:xfrm>
          <a:prstGeom prst="roundRect">
            <a:avLst>
              <a:gd name="adj" fmla="val 8696"/>
            </a:avLst>
          </a:prstGeom>
          <a:solidFill>
            <a:srgbClr val="E8F8EF"/>
          </a:solidFill>
          <a:ln w="19050">
            <a:solidFill>
              <a:srgbClr val="4A7C2E"/>
            </a:solidFill>
            <a:prstDash val="solid"/>
          </a:ln>
        </p:spPr>
      </p:sp>
      <p:sp>
        <p:nvSpPr>
          <p:cNvPr id="12" name="Text 10"/>
          <p:cNvSpPr/>
          <p:nvPr/>
        </p:nvSpPr>
        <p:spPr>
          <a:xfrm>
            <a:off x="502920" y="2286000"/>
            <a:ext cx="3840480" cy="411480"/>
          </a:xfrm>
          <a:prstGeom prst="rect">
            <a:avLst/>
          </a:prstGeom>
          <a:noFill/>
          <a:ln/>
        </p:spPr>
        <p:txBody>
          <a:bodyPr wrap="square" lIns="0" tIns="0" rIns="0" bIns="0" rtlCol="0" anchor="ctr"/>
          <a:lstStyle/>
          <a:p>
            <a:pPr indent="0" marL="0">
              <a:buNone/>
            </a:pPr>
            <a:r>
              <a:rPr lang="en-US" sz="1300" b="1" dirty="0">
                <a:solidFill>
                  <a:srgbClr val="4A7C2E"/>
                </a:solidFill>
                <a:latin typeface="Calibri" pitchFamily="34" charset="0"/>
                <a:ea typeface="Calibri" pitchFamily="34" charset="-122"/>
                <a:cs typeface="Calibri" pitchFamily="34" charset="-120"/>
              </a:rPr>
              <a:t>Consonant + LE (-tle, -ple, -tle)</a:t>
            </a:r>
            <a:endParaRPr lang="en-US" sz="1300" dirty="0"/>
          </a:p>
        </p:txBody>
      </p:sp>
      <p:sp>
        <p:nvSpPr>
          <p:cNvPr id="13" name="Shape 11"/>
          <p:cNvSpPr/>
          <p:nvPr/>
        </p:nvSpPr>
        <p:spPr>
          <a:xfrm>
            <a:off x="4800600" y="2176272"/>
            <a:ext cx="4114800" cy="1051560"/>
          </a:xfrm>
          <a:prstGeom prst="roundRect">
            <a:avLst>
              <a:gd name="adj" fmla="val 8696"/>
            </a:avLst>
          </a:prstGeom>
          <a:solidFill>
            <a:srgbClr val="F0E8FF"/>
          </a:solidFill>
          <a:ln w="19050">
            <a:solidFill>
              <a:srgbClr val="5C2D91"/>
            </a:solidFill>
            <a:prstDash val="solid"/>
          </a:ln>
        </p:spPr>
      </p:sp>
      <p:sp>
        <p:nvSpPr>
          <p:cNvPr id="14" name="Text 12"/>
          <p:cNvSpPr/>
          <p:nvPr/>
        </p:nvSpPr>
        <p:spPr>
          <a:xfrm>
            <a:off x="4937760" y="2286000"/>
            <a:ext cx="3840480" cy="411480"/>
          </a:xfrm>
          <a:prstGeom prst="rect">
            <a:avLst/>
          </a:prstGeom>
          <a:noFill/>
          <a:ln/>
        </p:spPr>
        <p:txBody>
          <a:bodyPr wrap="square" lIns="0" tIns="0" rIns="0" bIns="0" rtlCol="0" anchor="ctr"/>
          <a:lstStyle/>
          <a:p>
            <a:pPr indent="0" marL="0">
              <a:buNone/>
            </a:pPr>
            <a:r>
              <a:rPr lang="en-US" sz="1300" b="1" dirty="0">
                <a:solidFill>
                  <a:srgbClr val="5C2D91"/>
                </a:solidFill>
                <a:latin typeface="Calibri" pitchFamily="34" charset="0"/>
                <a:ea typeface="Calibri" pitchFamily="34" charset="-122"/>
                <a:cs typeface="Calibri" pitchFamily="34" charset="-120"/>
              </a:rPr>
              <a:t>Consonant + LE (-dle, -ble)</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Spelling - Spelling: Consonant-le Review</a:t>
            </a:r>
            <a:endParaRPr lang="en-US" sz="2800" dirty="0"/>
          </a:p>
        </p:txBody>
      </p:sp>
      <p:sp>
        <p:nvSpPr>
          <p:cNvPr id="3" name="Shape 1"/>
          <p:cNvSpPr/>
          <p:nvPr/>
        </p:nvSpPr>
        <p:spPr>
          <a:xfrm>
            <a:off x="365760" y="749808"/>
            <a:ext cx="8412480" cy="0"/>
          </a:xfrm>
          <a:prstGeom prst="line">
            <a:avLst/>
          </a:prstGeom>
          <a:noFill/>
          <a:ln w="19050">
            <a:solidFill>
              <a:srgbClr val="6E9BD9"/>
            </a:solidFill>
            <a:prstDash val="solid"/>
          </a:ln>
        </p:spPr>
      </p:sp>
      <p:sp>
        <p:nvSpPr>
          <p:cNvPr id="4" name="Shape 2"/>
          <p:cNvSpPr/>
          <p:nvPr/>
        </p:nvSpPr>
        <p:spPr>
          <a:xfrm>
            <a:off x="6492240" y="173736"/>
            <a:ext cx="2286000" cy="502920"/>
          </a:xfrm>
          <a:prstGeom prst="roundRect">
            <a:avLst>
              <a:gd name="adj" fmla="val 21818"/>
            </a:avLst>
          </a:prstGeom>
          <a:solidFill>
            <a:srgbClr val="6E9BD9"/>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SORTED</a:t>
            </a:r>
            <a:endParaRPr lang="en-US" sz="1100" dirty="0"/>
          </a:p>
        </p:txBody>
      </p:sp>
      <p:sp>
        <p:nvSpPr>
          <p:cNvPr id="7" name="Shape 5"/>
          <p:cNvSpPr/>
          <p:nvPr/>
        </p:nvSpPr>
        <p:spPr>
          <a:xfrm>
            <a:off x="365760" y="1024128"/>
            <a:ext cx="4114800" cy="1453896"/>
          </a:xfrm>
          <a:prstGeom prst="roundRect">
            <a:avLst>
              <a:gd name="adj" fmla="val 6289"/>
            </a:avLst>
          </a:prstGeom>
          <a:solidFill>
            <a:srgbClr val="E8F8EF"/>
          </a:solidFill>
          <a:ln w="19050">
            <a:solidFill>
              <a:srgbClr val="4A7C2E"/>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02920" y="1097280"/>
            <a:ext cx="3840480" cy="347472"/>
          </a:xfrm>
          <a:prstGeom prst="rect">
            <a:avLst/>
          </a:prstGeom>
          <a:noFill/>
          <a:ln/>
        </p:spPr>
        <p:txBody>
          <a:bodyPr wrap="square" lIns="0" tIns="0" rIns="0" bIns="0" rtlCol="0" anchor="ctr"/>
          <a:lstStyle/>
          <a:p>
            <a:pPr indent="0" marL="0">
              <a:buNone/>
            </a:pPr>
            <a:r>
              <a:rPr lang="en-US" sz="1200" b="1" dirty="0">
                <a:solidFill>
                  <a:srgbClr val="4A7C2E"/>
                </a:solidFill>
                <a:latin typeface="Calibri" pitchFamily="34" charset="0"/>
                <a:ea typeface="Calibri" pitchFamily="34" charset="-122"/>
                <a:cs typeface="Calibri" pitchFamily="34" charset="-120"/>
              </a:rPr>
              <a:t>Consonant + LE (-tle, -ple, -tle)</a:t>
            </a:r>
            <a:endParaRPr lang="en-US" sz="1200" dirty="0"/>
          </a:p>
        </p:txBody>
      </p:sp>
      <p:sp>
        <p:nvSpPr>
          <p:cNvPr id="9" name="Text 7"/>
          <p:cNvSpPr/>
          <p:nvPr/>
        </p:nvSpPr>
        <p:spPr>
          <a:xfrm>
            <a:off x="594360" y="1463040"/>
            <a:ext cx="3749040" cy="32004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little</a:t>
            </a:r>
            <a:endParaRPr lang="en-US" sz="1400" dirty="0"/>
          </a:p>
        </p:txBody>
      </p:sp>
      <p:sp>
        <p:nvSpPr>
          <p:cNvPr id="10" name="Text 8"/>
          <p:cNvSpPr/>
          <p:nvPr/>
        </p:nvSpPr>
        <p:spPr>
          <a:xfrm>
            <a:off x="594360" y="1810512"/>
            <a:ext cx="3749040" cy="32004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simple</a:t>
            </a:r>
            <a:endParaRPr lang="en-US" sz="1400" dirty="0"/>
          </a:p>
        </p:txBody>
      </p:sp>
      <p:sp>
        <p:nvSpPr>
          <p:cNvPr id="11" name="Text 9"/>
          <p:cNvSpPr/>
          <p:nvPr/>
        </p:nvSpPr>
        <p:spPr>
          <a:xfrm>
            <a:off x="594360" y="2157984"/>
            <a:ext cx="3749040" cy="32004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gentle</a:t>
            </a:r>
            <a:endParaRPr lang="en-US" sz="1400" dirty="0"/>
          </a:p>
        </p:txBody>
      </p:sp>
      <p:sp>
        <p:nvSpPr>
          <p:cNvPr id="12" name="Shape 10"/>
          <p:cNvSpPr/>
          <p:nvPr/>
        </p:nvSpPr>
        <p:spPr>
          <a:xfrm>
            <a:off x="4681728" y="1024128"/>
            <a:ext cx="4114800" cy="1453896"/>
          </a:xfrm>
          <a:prstGeom prst="roundRect">
            <a:avLst>
              <a:gd name="adj" fmla="val 6289"/>
            </a:avLst>
          </a:prstGeom>
          <a:solidFill>
            <a:srgbClr val="F0E8FF"/>
          </a:solidFill>
          <a:ln w="19050">
            <a:solidFill>
              <a:srgbClr val="5C2D91"/>
            </a:solidFill>
            <a:prstDash val="solid"/>
          </a:ln>
          <a:effectLst>
            <a:outerShdw sx="100000" sy="100000" kx="0" ky="0" algn="bl" rotWithShape="0" blurRad="101600" dist="38100" dir="2700000">
              <a:srgbClr val="000000">
                <a:alpha val="12000"/>
              </a:srgbClr>
            </a:outerShdw>
          </a:effectLst>
        </p:spPr>
      </p:sp>
      <p:sp>
        <p:nvSpPr>
          <p:cNvPr id="13" name="Text 11"/>
          <p:cNvSpPr/>
          <p:nvPr/>
        </p:nvSpPr>
        <p:spPr>
          <a:xfrm>
            <a:off x="4818888" y="1097280"/>
            <a:ext cx="3840480" cy="347472"/>
          </a:xfrm>
          <a:prstGeom prst="rect">
            <a:avLst/>
          </a:prstGeom>
          <a:noFill/>
          <a:ln/>
        </p:spPr>
        <p:txBody>
          <a:bodyPr wrap="square" lIns="0" tIns="0" rIns="0" bIns="0" rtlCol="0" anchor="ctr"/>
          <a:lstStyle/>
          <a:p>
            <a:pPr indent="0" marL="0">
              <a:buNone/>
            </a:pPr>
            <a:r>
              <a:rPr lang="en-US" sz="1200" b="1" dirty="0">
                <a:solidFill>
                  <a:srgbClr val="5C2D91"/>
                </a:solidFill>
                <a:latin typeface="Calibri" pitchFamily="34" charset="0"/>
                <a:ea typeface="Calibri" pitchFamily="34" charset="-122"/>
                <a:cs typeface="Calibri" pitchFamily="34" charset="-120"/>
              </a:rPr>
              <a:t>Consonant + LE (-dle, -ble)</a:t>
            </a:r>
            <a:endParaRPr lang="en-US" sz="1200" dirty="0"/>
          </a:p>
        </p:txBody>
      </p:sp>
      <p:sp>
        <p:nvSpPr>
          <p:cNvPr id="14" name="Text 12"/>
          <p:cNvSpPr/>
          <p:nvPr/>
        </p:nvSpPr>
        <p:spPr>
          <a:xfrm>
            <a:off x="4910328" y="1463040"/>
            <a:ext cx="3749040" cy="32004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candle</a:t>
            </a:r>
            <a:endParaRPr lang="en-US" sz="1400" dirty="0"/>
          </a:p>
        </p:txBody>
      </p:sp>
      <p:sp>
        <p:nvSpPr>
          <p:cNvPr id="15" name="Text 13"/>
          <p:cNvSpPr/>
          <p:nvPr/>
        </p:nvSpPr>
        <p:spPr>
          <a:xfrm>
            <a:off x="4910328" y="1810512"/>
            <a:ext cx="3749040" cy="32004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needle</a:t>
            </a:r>
            <a:endParaRPr lang="en-US" sz="1400" dirty="0"/>
          </a:p>
        </p:txBody>
      </p:sp>
      <p:sp>
        <p:nvSpPr>
          <p:cNvPr id="16" name="Text 14"/>
          <p:cNvSpPr/>
          <p:nvPr/>
        </p:nvSpPr>
        <p:spPr>
          <a:xfrm>
            <a:off x="4910328" y="2157984"/>
            <a:ext cx="3749040" cy="32004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trouble</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Reading - Chapter 9</a:t>
            </a:r>
            <a:endParaRPr lang="en-US" sz="2800" dirty="0"/>
          </a:p>
        </p:txBody>
      </p:sp>
      <p:sp>
        <p:nvSpPr>
          <p:cNvPr id="3" name="Shape 1"/>
          <p:cNvSpPr/>
          <p:nvPr/>
        </p:nvSpPr>
        <p:spPr>
          <a:xfrm>
            <a:off x="365760" y="749808"/>
            <a:ext cx="8412480" cy="0"/>
          </a:xfrm>
          <a:prstGeom prst="line">
            <a:avLst/>
          </a:prstGeom>
          <a:noFill/>
          <a:ln w="19050">
            <a:solidFill>
              <a:srgbClr val="6E9BD9"/>
            </a:solidFill>
            <a:prstDash val="solid"/>
          </a:ln>
        </p:spPr>
      </p:sp>
      <p:sp>
        <p:nvSpPr>
          <p:cNvPr id="4" name="Text 2"/>
          <p:cNvSpPr/>
          <p:nvPr/>
        </p:nvSpPr>
        <p:spPr>
          <a:xfrm>
            <a:off x="457200" y="841248"/>
            <a:ext cx="8229600" cy="502920"/>
          </a:xfrm>
          <a:prstGeom prst="rect">
            <a:avLst/>
          </a:prstGeom>
          <a:noFill/>
          <a:ln/>
        </p:spPr>
        <p:txBody>
          <a:bodyPr wrap="square" lIns="0" tIns="0" rIns="0" bIns="0" rtlCol="0" anchor="ctr"/>
          <a:lstStyle/>
          <a:p>
            <a:pPr indent="0" marL="0">
              <a:buNone/>
            </a:pPr>
            <a:r>
              <a:rPr lang="en-US" sz="1700" b="1" i="1" dirty="0">
                <a:solidFill>
                  <a:srgbClr val="0E1C42"/>
                </a:solidFill>
                <a:latin typeface="Calibri" pitchFamily="34" charset="0"/>
                <a:ea typeface="Calibri" pitchFamily="34" charset="-122"/>
                <a:cs typeface="Calibri" pitchFamily="34" charset="-120"/>
              </a:rPr>
              <a:t>Henrik's Promise</a:t>
            </a:r>
            <a:endParaRPr lang="en-US" sz="1700" dirty="0"/>
          </a:p>
        </p:txBody>
      </p:sp>
      <p:sp>
        <p:nvSpPr>
          <p:cNvPr id="5" name="Text 3"/>
          <p:cNvSpPr/>
          <p:nvPr/>
        </p:nvSpPr>
        <p:spPr>
          <a:xfrm>
            <a:off x="365760" y="146304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PAUSE &amp; THINK</a:t>
            </a:r>
            <a:endParaRPr lang="en-US" sz="1100" dirty="0"/>
          </a:p>
        </p:txBody>
      </p:sp>
      <p:sp>
        <p:nvSpPr>
          <p:cNvPr id="6" name="Shape 4"/>
          <p:cNvSpPr/>
          <p:nvPr/>
        </p:nvSpPr>
        <p:spPr>
          <a:xfrm>
            <a:off x="365760" y="1719072"/>
            <a:ext cx="8412480" cy="685800"/>
          </a:xfrm>
          <a:prstGeom prst="roundRect">
            <a:avLst>
              <a:gd name="adj" fmla="val 10667"/>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7" name="Text 5"/>
          <p:cNvSpPr/>
          <p:nvPr/>
        </p:nvSpPr>
        <p:spPr>
          <a:xfrm>
            <a:off x="594360" y="1810512"/>
            <a:ext cx="7863840" cy="50292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1.  Say little. The -tle at the end is a syllable by itself. What letter pattern is it?</a:t>
            </a:r>
            <a:endParaRPr lang="en-US" sz="1400" dirty="0"/>
          </a:p>
        </p:txBody>
      </p:sp>
      <p:sp>
        <p:nvSpPr>
          <p:cNvPr id="8" name="Shape 6"/>
          <p:cNvSpPr/>
          <p:nvPr/>
        </p:nvSpPr>
        <p:spPr>
          <a:xfrm>
            <a:off x="365760" y="2514600"/>
            <a:ext cx="8412480" cy="685800"/>
          </a:xfrm>
          <a:prstGeom prst="roundRect">
            <a:avLst>
              <a:gd name="adj" fmla="val 10667"/>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9" name="Text 7"/>
          <p:cNvSpPr/>
          <p:nvPr/>
        </p:nvSpPr>
        <p:spPr>
          <a:xfrm>
            <a:off x="594360" y="2606040"/>
            <a:ext cx="7863840" cy="50292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2.  Say candle. Same pattern: consonant + l + e. The -dle is one syllable.</a:t>
            </a:r>
            <a:endParaRPr lang="en-US" sz="1400" dirty="0"/>
          </a:p>
        </p:txBody>
      </p:sp>
      <p:sp>
        <p:nvSpPr>
          <p:cNvPr id="10" name="Shape 8"/>
          <p:cNvSpPr/>
          <p:nvPr/>
        </p:nvSpPr>
        <p:spPr>
          <a:xfrm>
            <a:off x="365760" y="3310128"/>
            <a:ext cx="8412480" cy="822960"/>
          </a:xfrm>
          <a:prstGeom prst="roundRect">
            <a:avLst>
              <a:gd name="adj" fmla="val 8889"/>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11" name="Text 9"/>
          <p:cNvSpPr/>
          <p:nvPr/>
        </p:nvSpPr>
        <p:spPr>
          <a:xfrm>
            <a:off x="594360" y="3401568"/>
            <a:ext cx="7863840" cy="64008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3.  Why does it help to know this pattern? (Hint: when you SEE consonant-le at the end of a word, you know how to break it into syllables for reading.)</a:t>
            </a:r>
            <a:endParaRPr lang="en-US" sz="1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Writer's Workshop</a:t>
            </a:r>
            <a:endParaRPr lang="en-US" sz="2800" dirty="0"/>
          </a:p>
        </p:txBody>
      </p:sp>
      <p:sp>
        <p:nvSpPr>
          <p:cNvPr id="3" name="Shape 1"/>
          <p:cNvSpPr/>
          <p:nvPr/>
        </p:nvSpPr>
        <p:spPr>
          <a:xfrm>
            <a:off x="365760" y="749808"/>
            <a:ext cx="8412480" cy="0"/>
          </a:xfrm>
          <a:prstGeom prst="line">
            <a:avLst/>
          </a:prstGeom>
          <a:noFill/>
          <a:ln w="19050">
            <a:solidFill>
              <a:srgbClr val="6E9BD9"/>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WRITING STAGE</a:t>
            </a:r>
            <a:endParaRPr lang="en-US" sz="1100" dirty="0"/>
          </a:p>
        </p:txBody>
      </p:sp>
      <p:sp>
        <p:nvSpPr>
          <p:cNvPr id="5" name="Shape 3"/>
          <p:cNvSpPr/>
          <p:nvPr/>
        </p:nvSpPr>
        <p:spPr>
          <a:xfrm>
            <a:off x="365760" y="1042416"/>
            <a:ext cx="8412480" cy="658368"/>
          </a:xfrm>
          <a:prstGeom prst="roundRect">
            <a:avLst>
              <a:gd name="adj" fmla="val 13889"/>
            </a:avLst>
          </a:prstGeom>
          <a:solidFill>
            <a:srgbClr val="FEF6E8"/>
          </a:solidFill>
          <a:ln/>
          <a:effectLst>
            <a:outerShdw sx="100000" sy="100000" kx="0" ky="0" algn="bl" rotWithShape="0" blurRad="101600" dist="38100" dir="2700000">
              <a:srgbClr val="000000">
                <a:alpha val="12000"/>
              </a:srgbClr>
            </a:outerShdw>
          </a:effectLst>
        </p:spPr>
      </p:sp>
      <p:sp>
        <p:nvSpPr>
          <p:cNvPr id="6" name="Text 4"/>
          <p:cNvSpPr/>
          <p:nvPr/>
        </p:nvSpPr>
        <p:spPr>
          <a:xfrm>
            <a:off x="594360" y="1133856"/>
            <a:ext cx="7863840" cy="475488"/>
          </a:xfrm>
          <a:prstGeom prst="rect">
            <a:avLst/>
          </a:prstGeom>
          <a:noFill/>
          <a:ln/>
        </p:spPr>
        <p:txBody>
          <a:bodyPr wrap="square" lIns="0" tIns="0" rIns="0" bIns="0" rtlCol="0" anchor="ctr"/>
          <a:lstStyle/>
          <a:p>
            <a:pPr indent="0" marL="0">
              <a:buNone/>
            </a:pPr>
            <a:r>
              <a:rPr lang="en-US" sz="2200" b="1" dirty="0">
                <a:solidFill>
                  <a:srgbClr val="C7922C"/>
                </a:solidFill>
                <a:latin typeface="Calibri" pitchFamily="34" charset="0"/>
                <a:ea typeface="Calibri" pitchFamily="34" charset="-122"/>
                <a:cs typeface="Calibri" pitchFamily="34" charset="-120"/>
              </a:rPr>
              <a:t>Opinion Essay — Claim</a:t>
            </a:r>
            <a:endParaRPr lang="en-US" sz="2200" dirty="0"/>
          </a:p>
        </p:txBody>
      </p:sp>
      <p:sp>
        <p:nvSpPr>
          <p:cNvPr id="7" name="Text 5"/>
          <p:cNvSpPr/>
          <p:nvPr/>
        </p:nvSpPr>
        <p:spPr>
          <a:xfrm>
            <a:off x="365760" y="1828800"/>
            <a:ext cx="8046720" cy="292608"/>
          </a:xfrm>
          <a:prstGeom prst="rect">
            <a:avLst/>
          </a:prstGeom>
          <a:noFill/>
          <a:ln/>
        </p:spPr>
        <p:txBody>
          <a:bodyPr wrap="square" lIns="0" tIns="0" rIns="0" bIns="0" rtlCol="0" anchor="ctr"/>
          <a:lstStyle/>
          <a:p>
            <a:pPr indent="0" marL="0">
              <a:buNone/>
            </a:pPr>
            <a:r>
              <a:rPr lang="en-US" sz="1100" b="1" spc="200" kern="0" dirty="0">
                <a:solidFill>
                  <a:srgbClr val="0E1C42"/>
                </a:solidFill>
                <a:latin typeface="Calibri" pitchFamily="34" charset="0"/>
                <a:ea typeface="Calibri" pitchFamily="34" charset="-122"/>
                <a:cs typeface="Calibri" pitchFamily="34" charset="-120"/>
              </a:rPr>
              <a:t>TODAY'S FOCUS</a:t>
            </a:r>
            <a:endParaRPr lang="en-US" sz="1100" dirty="0"/>
          </a:p>
        </p:txBody>
      </p:sp>
      <p:sp>
        <p:nvSpPr>
          <p:cNvPr id="8" name="Text 6"/>
          <p:cNvSpPr/>
          <p:nvPr/>
        </p:nvSpPr>
        <p:spPr>
          <a:xfrm>
            <a:off x="457200" y="2084832"/>
            <a:ext cx="8229600" cy="594360"/>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Write your claim: what was Annemarie's bravest moment, and why does it matter?</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2026-07-11T22:13:23Z</dcterms:created>
  <dcterms:modified xsi:type="dcterms:W3CDTF">2026-07-11T22:13:23Z</dcterms:modified>
</cp:coreProperties>
</file>