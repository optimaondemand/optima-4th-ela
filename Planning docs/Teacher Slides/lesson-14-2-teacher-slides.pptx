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14, Day 2.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Edit for conventions only — capitals, punctuation, spelling — without changing your ideas.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12-minute timer. Craft move: Edit for conventions only — capitals, punctuation, spelling — without changing your ideas.. Level-up: ⭐ Fix 3 things  ⭐⭐ Fix 5 things  ⭐⭐⭐ Find one run-on sentence and fix it  ⭐⭐⭐⭐ Read your whole essay aloud to catch what your eyes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Today is an editing day, not a revising day — only fix conventions, not ideas..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"Share one mistake you found and fixed while editing."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Anne experienced her first winter away at Queen’s Academy. Today: Celebrate Anne’s incredible achievement — the Avery scholarship. Big Q: Today, watch for how the author introduces Anne. What does she say? What does she do? How does her voice make her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"Anne had won the Avery scholarship."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"matthew has worked his whole life he must rest now" Corrected: "Matthew has worked his whole life. He must rest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"matthew has worked his whole life he must rest now" Corrected: "Matthew has worked his whole life. He must rest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ambition: A strong desire to achieve something important. | sanctifying: Making something feel holy or set apart; deeply changing. | consolation: Comfort given to someone who is sad or disappointed. | obstinate: Stubborn; refusing to give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"Anne had won the Avery scholarship." -&gt; had | "Marilla must rest her eyes." -&gt; must | "Matthew would rather have Anne." -&gt; would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"Anne had won the Avery scholarship." -&gt; had | "Marilla must rest her eyes." -&gt; must | "Matthew would rather have Anne." -&gt; would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y → i (consonant + y): crying, babies, cried | Doubled consonant (short word + vowel suffix): hopping, running, sitting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y → i (consonant + y): crying, babies, cried | Doubled consonant (short word + vowel suffix): hopping, running, sitting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"“It was the last night before sorrow touched her life; and no life is ever quite the same again when once that cold, sanctifying touch has been laid upon it.”"
Craft: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Character Growth Essay — Edit
Focus: Edit your essay for capitalization, punctuation, and spelling.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B2E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D98BB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D98BB0"/>
                </a:solidFill>
                <a:latin typeface="Calibri" pitchFamily="34" charset="0"/>
                <a:ea typeface="Calibri" pitchFamily="34" charset="-122"/>
                <a:cs typeface="Calibri" pitchFamily="34" charset="-120"/>
              </a:rPr>
              <a:t>WEEK 14  ·  DAY 2</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36</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The Glory and the Dream</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14  ·  Virtue: Imagination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had won the Avery scholarship.</a:t>
            </a:r>
            <a:endParaRPr lang="en-US" sz="1600" dirty="0"/>
          </a:p>
        </p:txBody>
      </p:sp>
      <p:sp>
        <p:nvSpPr>
          <p:cNvPr id="7" name="Text 5"/>
          <p:cNvSpPr/>
          <p:nvPr/>
        </p:nvSpPr>
        <p:spPr>
          <a:xfrm>
            <a:off x="548640" y="2496312"/>
            <a:ext cx="8046720" cy="2441448"/>
          </a:xfrm>
          <a:prstGeom prst="rect">
            <a:avLst/>
          </a:prstGeom>
          <a:noFill/>
          <a:ln/>
        </p:spPr>
        <p:txBody>
          <a:bodyPr wrap="square" lIns="0" tIns="0" rIns="0" bIns="0" rtlCol="0" anchor="t"/>
          <a:lstStyle/>
          <a:p>
            <a:pPr indent="0" marL="0">
              <a:buNone/>
            </a:pPr>
            <a:r>
              <a:rPr lang="en-US" sz="1200" b="1" dirty="0">
                <a:solidFill>
                  <a:srgbClr val="8B6FC0"/>
                </a:solidFill>
                <a:latin typeface="Calibri" pitchFamily="34" charset="0"/>
                <a:ea typeface="Calibri" pitchFamily="34" charset="-122"/>
                <a:cs typeface="Calibri" pitchFamily="34" charset="-120"/>
              </a:rPr>
              <a:t>From the novel: </a:t>
            </a:r>
            <a:pPr indent="0" marL="0">
              <a:buNone/>
            </a:pPr>
            <a:r>
              <a:rPr lang="en-US" sz="1200" i="1" dirty="0">
                <a:solidFill>
                  <a:srgbClr val="1E293B"/>
                </a:solidFill>
                <a:latin typeface="Calibri" pitchFamily="34" charset="0"/>
                <a:ea typeface="Calibri" pitchFamily="34" charset="-122"/>
                <a:cs typeface="Calibri" pitchFamily="34" charset="-120"/>
              </a:rPr>
              <a:t>"It was the last night before sorrow touched her life; and no life is ever quite the same again after that."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How does this sentence prepare the reader for something sad, without saying exactly what happens yet?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12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Edit your essay for capitalization, punctuation, and spelling. Circle three things you fixed.</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Edit for conventions only — capitals, punctuation, spelling — without changing your ideas.</a:t>
            </a:r>
            <a:endParaRPr lang="en-US" sz="1300" dirty="0"/>
          </a:p>
        </p:txBody>
      </p:sp>
      <p:sp>
        <p:nvSpPr>
          <p:cNvPr id="8" name="Text 6"/>
          <p:cNvSpPr/>
          <p:nvPr/>
        </p:nvSpPr>
        <p:spPr>
          <a:xfrm>
            <a:off x="548640" y="2868168"/>
            <a:ext cx="8046720" cy="431292"/>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Fix 3 things  ⭐⭐ Fix 5 things  ⭐⭐⭐ Find one run-on sentence and fix it  ⭐⭐⭐⭐ Read your whole essay aloud to catch what your eyes missed</a:t>
            </a:r>
            <a:endParaRPr lang="en-US" sz="1150" dirty="0"/>
          </a:p>
        </p:txBody>
      </p:sp>
      <p:sp>
        <p:nvSpPr>
          <p:cNvPr id="9" name="Text 7"/>
          <p:cNvSpPr/>
          <p:nvPr/>
        </p:nvSpPr>
        <p:spPr>
          <a:xfrm>
            <a:off x="548640" y="3372612"/>
            <a:ext cx="8046720" cy="1656588"/>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Today is an editing day, not a revising day — only fix conventions, not ideas.</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Share one mistake you found and fixed while editing.</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Anne experienced her first winter away at Queen’s Academy.</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Celebrate Anne’s incredible achievement — the Avery scholarship.</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Today, watch for how the author introduces Anne. What does she say? What does she do? How does her voice make her real?</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notice character VOICE — the way a person's words sound, the words they choose, the things they get excited about. Anne has one of the most...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had won the Avery scholarship.</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matthew has worked his whole life he must rest now</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matthew has worked his whole life he must rest now</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350008"/>
            <a:ext cx="8412480" cy="708660"/>
          </a:xfrm>
          <a:prstGeom prst="roundRect">
            <a:avLst>
              <a:gd name="adj" fmla="val 1290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404872"/>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697480"/>
            <a:ext cx="7863840" cy="32461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Matthew has worked his whole life. He must rest now.</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4 WORDS - READ THE SENTENCE, THEN THE MEANING</a:t>
            </a:r>
            <a:endParaRPr lang="en-US" sz="1100" dirty="0"/>
          </a:p>
        </p:txBody>
      </p:sp>
      <p:sp>
        <p:nvSpPr>
          <p:cNvPr id="5" name="Shape 3"/>
          <p:cNvSpPr/>
          <p:nvPr/>
        </p:nvSpPr>
        <p:spPr>
          <a:xfrm>
            <a:off x="320040" y="914400"/>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ambition</a:t>
            </a:r>
            <a:endParaRPr lang="en-US" sz="1400" dirty="0"/>
          </a:p>
        </p:txBody>
      </p:sp>
      <p:sp>
        <p:nvSpPr>
          <p:cNvPr id="7" name="Text 5"/>
          <p:cNvSpPr/>
          <p:nvPr/>
        </p:nvSpPr>
        <p:spPr>
          <a:xfrm>
            <a:off x="457200" y="1316736"/>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 strong desire to achieve something important.</a:t>
            </a:r>
            <a:endParaRPr lang="en-US" sz="1100" dirty="0"/>
          </a:p>
        </p:txBody>
      </p:sp>
      <p:sp>
        <p:nvSpPr>
          <p:cNvPr id="8" name="Shape 6"/>
          <p:cNvSpPr/>
          <p:nvPr/>
        </p:nvSpPr>
        <p:spPr>
          <a:xfrm>
            <a:off x="4572000" y="914400"/>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4709160" y="1005840"/>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sanctifying</a:t>
            </a:r>
            <a:endParaRPr lang="en-US" sz="1400" dirty="0"/>
          </a:p>
        </p:txBody>
      </p:sp>
      <p:sp>
        <p:nvSpPr>
          <p:cNvPr id="10" name="Text 8"/>
          <p:cNvSpPr/>
          <p:nvPr/>
        </p:nvSpPr>
        <p:spPr>
          <a:xfrm>
            <a:off x="4709160" y="1316736"/>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Making something feel holy or set apart; deeply changing.</a:t>
            </a:r>
            <a:endParaRPr lang="en-US" sz="1100" dirty="0"/>
          </a:p>
        </p:txBody>
      </p:sp>
      <p:sp>
        <p:nvSpPr>
          <p:cNvPr id="11" name="Shape 9"/>
          <p:cNvSpPr/>
          <p:nvPr/>
        </p:nvSpPr>
        <p:spPr>
          <a:xfrm>
            <a:off x="320040" y="1978152"/>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457200" y="2069592"/>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consolation</a:t>
            </a:r>
            <a:endParaRPr lang="en-US" sz="1400" dirty="0"/>
          </a:p>
        </p:txBody>
      </p:sp>
      <p:sp>
        <p:nvSpPr>
          <p:cNvPr id="13" name="Text 11"/>
          <p:cNvSpPr/>
          <p:nvPr/>
        </p:nvSpPr>
        <p:spPr>
          <a:xfrm>
            <a:off x="457200" y="2380488"/>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Comfort given to someone who is sad or disappointed.</a:t>
            </a:r>
            <a:endParaRPr lang="en-US" sz="1100" dirty="0"/>
          </a:p>
        </p:txBody>
      </p:sp>
      <p:sp>
        <p:nvSpPr>
          <p:cNvPr id="14" name="Shape 12"/>
          <p:cNvSpPr/>
          <p:nvPr/>
        </p:nvSpPr>
        <p:spPr>
          <a:xfrm>
            <a:off x="4572000" y="1978152"/>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15" name="Text 13"/>
          <p:cNvSpPr/>
          <p:nvPr/>
        </p:nvSpPr>
        <p:spPr>
          <a:xfrm>
            <a:off x="4709160" y="2069592"/>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obstinate</a:t>
            </a:r>
            <a:endParaRPr lang="en-US" sz="1400" dirty="0"/>
          </a:p>
        </p:txBody>
      </p:sp>
      <p:sp>
        <p:nvSpPr>
          <p:cNvPr id="16" name="Text 14"/>
          <p:cNvSpPr/>
          <p:nvPr/>
        </p:nvSpPr>
        <p:spPr>
          <a:xfrm>
            <a:off x="4709160" y="2380488"/>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Stubborn; refusing to give in.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Main &amp; Helping Verbs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 had won the Avery scholarship.</a:t>
            </a:r>
            <a:endParaRPr lang="en-US" sz="1500" dirty="0"/>
          </a:p>
        </p:txBody>
      </p:sp>
      <p:sp>
        <p:nvSpPr>
          <p:cNvPr id="9" name="Shape 7"/>
          <p:cNvSpPr/>
          <p:nvPr/>
        </p:nvSpPr>
        <p:spPr>
          <a:xfrm>
            <a:off x="365760" y="1920240"/>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Marilla must rest her eyes.</a:t>
            </a:r>
            <a:endParaRPr lang="en-US" sz="1500" dirty="0"/>
          </a:p>
        </p:txBody>
      </p:sp>
      <p:sp>
        <p:nvSpPr>
          <p:cNvPr id="11" name="Shape 9"/>
          <p:cNvSpPr/>
          <p:nvPr/>
        </p:nvSpPr>
        <p:spPr>
          <a:xfrm>
            <a:off x="365760" y="2761488"/>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Matthew would rather have Anne.</a:t>
            </a:r>
            <a:endParaRPr lang="en-US" sz="1500" dirty="0"/>
          </a:p>
        </p:txBody>
      </p:sp>
      <p:sp>
        <p:nvSpPr>
          <p:cNvPr id="13" name="Text 11"/>
          <p:cNvSpPr/>
          <p:nvPr/>
        </p:nvSpPr>
        <p:spPr>
          <a:xfrm>
            <a:off x="457200" y="3648456"/>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Main &amp; Helping Verbs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 </a:t>
            </a:r>
            <a:pPr indent="0" marL="0">
              <a:buNone/>
            </a:pPr>
            <a:r>
              <a:rPr lang="en-US" sz="1500" b="1" u="sng" dirty="0">
                <a:solidFill>
                  <a:srgbClr val="34B76F"/>
                </a:solidFill>
                <a:latin typeface="Calibri" pitchFamily="34" charset="0"/>
                <a:ea typeface="Calibri" pitchFamily="34" charset="-122"/>
                <a:cs typeface="Calibri" pitchFamily="34" charset="-120"/>
              </a:rPr>
              <a:t>had</a:t>
            </a:r>
            <a:pPr indent="0" marL="0">
              <a:buNone/>
            </a:pPr>
            <a:r>
              <a:rPr lang="en-US" sz="1500" dirty="0">
                <a:solidFill>
                  <a:srgbClr val="1E293B"/>
                </a:solidFill>
                <a:latin typeface="Calibri" pitchFamily="34" charset="0"/>
                <a:ea typeface="Calibri" pitchFamily="34" charset="-122"/>
                <a:cs typeface="Calibri" pitchFamily="34" charset="-120"/>
              </a:rPr>
              <a:t> won the Avery scholarship.</a:t>
            </a:r>
            <a:endParaRPr lang="en-US" sz="1500" dirty="0"/>
          </a:p>
        </p:txBody>
      </p:sp>
      <p:sp>
        <p:nvSpPr>
          <p:cNvPr id="9" name="Shape 7"/>
          <p:cNvSpPr/>
          <p:nvPr/>
        </p:nvSpPr>
        <p:spPr>
          <a:xfrm>
            <a:off x="365760" y="1920240"/>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Marilla </a:t>
            </a:r>
            <a:pPr indent="0" marL="0">
              <a:buNone/>
            </a:pPr>
            <a:r>
              <a:rPr lang="en-US" sz="1500" b="1" u="sng" dirty="0">
                <a:solidFill>
                  <a:srgbClr val="34B76F"/>
                </a:solidFill>
                <a:latin typeface="Calibri" pitchFamily="34" charset="0"/>
                <a:ea typeface="Calibri" pitchFamily="34" charset="-122"/>
                <a:cs typeface="Calibri" pitchFamily="34" charset="-120"/>
              </a:rPr>
              <a:t>must</a:t>
            </a:r>
            <a:pPr indent="0" marL="0">
              <a:buNone/>
            </a:pPr>
            <a:r>
              <a:rPr lang="en-US" sz="1500" dirty="0">
                <a:solidFill>
                  <a:srgbClr val="1E293B"/>
                </a:solidFill>
                <a:latin typeface="Calibri" pitchFamily="34" charset="0"/>
                <a:ea typeface="Calibri" pitchFamily="34" charset="-122"/>
                <a:cs typeface="Calibri" pitchFamily="34" charset="-120"/>
              </a:rPr>
              <a:t> rest her eyes.</a:t>
            </a:r>
            <a:endParaRPr lang="en-US" sz="1500" dirty="0"/>
          </a:p>
        </p:txBody>
      </p:sp>
      <p:sp>
        <p:nvSpPr>
          <p:cNvPr id="11" name="Shape 9"/>
          <p:cNvSpPr/>
          <p:nvPr/>
        </p:nvSpPr>
        <p:spPr>
          <a:xfrm>
            <a:off x="365760" y="2761488"/>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Matthew </a:t>
            </a:r>
            <a:pPr indent="0" marL="0">
              <a:buNone/>
            </a:pPr>
            <a:r>
              <a:rPr lang="en-US" sz="1500" b="1" u="sng" dirty="0">
                <a:solidFill>
                  <a:srgbClr val="34B76F"/>
                </a:solidFill>
                <a:latin typeface="Calibri" pitchFamily="34" charset="0"/>
                <a:ea typeface="Calibri" pitchFamily="34" charset="-122"/>
                <a:cs typeface="Calibri" pitchFamily="34" charset="-120"/>
              </a:rPr>
              <a:t>would</a:t>
            </a:r>
            <a:pPr indent="0" marL="0">
              <a:buNone/>
            </a:pPr>
            <a:r>
              <a:rPr lang="en-US" sz="1500" dirty="0">
                <a:solidFill>
                  <a:srgbClr val="1E293B"/>
                </a:solidFill>
                <a:latin typeface="Calibri" pitchFamily="34" charset="0"/>
                <a:ea typeface="Calibri" pitchFamily="34" charset="-122"/>
                <a:cs typeface="Calibri" pitchFamily="34" charset="-120"/>
              </a:rPr>
              <a:t> rather have Anne.</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Year-End Suffix Review</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crying   -   babies   -   cried   -   hopping   -   running   -   sitting</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y → i (consonant + y)</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Doubled consonant (short word + vowel suffix)</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Year-End Suffix Review</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4114800" cy="1453896"/>
          </a:xfrm>
          <a:prstGeom prst="roundRect">
            <a:avLst>
              <a:gd name="adj" fmla="val 6289"/>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384048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y → i (consonant + y)</a:t>
            </a:r>
            <a:endParaRPr lang="en-US" sz="1200" dirty="0"/>
          </a:p>
        </p:txBody>
      </p:sp>
      <p:sp>
        <p:nvSpPr>
          <p:cNvPr id="9" name="Text 7"/>
          <p:cNvSpPr/>
          <p:nvPr/>
        </p:nvSpPr>
        <p:spPr>
          <a:xfrm>
            <a:off x="594360"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crying</a:t>
            </a:r>
            <a:endParaRPr lang="en-US" sz="1400" dirty="0"/>
          </a:p>
        </p:txBody>
      </p:sp>
      <p:sp>
        <p:nvSpPr>
          <p:cNvPr id="10" name="Text 8"/>
          <p:cNvSpPr/>
          <p:nvPr/>
        </p:nvSpPr>
        <p:spPr>
          <a:xfrm>
            <a:off x="594360"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babies</a:t>
            </a:r>
            <a:endParaRPr lang="en-US" sz="1400" dirty="0"/>
          </a:p>
        </p:txBody>
      </p:sp>
      <p:sp>
        <p:nvSpPr>
          <p:cNvPr id="11" name="Text 9"/>
          <p:cNvSpPr/>
          <p:nvPr/>
        </p:nvSpPr>
        <p:spPr>
          <a:xfrm>
            <a:off x="594360"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cried</a:t>
            </a:r>
            <a:endParaRPr lang="en-US" sz="1400" dirty="0"/>
          </a:p>
        </p:txBody>
      </p:sp>
      <p:sp>
        <p:nvSpPr>
          <p:cNvPr id="12" name="Shape 10"/>
          <p:cNvSpPr/>
          <p:nvPr/>
        </p:nvSpPr>
        <p:spPr>
          <a:xfrm>
            <a:off x="4681728" y="1024128"/>
            <a:ext cx="4114800" cy="1453896"/>
          </a:xfrm>
          <a:prstGeom prst="roundRect">
            <a:avLst>
              <a:gd name="adj" fmla="val 6289"/>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818888" y="1097280"/>
            <a:ext cx="384048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Doubled consonant (short word + vowel suffix)</a:t>
            </a:r>
            <a:endParaRPr lang="en-US" sz="1200" dirty="0"/>
          </a:p>
        </p:txBody>
      </p:sp>
      <p:sp>
        <p:nvSpPr>
          <p:cNvPr id="14" name="Text 12"/>
          <p:cNvSpPr/>
          <p:nvPr/>
        </p:nvSpPr>
        <p:spPr>
          <a:xfrm>
            <a:off x="4910328"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hopping</a:t>
            </a:r>
            <a:endParaRPr lang="en-US" sz="1400" dirty="0"/>
          </a:p>
        </p:txBody>
      </p:sp>
      <p:sp>
        <p:nvSpPr>
          <p:cNvPr id="15" name="Text 13"/>
          <p:cNvSpPr/>
          <p:nvPr/>
        </p:nvSpPr>
        <p:spPr>
          <a:xfrm>
            <a:off x="4910328"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running</a:t>
            </a:r>
            <a:endParaRPr lang="en-US" sz="1400" dirty="0"/>
          </a:p>
        </p:txBody>
      </p:sp>
      <p:sp>
        <p:nvSpPr>
          <p:cNvPr id="16" name="Text 14"/>
          <p:cNvSpPr/>
          <p:nvPr/>
        </p:nvSpPr>
        <p:spPr>
          <a:xfrm>
            <a:off x="4910328"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sitting</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36</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The Glory and the Dream</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What feeling does the poet have for the mouse? Find one line that shows it.</a:t>
            </a:r>
            <a:endParaRPr lang="en-US" sz="1400" dirty="0"/>
          </a:p>
        </p:txBody>
      </p:sp>
      <p:sp>
        <p:nvSpPr>
          <p:cNvPr id="8" name="Shape 6"/>
          <p:cNvSpPr/>
          <p:nvPr/>
        </p:nvSpPr>
        <p:spPr>
          <a:xfrm>
            <a:off x="365760" y="2514600"/>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606040"/>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In Ch. 38, Anne tells Marilla she will not go to Redmond. She will stay home, teach at Carmody, and care for Marilla’s failing eyes. Then Gilbert — the boy she called ‘Carrots’ in Ch. 15 and refused to forgive for years — gives up the Avonlea school so Anne can teach close to home. They stand at the gate for half an hour. They are friends now. Anne looks down the road she didn’t plan for and says: ‘I don’t know what lies around the bend, but I’m going to believe that the best does.’ That is the heart of the whole novel. Anne started as the orphan at the train station who nobody wanted. She ends as a young woman choosing the life she has — on purpose.</a:t>
            </a:r>
            <a:endParaRPr lang="en-US" sz="1400" dirty="0"/>
          </a:p>
        </p:txBody>
      </p:sp>
      <p:sp>
        <p:nvSpPr>
          <p:cNvPr id="10" name="Shape 8"/>
          <p:cNvSpPr/>
          <p:nvPr/>
        </p:nvSpPr>
        <p:spPr>
          <a:xfrm>
            <a:off x="365760" y="344728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53872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Matthew says to Anne: “My girl — my girl that I’m proud of.” Why is this line so important? Why does the author end the chapter just after it?</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 like a Reader, Writer, Mimic</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MENTOR SENTENCE</a:t>
            </a:r>
            <a:endParaRPr lang="en-US" sz="1100" dirty="0"/>
          </a:p>
        </p:txBody>
      </p:sp>
      <p:sp>
        <p:nvSpPr>
          <p:cNvPr id="5" name="Shape 3"/>
          <p:cNvSpPr/>
          <p:nvPr/>
        </p:nvSpPr>
        <p:spPr>
          <a:xfrm>
            <a:off x="365760" y="1042416"/>
            <a:ext cx="8412480" cy="1078992"/>
          </a:xfrm>
          <a:prstGeom prst="roundRect">
            <a:avLst>
              <a:gd name="adj" fmla="val 8475"/>
            </a:avLst>
          </a:prstGeom>
          <a:solidFill>
            <a:srgbClr val="F0E8FF"/>
          </a:solidFill>
          <a:ln w="12700">
            <a:solidFill>
              <a:srgbClr val="8B6FC0"/>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850392"/>
          </a:xfrm>
          <a:prstGeom prst="rect">
            <a:avLst/>
          </a:prstGeom>
          <a:noFill/>
          <a:ln/>
        </p:spPr>
        <p:txBody>
          <a:bodyPr wrap="square" lIns="0" tIns="0" rIns="0" bIns="0" rtlCol="0" anchor="ctr"/>
          <a:lstStyle/>
          <a:p>
            <a:pPr indent="0" marL="0">
              <a:buNone/>
            </a:pPr>
            <a:r>
              <a:rPr lang="en-US" sz="1600" i="1" dirty="0">
                <a:solidFill>
                  <a:srgbClr val="0E1C42"/>
                </a:solidFill>
                <a:latin typeface="Calibri" pitchFamily="34" charset="0"/>
                <a:ea typeface="Calibri" pitchFamily="34" charset="-122"/>
                <a:cs typeface="Calibri" pitchFamily="34" charset="-120"/>
              </a:rPr>
              <a:t>“It was the last night before sorrow touched her life; and no life is ever quite the same again when once that cold, sanctifying touch has been laid upon it.”</a:t>
            </a:r>
            <a:endParaRPr lang="en-US" sz="1600" dirty="0"/>
          </a:p>
        </p:txBody>
      </p:sp>
      <p:sp>
        <p:nvSpPr>
          <p:cNvPr id="7" name="Text 5"/>
          <p:cNvSpPr/>
          <p:nvPr/>
        </p:nvSpPr>
        <p:spPr>
          <a:xfrm>
            <a:off x="365760" y="224942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YOUR THREE JOBS</a:t>
            </a:r>
            <a:endParaRPr lang="en-US" sz="1100" dirty="0"/>
          </a:p>
        </p:txBody>
      </p:sp>
      <p:sp>
        <p:nvSpPr>
          <p:cNvPr id="8" name="Shape 6"/>
          <p:cNvSpPr/>
          <p:nvPr/>
        </p:nvSpPr>
        <p:spPr>
          <a:xfrm>
            <a:off x="365760" y="2505456"/>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9" name="Text 7"/>
          <p:cNvSpPr/>
          <p:nvPr/>
        </p:nvSpPr>
        <p:spPr>
          <a:xfrm>
            <a:off x="594360" y="2569464"/>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Reader</a:t>
            </a:r>
            <a:endParaRPr lang="en-US" sz="1300" dirty="0"/>
          </a:p>
        </p:txBody>
      </p:sp>
      <p:sp>
        <p:nvSpPr>
          <p:cNvPr id="10" name="Text 8"/>
          <p:cNvSpPr/>
          <p:nvPr/>
        </p:nvSpPr>
        <p:spPr>
          <a:xfrm>
            <a:off x="3337560" y="2569464"/>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What is the author telling us is about to happen? What words let you know this is a warning?</a:t>
            </a:r>
            <a:endParaRPr lang="en-US" sz="1200" dirty="0"/>
          </a:p>
        </p:txBody>
      </p:sp>
      <p:sp>
        <p:nvSpPr>
          <p:cNvPr id="11" name="Shape 9"/>
          <p:cNvSpPr/>
          <p:nvPr/>
        </p:nvSpPr>
        <p:spPr>
          <a:xfrm>
            <a:off x="365760" y="3127248"/>
            <a:ext cx="8412480" cy="530352"/>
          </a:xfrm>
          <a:prstGeom prst="roundRect">
            <a:avLst>
              <a:gd name="adj" fmla="val 17241"/>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191256"/>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Writer</a:t>
            </a:r>
            <a:endParaRPr lang="en-US" sz="1300" dirty="0"/>
          </a:p>
        </p:txBody>
      </p:sp>
      <p:sp>
        <p:nvSpPr>
          <p:cNvPr id="13" name="Text 11"/>
          <p:cNvSpPr/>
          <p:nvPr/>
        </p:nvSpPr>
        <p:spPr>
          <a:xfrm>
            <a:off x="3337560" y="3191256"/>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How did Montgomery build this sentence? Notice the words last, sorrow, cold, sanctifying</a:t>
            </a:r>
            <a:endParaRPr lang="en-US" sz="1200" dirty="0"/>
          </a:p>
        </p:txBody>
      </p:sp>
      <p:sp>
        <p:nvSpPr>
          <p:cNvPr id="14" name="Shape 12"/>
          <p:cNvSpPr/>
          <p:nvPr/>
        </p:nvSpPr>
        <p:spPr>
          <a:xfrm>
            <a:off x="365760" y="3749040"/>
            <a:ext cx="8412480" cy="530352"/>
          </a:xfrm>
          <a:prstGeom prst="roundRect">
            <a:avLst>
              <a:gd name="adj" fmla="val 17241"/>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594360" y="3813048"/>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Mimic</a:t>
            </a:r>
            <a:endParaRPr lang="en-US" sz="1300" dirty="0"/>
          </a:p>
        </p:txBody>
      </p:sp>
      <p:sp>
        <p:nvSpPr>
          <p:cNvPr id="16" name="Text 14"/>
          <p:cNvSpPr/>
          <p:nvPr/>
        </p:nvSpPr>
        <p:spPr>
          <a:xfrm>
            <a:off x="3337560" y="3813048"/>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Write your own sentence using the same pattern in your notebook.</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Character Growth Essay — Edit</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Edit your essay for capitalization, punctuation, and spelling.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2026-07-11T22:13:20Z</dcterms:created>
  <dcterms:modified xsi:type="dcterms:W3CDTF">2026-07-11T22:13:20Z</dcterms:modified>
</cp:coreProperties>
</file>