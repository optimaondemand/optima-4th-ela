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how the author reorders a sentence for effect, then apply that same structure in your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Identify how the author reorders a sentence for effect, then apply that same structure in your own writing.. Level-up: ⭐ Use two sensory details  ⭐⭐ Add a comparison (simile)  ⭐⭐⭐ Start with a place or object instead of a person  ⭐⭐⭐⭐ Use exactly the "place-first" sentence order from the mentor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Add one more sensory detail to your description — sight, sound, or smell..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place-first sentence and tell us why you built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Mrs. Frisby arrived at the rat colony and discovered it was far more advanced than she expected. Today: Discover just how advanced the rats’ hidden world really is. Big Q: Today, watch for how the author introduces Jeremy the crow. What does he say? What does he do? What kind of bird is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""We’ve had electricity for years now," said Justin."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"weve kept this secret for many seasons said nicodemus" Corrected: "“We’ve kept this secret for many seasons,” said Nicodemus."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"weve kept this secret for many seasons said nicodemus" Corrected: "“We’ve kept this secret for many seasons,” said Nicodemus."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eavesdrop: To secretly listen to a conversation you weren't meant to hear. | recessed: Set back into a wall or surface so it doesn't stick out. | muscular: Having strong, well-developed muscles. | deserted: Empty — completely without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crow called to Mrs. Frisby." -&gt; called | "Cynthia hugged her mother." -&gt; hugged | "Nicodemus drew a careful map." -&gt; drew | "The cat watched from the porch." -&gt; 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crow called to Mrs. Frisby." -&gt; called | "Cynthia hugged her mother." -&gt; hugged | "Nicodemus drew a careful map." -&gt; drew | "The cat watched from the porch." -&gt; 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VCCV pattern: tunnel, hamper, winter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VCCV pattern: tunnel, hamper, winter | Other pattern: paper, tiger,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"“Ahead of her stretched a long, well-lit hallway.”"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Sensory Draft Focus: Continue your sensory draft. Add at least one smell or sound detail to your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2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Lighted Hallway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“Ahead of her stretched a long, well-lit hallway.”</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"“Ahead of her stretched a long, well-lit hallway.”"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Notice the order of this sentence — it starts with "Ahead of her," not "A long hallway stretched ahead of her." What effect does that create?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You are a reporter who just discovered the rats’ underground hallway. Write the opening line of your news article, using the same kind of vivid, place-first description as the mentor sentence.</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how the author reorders a sentence for effect, then apply that same structure in your own writing.</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two sensory details  ⭐⭐ Add a comparison (simile)  ⭐⭐⭐ Start with a place or object instead of a person  ⭐⭐⭐⭐ Use exactly the "place-first" sentence order from the mentor sentence</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Add one more sensory detail to your description — sight, sound, or smell.</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place-first sentence and tell us why you built it that way.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Mrs. Frisby arrived at the rat colony and discovered it was far more advanced than she expected.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just how advanced the rats’ hidden world really is.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Jeremy the crow. What does he say? What does he do? What kind of bird is he?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keep noticing new characters as a story grows. Authors don't always tell you who a character is — they let the charac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"We’ve had electricity for years now," said Justin.</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weve kept this secret for many seasons said nicodemus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weve kept this secret for many seasons said nicodemus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“We’ve kept this secret for many seasons,” said Nicodemus.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eavesdrop</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secretly listen to a conversation you weren't meant to hear.</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recessed</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Set back into a wall or surface so it doesn't stick out.</a:t>
            </a:r>
            <a:endParaRPr lang="en-US" sz="1100" dirty="0"/>
          </a:p>
        </p:txBody>
      </p:sp>
      <p:sp>
        <p:nvSpPr>
          <p:cNvPr id="11" name="Shape 9"/>
          <p:cNvSpPr/>
          <p:nvPr/>
        </p:nvSpPr>
        <p:spPr>
          <a:xfrm>
            <a:off x="32004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muscular</a:t>
            </a:r>
            <a:endParaRPr lang="en-US" sz="1400" dirty="0"/>
          </a:p>
        </p:txBody>
      </p:sp>
      <p:sp>
        <p:nvSpPr>
          <p:cNvPr id="13" name="Text 11"/>
          <p:cNvSpPr/>
          <p:nvPr/>
        </p:nvSpPr>
        <p:spPr>
          <a:xfrm>
            <a:off x="45720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Having strong, well-developed muscles.</a:t>
            </a:r>
            <a:endParaRPr lang="en-US" sz="1100" dirty="0"/>
          </a:p>
        </p:txBody>
      </p:sp>
      <p:sp>
        <p:nvSpPr>
          <p:cNvPr id="14" name="Shape 12"/>
          <p:cNvSpPr/>
          <p:nvPr/>
        </p:nvSpPr>
        <p:spPr>
          <a:xfrm>
            <a:off x="457200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deserted</a:t>
            </a:r>
            <a:endParaRPr lang="en-US" sz="1400" dirty="0"/>
          </a:p>
        </p:txBody>
      </p:sp>
      <p:sp>
        <p:nvSpPr>
          <p:cNvPr id="16" name="Text 14"/>
          <p:cNvSpPr/>
          <p:nvPr/>
        </p:nvSpPr>
        <p:spPr>
          <a:xfrm>
            <a:off x="470916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Empty — completely without people.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crow called to Mrs. Frisby.</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Cynthia hugged her mother.</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Nicodemus drew a careful map.</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cat watched from the porch.</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crow </a:t>
            </a:r>
            <a:pPr indent="0" marL="0">
              <a:buNone/>
            </a:pPr>
            <a:r>
              <a:rPr lang="en-US" sz="1500" b="1" u="sng" dirty="0">
                <a:solidFill>
                  <a:srgbClr val="34B76F"/>
                </a:solidFill>
                <a:latin typeface="Calibri" pitchFamily="34" charset="0"/>
                <a:ea typeface="Calibri" pitchFamily="34" charset="-122"/>
                <a:cs typeface="Calibri" pitchFamily="34" charset="-120"/>
              </a:rPr>
              <a:t>called</a:t>
            </a:r>
            <a:pPr indent="0" marL="0">
              <a:buNone/>
            </a:pPr>
            <a:r>
              <a:rPr lang="en-US" sz="1500" dirty="0">
                <a:solidFill>
                  <a:srgbClr val="1E293B"/>
                </a:solidFill>
                <a:latin typeface="Calibri" pitchFamily="34" charset="0"/>
                <a:ea typeface="Calibri" pitchFamily="34" charset="-122"/>
                <a:cs typeface="Calibri" pitchFamily="34" charset="-120"/>
              </a:rPr>
              <a:t> to Mrs. Frisby.</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Cynthia </a:t>
            </a:r>
            <a:pPr indent="0" marL="0">
              <a:buNone/>
            </a:pPr>
            <a:r>
              <a:rPr lang="en-US" sz="1500" b="1" u="sng" dirty="0">
                <a:solidFill>
                  <a:srgbClr val="34B76F"/>
                </a:solidFill>
                <a:latin typeface="Calibri" pitchFamily="34" charset="0"/>
                <a:ea typeface="Calibri" pitchFamily="34" charset="-122"/>
                <a:cs typeface="Calibri" pitchFamily="34" charset="-120"/>
              </a:rPr>
              <a:t>hugged</a:t>
            </a:r>
            <a:pPr indent="0" marL="0">
              <a:buNone/>
            </a:pPr>
            <a:r>
              <a:rPr lang="en-US" sz="1500" dirty="0">
                <a:solidFill>
                  <a:srgbClr val="1E293B"/>
                </a:solidFill>
                <a:latin typeface="Calibri" pitchFamily="34" charset="0"/>
                <a:ea typeface="Calibri" pitchFamily="34" charset="-122"/>
                <a:cs typeface="Calibri" pitchFamily="34" charset="-120"/>
              </a:rPr>
              <a:t> her mother.</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Nicodemus </a:t>
            </a:r>
            <a:pPr indent="0" marL="0">
              <a:buNone/>
            </a:pPr>
            <a:r>
              <a:rPr lang="en-US" sz="1500" b="1" u="sng" dirty="0">
                <a:solidFill>
                  <a:srgbClr val="34B76F"/>
                </a:solidFill>
                <a:latin typeface="Calibri" pitchFamily="34" charset="0"/>
                <a:ea typeface="Calibri" pitchFamily="34" charset="-122"/>
                <a:cs typeface="Calibri" pitchFamily="34" charset="-120"/>
              </a:rPr>
              <a:t>drew</a:t>
            </a:r>
            <a:pPr indent="0" marL="0">
              <a:buNone/>
            </a:pPr>
            <a:r>
              <a:rPr lang="en-US" sz="1500" dirty="0">
                <a:solidFill>
                  <a:srgbClr val="1E293B"/>
                </a:solidFill>
                <a:latin typeface="Calibri" pitchFamily="34" charset="0"/>
                <a:ea typeface="Calibri" pitchFamily="34" charset="-122"/>
                <a:cs typeface="Calibri" pitchFamily="34" charset="-120"/>
              </a:rPr>
              <a:t> a careful map.</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cat</a:t>
            </a:r>
            <a:pPr indent="0" marL="0">
              <a:buNone/>
            </a:pPr>
            <a:r>
              <a:rPr lang="en-US" sz="1500" dirty="0">
                <a:solidFill>
                  <a:srgbClr val="1E293B"/>
                </a:solidFill>
                <a:latin typeface="Calibri" pitchFamily="34" charset="0"/>
                <a:ea typeface="Calibri" pitchFamily="34" charset="-122"/>
                <a:cs typeface="Calibri" pitchFamily="34" charset="-120"/>
              </a:rPr>
              <a:t> watched from the porch.</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tunnel   -   hamper   -   winter   -   paper   -   tiger   -   music</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VCCV pattern</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Other pattern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VCCV pattern</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tunnel</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hamper</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winter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Other pattern</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paper</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music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9</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Lighted Hallway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When Mrs. Frisby sees Jeremy tangled in string and the cat coming, she could have run. She stays and unties him instead. Later, Nicodemus and the rats agree to move her cinderblock house — a dangerous, hours-long job — because she asked for help.</a:t>
            </a:r>
            <a:endParaRPr lang="en-US" sz="1400" dirty="0"/>
          </a:p>
        </p:txBody>
      </p:sp>
      <p:sp>
        <p:nvSpPr>
          <p:cNvPr id="10" name="Shape 8"/>
          <p:cNvSpPr/>
          <p:nvPr/>
        </p:nvSpPr>
        <p:spPr>
          <a:xfrm>
            <a:off x="365760" y="344728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could have run away. Why does she stay and help the crow even when the cat is coming?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“Ahead of her stretched a long, well-lit hallway.”</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093976"/>
            <a:ext cx="8412480" cy="531876"/>
          </a:xfrm>
          <a:prstGeom prst="roundRect">
            <a:avLst>
              <a:gd name="adj" fmla="val 17192"/>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57984"/>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Reader</a:t>
            </a:r>
            <a:endParaRPr lang="en-US" sz="1250" dirty="0"/>
          </a:p>
        </p:txBody>
      </p:sp>
      <p:sp>
        <p:nvSpPr>
          <p:cNvPr id="10" name="Text 8"/>
          <p:cNvSpPr/>
          <p:nvPr/>
        </p:nvSpPr>
        <p:spPr>
          <a:xfrm>
            <a:off x="3337560" y="2157984"/>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What is Mrs. Frisby seeing? What feeling does the word “stretched” give the hallway?</a:t>
            </a:r>
            <a:endParaRPr lang="en-US" sz="1150" dirty="0"/>
          </a:p>
        </p:txBody>
      </p:sp>
      <p:sp>
        <p:nvSpPr>
          <p:cNvPr id="11" name="Shape 9"/>
          <p:cNvSpPr/>
          <p:nvPr/>
        </p:nvSpPr>
        <p:spPr>
          <a:xfrm>
            <a:off x="365760" y="2699004"/>
            <a:ext cx="8412480" cy="531876"/>
          </a:xfrm>
          <a:prstGeom prst="roundRect">
            <a:avLst>
              <a:gd name="adj" fmla="val 17192"/>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63012"/>
            <a:ext cx="2651760" cy="403860"/>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Read like a Writer</a:t>
            </a:r>
            <a:endParaRPr lang="en-US" sz="1250" dirty="0"/>
          </a:p>
        </p:txBody>
      </p:sp>
      <p:sp>
        <p:nvSpPr>
          <p:cNvPr id="13" name="Text 11"/>
          <p:cNvSpPr/>
          <p:nvPr/>
        </p:nvSpPr>
        <p:spPr>
          <a:xfrm>
            <a:off x="3337560" y="2763012"/>
            <a:ext cx="5303520" cy="40386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How did the author build this sentence? Notice the two action verbs</a:t>
            </a:r>
            <a:endParaRPr lang="en-US" sz="1150" dirty="0"/>
          </a:p>
        </p:txBody>
      </p:sp>
      <p:sp>
        <p:nvSpPr>
          <p:cNvPr id="14" name="Shape 12"/>
          <p:cNvSpPr/>
          <p:nvPr/>
        </p:nvSpPr>
        <p:spPr>
          <a:xfrm>
            <a:off x="365760" y="3304032"/>
            <a:ext cx="8412480" cy="457200"/>
          </a:xfrm>
          <a:prstGeom prst="roundRect">
            <a:avLst>
              <a:gd name="adj" fmla="val 20000"/>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368040"/>
            <a:ext cx="2651760" cy="329184"/>
          </a:xfrm>
          <a:prstGeom prst="rect">
            <a:avLst/>
          </a:prstGeom>
          <a:noFill/>
          <a:ln/>
        </p:spPr>
        <p:txBody>
          <a:bodyPr wrap="square" lIns="0" tIns="0" rIns="0" bIns="0" rtlCol="0" anchor="t"/>
          <a:lstStyle/>
          <a:p>
            <a:pPr indent="0" marL="0">
              <a:buNone/>
            </a:pPr>
            <a:r>
              <a:rPr lang="en-US" sz="1250" b="1" dirty="0">
                <a:solidFill>
                  <a:srgbClr val="0E1C42"/>
                </a:solidFill>
                <a:latin typeface="Calibri" pitchFamily="34" charset="0"/>
                <a:ea typeface="Calibri" pitchFamily="34" charset="-122"/>
                <a:cs typeface="Calibri" pitchFamily="34" charset="-120"/>
              </a:rPr>
              <a:t>Mimic</a:t>
            </a:r>
            <a:endParaRPr lang="en-US" sz="1250" dirty="0"/>
          </a:p>
        </p:txBody>
      </p:sp>
      <p:sp>
        <p:nvSpPr>
          <p:cNvPr id="16" name="Text 14"/>
          <p:cNvSpPr/>
          <p:nvPr/>
        </p:nvSpPr>
        <p:spPr>
          <a:xfrm>
            <a:off x="3337560" y="3368040"/>
            <a:ext cx="5303520" cy="329184"/>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Sensory Draft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Continue your sensory draft. Add at least one smell or sound detail to your setting.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2026-07-11T21:52:57Z</dcterms:created>
  <dcterms:modified xsi:type="dcterms:W3CDTF">2026-07-11T21:52:57Z</dcterms:modified>
</cp:coreProperties>
</file>