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12, Day 3.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Apply precise adverbs to elevate an ordinary action into a vivid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12-minute timer. Craft move: Apply precise adverbs to elevate an ordinary action into a vivid moment.. Level-up: ⭐ Use one precise adverb  ⭐⭐ Use two in the same sentence  ⭐⭐⭐ Make sure each adverb fits its subject exactly  ⭐⭐⭐⭐ Avoid overused adverbs (quickly, slowly, happily).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Find a plain sentence describing an action. Add one precise, unexpected adverb..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your sentence and the precise adverb you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Anne and her friends formed a story club to write dramatic tales together. Today: Discover an important turning point in Anne’s life. Big Q: After Anne falls off the leaking flat playing Elaine, she tells Marilla: “The brooch cured me of meddling. The Haunted Wood cured me of letting my imagination run away. The liniment cake cured me of carelessness in cooking. Dyeing my hair cured me of vanity. And today’s mistake is going to cure me of being too romantic.” Anne is growing up not because she stops making mistakes — she is growing up because she can now NAME what each one has taught 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"Anne went to the Exhibition with Diana."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"anne saw the prima donna sing she felt enraptured by the music" Corrected: "Anne saw the prima donna sing. She felt enraptured by the music."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"anne saw the prima donna sing she felt enraptured by the music" Corrected: "Anne saw the prima donna sing. She felt enraptured by the music."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import — — to carry IN from another country | extract — — to pull out (a dentist extracts a tooth) | subtract — — to take away (in math, to subtract) | report — — to carry back the news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vanity: Marilla said Anne’s _____ had led her to dye her hair. | implicitly: Anne trusted the peddler’s words _____ , and her hair turned green. | epoch: Anne said the trip to Charlottetown marked an _____ in her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 went to the Exhibition with Diana." -&gt; went | "They ate ice cream at eleven at night." -&gt; ate | "Anne felt happy to be home." -&gt; felt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 went to the Exhibition with Diana." -&gt; went | "They ate ice cream at eleven at night." -&gt; ate | "Anne felt happy to be home." -&gt; felt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"“The cows swung placidly down the lane, and Anne followed them dreamily, repeating aloud the battle canto from Marmion.”"
Craft: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Realistic Fiction — Revise &amp; Publish
Focus: Revise your dialogue so each character sounds distinct.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B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D98BB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D98BB0"/>
                </a:solidFill>
                <a:latin typeface="Calibri" pitchFamily="34" charset="0"/>
                <a:ea typeface="Calibri" pitchFamily="34" charset="-122"/>
                <a:cs typeface="Calibri" pitchFamily="34" charset="-120"/>
              </a:rPr>
              <a:t>WEEK 12  ·  DAY 3</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29</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An Epoch in Anne's Life</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12  ·  Virtue: Imagination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went to the Exhibition with Diana.</a:t>
            </a:r>
            <a:endParaRPr lang="en-US" sz="1600" dirty="0"/>
          </a:p>
        </p:txBody>
      </p:sp>
      <p:sp>
        <p:nvSpPr>
          <p:cNvPr id="7" name="Text 5"/>
          <p:cNvSpPr/>
          <p:nvPr/>
        </p:nvSpPr>
        <p:spPr>
          <a:xfrm>
            <a:off x="548640" y="2496312"/>
            <a:ext cx="8046720" cy="2441448"/>
          </a:xfrm>
          <a:prstGeom prst="rect">
            <a:avLst/>
          </a:prstGeom>
          <a:noFill/>
          <a:ln/>
        </p:spPr>
        <p:txBody>
          <a:bodyPr wrap="square" lIns="0" tIns="0" rIns="0" bIns="0" rtlCol="0" anchor="t"/>
          <a:lstStyle/>
          <a:p>
            <a:pPr indent="0" marL="0">
              <a:buNone/>
            </a:pPr>
            <a:r>
              <a:rPr lang="en-US" sz="1200" b="1" dirty="0">
                <a:solidFill>
                  <a:srgbClr val="8B6FC0"/>
                </a:solidFill>
                <a:latin typeface="Calibri" pitchFamily="34" charset="0"/>
                <a:ea typeface="Calibri" pitchFamily="34" charset="-122"/>
                <a:cs typeface="Calibri" pitchFamily="34" charset="-120"/>
              </a:rPr>
              <a:t>From the novel: </a:t>
            </a:r>
            <a:pPr indent="0" marL="0">
              <a:buNone/>
            </a:pPr>
            <a:r>
              <a:rPr lang="en-US" sz="1200" i="1" dirty="0">
                <a:solidFill>
                  <a:srgbClr val="1E293B"/>
                </a:solidFill>
                <a:latin typeface="Calibri" pitchFamily="34" charset="0"/>
                <a:ea typeface="Calibri" pitchFamily="34" charset="-122"/>
                <a:cs typeface="Calibri" pitchFamily="34" charset="-120"/>
              </a:rPr>
              <a:t>"The cows swung placidly down the lane, and Anne followed them dreamily."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What do the adverbs "placidly" and "dreamily" add to this ordinary moment?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12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an ordinary moment (walking somewhere, doing a chore) and use two precise adverbs, one for each character or action, to make it feel specific and alive.</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Apply precise adverbs to elevate an ordinary action into a vivid moment.</a:t>
            </a:r>
            <a:endParaRPr lang="en-US" sz="1300" dirty="0"/>
          </a:p>
        </p:txBody>
      </p:sp>
      <p:sp>
        <p:nvSpPr>
          <p:cNvPr id="8" name="Text 6"/>
          <p:cNvSpPr/>
          <p:nvPr/>
        </p:nvSpPr>
        <p:spPr>
          <a:xfrm>
            <a:off x="548640" y="2868168"/>
            <a:ext cx="8046720" cy="431292"/>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Use one precise adverb  ⭐⭐ Use two in the same sentence  ⭐⭐⭐ Make sure each adverb fits its subject exactly  ⭐⭐⭐⭐ Avoid overused adverbs (quickly, slowly, happily)</a:t>
            </a:r>
            <a:endParaRPr lang="en-US" sz="1150" dirty="0"/>
          </a:p>
        </p:txBody>
      </p:sp>
      <p:sp>
        <p:nvSpPr>
          <p:cNvPr id="9" name="Text 7"/>
          <p:cNvSpPr/>
          <p:nvPr/>
        </p:nvSpPr>
        <p:spPr>
          <a:xfrm>
            <a:off x="548640" y="3372612"/>
            <a:ext cx="8046720" cy="165658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Find a plain sentence describing an action. Add one precise, unexpected adverb.</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your sentence and the precise adverb you added.</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Anne and her friends formed a story club to write dramatic tales together.</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Discover an important turning point in Anne’s life.</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After Anne falls off the leaking flat playing Elaine, she tells Marilla: “The brooch cured me of meddling. The Haunted Wood cured me of letting my imagination run away. The liniment cake cured me of carelessness in cooking. Dyeing my hair cured me of vanity. And today’s mistake is going to cure me of being too romantic.” Anne is growing up not because she stops making mistakes — she is growing up because she can now NAME what each one has taught her.</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think about how problems grow. The first problem in a book is rarely the only one — new trouble appears as the story moves.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went to the Exhibition with Diana.</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saw the prima donna sing she felt enraptured by the music</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saw the prima donna sing she felt enraptured by the music</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350008"/>
            <a:ext cx="8412480" cy="708660"/>
          </a:xfrm>
          <a:prstGeom prst="roundRect">
            <a:avLst>
              <a:gd name="adj" fmla="val 1290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40487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697480"/>
            <a:ext cx="7863840" cy="32461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Anne saw the prima donna sing. She felt enraptured by the music.</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Morphology</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Word Bases: port, tract</a:t>
            </a:r>
            <a:endParaRPr lang="en-US" sz="1100" dirty="0"/>
          </a:p>
        </p:txBody>
      </p:sp>
      <p:sp>
        <p:nvSpPr>
          <p:cNvPr id="5" name="Shape 3"/>
          <p:cNvSpPr/>
          <p:nvPr/>
        </p:nvSpPr>
        <p:spPr>
          <a:xfrm>
            <a:off x="365760" y="1060704"/>
            <a:ext cx="8412480" cy="457200"/>
          </a:xfrm>
          <a:prstGeom prst="roundRect">
            <a:avLst>
              <a:gd name="adj" fmla="val 2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15568"/>
            <a:ext cx="8046720" cy="365760"/>
          </a:xfrm>
          <a:prstGeom prst="rect">
            <a:avLst/>
          </a:prstGeom>
          <a:noFill/>
          <a:ln/>
        </p:spPr>
        <p:txBody>
          <a:bodyPr wrap="square" lIns="0" tIns="0" rIns="0" bIns="0" rtlCol="0" anchor="ctr"/>
          <a:lstStyle/>
          <a:p>
            <a:pPr indent="0" marL="0">
              <a:buNone/>
            </a:pPr>
            <a:r>
              <a:rPr lang="en-US" sz="1150" i="1" dirty="0">
                <a:solidFill>
                  <a:srgbClr val="8B6FC0"/>
                </a:solidFill>
                <a:latin typeface="Calibri" pitchFamily="34" charset="0"/>
                <a:ea typeface="Calibri" pitchFamily="34" charset="-122"/>
                <a:cs typeface="Calibri" pitchFamily="34" charset="-120"/>
              </a:rPr>
              <a:t>This week’s word bases are both Latin roots that show ACTION. port means to carry. You can find it in words about moving things from one place to another. tract means to pull or draw. You can find it in words about pulling things together or apart.</a:t>
            </a:r>
            <a:endParaRPr lang="en-US" sz="1150" dirty="0"/>
          </a:p>
        </p:txBody>
      </p:sp>
      <p:sp>
        <p:nvSpPr>
          <p:cNvPr id="7" name="Text 5"/>
          <p:cNvSpPr/>
          <p:nvPr/>
        </p:nvSpPr>
        <p:spPr>
          <a:xfrm>
            <a:off x="365760" y="1591056"/>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PARTS REFERENCE</a:t>
            </a:r>
            <a:endParaRPr lang="en-US" sz="1100" dirty="0"/>
          </a:p>
        </p:txBody>
      </p:sp>
      <p:sp>
        <p:nvSpPr>
          <p:cNvPr id="8" name="Shape 6"/>
          <p:cNvSpPr/>
          <p:nvPr/>
        </p:nvSpPr>
        <p:spPr>
          <a:xfrm>
            <a:off x="365760" y="1847088"/>
            <a:ext cx="2011680" cy="502920"/>
          </a:xfrm>
          <a:prstGeom prst="roundRect">
            <a:avLst>
              <a:gd name="adj" fmla="val 14545"/>
            </a:avLst>
          </a:prstGeom>
          <a:solidFill>
            <a:srgbClr val="F8F4FF"/>
          </a:solidFill>
          <a:ln w="12700">
            <a:solidFill>
              <a:srgbClr val="8B6FC0"/>
            </a:solidFill>
            <a:prstDash val="solid"/>
          </a:ln>
        </p:spPr>
      </p:sp>
      <p:sp>
        <p:nvSpPr>
          <p:cNvPr id="9" name="Text 7"/>
          <p:cNvSpPr/>
          <p:nvPr/>
        </p:nvSpPr>
        <p:spPr>
          <a:xfrm>
            <a:off x="438912" y="1892808"/>
            <a:ext cx="1865376" cy="41148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transport = trans- + port (to carry across)</a:t>
            </a:r>
            <a:endParaRPr lang="en-US" sz="1100" dirty="0"/>
          </a:p>
        </p:txBody>
      </p:sp>
      <p:sp>
        <p:nvSpPr>
          <p:cNvPr id="10" name="Shape 8"/>
          <p:cNvSpPr/>
          <p:nvPr/>
        </p:nvSpPr>
        <p:spPr>
          <a:xfrm>
            <a:off x="2468880" y="1847088"/>
            <a:ext cx="2011680" cy="502920"/>
          </a:xfrm>
          <a:prstGeom prst="roundRect">
            <a:avLst>
              <a:gd name="adj" fmla="val 14545"/>
            </a:avLst>
          </a:prstGeom>
          <a:solidFill>
            <a:srgbClr val="F8F4FF"/>
          </a:solidFill>
          <a:ln w="12700">
            <a:solidFill>
              <a:srgbClr val="8B6FC0"/>
            </a:solidFill>
            <a:prstDash val="solid"/>
          </a:ln>
        </p:spPr>
      </p:sp>
      <p:sp>
        <p:nvSpPr>
          <p:cNvPr id="11" name="Text 9"/>
          <p:cNvSpPr/>
          <p:nvPr/>
        </p:nvSpPr>
        <p:spPr>
          <a:xfrm>
            <a:off x="2542032" y="1892808"/>
            <a:ext cx="1865376" cy="41148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portable = port + able (able to be carried)</a:t>
            </a:r>
            <a:endParaRPr lang="en-US" sz="1100" dirty="0"/>
          </a:p>
        </p:txBody>
      </p:sp>
      <p:sp>
        <p:nvSpPr>
          <p:cNvPr id="12" name="Shape 10"/>
          <p:cNvSpPr/>
          <p:nvPr/>
        </p:nvSpPr>
        <p:spPr>
          <a:xfrm>
            <a:off x="4572000" y="1847088"/>
            <a:ext cx="2011680" cy="502920"/>
          </a:xfrm>
          <a:prstGeom prst="roundRect">
            <a:avLst>
              <a:gd name="adj" fmla="val 14545"/>
            </a:avLst>
          </a:prstGeom>
          <a:solidFill>
            <a:srgbClr val="F8F4FF"/>
          </a:solidFill>
          <a:ln w="12700">
            <a:solidFill>
              <a:srgbClr val="8B6FC0"/>
            </a:solidFill>
            <a:prstDash val="solid"/>
          </a:ln>
        </p:spPr>
      </p:sp>
      <p:sp>
        <p:nvSpPr>
          <p:cNvPr id="13" name="Text 11"/>
          <p:cNvSpPr/>
          <p:nvPr/>
        </p:nvSpPr>
        <p:spPr>
          <a:xfrm>
            <a:off x="4645152" y="1892808"/>
            <a:ext cx="1865376" cy="41148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attract = at- + tract (to draw toward)</a:t>
            </a:r>
            <a:endParaRPr lang="en-US" sz="1100" dirty="0"/>
          </a:p>
        </p:txBody>
      </p:sp>
      <p:sp>
        <p:nvSpPr>
          <p:cNvPr id="14" name="Shape 12"/>
          <p:cNvSpPr/>
          <p:nvPr/>
        </p:nvSpPr>
        <p:spPr>
          <a:xfrm>
            <a:off x="6675120" y="1847088"/>
            <a:ext cx="2011680" cy="502920"/>
          </a:xfrm>
          <a:prstGeom prst="roundRect">
            <a:avLst>
              <a:gd name="adj" fmla="val 14545"/>
            </a:avLst>
          </a:prstGeom>
          <a:solidFill>
            <a:srgbClr val="F8F4FF"/>
          </a:solidFill>
          <a:ln w="12700">
            <a:solidFill>
              <a:srgbClr val="8B6FC0"/>
            </a:solidFill>
            <a:prstDash val="solid"/>
          </a:ln>
        </p:spPr>
      </p:sp>
      <p:sp>
        <p:nvSpPr>
          <p:cNvPr id="15" name="Text 13"/>
          <p:cNvSpPr/>
          <p:nvPr/>
        </p:nvSpPr>
        <p:spPr>
          <a:xfrm>
            <a:off x="6748272" y="1892808"/>
            <a:ext cx="1865376" cy="41148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distract = dis- + tract (to draw apart)</a:t>
            </a:r>
            <a:endParaRPr lang="en-US" sz="1100" dirty="0"/>
          </a:p>
        </p:txBody>
      </p:sp>
      <p:sp>
        <p:nvSpPr>
          <p:cNvPr id="16" name="Text 14"/>
          <p:cNvSpPr/>
          <p:nvPr/>
        </p:nvSpPr>
        <p:spPr>
          <a:xfrm>
            <a:off x="365760" y="246888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TRY IT - FILL IN THE MISSING PART</a:t>
            </a:r>
            <a:endParaRPr lang="en-US" sz="1100" dirty="0"/>
          </a:p>
        </p:txBody>
      </p:sp>
      <p:sp>
        <p:nvSpPr>
          <p:cNvPr id="17" name="Shape 15"/>
          <p:cNvSpPr/>
          <p:nvPr/>
        </p:nvSpPr>
        <p:spPr>
          <a:xfrm>
            <a:off x="365760" y="272491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594360" y="277063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import — — to carry IN from another country</a:t>
            </a:r>
            <a:endParaRPr lang="en-US" sz="1300" dirty="0"/>
          </a:p>
        </p:txBody>
      </p:sp>
      <p:sp>
        <p:nvSpPr>
          <p:cNvPr id="19" name="Shape 17"/>
          <p:cNvSpPr/>
          <p:nvPr/>
        </p:nvSpPr>
        <p:spPr>
          <a:xfrm>
            <a:off x="365760" y="318211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0" name="Text 18"/>
          <p:cNvSpPr/>
          <p:nvPr/>
        </p:nvSpPr>
        <p:spPr>
          <a:xfrm>
            <a:off x="594360" y="322783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extract — — to pull out (a dentist extracts a tooth)</a:t>
            </a:r>
            <a:endParaRPr lang="en-US" sz="1300" dirty="0"/>
          </a:p>
        </p:txBody>
      </p:sp>
      <p:sp>
        <p:nvSpPr>
          <p:cNvPr id="21" name="Shape 19"/>
          <p:cNvSpPr/>
          <p:nvPr/>
        </p:nvSpPr>
        <p:spPr>
          <a:xfrm>
            <a:off x="365760" y="363931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22" name="Text 20"/>
          <p:cNvSpPr/>
          <p:nvPr/>
        </p:nvSpPr>
        <p:spPr>
          <a:xfrm>
            <a:off x="594360" y="368503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subtract — — to take away (in math, to subtract)</a:t>
            </a:r>
            <a:endParaRPr lang="en-US" sz="1300" dirty="0"/>
          </a:p>
        </p:txBody>
      </p:sp>
      <p:sp>
        <p:nvSpPr>
          <p:cNvPr id="23" name="Shape 21"/>
          <p:cNvSpPr/>
          <p:nvPr/>
        </p:nvSpPr>
        <p:spPr>
          <a:xfrm>
            <a:off x="365760" y="409651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4" name="Text 22"/>
          <p:cNvSpPr/>
          <p:nvPr/>
        </p:nvSpPr>
        <p:spPr>
          <a:xfrm>
            <a:off x="594360" y="414223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report — — to carry back the news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3 WORDS - READ THE SENTENCE, THEN THE MEANING</a:t>
            </a:r>
            <a:endParaRPr lang="en-US" sz="1100" dirty="0"/>
          </a:p>
        </p:txBody>
      </p:sp>
      <p:sp>
        <p:nvSpPr>
          <p:cNvPr id="5" name="Shape 3"/>
          <p:cNvSpPr/>
          <p:nvPr/>
        </p:nvSpPr>
        <p:spPr>
          <a:xfrm>
            <a:off x="320040" y="914400"/>
            <a:ext cx="4069080" cy="918972"/>
          </a:xfrm>
          <a:prstGeom prst="roundRect">
            <a:avLst>
              <a:gd name="adj" fmla="val 995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Marilla said Anne’s _____ had led her to dye her hair.</a:t>
            </a:r>
            <a:endParaRPr lang="en-US" sz="1050" dirty="0"/>
          </a:p>
        </p:txBody>
      </p:sp>
      <p:sp>
        <p:nvSpPr>
          <p:cNvPr id="7" name="Text 5"/>
          <p:cNvSpPr/>
          <p:nvPr/>
        </p:nvSpPr>
        <p:spPr>
          <a:xfrm>
            <a:off x="457200" y="1412748"/>
            <a:ext cx="3794760" cy="3657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Answer: </a:t>
            </a:r>
            <a:pPr indent="0" marL="0">
              <a:buNone/>
            </a:pPr>
            <a:r>
              <a:rPr lang="en-US" sz="1500" b="1" dirty="0">
                <a:solidFill>
                  <a:srgbClr val="34B76F"/>
                </a:solidFill>
                <a:latin typeface="Calibri" pitchFamily="34" charset="0"/>
                <a:ea typeface="Calibri" pitchFamily="34" charset="-122"/>
                <a:cs typeface="Calibri" pitchFamily="34" charset="-120"/>
              </a:rPr>
              <a:t>vanity</a:t>
            </a:r>
            <a:endParaRPr lang="en-US" sz="1300" dirty="0"/>
          </a:p>
        </p:txBody>
      </p:sp>
      <p:sp>
        <p:nvSpPr>
          <p:cNvPr id="8" name="Shape 6"/>
          <p:cNvSpPr/>
          <p:nvPr/>
        </p:nvSpPr>
        <p:spPr>
          <a:xfrm>
            <a:off x="4572000" y="914400"/>
            <a:ext cx="4069080" cy="918972"/>
          </a:xfrm>
          <a:prstGeom prst="roundRect">
            <a:avLst>
              <a:gd name="adj" fmla="val 9950"/>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470916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Anne trusted the peddler’s words _____ , and her hair turned green.</a:t>
            </a:r>
            <a:endParaRPr lang="en-US" sz="1050" dirty="0"/>
          </a:p>
        </p:txBody>
      </p:sp>
      <p:sp>
        <p:nvSpPr>
          <p:cNvPr id="10" name="Text 8"/>
          <p:cNvSpPr/>
          <p:nvPr/>
        </p:nvSpPr>
        <p:spPr>
          <a:xfrm>
            <a:off x="4709160" y="1412748"/>
            <a:ext cx="3794760" cy="3657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Answer: </a:t>
            </a:r>
            <a:pPr indent="0" marL="0">
              <a:buNone/>
            </a:pPr>
            <a:r>
              <a:rPr lang="en-US" sz="1500" b="1" dirty="0">
                <a:solidFill>
                  <a:srgbClr val="34B76F"/>
                </a:solidFill>
                <a:latin typeface="Calibri" pitchFamily="34" charset="0"/>
                <a:ea typeface="Calibri" pitchFamily="34" charset="-122"/>
                <a:cs typeface="Calibri" pitchFamily="34" charset="-120"/>
              </a:rPr>
              <a:t>implicitly</a:t>
            </a:r>
            <a:endParaRPr lang="en-US" sz="1300" dirty="0"/>
          </a:p>
        </p:txBody>
      </p:sp>
      <p:sp>
        <p:nvSpPr>
          <p:cNvPr id="11" name="Shape 9"/>
          <p:cNvSpPr/>
          <p:nvPr/>
        </p:nvSpPr>
        <p:spPr>
          <a:xfrm>
            <a:off x="320040" y="1943100"/>
            <a:ext cx="4069080" cy="918972"/>
          </a:xfrm>
          <a:prstGeom prst="roundRect">
            <a:avLst>
              <a:gd name="adj" fmla="val 9950"/>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457200" y="20345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Anne said the trip to Charlottetown marked an _____ in her life.</a:t>
            </a:r>
            <a:endParaRPr lang="en-US" sz="1050" dirty="0"/>
          </a:p>
        </p:txBody>
      </p:sp>
      <p:sp>
        <p:nvSpPr>
          <p:cNvPr id="13" name="Text 11"/>
          <p:cNvSpPr/>
          <p:nvPr/>
        </p:nvSpPr>
        <p:spPr>
          <a:xfrm>
            <a:off x="457200" y="2441448"/>
            <a:ext cx="3794760" cy="3657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Answer: </a:t>
            </a:r>
            <a:pPr indent="0" marL="0">
              <a:buNone/>
            </a:pPr>
            <a:r>
              <a:rPr lang="en-US" sz="1500" b="1" dirty="0">
                <a:solidFill>
                  <a:srgbClr val="34B76F"/>
                </a:solidFill>
                <a:latin typeface="Calibri" pitchFamily="34" charset="0"/>
                <a:ea typeface="Calibri" pitchFamily="34" charset="-122"/>
                <a:cs typeface="Calibri" pitchFamily="34" charset="-120"/>
              </a:rPr>
              <a:t>epoch</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Irregular Past-Tense Verbs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 went to the Exhibition with Diana.</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They ate ice cream at eleven at night.</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 felt happy to be home.</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Irregular Past-Tense Verbs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 </a:t>
            </a:r>
            <a:pPr indent="0" marL="0">
              <a:buNone/>
            </a:pPr>
            <a:r>
              <a:rPr lang="en-US" sz="1500" b="1" u="sng" dirty="0">
                <a:solidFill>
                  <a:srgbClr val="34B76F"/>
                </a:solidFill>
                <a:latin typeface="Calibri" pitchFamily="34" charset="0"/>
                <a:ea typeface="Calibri" pitchFamily="34" charset="-122"/>
                <a:cs typeface="Calibri" pitchFamily="34" charset="-120"/>
              </a:rPr>
              <a:t>went</a:t>
            </a:r>
            <a:pPr indent="0" marL="0">
              <a:buNone/>
            </a:pPr>
            <a:r>
              <a:rPr lang="en-US" sz="1500" dirty="0">
                <a:solidFill>
                  <a:srgbClr val="1E293B"/>
                </a:solidFill>
                <a:latin typeface="Calibri" pitchFamily="34" charset="0"/>
                <a:ea typeface="Calibri" pitchFamily="34" charset="-122"/>
                <a:cs typeface="Calibri" pitchFamily="34" charset="-120"/>
              </a:rPr>
              <a:t> to the Exhibition with Diana.</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They </a:t>
            </a:r>
            <a:pPr indent="0" marL="0">
              <a:buNone/>
            </a:pPr>
            <a:r>
              <a:rPr lang="en-US" sz="1500" b="1" u="sng" dirty="0">
                <a:solidFill>
                  <a:srgbClr val="34B76F"/>
                </a:solidFill>
                <a:latin typeface="Calibri" pitchFamily="34" charset="0"/>
                <a:ea typeface="Calibri" pitchFamily="34" charset="-122"/>
                <a:cs typeface="Calibri" pitchFamily="34" charset="-120"/>
              </a:rPr>
              <a:t>ate</a:t>
            </a:r>
            <a:pPr indent="0" marL="0">
              <a:buNone/>
            </a:pPr>
            <a:r>
              <a:rPr lang="en-US" sz="1500" dirty="0">
                <a:solidFill>
                  <a:srgbClr val="1E293B"/>
                </a:solidFill>
                <a:latin typeface="Calibri" pitchFamily="34" charset="0"/>
                <a:ea typeface="Calibri" pitchFamily="34" charset="-122"/>
                <a:cs typeface="Calibri" pitchFamily="34" charset="-120"/>
              </a:rPr>
              <a:t> ice cream at eleven at night.</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 </a:t>
            </a:r>
            <a:pPr indent="0" marL="0">
              <a:buNone/>
            </a:pPr>
            <a:r>
              <a:rPr lang="en-US" sz="1500" b="1" u="sng" dirty="0">
                <a:solidFill>
                  <a:srgbClr val="34B76F"/>
                </a:solidFill>
                <a:latin typeface="Calibri" pitchFamily="34" charset="0"/>
                <a:ea typeface="Calibri" pitchFamily="34" charset="-122"/>
                <a:cs typeface="Calibri" pitchFamily="34" charset="-120"/>
              </a:rPr>
              <a:t>felt</a:t>
            </a:r>
            <a:pPr indent="0" marL="0">
              <a:buNone/>
            </a:pPr>
            <a:r>
              <a:rPr lang="en-US" sz="1500" dirty="0">
                <a:solidFill>
                  <a:srgbClr val="1E293B"/>
                </a:solidFill>
                <a:latin typeface="Calibri" pitchFamily="34" charset="0"/>
                <a:ea typeface="Calibri" pitchFamily="34" charset="-122"/>
                <a:cs typeface="Calibri" pitchFamily="34" charset="-120"/>
              </a:rPr>
              <a:t> happy to be home.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29</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An Epoch in Anne's Life</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As you read today, ask yourself: What new problem appears in these chapters? How does it connect to the first problem (Timothy's sickness)?</a:t>
            </a:r>
            <a:endParaRPr lang="en-US" sz="1400" dirty="0"/>
          </a:p>
        </p:txBody>
      </p:sp>
      <p:sp>
        <p:nvSpPr>
          <p:cNvPr id="8" name="Shape 6"/>
          <p:cNvSpPr/>
          <p:nvPr/>
        </p:nvSpPr>
        <p:spPr>
          <a:xfrm>
            <a:off x="365760" y="265176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74320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Anne discovers she likes ice cream at midnight in the city — but she’d rather sleep in the east gable at home. What does her conclusion show about how she has grown?</a:t>
            </a:r>
            <a:endParaRPr lang="en-US" sz="1400" dirty="0"/>
          </a:p>
        </p:txBody>
      </p:sp>
      <p:sp>
        <p:nvSpPr>
          <p:cNvPr id="10" name="Shape 8"/>
          <p:cNvSpPr/>
          <p:nvPr/>
        </p:nvSpPr>
        <p:spPr>
          <a:xfrm>
            <a:off x="365760" y="358444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67588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Anne wakes up and looks out the window. How does her view of Green Gables make YOU see the place differently?</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 like a Reader, Writer, Mimic</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MENTOR SENTENCE</a:t>
            </a:r>
            <a:endParaRPr lang="en-US" sz="1100" dirty="0"/>
          </a:p>
        </p:txBody>
      </p:sp>
      <p:sp>
        <p:nvSpPr>
          <p:cNvPr id="5" name="Shape 3"/>
          <p:cNvSpPr/>
          <p:nvPr/>
        </p:nvSpPr>
        <p:spPr>
          <a:xfrm>
            <a:off x="365760" y="1042416"/>
            <a:ext cx="8412480" cy="810768"/>
          </a:xfrm>
          <a:prstGeom prst="roundRect">
            <a:avLst>
              <a:gd name="adj" fmla="val 11278"/>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582168"/>
          </a:xfrm>
          <a:prstGeom prst="rect">
            <a:avLst/>
          </a:prstGeom>
          <a:noFill/>
          <a:ln/>
        </p:spPr>
        <p:txBody>
          <a:bodyPr wrap="square" lIns="0" tIns="0" rIns="0" bIns="0" rtlCol="0" anchor="ctr"/>
          <a:lstStyle/>
          <a:p>
            <a:pPr indent="0" marL="0">
              <a:buNone/>
            </a:pPr>
            <a:r>
              <a:rPr lang="en-US" sz="1600" i="1" dirty="0">
                <a:solidFill>
                  <a:srgbClr val="0E1C42"/>
                </a:solidFill>
                <a:latin typeface="Calibri" pitchFamily="34" charset="0"/>
                <a:ea typeface="Calibri" pitchFamily="34" charset="-122"/>
                <a:cs typeface="Calibri" pitchFamily="34" charset="-120"/>
              </a:rPr>
              <a:t>“The cows swung placidly down the lane, and Anne followed them dreamily, repeating aloud the battle canto from Marmion.”</a:t>
            </a:r>
            <a:endParaRPr lang="en-US" sz="1600" dirty="0"/>
          </a:p>
        </p:txBody>
      </p:sp>
      <p:sp>
        <p:nvSpPr>
          <p:cNvPr id="7" name="Text 5"/>
          <p:cNvSpPr/>
          <p:nvPr/>
        </p:nvSpPr>
        <p:spPr>
          <a:xfrm>
            <a:off x="365760" y="19812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YOUR THREE JOBS</a:t>
            </a:r>
            <a:endParaRPr lang="en-US" sz="1100" dirty="0"/>
          </a:p>
        </p:txBody>
      </p:sp>
      <p:sp>
        <p:nvSpPr>
          <p:cNvPr id="8" name="Shape 6"/>
          <p:cNvSpPr/>
          <p:nvPr/>
        </p:nvSpPr>
        <p:spPr>
          <a:xfrm>
            <a:off x="365760" y="2237232"/>
            <a:ext cx="8412480" cy="731520"/>
          </a:xfrm>
          <a:prstGeom prst="roundRect">
            <a:avLst>
              <a:gd name="adj" fmla="val 12500"/>
            </a:avLst>
          </a:prstGeom>
          <a:solidFill>
            <a:srgbClr val="E5F7FC"/>
          </a:solidFill>
          <a:ln/>
          <a:effectLst>
            <a:outerShdw sx="100000" sy="100000" kx="0" ky="0" algn="bl" rotWithShape="0" blurRad="101600" dist="38100" dir="2700000">
              <a:srgbClr val="000000">
                <a:alpha val="12000"/>
              </a:srgbClr>
            </a:outerShdw>
          </a:effectLst>
        </p:spPr>
      </p:sp>
      <p:sp>
        <p:nvSpPr>
          <p:cNvPr id="9" name="Text 7"/>
          <p:cNvSpPr/>
          <p:nvPr/>
        </p:nvSpPr>
        <p:spPr>
          <a:xfrm>
            <a:off x="594360" y="2301240"/>
            <a:ext cx="2651760" cy="603504"/>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Reader</a:t>
            </a:r>
            <a:endParaRPr lang="en-US" sz="1300" dirty="0"/>
          </a:p>
        </p:txBody>
      </p:sp>
      <p:sp>
        <p:nvSpPr>
          <p:cNvPr id="10" name="Text 8"/>
          <p:cNvSpPr/>
          <p:nvPr/>
        </p:nvSpPr>
        <p:spPr>
          <a:xfrm>
            <a:off x="3337560" y="2301240"/>
            <a:ext cx="5303520" cy="603504"/>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What does this sentence show us about Anne in one moment? Notice: she’s doing a chore (cows) AND her mind is far away (a battle poem). What kind of person is this?</a:t>
            </a:r>
            <a:endParaRPr lang="en-US" sz="1200" dirty="0"/>
          </a:p>
        </p:txBody>
      </p:sp>
      <p:sp>
        <p:nvSpPr>
          <p:cNvPr id="11" name="Shape 9"/>
          <p:cNvSpPr/>
          <p:nvPr/>
        </p:nvSpPr>
        <p:spPr>
          <a:xfrm>
            <a:off x="365760" y="3060192"/>
            <a:ext cx="8412480" cy="530352"/>
          </a:xfrm>
          <a:prstGeom prst="roundRect">
            <a:avLst>
              <a:gd name="adj" fmla="val 17241"/>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124200"/>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Writer</a:t>
            </a:r>
            <a:endParaRPr lang="en-US" sz="1300" dirty="0"/>
          </a:p>
        </p:txBody>
      </p:sp>
      <p:sp>
        <p:nvSpPr>
          <p:cNvPr id="13" name="Text 11"/>
          <p:cNvSpPr/>
          <p:nvPr/>
        </p:nvSpPr>
        <p:spPr>
          <a:xfrm>
            <a:off x="3337560" y="3124200"/>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How did Montgomery build this sentence? She picks only the IMPORTANT details: the cows’ pace (swung placidly</a:t>
            </a:r>
            <a:endParaRPr lang="en-US" sz="1200" dirty="0"/>
          </a:p>
        </p:txBody>
      </p:sp>
      <p:sp>
        <p:nvSpPr>
          <p:cNvPr id="14" name="Shape 12"/>
          <p:cNvSpPr/>
          <p:nvPr/>
        </p:nvSpPr>
        <p:spPr>
          <a:xfrm>
            <a:off x="365760" y="3681984"/>
            <a:ext cx="8412480" cy="530352"/>
          </a:xfrm>
          <a:prstGeom prst="roundRect">
            <a:avLst>
              <a:gd name="adj" fmla="val 17241"/>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94360" y="3745992"/>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Mimic</a:t>
            </a:r>
            <a:endParaRPr lang="en-US" sz="1300" dirty="0"/>
          </a:p>
        </p:txBody>
      </p:sp>
      <p:sp>
        <p:nvSpPr>
          <p:cNvPr id="16" name="Text 14"/>
          <p:cNvSpPr/>
          <p:nvPr/>
        </p:nvSpPr>
        <p:spPr>
          <a:xfrm>
            <a:off x="3337560" y="3745992"/>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Write your own sentence using the same pattern in your notebook.</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Realistic Fiction — Revise &amp; Publish</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Revise your dialogue so each character sounds distinct.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2026-07-11T22:13:20Z</dcterms:created>
  <dcterms:modified xsi:type="dcterms:W3CDTF">2026-07-11T22:13:20Z</dcterms:modified>
</cp:coreProperties>
</file>