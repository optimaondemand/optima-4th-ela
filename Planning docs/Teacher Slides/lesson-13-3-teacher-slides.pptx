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13,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Use a direct quotation as evidence, then explain its meaning in your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Use a direct quotation as evidence, then explain its meaning in your own words.. Level-up: ⭐ Quote the line correctly  ⭐⭐ Explain what it means in your own words  ⭐⭐⭐ Connect it to your claim  ⭐⭐⭐⭐ Compare Anne’s outlook here to how she felt in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Make sure your quotation is followed by YOUR explanation, not just left to speak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quotation and the explanation you wrote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we saw how much Anne has grown since the beginning of the book. Today: Watch Anne perform at the hotel concert. Big Q: In Ch. 34, on the night before Anne leaves for Queen’s, Marilla cries because the girl she loves is going away. Anne sits down on Marilla’s lap, takes her face in both hands, and says: “I’m not a bit changed — not really. I’m only just pruned down and branched out. The real me — back here — is just the same.” Anne has grown two inches. She is quieter. She uses smaller words. She is leaving for the city. But the part of her that loves Marilla and Matthew and Green Gables — that part is still right there. Knowing that is what makes her ready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 felt nervous before her recitation."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audience seemed unfriendly anne was afraid for a moment" Corrected: "The audience seemed unfriendly. Anne was afraid for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audience seemed unfriendly anne was afraid for a moment" Corrected: "The audience seemed unfriendly. Anne was afraid for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perspect — ive — way of looking at something | spectator — — one who looks (watches) | destruct — ion — the act of taking apart | struct — ure — a thing that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ambition: Anne went to bed full of _____ to win the Avery scholarship. | composure: Jane sat with calm _____ while Anne’s heart pounded. | broadminded: Miss Stacy’s _____ teaching let students explore new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became more thoughtful each year." -&gt; became | "The pink lady is kind." -&gt; is | "Anne’s voice sounded clear and strong." -&gt; sounded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became more thoughtful each year." -&gt; became | "The pink lady is kind." -&gt; is | "Anne’s voice sounded clear and strong." -&gt; sounded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"“‘We are rich,’ said Anne staunchly. ‘Why, we have sixteen years to our credit, and we’re happy as queens, and we’ve all got imaginations, more or less.’”"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Character Growth Essay — Evidence #2
Focus: Write your second evidence paragraph and connect it to your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13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33</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Hotel Concert</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13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felt nervous before her recitation.</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"‘We are rich,’ said Anne staunchly. ‘Why, we have sixteen years to our credit.’"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does Anne mean by calling herself "rich" here? How does this connect to how she has changed?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second piece of evidence for your essay, using this quotation as a starting point: what does Anne’s outlook on life show about how far she has come?</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Use a direct quotation as evidence, then explain its meaning in your own words.</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Quote the line correctly  ⭐⭐ Explain what it means in your own words  ⭐⭐⭐ Connect it to your claim  ⭐⭐⭐⭐ Compare Anne’s outlook here to how she felt in Chapter 1</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Make sure your quotation is followed by YOUR explanation, not just left to speak for itself.</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quotation and the explanation you wrote for it.</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we saw how much Anne has grown since the beginning of the book.</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Watch Anne perform at the hotel concert.</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In Ch. 34, on the night before Anne leaves for Queen’s, Marilla cries because the girl she loves is going away. Anne sits down on Marilla’s lap, takes her face in both hands, and says: “I’m not a bit changed — not really. I’m only just pruned down and branched out. The real me — back here — is just the same.” Anne has grown two inches. She is quieter. She uses smaller words. She is leaving for the city. But the part of her that loves Marilla and Matthew and Green Gables — that part is still right there. Knowing that is what makes her ready to go.</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about how problems grow. The first problem in a book is rarely the only one — new trouble appears as the story moves.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felt nervous before her recitation.</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audience seemed unfriendly anne was afraid for a moment</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audience seemed unfriendly anne was afraid for a moment</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The audience seemed unfriendly. Anne was afraid for a moment.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spect, struct</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This week’s word bases come from Latin and show ACTIONS. spect means to look. You find it in words about seeing or examining. struct means to build. You find it in words about putting things together or taking them apart.</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inspect = in- + spect (to look INTO)</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respect = re- + spect (to look BACK at; to value)</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construct = con- + struct (to build TOGETHER)</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instruct = in- + struct (to build IN; to teach)</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perspect — ive — way of looking at something</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spectator — — one who looks (watches)</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destruct — ion — the act of taking apart</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struct — ure — a thing that is built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Anne went to bed full of _____ to win the Avery scholarship.</a:t>
            </a:r>
            <a:endParaRPr lang="en-US" sz="1050" dirty="0"/>
          </a:p>
        </p:txBody>
      </p:sp>
      <p:sp>
        <p:nvSpPr>
          <p:cNvPr id="7" name="Text 5"/>
          <p:cNvSpPr/>
          <p:nvPr/>
        </p:nvSpPr>
        <p:spPr>
          <a:xfrm>
            <a:off x="457200" y="14127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ambition</a:t>
            </a:r>
            <a:endParaRPr lang="en-US" sz="1300" dirty="0"/>
          </a:p>
        </p:txBody>
      </p:sp>
      <p:sp>
        <p:nvSpPr>
          <p:cNvPr id="8" name="Shape 6"/>
          <p:cNvSpPr/>
          <p:nvPr/>
        </p:nvSpPr>
        <p:spPr>
          <a:xfrm>
            <a:off x="457200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Jane sat with calm _____ while Anne’s heart pounded.</a:t>
            </a:r>
            <a:endParaRPr lang="en-US" sz="1050" dirty="0"/>
          </a:p>
        </p:txBody>
      </p:sp>
      <p:sp>
        <p:nvSpPr>
          <p:cNvPr id="10" name="Text 8"/>
          <p:cNvSpPr/>
          <p:nvPr/>
        </p:nvSpPr>
        <p:spPr>
          <a:xfrm>
            <a:off x="4709160" y="14127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composure</a:t>
            </a:r>
            <a:endParaRPr lang="en-US" sz="1300" dirty="0"/>
          </a:p>
        </p:txBody>
      </p:sp>
      <p:sp>
        <p:nvSpPr>
          <p:cNvPr id="11" name="Shape 9"/>
          <p:cNvSpPr/>
          <p:nvPr/>
        </p:nvSpPr>
        <p:spPr>
          <a:xfrm>
            <a:off x="320040" y="19431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345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Miss Stacy’s _____ teaching let students explore new ideas.</a:t>
            </a:r>
            <a:endParaRPr lang="en-US" sz="1050" dirty="0"/>
          </a:p>
        </p:txBody>
      </p:sp>
      <p:sp>
        <p:nvSpPr>
          <p:cNvPr id="13" name="Text 11"/>
          <p:cNvSpPr/>
          <p:nvPr/>
        </p:nvSpPr>
        <p:spPr>
          <a:xfrm>
            <a:off x="457200" y="24414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broadminded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Linking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became more thoughtful each year.</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pink lady is kind.</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Anne’s voice sounded clear and strong.</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Linking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t>
            </a:r>
            <a:pPr indent="0" marL="0">
              <a:buNone/>
            </a:pPr>
            <a:r>
              <a:rPr lang="en-US" sz="1500" b="1" u="sng" dirty="0">
                <a:solidFill>
                  <a:srgbClr val="34B76F"/>
                </a:solidFill>
                <a:latin typeface="Calibri" pitchFamily="34" charset="0"/>
                <a:ea typeface="Calibri" pitchFamily="34" charset="-122"/>
                <a:cs typeface="Calibri" pitchFamily="34" charset="-120"/>
              </a:rPr>
              <a:t>became</a:t>
            </a:r>
            <a:pPr indent="0" marL="0">
              <a:buNone/>
            </a:pPr>
            <a:r>
              <a:rPr lang="en-US" sz="1500" dirty="0">
                <a:solidFill>
                  <a:srgbClr val="1E293B"/>
                </a:solidFill>
                <a:latin typeface="Calibri" pitchFamily="34" charset="0"/>
                <a:ea typeface="Calibri" pitchFamily="34" charset="-122"/>
                <a:cs typeface="Calibri" pitchFamily="34" charset="-120"/>
              </a:rPr>
              <a:t> more thoughtful each year.</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pink lady </a:t>
            </a:r>
            <a:pPr indent="0" marL="0">
              <a:buNone/>
            </a:pPr>
            <a:r>
              <a:rPr lang="en-US" sz="1500" b="1" u="sng" dirty="0">
                <a:solidFill>
                  <a:srgbClr val="34B76F"/>
                </a:solidFill>
                <a:latin typeface="Calibri" pitchFamily="34" charset="0"/>
                <a:ea typeface="Calibri" pitchFamily="34" charset="-122"/>
                <a:cs typeface="Calibri" pitchFamily="34" charset="-120"/>
              </a:rPr>
              <a:t>is</a:t>
            </a:r>
            <a:pPr indent="0" marL="0">
              <a:buNone/>
            </a:pPr>
            <a:r>
              <a:rPr lang="en-US" sz="1500" dirty="0">
                <a:solidFill>
                  <a:srgbClr val="1E293B"/>
                </a:solidFill>
                <a:latin typeface="Calibri" pitchFamily="34" charset="0"/>
                <a:ea typeface="Calibri" pitchFamily="34" charset="-122"/>
                <a:cs typeface="Calibri" pitchFamily="34" charset="-120"/>
              </a:rPr>
              <a:t> kind.</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Anne’s voice </a:t>
            </a:r>
            <a:pPr indent="0" marL="0">
              <a:buNone/>
            </a:pPr>
            <a:r>
              <a:rPr lang="en-US" sz="1500" b="1" u="sng" dirty="0">
                <a:solidFill>
                  <a:srgbClr val="34B76F"/>
                </a:solidFill>
                <a:latin typeface="Calibri" pitchFamily="34" charset="0"/>
                <a:ea typeface="Calibri" pitchFamily="34" charset="-122"/>
                <a:cs typeface="Calibri" pitchFamily="34" charset="-120"/>
              </a:rPr>
              <a:t>sounded</a:t>
            </a:r>
            <a:pPr indent="0" marL="0">
              <a:buNone/>
            </a:pPr>
            <a:r>
              <a:rPr lang="en-US" sz="1500" dirty="0">
                <a:solidFill>
                  <a:srgbClr val="1E293B"/>
                </a:solidFill>
                <a:latin typeface="Calibri" pitchFamily="34" charset="0"/>
                <a:ea typeface="Calibri" pitchFamily="34" charset="-122"/>
                <a:cs typeface="Calibri" pitchFamily="34" charset="-120"/>
              </a:rPr>
              <a:t> clear and strong.</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33</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Hotel Concert</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As you read today, ask yourself: What new problem appears in these chapters? How does it connect to the first problem (Timothy's sickness)?</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Anne is frozen with stage fright. Then she sees Gilbert smiling at the back of the room. How does this small moment change Anne’s state? What does her reaction reveal about how she has grown?</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wakes up and looks out the window. How does her view of Green Gables make YOU see the place differently?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1078992"/>
          </a:xfrm>
          <a:prstGeom prst="roundRect">
            <a:avLst>
              <a:gd name="adj" fmla="val 8475"/>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50392"/>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“‘We are rich,’ said Anne staunchly. ‘Why, we have sixteen years to our credit, and we’re happy as queens, and we’ve all got imaginations, more or less.’”</a:t>
            </a:r>
            <a:endParaRPr lang="en-US" sz="1600" dirty="0"/>
          </a:p>
        </p:txBody>
      </p:sp>
      <p:sp>
        <p:nvSpPr>
          <p:cNvPr id="7" name="Text 5"/>
          <p:cNvSpPr/>
          <p:nvPr/>
        </p:nvSpPr>
        <p:spPr>
          <a:xfrm>
            <a:off x="365760" y="224942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505456"/>
            <a:ext cx="8412480" cy="731520"/>
          </a:xfrm>
          <a:prstGeom prst="roundRect">
            <a:avLst>
              <a:gd name="adj" fmla="val 12500"/>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569464"/>
            <a:ext cx="2651760" cy="603504"/>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569464"/>
            <a:ext cx="5303520" cy="60350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is Anne CHOOSING to believe about herself? What lesson is her choice teaching us — and the friends she is talking to?</a:t>
            </a:r>
            <a:endParaRPr lang="en-US" sz="1200" dirty="0"/>
          </a:p>
        </p:txBody>
      </p:sp>
      <p:sp>
        <p:nvSpPr>
          <p:cNvPr id="11" name="Shape 9"/>
          <p:cNvSpPr/>
          <p:nvPr/>
        </p:nvSpPr>
        <p:spPr>
          <a:xfrm>
            <a:off x="365760" y="3328416"/>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392424"/>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3392424"/>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Montgomery build this sentence? Notice the word staunchly</a:t>
            </a:r>
            <a:endParaRPr lang="en-US" sz="1200" dirty="0"/>
          </a:p>
        </p:txBody>
      </p:sp>
      <p:sp>
        <p:nvSpPr>
          <p:cNvPr id="14" name="Shape 12"/>
          <p:cNvSpPr/>
          <p:nvPr/>
        </p:nvSpPr>
        <p:spPr>
          <a:xfrm>
            <a:off x="365760" y="3950208"/>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4014216"/>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4014216"/>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Character Growth Essay — Evidence #2</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Write your second evidence paragraph and connect it to your claim.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