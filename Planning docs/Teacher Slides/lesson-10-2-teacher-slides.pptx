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10,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Identify how "although" lets a writer hold two true feelings in one sentence, then apply that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Identify how "although" lets a writer hold two true feelings in one sentence, then apply that structure.. Level-up: ⭐ Name both feelings  ⭐⭐ Use the "although" structure  ⭐⭐⭐ Make both feelings believable, not silly  ⭐⭐⭐⭐ Show one feeling through action, the other through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a moment where your character has mixed feelings. Try the "although ___, they were ___"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two-feelings-at-once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Diana was invited to tea with Anne, and it did not go as planned. Today: Watch Anne rush to the rescue in an emergency. Big Q: Today, watch for how the author introduces Anne. What does she say? What does she do? How does her voice make her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"Diana runs to Anne for help because Minnie May is sick."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knows what to do for croup she races through the snow" Corrected: "Anne knows what to do for croup. She races through the snow."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knows what to do for croup she races through the snow" Corrected: "Anne knows what to do for croup. She races through the snow."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cordial: Warmly friendly. (Also: a sweet drink offered to friends.) | incapable: Not able; lacking the ability to do something. | relent: To soften; to become less harsh; to change one’s mind. | inexorable: Refusing to give in or change; unable to be moved by pleading.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knows how to treat croup." -&gt; knows | "Mrs. Barry comes to the door." -&gt; comes | "Aunt Josephine laughs at Anne’s speech." -&gt; laughs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knows how to treat croup." -&gt; knows | "Mrs. Barry comes to the door." -&gt; comes | "Aunt Josephine laughs at Anne’s speech." -&gt; laughs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Hard c / hard g: currant, captain, guess | Soft c / soft g: celebrate, gigantic, ginger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Hard c / hard g: currant, captain, guess | Soft c / soft g: celebrate, gigantic, ginger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Chapters 17-18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"“Anne, although sincerely sorry for Minnie May, was far from being insensible to the romance of the situation.”"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Realistic Fiction — Facing a Mistake
Focus: Show the consequences of the mistake unfolding.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10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Chapters 17-18</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Anne to the Rescue</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10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Diana runs to Anne for help because Minnie May is sick.</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"Anne, although sincerely sorry for Minnie May, was far from being insensible to the pleasure of importance."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do the words "although" and "far from" let the author do — show two feelings at once?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77824"/>
          </a:xfrm>
          <a:prstGeom prst="roundRect">
            <a:avLst>
              <a:gd name="adj" fmla="val 10417"/>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86384"/>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moment where your character feels two things at once — like being worried AND excited, or sorry AND proud. Use an "although ___, [character] was ___" sentence structure.</a:t>
            </a:r>
            <a:endParaRPr lang="en-US" sz="1200" dirty="0"/>
          </a:p>
        </p:txBody>
      </p:sp>
      <p:sp>
        <p:nvSpPr>
          <p:cNvPr id="6" name="Shape 4"/>
          <p:cNvSpPr/>
          <p:nvPr/>
        </p:nvSpPr>
        <p:spPr>
          <a:xfrm>
            <a:off x="457200" y="2176272"/>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231136"/>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Identify how "although" lets a writer hold two true feelings in one sentence, then apply that structure.</a:t>
            </a:r>
            <a:endParaRPr lang="en-US" sz="1300" dirty="0"/>
          </a:p>
        </p:txBody>
      </p:sp>
      <p:sp>
        <p:nvSpPr>
          <p:cNvPr id="8" name="Text 6"/>
          <p:cNvSpPr/>
          <p:nvPr/>
        </p:nvSpPr>
        <p:spPr>
          <a:xfrm>
            <a:off x="548640" y="2923032"/>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Name both feelings  ⭐⭐ Use the "although" structure  ⭐⭐⭐ Make both feelings believable, not silly  ⭐⭐⭐⭐ Show one feeling through action, the other through thought</a:t>
            </a:r>
            <a:endParaRPr lang="en-US" sz="1150" dirty="0"/>
          </a:p>
        </p:txBody>
      </p:sp>
      <p:sp>
        <p:nvSpPr>
          <p:cNvPr id="9" name="Text 7"/>
          <p:cNvSpPr/>
          <p:nvPr/>
        </p:nvSpPr>
        <p:spPr>
          <a:xfrm>
            <a:off x="548640" y="3427476"/>
            <a:ext cx="8046720" cy="1601724"/>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a moment where your character has mixed feelings. Try the "although ___, they were ___" structure.</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two-feelings-at-once sentence.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Diana was invited to tea with Anne, and it did not go as planned.</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Watch Anne rush to the rescue in an emergency.</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Today, watch for how the author introduces Anne. What does she say? What does she do? How does her voice make her real?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notice character VOICE — the way a person's words sound, the words they choose, the things they get excited about. Anne has one of the most...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Diana runs to Anne for help because Minnie May is sick.</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knows what to do for croup she races through the snow</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knows what to do for croup she races through the snow</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Anne knows what to do for croup. She races through the snow.</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cordial</a:t>
            </a:r>
            <a:endParaRPr lang="en-US" sz="1400" dirty="0"/>
          </a:p>
        </p:txBody>
      </p:sp>
      <p:sp>
        <p:nvSpPr>
          <p:cNvPr id="7" name="Text 5"/>
          <p:cNvSpPr/>
          <p:nvPr/>
        </p:nvSpPr>
        <p:spPr>
          <a:xfrm>
            <a:off x="45720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Warmly friendly. (Also: a sweet drink offered to friends.)</a:t>
            </a:r>
            <a:endParaRPr lang="en-US" sz="1100" dirty="0"/>
          </a:p>
        </p:txBody>
      </p:sp>
      <p:sp>
        <p:nvSpPr>
          <p:cNvPr id="8" name="Shape 6"/>
          <p:cNvSpPr/>
          <p:nvPr/>
        </p:nvSpPr>
        <p:spPr>
          <a:xfrm>
            <a:off x="457200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incapable</a:t>
            </a:r>
            <a:endParaRPr lang="en-US" sz="1400" dirty="0"/>
          </a:p>
        </p:txBody>
      </p:sp>
      <p:sp>
        <p:nvSpPr>
          <p:cNvPr id="10" name="Text 8"/>
          <p:cNvSpPr/>
          <p:nvPr/>
        </p:nvSpPr>
        <p:spPr>
          <a:xfrm>
            <a:off x="470916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Not able; lacking the ability to do something.</a:t>
            </a:r>
            <a:endParaRPr lang="en-US" sz="1100" dirty="0"/>
          </a:p>
        </p:txBody>
      </p:sp>
      <p:sp>
        <p:nvSpPr>
          <p:cNvPr id="11" name="Shape 9"/>
          <p:cNvSpPr/>
          <p:nvPr/>
        </p:nvSpPr>
        <p:spPr>
          <a:xfrm>
            <a:off x="320040" y="1978152"/>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relent</a:t>
            </a:r>
            <a:endParaRPr lang="en-US" sz="1400" dirty="0"/>
          </a:p>
        </p:txBody>
      </p:sp>
      <p:sp>
        <p:nvSpPr>
          <p:cNvPr id="13" name="Text 11"/>
          <p:cNvSpPr/>
          <p:nvPr/>
        </p:nvSpPr>
        <p:spPr>
          <a:xfrm>
            <a:off x="457200" y="2380488"/>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soften; to become less harsh; to change one’s mind.</a:t>
            </a:r>
            <a:endParaRPr lang="en-US" sz="1100" dirty="0"/>
          </a:p>
        </p:txBody>
      </p:sp>
      <p:sp>
        <p:nvSpPr>
          <p:cNvPr id="14" name="Shape 12"/>
          <p:cNvSpPr/>
          <p:nvPr/>
        </p:nvSpPr>
        <p:spPr>
          <a:xfrm>
            <a:off x="4572000" y="1978152"/>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inexorable</a:t>
            </a:r>
            <a:endParaRPr lang="en-US" sz="1400" dirty="0"/>
          </a:p>
        </p:txBody>
      </p:sp>
      <p:sp>
        <p:nvSpPr>
          <p:cNvPr id="16" name="Text 14"/>
          <p:cNvSpPr/>
          <p:nvPr/>
        </p:nvSpPr>
        <p:spPr>
          <a:xfrm>
            <a:off x="4709160" y="2380488"/>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Refusing to give in or change; unable to be moved by pleading.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Present-Tense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knows how to treat croup.</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Mrs. Barry comes to the door.</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Aunt Josephine laughs at Anne’s speech.</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Present-Tense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a:t>
            </a:r>
            <a:pPr indent="0" marL="0">
              <a:buNone/>
            </a:pPr>
            <a:r>
              <a:rPr lang="en-US" sz="1500" b="1" u="sng" dirty="0">
                <a:solidFill>
                  <a:srgbClr val="34B76F"/>
                </a:solidFill>
                <a:latin typeface="Calibri" pitchFamily="34" charset="0"/>
                <a:ea typeface="Calibri" pitchFamily="34" charset="-122"/>
                <a:cs typeface="Calibri" pitchFamily="34" charset="-120"/>
              </a:rPr>
              <a:t>knows</a:t>
            </a:r>
            <a:pPr indent="0" marL="0">
              <a:buNone/>
            </a:pPr>
            <a:r>
              <a:rPr lang="en-US" sz="1500" dirty="0">
                <a:solidFill>
                  <a:srgbClr val="1E293B"/>
                </a:solidFill>
                <a:latin typeface="Calibri" pitchFamily="34" charset="0"/>
                <a:ea typeface="Calibri" pitchFamily="34" charset="-122"/>
                <a:cs typeface="Calibri" pitchFamily="34" charset="-120"/>
              </a:rPr>
              <a:t> how to treat croup.</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Mrs. Barry </a:t>
            </a:r>
            <a:pPr indent="0" marL="0">
              <a:buNone/>
            </a:pPr>
            <a:r>
              <a:rPr lang="en-US" sz="1500" b="1" u="sng" dirty="0">
                <a:solidFill>
                  <a:srgbClr val="34B76F"/>
                </a:solidFill>
                <a:latin typeface="Calibri" pitchFamily="34" charset="0"/>
                <a:ea typeface="Calibri" pitchFamily="34" charset="-122"/>
                <a:cs typeface="Calibri" pitchFamily="34" charset="-120"/>
              </a:rPr>
              <a:t>comes</a:t>
            </a:r>
            <a:pPr indent="0" marL="0">
              <a:buNone/>
            </a:pPr>
            <a:r>
              <a:rPr lang="en-US" sz="1500" dirty="0">
                <a:solidFill>
                  <a:srgbClr val="1E293B"/>
                </a:solidFill>
                <a:latin typeface="Calibri" pitchFamily="34" charset="0"/>
                <a:ea typeface="Calibri" pitchFamily="34" charset="-122"/>
                <a:cs typeface="Calibri" pitchFamily="34" charset="-120"/>
              </a:rPr>
              <a:t> to the door.</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Aunt Josephine </a:t>
            </a:r>
            <a:pPr indent="0" marL="0">
              <a:buNone/>
            </a:pPr>
            <a:r>
              <a:rPr lang="en-US" sz="1500" b="1" u="sng" dirty="0">
                <a:solidFill>
                  <a:srgbClr val="34B76F"/>
                </a:solidFill>
                <a:latin typeface="Calibri" pitchFamily="34" charset="0"/>
                <a:ea typeface="Calibri" pitchFamily="34" charset="-122"/>
                <a:cs typeface="Calibri" pitchFamily="34" charset="-120"/>
              </a:rPr>
              <a:t>laughs</a:t>
            </a:r>
            <a:pPr indent="0" marL="0">
              <a:buNone/>
            </a:pPr>
            <a:r>
              <a:rPr lang="en-US" sz="1500" dirty="0">
                <a:solidFill>
                  <a:srgbClr val="1E293B"/>
                </a:solidFill>
                <a:latin typeface="Calibri" pitchFamily="34" charset="0"/>
                <a:ea typeface="Calibri" pitchFamily="34" charset="-122"/>
                <a:cs typeface="Calibri" pitchFamily="34" charset="-120"/>
              </a:rPr>
              <a:t> at Anne’s speech.</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Hard &amp; Soft c and g</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currant   -   captain   -   guess   -   celebrate   -   gigantic   -   ginger</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Hard c / hard g</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Soft c / soft 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Hard &amp; Soft c and g</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Hard c / hard g</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currant</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captain</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guess</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Soft c / soft g</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celebrate</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gigantic</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ginger</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Chapters 17-18</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Anne to the Rescue</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What feeling does the poet have for the mouse? Find one line that shows it.</a:t>
            </a:r>
            <a:endParaRPr lang="en-US" sz="1400" dirty="0"/>
          </a:p>
        </p:txBody>
      </p:sp>
      <p:sp>
        <p:nvSpPr>
          <p:cNvPr id="8" name="Shape 6"/>
          <p:cNvSpPr/>
          <p:nvPr/>
        </p:nvSpPr>
        <p:spPr>
          <a:xfrm>
            <a:off x="365760" y="251460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In Ch. 18, Anne runs through the dark and snow to save Diana’s baby sister from croup. Young Mary Joe is frozen. Diana is crying. Anne — the orphan girl whose past everyone calls hard — is the only one who knows what to do, because she helped raise three sets of twins. Her hard past becomes her gift. The doctor says she saved the baby’s life. Anne’s courage isn’t loud. It is what she does when she has training and everyone else has fear.</a:t>
            </a:r>
            <a:endParaRPr lang="en-US" sz="1400" dirty="0"/>
          </a:p>
        </p:txBody>
      </p:sp>
      <p:sp>
        <p:nvSpPr>
          <p:cNvPr id="10" name="Shape 8"/>
          <p:cNvSpPr/>
          <p:nvPr/>
        </p:nvSpPr>
        <p:spPr>
          <a:xfrm>
            <a:off x="365760" y="344728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 and Diana have a tearful “eternal farewell.” Is it possible to enjoy sadness? What does this scene tell you about Anne’s feelings?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810768"/>
          </a:xfrm>
          <a:prstGeom prst="roundRect">
            <a:avLst>
              <a:gd name="adj" fmla="val 11278"/>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82168"/>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“Anne, although sincerely sorry for Minnie May, was far from being insensible to the romance of the situation.”</a:t>
            </a:r>
            <a:endParaRPr lang="en-US" sz="1600" dirty="0"/>
          </a:p>
        </p:txBody>
      </p:sp>
      <p:sp>
        <p:nvSpPr>
          <p:cNvPr id="7" name="Text 5"/>
          <p:cNvSpPr/>
          <p:nvPr/>
        </p:nvSpPr>
        <p:spPr>
          <a:xfrm>
            <a:off x="365760" y="19812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237232"/>
            <a:ext cx="8412480" cy="731520"/>
          </a:xfrm>
          <a:prstGeom prst="roundRect">
            <a:avLst>
              <a:gd name="adj" fmla="val 12500"/>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301240"/>
            <a:ext cx="2651760" cy="603504"/>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301240"/>
            <a:ext cx="5303520" cy="60350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does this sentence tell us is going on inside Anne, even as she rushes to help? What two things is she feeling at the same time?</a:t>
            </a:r>
            <a:endParaRPr lang="en-US" sz="1200" dirty="0"/>
          </a:p>
        </p:txBody>
      </p:sp>
      <p:sp>
        <p:nvSpPr>
          <p:cNvPr id="11" name="Shape 9"/>
          <p:cNvSpPr/>
          <p:nvPr/>
        </p:nvSpPr>
        <p:spPr>
          <a:xfrm>
            <a:off x="365760" y="3060192"/>
            <a:ext cx="8412480" cy="530352"/>
          </a:xfrm>
          <a:prstGeom prst="roundRect">
            <a:avLst>
              <a:gd name="adj" fmla="val 17241"/>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124200"/>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3124200"/>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How did Montgomery build this sentence? Notice the “although” clause</a:t>
            </a:r>
            <a:endParaRPr lang="en-US" sz="1200" dirty="0"/>
          </a:p>
        </p:txBody>
      </p:sp>
      <p:sp>
        <p:nvSpPr>
          <p:cNvPr id="14" name="Shape 12"/>
          <p:cNvSpPr/>
          <p:nvPr/>
        </p:nvSpPr>
        <p:spPr>
          <a:xfrm>
            <a:off x="365760" y="3681984"/>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745992"/>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3745992"/>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Realistic Fiction — Facing a Mistake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Show the consequences of the mistake unfolding.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