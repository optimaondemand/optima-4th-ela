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17, Day 2.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Identify a reason and connect it clearly to an opinion using "because" or "since."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15-minute timer. Craft move: Identify a reason and connect it clearly to an opinion using "because" or "since.". Level-up: ⭐ State your opinion  ⭐⭐ Use "because" or "since"  ⭐⭐⭐ Give a specific detail from the journey  ⭐⭐⭐⭐ Acknowledge what is hard about the OTHER choice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Check your reason actually explains WHY, not just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opinion about leaving versus staying."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Annemarie made a split-second decision that could have given everything away. Today: Follow Mama and the girls on their journey north. Big Q: As you read today, watch for the setting, the characters, and the moment of danger. What is Copenhagen like in 1943? Who is Annemarie? What small thing happens that tells you life is not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"Mama and the girls travel north to the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"papa speaks in code on the phone the soldiers may be listening to him" Corrected: "Papa speaks in code on the phone. The soldiers may be listening to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"papa speaks in code on the phone the soldiers may be listening to him" Corrected: "Papa speaks in code on the phone. The soldiers may be listening to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interrupt — — to break in between | erupt — — to break out (volcano, news) | conduct — — to lead together; how a person behaves | introduce — — to lead someone or something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interrupt: To stop something while it is happening. | conduct: How someone behaves or acts — or, to lead or guide. | relocate: To move someone or something to a new place — sometimes by force. | suspicion: A feeling that something is wrong, even if you don’t have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"Papa speaks on the phone." -&gt; speaks | "Mama and Papa plan the trip." -&gt; plan | "Uncle Henrik waits at the dock." -&gt; waits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"Papa speaks on the phone." -&gt; speaks | "Mama and Papa plan the trip." -&gt; plan | "Uncle Henrik waits at the dock." -&gt; waits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Everyday word (schwa): return, unsafe, mistrust | Academic word (schwa): quietly, hopeful, famously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Everyday word (schwa): return, unsafe, mistrust | Academic word (schwa): quietly, hopeful, famously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Opinion Writing — Practicing Evidence
Focus: Practice giving a reason that truly explains "why," not just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6E9B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6E9BD9"/>
                </a:solidFill>
                <a:latin typeface="Calibri" pitchFamily="34" charset="0"/>
                <a:ea typeface="Calibri" pitchFamily="34" charset="-122"/>
                <a:cs typeface="Calibri" pitchFamily="34" charset="-120"/>
              </a:rPr>
              <a:t>WEEK 17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6</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Journey to Uncle Henrik's</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17  ·  Virtue: Courage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Mama and the girls travel north to the sea.</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"Mama and the girls travel north to the sea."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Why might leaving home, even to somewhere safer, still feel frightening?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15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your opinion: is it harder to leave everything familiar behind, or to stay and face danger where you are? Give one reason for your opinion.</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Identify a reason and connect it clearly to an opinion using "because" or "since."</a:t>
            </a:r>
            <a:endParaRPr lang="en-US" sz="1300" dirty="0"/>
          </a:p>
        </p:txBody>
      </p:sp>
      <p:sp>
        <p:nvSpPr>
          <p:cNvPr id="8" name="Text 6"/>
          <p:cNvSpPr/>
          <p:nvPr/>
        </p:nvSpPr>
        <p:spPr>
          <a:xfrm>
            <a:off x="548640" y="2868168"/>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State your opinion  ⭐⭐ Use "because" or "since"  ⭐⭐⭐ Give a specific detail from the journey  ⭐⭐⭐⭐ Acknowledge what is hard about the OTHER choice too</a:t>
            </a:r>
            <a:endParaRPr lang="en-US" sz="1150" dirty="0"/>
          </a:p>
        </p:txBody>
      </p:sp>
      <p:sp>
        <p:nvSpPr>
          <p:cNvPr id="9" name="Text 7"/>
          <p:cNvSpPr/>
          <p:nvPr/>
        </p:nvSpPr>
        <p:spPr>
          <a:xfrm>
            <a:off x="548640" y="3372612"/>
            <a:ext cx="8046720" cy="165658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Check your reason actually explains WHY, not just WHAT happened.</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opinion about leaving versus staying.</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Annemarie made a split-second decision that could have given everything away.</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Follow Mama and the girls on their journey north.</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As you read today, watch for the setting, the characters, and the moment of danger. What is Copenhagen like in 1943? Who is Annemarie? What small thing happens that tells you life is not normal?</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slow down at the start of a book. The first chapters tell you who the characters are, where they live, and what trouble is about to begin.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Mama and the girls travel north to the sea.</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papa speaks in code on the phone the soldiers may be listening to him</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papa speaks in code on the phone the soldiers may be listening to him</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Papa speaks in code on the phone. The soldiers may be listening to him.</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Word Bases: cred + tend</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cred is a Latin root meaning to believe. tend means to stretch or to reach. Both roots build a lot of words you’ll see in this week’s reading.</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847344"/>
          </a:xfrm>
          <a:prstGeom prst="roundRect">
            <a:avLst>
              <a:gd name="adj" fmla="val 8633"/>
            </a:avLst>
          </a:prstGeom>
          <a:solidFill>
            <a:srgbClr val="F8F4FF"/>
          </a:solidFill>
          <a:ln w="12700">
            <a:solidFill>
              <a:srgbClr val="8B6FC0"/>
            </a:solidFill>
            <a:prstDash val="solid"/>
          </a:ln>
        </p:spPr>
      </p:sp>
      <p:sp>
        <p:nvSpPr>
          <p:cNvPr id="9" name="Text 7"/>
          <p:cNvSpPr/>
          <p:nvPr/>
        </p:nvSpPr>
        <p:spPr>
          <a:xfrm>
            <a:off x="438912" y="1892808"/>
            <a:ext cx="1865376" cy="755904"/>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credible = cred + -ible (able to be believed)</a:t>
            </a:r>
            <a:endParaRPr lang="en-US" sz="1100" dirty="0"/>
          </a:p>
        </p:txBody>
      </p:sp>
      <p:sp>
        <p:nvSpPr>
          <p:cNvPr id="10" name="Shape 8"/>
          <p:cNvSpPr/>
          <p:nvPr/>
        </p:nvSpPr>
        <p:spPr>
          <a:xfrm>
            <a:off x="2468880" y="1847088"/>
            <a:ext cx="2011680" cy="847344"/>
          </a:xfrm>
          <a:prstGeom prst="roundRect">
            <a:avLst>
              <a:gd name="adj" fmla="val 8633"/>
            </a:avLst>
          </a:prstGeom>
          <a:solidFill>
            <a:srgbClr val="F8F4FF"/>
          </a:solidFill>
          <a:ln w="12700">
            <a:solidFill>
              <a:srgbClr val="8B6FC0"/>
            </a:solidFill>
            <a:prstDash val="solid"/>
          </a:ln>
        </p:spPr>
      </p:sp>
      <p:sp>
        <p:nvSpPr>
          <p:cNvPr id="11" name="Text 9"/>
          <p:cNvSpPr/>
          <p:nvPr/>
        </p:nvSpPr>
        <p:spPr>
          <a:xfrm>
            <a:off x="2542032" y="1892808"/>
            <a:ext cx="1865376" cy="755904"/>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credit = cred + -it (something you believe in someone’s ability to pay)</a:t>
            </a:r>
            <a:endParaRPr lang="en-US" sz="1100" dirty="0"/>
          </a:p>
        </p:txBody>
      </p:sp>
      <p:sp>
        <p:nvSpPr>
          <p:cNvPr id="12" name="Shape 10"/>
          <p:cNvSpPr/>
          <p:nvPr/>
        </p:nvSpPr>
        <p:spPr>
          <a:xfrm>
            <a:off x="4572000" y="1847088"/>
            <a:ext cx="2011680" cy="847344"/>
          </a:xfrm>
          <a:prstGeom prst="roundRect">
            <a:avLst>
              <a:gd name="adj" fmla="val 8633"/>
            </a:avLst>
          </a:prstGeom>
          <a:solidFill>
            <a:srgbClr val="F8F4FF"/>
          </a:solidFill>
          <a:ln w="12700">
            <a:solidFill>
              <a:srgbClr val="8B6FC0"/>
            </a:solidFill>
            <a:prstDash val="solid"/>
          </a:ln>
        </p:spPr>
      </p:sp>
      <p:sp>
        <p:nvSpPr>
          <p:cNvPr id="13" name="Text 11"/>
          <p:cNvSpPr/>
          <p:nvPr/>
        </p:nvSpPr>
        <p:spPr>
          <a:xfrm>
            <a:off x="4645152" y="1892808"/>
            <a:ext cx="1865376" cy="755904"/>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intend = in- + tend (stretch your mind toward)</a:t>
            </a:r>
            <a:endParaRPr lang="en-US" sz="1100" dirty="0"/>
          </a:p>
        </p:txBody>
      </p:sp>
      <p:sp>
        <p:nvSpPr>
          <p:cNvPr id="14" name="Shape 12"/>
          <p:cNvSpPr/>
          <p:nvPr/>
        </p:nvSpPr>
        <p:spPr>
          <a:xfrm>
            <a:off x="6675120" y="1847088"/>
            <a:ext cx="2011680" cy="847344"/>
          </a:xfrm>
          <a:prstGeom prst="roundRect">
            <a:avLst>
              <a:gd name="adj" fmla="val 8633"/>
            </a:avLst>
          </a:prstGeom>
          <a:solidFill>
            <a:srgbClr val="F8F4FF"/>
          </a:solidFill>
          <a:ln w="12700">
            <a:solidFill>
              <a:srgbClr val="8B6FC0"/>
            </a:solidFill>
            <a:prstDash val="solid"/>
          </a:ln>
        </p:spPr>
      </p:sp>
      <p:sp>
        <p:nvSpPr>
          <p:cNvPr id="15" name="Text 13"/>
          <p:cNvSpPr/>
          <p:nvPr/>
        </p:nvSpPr>
        <p:spPr>
          <a:xfrm>
            <a:off x="6748272" y="1892808"/>
            <a:ext cx="1865376" cy="755904"/>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extend = ex- + tend (stretch out)</a:t>
            </a:r>
            <a:endParaRPr lang="en-US" sz="1100" dirty="0"/>
          </a:p>
        </p:txBody>
      </p:sp>
      <p:sp>
        <p:nvSpPr>
          <p:cNvPr id="16" name="Text 14"/>
          <p:cNvSpPr/>
          <p:nvPr/>
        </p:nvSpPr>
        <p:spPr>
          <a:xfrm>
            <a:off x="365760" y="2813304"/>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3069336"/>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3115056"/>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interrupt — — to break in between</a:t>
            </a:r>
            <a:endParaRPr lang="en-US" sz="1300" dirty="0"/>
          </a:p>
        </p:txBody>
      </p:sp>
      <p:sp>
        <p:nvSpPr>
          <p:cNvPr id="19" name="Shape 17"/>
          <p:cNvSpPr/>
          <p:nvPr/>
        </p:nvSpPr>
        <p:spPr>
          <a:xfrm>
            <a:off x="365760" y="3526536"/>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572256"/>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erupt — — to break out (volcano, news)</a:t>
            </a:r>
            <a:endParaRPr lang="en-US" sz="1300" dirty="0"/>
          </a:p>
        </p:txBody>
      </p:sp>
      <p:sp>
        <p:nvSpPr>
          <p:cNvPr id="21" name="Shape 19"/>
          <p:cNvSpPr/>
          <p:nvPr/>
        </p:nvSpPr>
        <p:spPr>
          <a:xfrm>
            <a:off x="365760" y="3983736"/>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4029456"/>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conduct — — to lead together; how a person behaves</a:t>
            </a:r>
            <a:endParaRPr lang="en-US" sz="1300" dirty="0"/>
          </a:p>
        </p:txBody>
      </p:sp>
      <p:sp>
        <p:nvSpPr>
          <p:cNvPr id="23" name="Shape 21"/>
          <p:cNvSpPr/>
          <p:nvPr/>
        </p:nvSpPr>
        <p:spPr>
          <a:xfrm>
            <a:off x="365760" y="4440936"/>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486656"/>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introduce — — to lead someone or something IN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soldier’s shout interrupted the girls’ race home.”</a:t>
            </a:r>
            <a:endParaRPr lang="en-US" sz="1050" dirty="0"/>
          </a:p>
        </p:txBody>
      </p:sp>
      <p:sp>
        <p:nvSpPr>
          <p:cNvPr id="7" name="Text 5"/>
          <p:cNvSpPr/>
          <p:nvPr/>
        </p:nvSpPr>
        <p:spPr>
          <a:xfrm>
            <a:off x="45720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interrupt</a:t>
            </a:r>
            <a:endParaRPr lang="en-US" sz="1400" dirty="0"/>
          </a:p>
        </p:txBody>
      </p:sp>
      <p:sp>
        <p:nvSpPr>
          <p:cNvPr id="8" name="Text 6"/>
          <p:cNvSpPr/>
          <p:nvPr/>
        </p:nvSpPr>
        <p:spPr>
          <a:xfrm>
            <a:off x="457200" y="172364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stop something while it is happening.</a:t>
            </a:r>
            <a:endParaRPr lang="en-US" sz="1100" dirty="0"/>
          </a:p>
        </p:txBody>
      </p:sp>
      <p:sp>
        <p:nvSpPr>
          <p:cNvPr id="9" name="Shape 7"/>
          <p:cNvSpPr/>
          <p:nvPr/>
        </p:nvSpPr>
        <p:spPr>
          <a:xfrm>
            <a:off x="4572000" y="91440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“Papa’s conduct stayed calm when the soldiers came near the apartment.”</a:t>
            </a:r>
            <a:endParaRPr lang="en-US" sz="1050" dirty="0"/>
          </a:p>
        </p:txBody>
      </p:sp>
      <p:sp>
        <p:nvSpPr>
          <p:cNvPr id="11" name="Text 9"/>
          <p:cNvSpPr/>
          <p:nvPr/>
        </p:nvSpPr>
        <p:spPr>
          <a:xfrm>
            <a:off x="470916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conduct</a:t>
            </a:r>
            <a:endParaRPr lang="en-US" sz="1400" dirty="0"/>
          </a:p>
        </p:txBody>
      </p:sp>
      <p:sp>
        <p:nvSpPr>
          <p:cNvPr id="12" name="Text 10"/>
          <p:cNvSpPr/>
          <p:nvPr/>
        </p:nvSpPr>
        <p:spPr>
          <a:xfrm>
            <a:off x="4709160" y="172364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How someone behaves or acts — or, to lead or guide.</a:t>
            </a:r>
            <a:endParaRPr lang="en-US" sz="1100" dirty="0"/>
          </a:p>
        </p:txBody>
      </p:sp>
      <p:sp>
        <p:nvSpPr>
          <p:cNvPr id="13" name="Shape 11"/>
          <p:cNvSpPr/>
          <p:nvPr/>
        </p:nvSpPr>
        <p:spPr>
          <a:xfrm>
            <a:off x="320040" y="238506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457200" y="247650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“Papa said the Germans planned to ‘relocate’ the Jews — but Annemarie knew what he really meant.”</a:t>
            </a:r>
            <a:endParaRPr lang="en-US" sz="1050" dirty="0"/>
          </a:p>
        </p:txBody>
      </p:sp>
      <p:sp>
        <p:nvSpPr>
          <p:cNvPr id="15" name="Text 13"/>
          <p:cNvSpPr/>
          <p:nvPr/>
        </p:nvSpPr>
        <p:spPr>
          <a:xfrm>
            <a:off x="457200" y="288340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relocate</a:t>
            </a:r>
            <a:endParaRPr lang="en-US" sz="1400" dirty="0"/>
          </a:p>
        </p:txBody>
      </p:sp>
      <p:sp>
        <p:nvSpPr>
          <p:cNvPr id="16" name="Text 14"/>
          <p:cNvSpPr/>
          <p:nvPr/>
        </p:nvSpPr>
        <p:spPr>
          <a:xfrm>
            <a:off x="457200" y="319430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move someone or something to a new place — sometimes by force.</a:t>
            </a:r>
            <a:endParaRPr lang="en-US" sz="1100" dirty="0"/>
          </a:p>
        </p:txBody>
      </p:sp>
      <p:sp>
        <p:nvSpPr>
          <p:cNvPr id="17" name="Shape 15"/>
          <p:cNvSpPr/>
          <p:nvPr/>
        </p:nvSpPr>
        <p:spPr>
          <a:xfrm>
            <a:off x="4572000" y="238506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4709160" y="247650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padlock on Mrs. Hirsch’s shop filled Annemarie with suspicion.”</a:t>
            </a:r>
            <a:endParaRPr lang="en-US" sz="1050" dirty="0"/>
          </a:p>
        </p:txBody>
      </p:sp>
      <p:sp>
        <p:nvSpPr>
          <p:cNvPr id="19" name="Text 17"/>
          <p:cNvSpPr/>
          <p:nvPr/>
        </p:nvSpPr>
        <p:spPr>
          <a:xfrm>
            <a:off x="4709160" y="288340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suspicion</a:t>
            </a:r>
            <a:endParaRPr lang="en-US" sz="1400" dirty="0"/>
          </a:p>
        </p:txBody>
      </p:sp>
      <p:sp>
        <p:nvSpPr>
          <p:cNvPr id="20" name="Text 18"/>
          <p:cNvSpPr/>
          <p:nvPr/>
        </p:nvSpPr>
        <p:spPr>
          <a:xfrm>
            <a:off x="4709160" y="319430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feeling that something is wrong, even if you don’t have proof.</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Pronoun-Verb Agreement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Papa speaks on the phone.</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Mama and Papa plan the trip.</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Uncle Henrik waits at the dock.</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Pronoun-Verb Agreement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Papa </a:t>
            </a:r>
            <a:pPr indent="0" marL="0">
              <a:buNone/>
            </a:pPr>
            <a:r>
              <a:rPr lang="en-US" sz="1500" b="1" u="sng" dirty="0">
                <a:solidFill>
                  <a:srgbClr val="34B76F"/>
                </a:solidFill>
                <a:latin typeface="Calibri" pitchFamily="34" charset="0"/>
                <a:ea typeface="Calibri" pitchFamily="34" charset="-122"/>
                <a:cs typeface="Calibri" pitchFamily="34" charset="-120"/>
              </a:rPr>
              <a:t>speaks</a:t>
            </a:r>
            <a:pPr indent="0" marL="0">
              <a:buNone/>
            </a:pPr>
            <a:r>
              <a:rPr lang="en-US" sz="1500" dirty="0">
                <a:solidFill>
                  <a:srgbClr val="1E293B"/>
                </a:solidFill>
                <a:latin typeface="Calibri" pitchFamily="34" charset="0"/>
                <a:ea typeface="Calibri" pitchFamily="34" charset="-122"/>
                <a:cs typeface="Calibri" pitchFamily="34" charset="-120"/>
              </a:rPr>
              <a:t> on the phone.</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Mama and Papa </a:t>
            </a:r>
            <a:pPr indent="0" marL="0">
              <a:buNone/>
            </a:pPr>
            <a:r>
              <a:rPr lang="en-US" sz="1500" b="1" u="sng" dirty="0">
                <a:solidFill>
                  <a:srgbClr val="34B76F"/>
                </a:solidFill>
                <a:latin typeface="Calibri" pitchFamily="34" charset="0"/>
                <a:ea typeface="Calibri" pitchFamily="34" charset="-122"/>
                <a:cs typeface="Calibri" pitchFamily="34" charset="-120"/>
              </a:rPr>
              <a:t>plan</a:t>
            </a:r>
            <a:pPr indent="0" marL="0">
              <a:buNone/>
            </a:pPr>
            <a:r>
              <a:rPr lang="en-US" sz="1500" dirty="0">
                <a:solidFill>
                  <a:srgbClr val="1E293B"/>
                </a:solidFill>
                <a:latin typeface="Calibri" pitchFamily="34" charset="0"/>
                <a:ea typeface="Calibri" pitchFamily="34" charset="-122"/>
                <a:cs typeface="Calibri" pitchFamily="34" charset="-120"/>
              </a:rPr>
              <a:t> the trip.</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Uncle Henrik </a:t>
            </a:r>
            <a:pPr indent="0" marL="0">
              <a:buNone/>
            </a:pPr>
            <a:r>
              <a:rPr lang="en-US" sz="1500" b="1" u="sng" dirty="0">
                <a:solidFill>
                  <a:srgbClr val="34B76F"/>
                </a:solidFill>
                <a:latin typeface="Calibri" pitchFamily="34" charset="0"/>
                <a:ea typeface="Calibri" pitchFamily="34" charset="-122"/>
                <a:cs typeface="Calibri" pitchFamily="34" charset="-120"/>
              </a:rPr>
              <a:t>waits</a:t>
            </a:r>
            <a:pPr indent="0" marL="0">
              <a:buNone/>
            </a:pPr>
            <a:r>
              <a:rPr lang="en-US" sz="1500" dirty="0">
                <a:solidFill>
                  <a:srgbClr val="1E293B"/>
                </a:solidFill>
                <a:latin typeface="Calibri" pitchFamily="34" charset="0"/>
                <a:ea typeface="Calibri" pitchFamily="34" charset="-122"/>
                <a:cs typeface="Calibri" pitchFamily="34" charset="-120"/>
              </a:rPr>
              <a:t> at the dock.</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Prefix &amp; Suffix Review</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return   -   unsafe   -   mistrust   -   quietly   -   hopeful   -   famously</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Everyday word (schwa)</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Academic word (schwa)</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Prefix &amp; Suffix Review</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Everyday word (schwa)</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return</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unsafe</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mistrust</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Academic word (schwa)</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quietly</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hopeful</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famously</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6</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Journey to Uncle Henrik's</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Say banana. The middle a sounds like ‘uh.’ That’s the schwa.</a:t>
            </a:r>
            <a:endParaRPr lang="en-US" sz="1400" dirty="0"/>
          </a:p>
        </p:txBody>
      </p:sp>
      <p:sp>
        <p:nvSpPr>
          <p:cNvPr id="8" name="Shape 6"/>
          <p:cNvSpPr/>
          <p:nvPr/>
        </p:nvSpPr>
        <p:spPr>
          <a:xfrm>
            <a:off x="365760" y="2514600"/>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Now say occupation. Listen for the ‘uh’ in oc-cu-PA-tion. Where is it?</a:t>
            </a:r>
            <a:endParaRPr lang="en-US" sz="1400" dirty="0"/>
          </a:p>
        </p:txBody>
      </p:sp>
      <p:sp>
        <p:nvSpPr>
          <p:cNvPr id="10" name="Shape 8"/>
          <p:cNvSpPr/>
          <p:nvPr/>
        </p:nvSpPr>
        <p:spPr>
          <a:xfrm>
            <a:off x="365760" y="331012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40156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Schwa shows up in unstressed syllables of bigger words. Knowing this helps you SPELL the syllable even when you can’t hear it clearly.</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Opinion Writing — Practicing Evidence</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Practice giving a reason that truly explains "why," not just "what."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2026-07-11T22:13:23Z</dcterms:created>
  <dcterms:modified xsi:type="dcterms:W3CDTF">2026-07-11T22:13:23Z</dcterms:modified>
</cp:coreProperties>
</file>