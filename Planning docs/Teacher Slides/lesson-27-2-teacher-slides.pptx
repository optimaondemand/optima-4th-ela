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27,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Chain three clauses together (want / but / so) to show a character being pushed step by step toward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20-minute timer. Craft move: Chain three clauses together (want / but / so) to show a character being pushed step by step toward a decision..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Read your sentence aloud. Does each clause logically lead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three-part decision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met young Prince Caspian, who loved the old stories his uncle Miraz tried to silence. Today: Follow Caspian as Doctor Cornelius warns him he must flee for his life. Big Q: Who supports Caspian? Who is suspicious of him?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"Caspian wanted to stay , but Doctor Cornelius said his life was in danger , so he had to flee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"caspian wanted to stay but doctor cornelius said his life was in danger so he had to flee" Corrected: "Caspian wanted to stay, but Doctor Cornelius said his life was in danger, so he had to flee."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"caspian wanted to stay but doctor cornelius said his life was in danger so he had to flee" Corrected: "Caspian wanted to stay, but Doctor Cornelius said his life was in danger, so he had to flee."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tutor: a private teacher; someone who gives individual lessons. | usurper: a person who takes power by force, without the right to it. | astronomy: the study of the stars, planets, and sky. | sternly: in a serious, strict, or firm manner.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Queen had a baby son, so Caspian’s life was in danger." -&gt; so | "Cornelius gave him supplies, but the most important gift was the horn." -&gt; but | "Caspian rode through the storm, but his horse stumbled in the dark." -&gt; but | "Trufflehunter trusted Caspian, but Nikabrik did not." -&gt; but | "Caspian was a Telmarine, so some Old Narnians didn’t trust him." -&gt;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Queen had a baby son, so Caspian’s life was in danger." -&gt; so | "Cornelius gave him supplies, but the most important gift was the horn." -&gt; but | "Caspian rode through the storm, but his horse stumbled in the dark." -&gt; but | "Trufflehunter trusted Caspian, but Nikabrik did not." -&gt; but | "Caspian was a Telmarine, so some Old Narnians didn’t trust him." -&gt;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-tion: protection, instruction | -ous: dangerous, adventurous | -ful: powerful, thankful | -ness: darkness, kindness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-tion: protection, instruction | -ous: dangerous, adventurous | -ful: powerful, thankful | -ness: darkness, kindness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"“Dear Prince, you must leave this castle at once and go to seek your fortune in the wide world. Your life is in danger here.”"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Literary Analysis — Gathering Evidence
Focus: Note a moment of courage or fear from today’s chapter for your character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C9A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C9A0"/>
                </a:solidFill>
                <a:latin typeface="Calibri" pitchFamily="34" charset="0"/>
                <a:ea typeface="Calibri" pitchFamily="34" charset="-122"/>
                <a:cs typeface="Calibri" pitchFamily="34" charset="-120"/>
              </a:rPr>
              <a:t>WEEK 27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5</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Caspian’s Adventure in the Mountains</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27  ·  Virtue: Loyalty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This sentence has THREE parts linked by "but" and "so." How does chaining ideas like this show a character being pushed toward a decision?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sentence with three connected parts (want, but obstacle, so result) showing a character forced into a decision.</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Chain three clauses together (want / but / so) to show a character being pushed step by step toward a decision.</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Read your sentence aloud. Does each clause logically lead to the next?</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three-part decision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met young Prince Caspian, who loved the old stories his uncle Miraz tried to silence.</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Follow Caspian as Doctor Cornelius warns him he must flee for his life.</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Who supports Caspian? Who is suspicious of him? Why?</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256032"/>
          </a:xfrm>
          <a:prstGeom prst="rect">
            <a:avLst/>
          </a:prstGeom>
          <a:noFill/>
          <a:ln/>
        </p:spPr>
        <p:txBody>
          <a:bodyPr wrap="square" lIns="0" tIns="0" rIns="0" bIns="0" rtlCol="0" anchor="ctr"/>
          <a:lstStyle/>
          <a:p>
            <a:pPr indent="0" marL="0">
              <a:buNone/>
            </a:pP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Caspian wanted to stay , but Doctor Cornelius said his life was in danger , so he had to flee .</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caspian wanted to stay but doctor cornelius said his life was in danger so he had to flee</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caspian wanted to stay but doctor cornelius said his life was in danger so he had to flee</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Caspian wanted to stay, but Doctor Cornelius said his life was in danger, so he had to flee.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tutor</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private teacher; someone who gives individual lessons.</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usurper</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person who takes power by force, without the right to it.</a:t>
            </a:r>
            <a:endParaRPr lang="en-US" sz="1100" dirty="0"/>
          </a:p>
        </p:txBody>
      </p:sp>
      <p:sp>
        <p:nvSpPr>
          <p:cNvPr id="11" name="Shape 9"/>
          <p:cNvSpPr/>
          <p:nvPr/>
        </p:nvSpPr>
        <p:spPr>
          <a:xfrm>
            <a:off x="320040" y="1978152"/>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astronomy</a:t>
            </a:r>
            <a:endParaRPr lang="en-US" sz="1400" dirty="0"/>
          </a:p>
        </p:txBody>
      </p:sp>
      <p:sp>
        <p:nvSpPr>
          <p:cNvPr id="13" name="Text 11"/>
          <p:cNvSpPr/>
          <p:nvPr/>
        </p:nvSpPr>
        <p:spPr>
          <a:xfrm>
            <a:off x="457200" y="2380488"/>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the study of the stars, planets, and sky.</a:t>
            </a:r>
            <a:endParaRPr lang="en-US" sz="1100" dirty="0"/>
          </a:p>
        </p:txBody>
      </p:sp>
      <p:sp>
        <p:nvSpPr>
          <p:cNvPr id="14" name="Shape 12"/>
          <p:cNvSpPr/>
          <p:nvPr/>
        </p:nvSpPr>
        <p:spPr>
          <a:xfrm>
            <a:off x="4572000" y="1978152"/>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sternly</a:t>
            </a:r>
            <a:endParaRPr lang="en-US" sz="1400" dirty="0"/>
          </a:p>
        </p:txBody>
      </p:sp>
      <p:sp>
        <p:nvSpPr>
          <p:cNvPr id="16" name="Text 14"/>
          <p:cNvSpPr/>
          <p:nvPr/>
        </p:nvSpPr>
        <p:spPr>
          <a:xfrm>
            <a:off x="4709160" y="2380488"/>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in a serious, strict, or firm manner.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Conjunctions — but / so</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Queen had a baby son, so Caspian’s life was in danger.</a:t>
            </a:r>
            <a:endParaRPr lang="en-US" sz="1500" dirty="0"/>
          </a:p>
        </p:txBody>
      </p:sp>
      <p:sp>
        <p:nvSpPr>
          <p:cNvPr id="9" name="Shape 7"/>
          <p:cNvSpPr/>
          <p:nvPr/>
        </p:nvSpPr>
        <p:spPr>
          <a:xfrm>
            <a:off x="365760" y="1792224"/>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Cornelius gave him supplies, but the most important gift was the horn.</a:t>
            </a:r>
            <a:endParaRPr lang="en-US" sz="1500" dirty="0"/>
          </a:p>
        </p:txBody>
      </p:sp>
      <p:sp>
        <p:nvSpPr>
          <p:cNvPr id="11" name="Shape 9"/>
          <p:cNvSpPr/>
          <p:nvPr/>
        </p:nvSpPr>
        <p:spPr>
          <a:xfrm>
            <a:off x="365760" y="2505456"/>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Caspian rode through the storm, but his horse stumbled in the dark.</a:t>
            </a:r>
            <a:endParaRPr lang="en-US" sz="1500" dirty="0"/>
          </a:p>
        </p:txBody>
      </p:sp>
      <p:sp>
        <p:nvSpPr>
          <p:cNvPr id="13" name="Shape 11"/>
          <p:cNvSpPr/>
          <p:nvPr/>
        </p:nvSpPr>
        <p:spPr>
          <a:xfrm>
            <a:off x="365760" y="3218688"/>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Trufflehunter trusted Caspian, but Nikabrik did not.</a:t>
            </a:r>
            <a:endParaRPr lang="en-US" sz="1500" dirty="0"/>
          </a:p>
        </p:txBody>
      </p:sp>
      <p:sp>
        <p:nvSpPr>
          <p:cNvPr id="15" name="Text 13"/>
          <p:cNvSpPr/>
          <p:nvPr/>
        </p:nvSpPr>
        <p:spPr>
          <a:xfrm>
            <a:off x="457200" y="3977640"/>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Conjunctions — but / so</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Queen had a baby son, </a:t>
            </a:r>
            <a:pPr indent="0" marL="0">
              <a:buNone/>
            </a:pPr>
            <a:r>
              <a:rPr lang="en-US" sz="1500" b="1" u="sng" dirty="0">
                <a:solidFill>
                  <a:srgbClr val="34B76F"/>
                </a:solidFill>
                <a:latin typeface="Calibri" pitchFamily="34" charset="0"/>
                <a:ea typeface="Calibri" pitchFamily="34" charset="-122"/>
                <a:cs typeface="Calibri" pitchFamily="34" charset="-120"/>
              </a:rPr>
              <a:t>so</a:t>
            </a:r>
            <a:pPr indent="0" marL="0">
              <a:buNone/>
            </a:pPr>
            <a:r>
              <a:rPr lang="en-US" sz="1500" dirty="0">
                <a:solidFill>
                  <a:srgbClr val="1E293B"/>
                </a:solidFill>
                <a:latin typeface="Calibri" pitchFamily="34" charset="0"/>
                <a:ea typeface="Calibri" pitchFamily="34" charset="-122"/>
                <a:cs typeface="Calibri" pitchFamily="34" charset="-120"/>
              </a:rPr>
              <a:t> Caspian’s life was in danger.</a:t>
            </a:r>
            <a:endParaRPr lang="en-US" sz="1500" dirty="0"/>
          </a:p>
        </p:txBody>
      </p:sp>
      <p:sp>
        <p:nvSpPr>
          <p:cNvPr id="9" name="Shape 7"/>
          <p:cNvSpPr/>
          <p:nvPr/>
        </p:nvSpPr>
        <p:spPr>
          <a:xfrm>
            <a:off x="365760" y="1792224"/>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Cornelius gave him supplies, </a:t>
            </a:r>
            <a:pPr indent="0" marL="0">
              <a:buNone/>
            </a:pPr>
            <a:r>
              <a:rPr lang="en-US" sz="1500" b="1" u="sng" dirty="0">
                <a:solidFill>
                  <a:srgbClr val="34B76F"/>
                </a:solidFill>
                <a:latin typeface="Calibri" pitchFamily="34" charset="0"/>
                <a:ea typeface="Calibri" pitchFamily="34" charset="-122"/>
                <a:cs typeface="Calibri" pitchFamily="34" charset="-120"/>
              </a:rPr>
              <a:t>but</a:t>
            </a:r>
            <a:pPr indent="0" marL="0">
              <a:buNone/>
            </a:pPr>
            <a:r>
              <a:rPr lang="en-US" sz="1500" dirty="0">
                <a:solidFill>
                  <a:srgbClr val="1E293B"/>
                </a:solidFill>
                <a:latin typeface="Calibri" pitchFamily="34" charset="0"/>
                <a:ea typeface="Calibri" pitchFamily="34" charset="-122"/>
                <a:cs typeface="Calibri" pitchFamily="34" charset="-120"/>
              </a:rPr>
              <a:t> the most important gift was the horn.</a:t>
            </a:r>
            <a:endParaRPr lang="en-US" sz="1500" dirty="0"/>
          </a:p>
        </p:txBody>
      </p:sp>
      <p:sp>
        <p:nvSpPr>
          <p:cNvPr id="11" name="Shape 9"/>
          <p:cNvSpPr/>
          <p:nvPr/>
        </p:nvSpPr>
        <p:spPr>
          <a:xfrm>
            <a:off x="365760" y="2505456"/>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Caspian rode through the storm, </a:t>
            </a:r>
            <a:pPr indent="0" marL="0">
              <a:buNone/>
            </a:pPr>
            <a:r>
              <a:rPr lang="en-US" sz="1500" b="1" u="sng" dirty="0">
                <a:solidFill>
                  <a:srgbClr val="34B76F"/>
                </a:solidFill>
                <a:latin typeface="Calibri" pitchFamily="34" charset="0"/>
                <a:ea typeface="Calibri" pitchFamily="34" charset="-122"/>
                <a:cs typeface="Calibri" pitchFamily="34" charset="-120"/>
              </a:rPr>
              <a:t>but</a:t>
            </a:r>
            <a:pPr indent="0" marL="0">
              <a:buNone/>
            </a:pPr>
            <a:r>
              <a:rPr lang="en-US" sz="1500" dirty="0">
                <a:solidFill>
                  <a:srgbClr val="1E293B"/>
                </a:solidFill>
                <a:latin typeface="Calibri" pitchFamily="34" charset="0"/>
                <a:ea typeface="Calibri" pitchFamily="34" charset="-122"/>
                <a:cs typeface="Calibri" pitchFamily="34" charset="-120"/>
              </a:rPr>
              <a:t> his horse stumbled in the dark.</a:t>
            </a:r>
            <a:endParaRPr lang="en-US" sz="1500" dirty="0"/>
          </a:p>
        </p:txBody>
      </p:sp>
      <p:sp>
        <p:nvSpPr>
          <p:cNvPr id="13" name="Shape 11"/>
          <p:cNvSpPr/>
          <p:nvPr/>
        </p:nvSpPr>
        <p:spPr>
          <a:xfrm>
            <a:off x="365760" y="3218688"/>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Trufflehunter trusted Caspian, </a:t>
            </a:r>
            <a:pPr indent="0" marL="0">
              <a:buNone/>
            </a:pPr>
            <a:r>
              <a:rPr lang="en-US" sz="1500" b="1" u="sng" dirty="0">
                <a:solidFill>
                  <a:srgbClr val="34B76F"/>
                </a:solidFill>
                <a:latin typeface="Calibri" pitchFamily="34" charset="0"/>
                <a:ea typeface="Calibri" pitchFamily="34" charset="-122"/>
                <a:cs typeface="Calibri" pitchFamily="34" charset="-120"/>
              </a:rPr>
              <a:t>but</a:t>
            </a:r>
            <a:pPr indent="0" marL="0">
              <a:buNone/>
            </a:pPr>
            <a:r>
              <a:rPr lang="en-US" sz="1500" dirty="0">
                <a:solidFill>
                  <a:srgbClr val="1E293B"/>
                </a:solidFill>
                <a:latin typeface="Calibri" pitchFamily="34" charset="0"/>
                <a:ea typeface="Calibri" pitchFamily="34" charset="-122"/>
                <a:cs typeface="Calibri" pitchFamily="34" charset="-120"/>
              </a:rPr>
              <a:t> Nikabrik did not.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Suffix Pattern Sort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protection   -   instruction   -   dangerous   -   adventurous   -   powerful   -   thankful   -   darkness   -   kindness</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-tion</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-ous</a:t>
            </a:r>
            <a:endParaRPr lang="en-US" sz="1300" dirty="0"/>
          </a:p>
        </p:txBody>
      </p:sp>
      <p:sp>
        <p:nvSpPr>
          <p:cNvPr id="15" name="Shape 13"/>
          <p:cNvSpPr/>
          <p:nvPr/>
        </p:nvSpPr>
        <p:spPr>
          <a:xfrm>
            <a:off x="365760" y="3364992"/>
            <a:ext cx="4114800" cy="1051560"/>
          </a:xfrm>
          <a:prstGeom prst="roundRect">
            <a:avLst>
              <a:gd name="adj" fmla="val 8696"/>
            </a:avLst>
          </a:prstGeom>
          <a:solidFill>
            <a:srgbClr val="FEF6E8"/>
          </a:solidFill>
          <a:ln w="19050">
            <a:solidFill>
              <a:srgbClr val="B8860B"/>
            </a:solidFill>
            <a:prstDash val="solid"/>
          </a:ln>
        </p:spPr>
      </p:sp>
      <p:sp>
        <p:nvSpPr>
          <p:cNvPr id="16" name="Text 14"/>
          <p:cNvSpPr/>
          <p:nvPr/>
        </p:nvSpPr>
        <p:spPr>
          <a:xfrm>
            <a:off x="502920" y="3474720"/>
            <a:ext cx="3840480" cy="411480"/>
          </a:xfrm>
          <a:prstGeom prst="rect">
            <a:avLst/>
          </a:prstGeom>
          <a:noFill/>
          <a:ln/>
        </p:spPr>
        <p:txBody>
          <a:bodyPr wrap="square" lIns="0" tIns="0" rIns="0" bIns="0"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-ful</a:t>
            </a:r>
            <a:endParaRPr lang="en-US" sz="1300" dirty="0"/>
          </a:p>
        </p:txBody>
      </p:sp>
      <p:sp>
        <p:nvSpPr>
          <p:cNvPr id="17" name="Shape 15"/>
          <p:cNvSpPr/>
          <p:nvPr/>
        </p:nvSpPr>
        <p:spPr>
          <a:xfrm>
            <a:off x="4800600" y="3364992"/>
            <a:ext cx="4114800" cy="1051560"/>
          </a:xfrm>
          <a:prstGeom prst="roundRect">
            <a:avLst>
              <a:gd name="adj" fmla="val 8696"/>
            </a:avLst>
          </a:prstGeom>
          <a:solidFill>
            <a:srgbClr val="E5F7FC"/>
          </a:solidFill>
          <a:ln w="19050">
            <a:solidFill>
              <a:srgbClr val="2A6496"/>
            </a:solidFill>
            <a:prstDash val="solid"/>
          </a:ln>
        </p:spPr>
      </p:sp>
      <p:sp>
        <p:nvSpPr>
          <p:cNvPr id="18" name="Text 16"/>
          <p:cNvSpPr/>
          <p:nvPr/>
        </p:nvSpPr>
        <p:spPr>
          <a:xfrm>
            <a:off x="4937760" y="3474720"/>
            <a:ext cx="3840480" cy="411480"/>
          </a:xfrm>
          <a:prstGeom prst="rect">
            <a:avLst/>
          </a:prstGeom>
          <a:noFill/>
          <a:ln/>
        </p:spPr>
        <p:txBody>
          <a:bodyPr wrap="square" lIns="0" tIns="0" rIns="0" bIns="0" rtlCol="0" anchor="ctr"/>
          <a:lstStyle/>
          <a:p>
            <a:pPr indent="0" marL="0">
              <a:buNone/>
            </a:pPr>
            <a:r>
              <a:rPr lang="en-US" sz="1300" b="1" dirty="0">
                <a:solidFill>
                  <a:srgbClr val="2A6496"/>
                </a:solidFill>
                <a:latin typeface="Calibri" pitchFamily="34" charset="0"/>
                <a:ea typeface="Calibri" pitchFamily="34" charset="-122"/>
                <a:cs typeface="Calibri" pitchFamily="34" charset="-120"/>
              </a:rPr>
              <a:t>-ness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Suffix Pattern Sort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1920240" cy="1106424"/>
          </a:xfrm>
          <a:prstGeom prst="roundRect">
            <a:avLst>
              <a:gd name="adj" fmla="val 8264"/>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164592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-tion</a:t>
            </a:r>
            <a:endParaRPr lang="en-US" sz="1200" dirty="0"/>
          </a:p>
        </p:txBody>
      </p:sp>
      <p:sp>
        <p:nvSpPr>
          <p:cNvPr id="9" name="Text 7"/>
          <p:cNvSpPr/>
          <p:nvPr/>
        </p:nvSpPr>
        <p:spPr>
          <a:xfrm>
            <a:off x="594360" y="1463040"/>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protection</a:t>
            </a:r>
            <a:endParaRPr lang="en-US" sz="1400" dirty="0"/>
          </a:p>
        </p:txBody>
      </p:sp>
      <p:sp>
        <p:nvSpPr>
          <p:cNvPr id="10" name="Text 8"/>
          <p:cNvSpPr/>
          <p:nvPr/>
        </p:nvSpPr>
        <p:spPr>
          <a:xfrm>
            <a:off x="594360" y="1810512"/>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instruction</a:t>
            </a:r>
            <a:endParaRPr lang="en-US" sz="1400" dirty="0"/>
          </a:p>
        </p:txBody>
      </p:sp>
      <p:sp>
        <p:nvSpPr>
          <p:cNvPr id="11" name="Shape 9"/>
          <p:cNvSpPr/>
          <p:nvPr/>
        </p:nvSpPr>
        <p:spPr>
          <a:xfrm>
            <a:off x="2487168" y="1024128"/>
            <a:ext cx="1920240" cy="1106424"/>
          </a:xfrm>
          <a:prstGeom prst="roundRect">
            <a:avLst>
              <a:gd name="adj" fmla="val 8264"/>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2624328" y="1097280"/>
            <a:ext cx="164592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-ous</a:t>
            </a:r>
            <a:endParaRPr lang="en-US" sz="1200" dirty="0"/>
          </a:p>
        </p:txBody>
      </p:sp>
      <p:sp>
        <p:nvSpPr>
          <p:cNvPr id="13" name="Text 11"/>
          <p:cNvSpPr/>
          <p:nvPr/>
        </p:nvSpPr>
        <p:spPr>
          <a:xfrm>
            <a:off x="2715768" y="1463040"/>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dangerous</a:t>
            </a:r>
            <a:endParaRPr lang="en-US" sz="1400" dirty="0"/>
          </a:p>
        </p:txBody>
      </p:sp>
      <p:sp>
        <p:nvSpPr>
          <p:cNvPr id="14" name="Text 12"/>
          <p:cNvSpPr/>
          <p:nvPr/>
        </p:nvSpPr>
        <p:spPr>
          <a:xfrm>
            <a:off x="2715768" y="1810512"/>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adventurous</a:t>
            </a:r>
            <a:endParaRPr lang="en-US" sz="1400" dirty="0"/>
          </a:p>
        </p:txBody>
      </p:sp>
      <p:sp>
        <p:nvSpPr>
          <p:cNvPr id="15" name="Shape 13"/>
          <p:cNvSpPr/>
          <p:nvPr/>
        </p:nvSpPr>
        <p:spPr>
          <a:xfrm>
            <a:off x="4608576" y="1024128"/>
            <a:ext cx="1920240" cy="1106424"/>
          </a:xfrm>
          <a:prstGeom prst="roundRect">
            <a:avLst>
              <a:gd name="adj" fmla="val 8264"/>
            </a:avLst>
          </a:prstGeom>
          <a:solidFill>
            <a:srgbClr val="FEF6E8"/>
          </a:solidFill>
          <a:ln w="19050">
            <a:solidFill>
              <a:srgbClr val="B8860B"/>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4745736" y="1097280"/>
            <a:ext cx="1645920" cy="347472"/>
          </a:xfrm>
          <a:prstGeom prst="rect">
            <a:avLst/>
          </a:prstGeom>
          <a:noFill/>
          <a:ln/>
        </p:spPr>
        <p:txBody>
          <a:bodyPr wrap="square" lIns="0" tIns="0" rIns="0" bIns="0"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-ful</a:t>
            </a:r>
            <a:endParaRPr lang="en-US" sz="1200" dirty="0"/>
          </a:p>
        </p:txBody>
      </p:sp>
      <p:sp>
        <p:nvSpPr>
          <p:cNvPr id="17" name="Text 15"/>
          <p:cNvSpPr/>
          <p:nvPr/>
        </p:nvSpPr>
        <p:spPr>
          <a:xfrm>
            <a:off x="4837176" y="1463040"/>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powerful</a:t>
            </a:r>
            <a:endParaRPr lang="en-US" sz="1400" dirty="0"/>
          </a:p>
        </p:txBody>
      </p:sp>
      <p:sp>
        <p:nvSpPr>
          <p:cNvPr id="18" name="Text 16"/>
          <p:cNvSpPr/>
          <p:nvPr/>
        </p:nvSpPr>
        <p:spPr>
          <a:xfrm>
            <a:off x="4837176" y="1810512"/>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thankful</a:t>
            </a:r>
            <a:endParaRPr lang="en-US" sz="1400" dirty="0"/>
          </a:p>
        </p:txBody>
      </p:sp>
      <p:sp>
        <p:nvSpPr>
          <p:cNvPr id="19" name="Shape 17"/>
          <p:cNvSpPr/>
          <p:nvPr/>
        </p:nvSpPr>
        <p:spPr>
          <a:xfrm>
            <a:off x="6729984" y="1024128"/>
            <a:ext cx="1920240" cy="1106424"/>
          </a:xfrm>
          <a:prstGeom prst="roundRect">
            <a:avLst>
              <a:gd name="adj" fmla="val 8264"/>
            </a:avLst>
          </a:prstGeom>
          <a:solidFill>
            <a:srgbClr val="E5F7FC"/>
          </a:solidFill>
          <a:ln w="19050">
            <a:solidFill>
              <a:srgbClr val="2A6496"/>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6867144" y="1097280"/>
            <a:ext cx="1645920" cy="347472"/>
          </a:xfrm>
          <a:prstGeom prst="rect">
            <a:avLst/>
          </a:prstGeom>
          <a:noFill/>
          <a:ln/>
        </p:spPr>
        <p:txBody>
          <a:bodyPr wrap="square" lIns="0" tIns="0" rIns="0" bIns="0" rtlCol="0" anchor="ctr"/>
          <a:lstStyle/>
          <a:p>
            <a:pPr indent="0" marL="0">
              <a:buNone/>
            </a:pPr>
            <a:r>
              <a:rPr lang="en-US" sz="1200" b="1" dirty="0">
                <a:solidFill>
                  <a:srgbClr val="2A6496"/>
                </a:solidFill>
                <a:latin typeface="Calibri" pitchFamily="34" charset="0"/>
                <a:ea typeface="Calibri" pitchFamily="34" charset="-122"/>
                <a:cs typeface="Calibri" pitchFamily="34" charset="-120"/>
              </a:rPr>
              <a:t>-ness</a:t>
            </a:r>
            <a:endParaRPr lang="en-US" sz="1200" dirty="0"/>
          </a:p>
        </p:txBody>
      </p:sp>
      <p:sp>
        <p:nvSpPr>
          <p:cNvPr id="21" name="Text 19"/>
          <p:cNvSpPr/>
          <p:nvPr/>
        </p:nvSpPr>
        <p:spPr>
          <a:xfrm>
            <a:off x="6958584" y="1463040"/>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darkness</a:t>
            </a:r>
            <a:endParaRPr lang="en-US" sz="1400" dirty="0"/>
          </a:p>
        </p:txBody>
      </p:sp>
      <p:sp>
        <p:nvSpPr>
          <p:cNvPr id="22" name="Text 20"/>
          <p:cNvSpPr/>
          <p:nvPr/>
        </p:nvSpPr>
        <p:spPr>
          <a:xfrm>
            <a:off x="6958584" y="1810512"/>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kindness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5</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Caspian’s Adventure in the Mountains</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When a new character appears, ask: What group do they belong to? Are they for Caspian or against him — and what are their reasons?</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What feeling or image stands out to you? The poem describes someone fleeing with almost nothing. How does this connect to what happens to Caspian in Chapter 5?</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Doctor Cornelius gives Caspian Queen Susan’s horn and tells him to blow it only at greatest need. Why does Lewis include this detail? What might it mean for later in the story?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“Dear Prince, you must leave this castle at once and go to seek your fortune in the wide world. Your life is in danger here.”</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731520"/>
          </a:xfrm>
          <a:prstGeom prst="roundRect">
            <a:avLst>
              <a:gd name="adj" fmla="val 12500"/>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60350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60350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happening? Doctor Cornelius wakes Caspian in the middle of the night with this urgent message. Why is this moment so urgent? What has changed?</a:t>
            </a:r>
            <a:endParaRPr lang="en-US" sz="1200" dirty="0"/>
          </a:p>
        </p:txBody>
      </p:sp>
      <p:sp>
        <p:nvSpPr>
          <p:cNvPr id="11" name="Shape 9"/>
          <p:cNvSpPr/>
          <p:nvPr/>
        </p:nvSpPr>
        <p:spPr>
          <a:xfrm>
            <a:off x="365760" y="3060192"/>
            <a:ext cx="8412480" cy="932688"/>
          </a:xfrm>
          <a:prstGeom prst="roundRect">
            <a:avLst>
              <a:gd name="adj" fmla="val 9804"/>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124200"/>
            <a:ext cx="2651760" cy="80467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124200"/>
            <a:ext cx="53035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Notice how Cornelius starts with “Dear Prince” — formal and tender. Then the rest is blunt and direct: “you must leave” and “your life is in danger.” What effect does this contrast between gentle address and hard truth create?</a:t>
            </a:r>
            <a:endParaRPr lang="en-US" sz="1200" dirty="0"/>
          </a:p>
        </p:txBody>
      </p:sp>
      <p:sp>
        <p:nvSpPr>
          <p:cNvPr id="14" name="Shape 12"/>
          <p:cNvSpPr/>
          <p:nvPr/>
        </p:nvSpPr>
        <p:spPr>
          <a:xfrm>
            <a:off x="365760" y="4084320"/>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4148328"/>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4148328"/>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2 sentences where someone delivers urgent news. Start with a gentle address, then give the hard truth.</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Literary Analysis — Gathering Evidence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Note a moment of courage or fear from today’s chapter for your character study.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2026-07-11T22:29:48Z</dcterms:created>
  <dcterms:modified xsi:type="dcterms:W3CDTF">2026-07-11T22:29:48Z</dcterms:modified>
</cp:coreProperties>
</file>