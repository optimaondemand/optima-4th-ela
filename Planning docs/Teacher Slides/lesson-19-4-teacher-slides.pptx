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19, Day 4.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Reflect honestly on your own writing process, naming a specific strength and a specific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15-minute timer. Craft move: Reflect honestly on your own writing process, naming a specific strength and a specific challenge.. Level-up: ⭐ Name one thing you are proud of  ⭐⭐ Name one thing that was hard  ⭐⭐⭐ Explain how you solved that hard part  ⭐⭐⭐⭐ Give one piece of advice to a future 4th grader writing this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No new revision today — reread your finished essay one last time and just enjoy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what you are most proud of in your finished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Henrik finally explained the truth about what was hidden in the handkerchief. Today: Read the afterword and learn about the real history behind the story. Big Q: As you read today, watch for the setting, the characters, and the moment of danger. What is Copenhagen like in 1943? Who is Annemarie? What small thing happens that tells you life is not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"Lois Lowry wrote the novel."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"their are too parts to a historical novel a story and the real history its built on" Corrected: "There are two parts to a historical novel: a story and the real history it’s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"their are too parts to a historical novel a story and the real history its built on" Corrected: "There are two parts to a historical novel: a story and the real history it’s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proceed — — to move forward | exceed — — to go beyond what was expected | concede — — to yield; to give in | access — — a way to enter or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proceed: To move forward; to continue. | concede: To give in; to admit defeat or yield. | access: A way to reach or enter something. | symbol: An object or image that stands for an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"Lowry wrote about two kinds of courage." -&gt; two | "Their real story is in the Afterword." -&gt; Their | "You’re ready to publish your essay." -&gt; You’re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"Lowry wrote about two kinds of courage." -&gt; two | "Their real story is in the Afterword." -&gt; Their | "You’re ready to publish your essay." -&gt; You’re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Consonant + LE (-tle, -ple, -tle): write, knew, would | Consonant + LE (-dle, -ble): right, new, 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Consonant + LE (-tle, -ple, -tle): write, knew, would | Consonant + LE (-dle, -ble): right, new, 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Afterword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Opinion Essay — Publish &amp; Share
Focus: Share your finished opinion essay and celebrate a quarter of hard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6E9B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6E9BD9"/>
                </a:solidFill>
                <a:latin typeface="Calibri" pitchFamily="34" charset="0"/>
                <a:ea typeface="Calibri" pitchFamily="34" charset="-122"/>
                <a:cs typeface="Calibri" pitchFamily="34" charset="-120"/>
              </a:rPr>
              <a:t>WEEK 19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Afterword</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The Real History</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19  ·  Virtue: Courage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Lois Lowry wrote the novel.</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are you most proud of in the opinion essay you have written about Annemarie's bravery?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15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short reflection: what are you most proud of in your Number the Stars opinion essay? What was the hardest part of writing it?</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Reflect honestly on your own writing process, naming a specific strength and a specific challenge.</a:t>
            </a:r>
            <a:endParaRPr lang="en-US" sz="1300" dirty="0"/>
          </a:p>
        </p:txBody>
      </p:sp>
      <p:sp>
        <p:nvSpPr>
          <p:cNvPr id="8" name="Text 6"/>
          <p:cNvSpPr/>
          <p:nvPr/>
        </p:nvSpPr>
        <p:spPr>
          <a:xfrm>
            <a:off x="548640" y="2868168"/>
            <a:ext cx="8046720" cy="624078"/>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Name one thing you are proud of  ⭐⭐ Name one thing that was hard  ⭐⭐⭐ Explain how you solved that hard part  ⭐⭐⭐⭐ Give one piece of advice to a future 4th grader writing this essay</a:t>
            </a:r>
            <a:endParaRPr lang="en-US" sz="1150" dirty="0"/>
          </a:p>
        </p:txBody>
      </p:sp>
      <p:sp>
        <p:nvSpPr>
          <p:cNvPr id="9" name="Text 7"/>
          <p:cNvSpPr/>
          <p:nvPr/>
        </p:nvSpPr>
        <p:spPr>
          <a:xfrm>
            <a:off x="548640" y="3565398"/>
            <a:ext cx="8046720" cy="146380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No new revision today — reread your finished essay one last time and just enjoy it.</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what you are most proud of in your finished essay.</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Henrik finally explained the truth about what was hidden in the handkerchief.</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Read the afterword and learn about the real history behind the story.</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 you read today, watch for the setting, the characters, and the moment of danger. What is Copenhagen like in 1943? Who is Annemarie? What small thing happens that tells you life is not normal?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slow down at the start of a book. The first chapters tell you who the characters are, where they live, and what trouble is about to begin.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Lois Lowry wrote the novel.</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their are too parts to a historical novel a story and the real history its built on</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their are too parts to a historical novel a story and the real history its built on</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There are two parts to a historical novel: a story and the real history it’s built on.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form + flect/flex</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form means shape. flect and flex both mean to bend. Together they help build words about shaping and changing.</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662940"/>
          </a:xfrm>
          <a:prstGeom prst="roundRect">
            <a:avLst>
              <a:gd name="adj" fmla="val 11034"/>
            </a:avLst>
          </a:prstGeom>
          <a:solidFill>
            <a:srgbClr val="F8F4FF"/>
          </a:solidFill>
          <a:ln w="12700">
            <a:solidFill>
              <a:srgbClr val="8B6FC0"/>
            </a:solidFill>
            <a:prstDash val="solid"/>
          </a:ln>
        </p:spPr>
      </p:sp>
      <p:sp>
        <p:nvSpPr>
          <p:cNvPr id="9" name="Text 7"/>
          <p:cNvSpPr/>
          <p:nvPr/>
        </p:nvSpPr>
        <p:spPr>
          <a:xfrm>
            <a:off x="43891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conform = con- + form (shape together; fit in)</a:t>
            </a:r>
            <a:endParaRPr lang="en-US" sz="1100" dirty="0"/>
          </a:p>
        </p:txBody>
      </p:sp>
      <p:sp>
        <p:nvSpPr>
          <p:cNvPr id="10" name="Shape 8"/>
          <p:cNvSpPr/>
          <p:nvPr/>
        </p:nvSpPr>
        <p:spPr>
          <a:xfrm>
            <a:off x="2468880" y="1847088"/>
            <a:ext cx="2011680" cy="662940"/>
          </a:xfrm>
          <a:prstGeom prst="roundRect">
            <a:avLst>
              <a:gd name="adj" fmla="val 11034"/>
            </a:avLst>
          </a:prstGeom>
          <a:solidFill>
            <a:srgbClr val="F8F4FF"/>
          </a:solidFill>
          <a:ln w="12700">
            <a:solidFill>
              <a:srgbClr val="8B6FC0"/>
            </a:solidFill>
            <a:prstDash val="solid"/>
          </a:ln>
        </p:spPr>
      </p:sp>
      <p:sp>
        <p:nvSpPr>
          <p:cNvPr id="11" name="Text 9"/>
          <p:cNvSpPr/>
          <p:nvPr/>
        </p:nvSpPr>
        <p:spPr>
          <a:xfrm>
            <a:off x="254203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reform = re- + form (shape again)</a:t>
            </a:r>
            <a:endParaRPr lang="en-US" sz="1100" dirty="0"/>
          </a:p>
        </p:txBody>
      </p:sp>
      <p:sp>
        <p:nvSpPr>
          <p:cNvPr id="12" name="Shape 10"/>
          <p:cNvSpPr/>
          <p:nvPr/>
        </p:nvSpPr>
        <p:spPr>
          <a:xfrm>
            <a:off x="4572000" y="1847088"/>
            <a:ext cx="2011680" cy="662940"/>
          </a:xfrm>
          <a:prstGeom prst="roundRect">
            <a:avLst>
              <a:gd name="adj" fmla="val 11034"/>
            </a:avLst>
          </a:prstGeom>
          <a:solidFill>
            <a:srgbClr val="F8F4FF"/>
          </a:solidFill>
          <a:ln w="12700">
            <a:solidFill>
              <a:srgbClr val="8B6FC0"/>
            </a:solidFill>
            <a:prstDash val="solid"/>
          </a:ln>
        </p:spPr>
      </p:sp>
      <p:sp>
        <p:nvSpPr>
          <p:cNvPr id="13" name="Text 11"/>
          <p:cNvSpPr/>
          <p:nvPr/>
        </p:nvSpPr>
        <p:spPr>
          <a:xfrm>
            <a:off x="464515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reflect = re- + flect (to bend back; light or thought)</a:t>
            </a:r>
            <a:endParaRPr lang="en-US" sz="1100" dirty="0"/>
          </a:p>
        </p:txBody>
      </p:sp>
      <p:sp>
        <p:nvSpPr>
          <p:cNvPr id="14" name="Shape 12"/>
          <p:cNvSpPr/>
          <p:nvPr/>
        </p:nvSpPr>
        <p:spPr>
          <a:xfrm>
            <a:off x="6675120" y="1847088"/>
            <a:ext cx="2011680" cy="662940"/>
          </a:xfrm>
          <a:prstGeom prst="roundRect">
            <a:avLst>
              <a:gd name="adj" fmla="val 11034"/>
            </a:avLst>
          </a:prstGeom>
          <a:solidFill>
            <a:srgbClr val="F8F4FF"/>
          </a:solidFill>
          <a:ln w="12700">
            <a:solidFill>
              <a:srgbClr val="8B6FC0"/>
            </a:solidFill>
            <a:prstDash val="solid"/>
          </a:ln>
        </p:spPr>
      </p:sp>
      <p:sp>
        <p:nvSpPr>
          <p:cNvPr id="15" name="Text 13"/>
          <p:cNvSpPr/>
          <p:nvPr/>
        </p:nvSpPr>
        <p:spPr>
          <a:xfrm>
            <a:off x="674827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flexible = flex + -ible (able to bend)</a:t>
            </a:r>
            <a:endParaRPr lang="en-US" sz="1100" dirty="0"/>
          </a:p>
        </p:txBody>
      </p:sp>
      <p:sp>
        <p:nvSpPr>
          <p:cNvPr id="16" name="Text 14"/>
          <p:cNvSpPr/>
          <p:nvPr/>
        </p:nvSpPr>
        <p:spPr>
          <a:xfrm>
            <a:off x="365760" y="26289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8849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9306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proceed — — to move forward</a:t>
            </a:r>
            <a:endParaRPr lang="en-US" sz="1300" dirty="0"/>
          </a:p>
        </p:txBody>
      </p:sp>
      <p:sp>
        <p:nvSpPr>
          <p:cNvPr id="19" name="Shape 17"/>
          <p:cNvSpPr/>
          <p:nvPr/>
        </p:nvSpPr>
        <p:spPr>
          <a:xfrm>
            <a:off x="365760" y="33421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3878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exceed — — to go beyond what was expected</a:t>
            </a:r>
            <a:endParaRPr lang="en-US" sz="1300" dirty="0"/>
          </a:p>
        </p:txBody>
      </p:sp>
      <p:sp>
        <p:nvSpPr>
          <p:cNvPr id="21" name="Shape 19"/>
          <p:cNvSpPr/>
          <p:nvPr/>
        </p:nvSpPr>
        <p:spPr>
          <a:xfrm>
            <a:off x="365760" y="37993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8450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concede — — to yield; to give in</a:t>
            </a:r>
            <a:endParaRPr lang="en-US" sz="1300" dirty="0"/>
          </a:p>
        </p:txBody>
      </p:sp>
      <p:sp>
        <p:nvSpPr>
          <p:cNvPr id="23" name="Shape 21"/>
          <p:cNvSpPr/>
          <p:nvPr/>
        </p:nvSpPr>
        <p:spPr>
          <a:xfrm>
            <a:off x="365760" y="42565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3022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access — — a way to enter or reach</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“After the soldiers left, the family could proceed with the funeral.”</a:t>
            </a:r>
            <a:endParaRPr lang="en-US" sz="1050" dirty="0"/>
          </a:p>
        </p:txBody>
      </p:sp>
      <p:sp>
        <p:nvSpPr>
          <p:cNvPr id="7" name="Text 5"/>
          <p:cNvSpPr/>
          <p:nvPr/>
        </p:nvSpPr>
        <p:spPr>
          <a:xfrm>
            <a:off x="45720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proceed</a:t>
            </a:r>
            <a:endParaRPr lang="en-US" sz="1400" dirty="0"/>
          </a:p>
        </p:txBody>
      </p:sp>
      <p:sp>
        <p:nvSpPr>
          <p:cNvPr id="8" name="Text 6"/>
          <p:cNvSpPr/>
          <p:nvPr/>
        </p:nvSpPr>
        <p:spPr>
          <a:xfrm>
            <a:off x="457200" y="1723644"/>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move forward; to continue.</a:t>
            </a:r>
            <a:endParaRPr lang="en-US" sz="1100" dirty="0"/>
          </a:p>
        </p:txBody>
      </p:sp>
      <p:sp>
        <p:nvSpPr>
          <p:cNvPr id="9" name="Shape 7"/>
          <p:cNvSpPr/>
          <p:nvPr/>
        </p:nvSpPr>
        <p:spPr>
          <a:xfrm>
            <a:off x="4572000" y="914400"/>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“Uncle Henrik would not concede that he was lying — not at first.”</a:t>
            </a:r>
            <a:endParaRPr lang="en-US" sz="1050" dirty="0"/>
          </a:p>
        </p:txBody>
      </p:sp>
      <p:sp>
        <p:nvSpPr>
          <p:cNvPr id="11" name="Text 9"/>
          <p:cNvSpPr/>
          <p:nvPr/>
        </p:nvSpPr>
        <p:spPr>
          <a:xfrm>
            <a:off x="470916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concede</a:t>
            </a:r>
            <a:endParaRPr lang="en-US" sz="1400" dirty="0"/>
          </a:p>
        </p:txBody>
      </p:sp>
      <p:sp>
        <p:nvSpPr>
          <p:cNvPr id="12" name="Text 10"/>
          <p:cNvSpPr/>
          <p:nvPr/>
        </p:nvSpPr>
        <p:spPr>
          <a:xfrm>
            <a:off x="4709160" y="1723644"/>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give in; to admit defeat or yield.</a:t>
            </a:r>
            <a:endParaRPr lang="en-US" sz="1100" dirty="0"/>
          </a:p>
        </p:txBody>
      </p:sp>
      <p:sp>
        <p:nvSpPr>
          <p:cNvPr id="13" name="Shape 11"/>
          <p:cNvSpPr/>
          <p:nvPr/>
        </p:nvSpPr>
        <p:spPr>
          <a:xfrm>
            <a:off x="320040" y="2200656"/>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457200" y="2292096"/>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soldiers wanted access to the casket before the family could close it.”</a:t>
            </a:r>
            <a:endParaRPr lang="en-US" sz="1050" dirty="0"/>
          </a:p>
        </p:txBody>
      </p:sp>
      <p:sp>
        <p:nvSpPr>
          <p:cNvPr id="15" name="Text 13"/>
          <p:cNvSpPr/>
          <p:nvPr/>
        </p:nvSpPr>
        <p:spPr>
          <a:xfrm>
            <a:off x="457200" y="2699004"/>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access</a:t>
            </a:r>
            <a:endParaRPr lang="en-US" sz="1400" dirty="0"/>
          </a:p>
        </p:txBody>
      </p:sp>
      <p:sp>
        <p:nvSpPr>
          <p:cNvPr id="16" name="Text 14"/>
          <p:cNvSpPr/>
          <p:nvPr/>
        </p:nvSpPr>
        <p:spPr>
          <a:xfrm>
            <a:off x="457200" y="3009900"/>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way to reach or enter something.</a:t>
            </a:r>
            <a:endParaRPr lang="en-US" sz="1100" dirty="0"/>
          </a:p>
        </p:txBody>
      </p:sp>
      <p:sp>
        <p:nvSpPr>
          <p:cNvPr id="17" name="Shape 15"/>
          <p:cNvSpPr/>
          <p:nvPr/>
        </p:nvSpPr>
        <p:spPr>
          <a:xfrm>
            <a:off x="4572000" y="2200656"/>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4709160" y="2292096"/>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Star of David necklace is a symbol of Ellen’s family and faith.”</a:t>
            </a:r>
            <a:endParaRPr lang="en-US" sz="1050" dirty="0"/>
          </a:p>
        </p:txBody>
      </p:sp>
      <p:sp>
        <p:nvSpPr>
          <p:cNvPr id="19" name="Text 17"/>
          <p:cNvSpPr/>
          <p:nvPr/>
        </p:nvSpPr>
        <p:spPr>
          <a:xfrm>
            <a:off x="4709160" y="2699004"/>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symbol</a:t>
            </a:r>
            <a:endParaRPr lang="en-US" sz="1400" dirty="0"/>
          </a:p>
        </p:txBody>
      </p:sp>
      <p:sp>
        <p:nvSpPr>
          <p:cNvPr id="20" name="Text 18"/>
          <p:cNvSpPr/>
          <p:nvPr/>
        </p:nvSpPr>
        <p:spPr>
          <a:xfrm>
            <a:off x="4709160" y="3009900"/>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An object or image that stands for an idea.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Homophones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Lowry wrote about two kinds of courage.</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Their real story is in the Afterword.</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You’re ready to publish your essay.</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Homophones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Lowry wrote about </a:t>
            </a:r>
            <a:pPr indent="0" marL="0">
              <a:buNone/>
            </a:pPr>
            <a:r>
              <a:rPr lang="en-US" sz="1500" b="1" u="sng" dirty="0">
                <a:solidFill>
                  <a:srgbClr val="34B76F"/>
                </a:solidFill>
                <a:latin typeface="Calibri" pitchFamily="34" charset="0"/>
                <a:ea typeface="Calibri" pitchFamily="34" charset="-122"/>
                <a:cs typeface="Calibri" pitchFamily="34" charset="-120"/>
              </a:rPr>
              <a:t>two</a:t>
            </a:r>
            <a:pPr indent="0" marL="0">
              <a:buNone/>
            </a:pPr>
            <a:r>
              <a:rPr lang="en-US" sz="1500" dirty="0">
                <a:solidFill>
                  <a:srgbClr val="1E293B"/>
                </a:solidFill>
                <a:latin typeface="Calibri" pitchFamily="34" charset="0"/>
                <a:ea typeface="Calibri" pitchFamily="34" charset="-122"/>
                <a:cs typeface="Calibri" pitchFamily="34" charset="-120"/>
              </a:rPr>
              <a:t> kinds of courage.</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pPr indent="0" marL="0">
              <a:buNone/>
            </a:pPr>
            <a:r>
              <a:rPr lang="en-US" sz="1500" b="1" u="sng" dirty="0">
                <a:solidFill>
                  <a:srgbClr val="34B76F"/>
                </a:solidFill>
                <a:latin typeface="Calibri" pitchFamily="34" charset="0"/>
                <a:ea typeface="Calibri" pitchFamily="34" charset="-122"/>
                <a:cs typeface="Calibri" pitchFamily="34" charset="-120"/>
              </a:rPr>
              <a:t>Their</a:t>
            </a:r>
            <a:pPr indent="0" marL="0">
              <a:buNone/>
            </a:pPr>
            <a:r>
              <a:rPr lang="en-US" sz="1500" dirty="0">
                <a:solidFill>
                  <a:srgbClr val="1E293B"/>
                </a:solidFill>
                <a:latin typeface="Calibri" pitchFamily="34" charset="0"/>
                <a:ea typeface="Calibri" pitchFamily="34" charset="-122"/>
                <a:cs typeface="Calibri" pitchFamily="34" charset="-120"/>
              </a:rPr>
              <a:t> real story is in the Afterword.</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pPr indent="0" marL="0">
              <a:buNone/>
            </a:pPr>
            <a:r>
              <a:rPr lang="en-US" sz="1500" b="1" u="sng" dirty="0">
                <a:solidFill>
                  <a:srgbClr val="34B76F"/>
                </a:solidFill>
                <a:latin typeface="Calibri" pitchFamily="34" charset="0"/>
                <a:ea typeface="Calibri" pitchFamily="34" charset="-122"/>
                <a:cs typeface="Calibri" pitchFamily="34" charset="-120"/>
              </a:rPr>
              <a:t>You’re</a:t>
            </a:r>
            <a:pPr indent="0" marL="0">
              <a:buNone/>
            </a:pPr>
            <a:r>
              <a:rPr lang="en-US" sz="1500" dirty="0">
                <a:solidFill>
                  <a:srgbClr val="1E293B"/>
                </a:solidFill>
                <a:latin typeface="Calibri" pitchFamily="34" charset="0"/>
                <a:ea typeface="Calibri" pitchFamily="34" charset="-122"/>
                <a:cs typeface="Calibri" pitchFamily="34" charset="-120"/>
              </a:rPr>
              <a:t> ready to publish your essay.</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Homophones in Context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write   -   knew   -   would   -   right   -   new   -   wood</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Consonant + LE (-tle, -ple, -tle)</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Consonant + LE (-dle, -ble)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Homophones in Context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Consonant + LE (-tle, -ple, -tle)</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write</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knew</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would</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Consonant + LE (-dle, -ble)</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right</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new</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wood</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Afterword</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The Real History</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Say little. The -tle at the end is a syllable by itself. What letter pattern is it?</a:t>
            </a:r>
            <a:endParaRPr lang="en-US" sz="1400" dirty="0"/>
          </a:p>
        </p:txBody>
      </p:sp>
      <p:sp>
        <p:nvSpPr>
          <p:cNvPr id="8" name="Shape 6"/>
          <p:cNvSpPr/>
          <p:nvPr/>
        </p:nvSpPr>
        <p:spPr>
          <a:xfrm>
            <a:off x="365760" y="251460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Say candle. Same pattern: consonant + l + e. The -dle is one syllable.</a:t>
            </a:r>
            <a:endParaRPr lang="en-US" sz="1400" dirty="0"/>
          </a:p>
        </p:txBody>
      </p:sp>
      <p:sp>
        <p:nvSpPr>
          <p:cNvPr id="10" name="Shape 8"/>
          <p:cNvSpPr/>
          <p:nvPr/>
        </p:nvSpPr>
        <p:spPr>
          <a:xfrm>
            <a:off x="365760" y="331012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40156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Why does it help to know this pattern? (Hint: when you SEE consonant-le at the end of a word, you know how to break it into syllables for reading.)</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Opinion Essay — Publish &amp; Share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Share your finished opinion essay and celebrate a quarter of hard work!</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2026-07-11T22:13:23Z</dcterms:created>
  <dcterms:modified xsi:type="dcterms:W3CDTF">2026-07-11T22:13:23Z</dcterms:modified>
</cp:coreProperties>
</file>