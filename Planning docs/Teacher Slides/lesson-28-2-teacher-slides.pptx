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28, Day 2. Novel emoji: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toward naming the craft move: Open a sentence with a dependent "Because" clause to lead with the reason before the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20-minute timer. Craft move: Open a sentence with a dependent "Because" clause to lead with the reason before the action.. Level-up: 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2-minute timer. Today's revision focus: Try moving your "Because" clause to the end of the sentence. Which order works better,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3-5 students. Keep sharing craft-focused: "Share your "Because...even though..."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1-minute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Yesterday, Trumpkin volunteered to carry the magic Horn’s message, even though he didn’t believe in it himself. Today: Follow the children as they decide to leave the island and row to find Caspian. Big Q: Notice the decisions the characters make. Who takes charge? Who pushes through? What does “leading” look like when there’s no battle to fight?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DOL model: "Because the Horn had summoned them , the children knew they had to help Caspian even though they were far from his army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"because the horn had summoned them the children knew they had to help caspian even though they were far from his army" Corrected: "Because the Horn had summoned them, the children knew they had to help Caspian even though they were far from his army."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"because the horn had summoned them the children knew they had to help caspian even though they were far from his army" Corrected: "Because the Horn had summoned them, the children knew they had to help Caspian even though they were far from his army."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 council: a group of people gathered to make decisions or give advice. | seneschal: a steward or manager of a lord’s estate; a chief servant. | entrenchments: defensive ditches or fortifications dug into the ground. | consorts: companions, partners, or associates (especially of royalty).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"Although Trumpkin was doubtful, he agreed to lead them to Caspian." -&gt; Although Trumpkin was doubtful, | "Peter kept rowing even though his arms ached terribly." -&gt; even though his arms ached terribly. | "When they passed the island, Susan remembered the Splendour Hyaline." -&gt; When they passed the island, | "The children chose to row because the woods might be dangerous." -&gt; because the woods might be dangerous. | "If Aslan wanted them in Narnia, Lucy believed they should be there." -&gt; If Aslan wanted them in Narnia,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"Although Trumpkin was doubtful, he agreed to lead them to Caspian." -&gt; Although Trumpkin was doubtful, | "Peter kept rowing even though his arms ached terribly." -&gt; even though his arms ached terribly. | "When they passed the island, Susan remembered the Splendour Hyaline." -&gt; When they passed the island, | "The children chose to row because the woods might be dangerous." -&gt; because the woods might be dangerous. | "If Aslan wanted them in Narnia, Lucy believed they should be there." -&gt; If Aslan wanted them in Narnia,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Schwa-a: about, afraid | Schwa-e: problem, open | Schwa-i: animal, family | Schwa-o: person, lemon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Schwa-a: about, afraid | Schwa-e: problem, open | Schwa-i: animal, family | Schwa-o: person, lemon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Chapter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RWM: "“Do you remember our voyage to Terebinthia… And the silken sails, and the great stern lanterns?… Do you remember when we had the musicians up in the rigging playing flutes so that it sounded like music out of the sky?”"
Craft: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Literary Analysis — Organizing Evidence
Focus: Record how your character responds to a hard decision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A2E"/>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5CC9A0">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5CC9A0"/>
                </a:solidFill>
                <a:latin typeface="Calibri" pitchFamily="34" charset="0"/>
                <a:ea typeface="Calibri" pitchFamily="34" charset="-122"/>
                <a:cs typeface="Calibri" pitchFamily="34" charset="-120"/>
              </a:rPr>
              <a:t>WEEK 28  ·  DAY 2</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Chapter 8</a:t>
            </a:r>
            <a:endParaRPr lang="en-US" sz="3200" dirty="0"/>
          </a:p>
          <a:p>
            <a:pPr algn="l" indent="0" marL="0">
              <a:buNone/>
            </a:pPr>
            <a:r>
              <a:rPr lang="en-US" sz="3200" b="1" dirty="0">
                <a:solidFill>
                  <a:srgbClr val="FFFFFF"/>
                </a:solidFill>
                <a:latin typeface="Calibri" pitchFamily="34" charset="0"/>
                <a:ea typeface="Calibri" pitchFamily="34" charset="-122"/>
                <a:cs typeface="Calibri" pitchFamily="34" charset="-120"/>
              </a:rPr>
              <a:t>How They Left the Island</a:t>
            </a:r>
            <a:endParaRPr lang="en-US" sz="32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28  ·  Virtue: Loyalty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Discuss</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Shape 2"/>
          <p:cNvSpPr/>
          <p:nvPr/>
        </p:nvSpPr>
        <p:spPr>
          <a:xfrm>
            <a:off x="6492240" y="173736"/>
            <a:ext cx="2286000" cy="502920"/>
          </a:xfrm>
          <a:prstGeom prst="roundRect">
            <a:avLst>
              <a:gd name="adj" fmla="val 21818"/>
            </a:avLst>
          </a:prstGeom>
          <a:solidFill>
            <a:srgbClr val="5CC9A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5CC9A0"/>
                </a:solidFill>
                <a:latin typeface="Calibri" pitchFamily="34" charset="0"/>
                <a:ea typeface="Calibri" pitchFamily="34" charset="-122"/>
                <a:cs typeface="Calibri" pitchFamily="34" charset="-120"/>
              </a:rPr>
              <a:t>TALK IT OVER - 2 MINUTES</a:t>
            </a:r>
            <a:endParaRPr lang="en-US" sz="1100" dirty="0"/>
          </a:p>
        </p:txBody>
      </p:sp>
      <p:sp>
        <p:nvSpPr>
          <p:cNvPr id="7" name="Shape 5"/>
          <p:cNvSpPr/>
          <p:nvPr/>
        </p:nvSpPr>
        <p:spPr>
          <a:xfrm>
            <a:off x="365760" y="1097280"/>
            <a:ext cx="8412480" cy="1097280"/>
          </a:xfrm>
          <a:prstGeom prst="roundRect">
            <a:avLst>
              <a:gd name="adj" fmla="val 8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88720"/>
            <a:ext cx="7863840" cy="91440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This sentence starts with "Because" and ends with "even though." What does starting with the reason (instead of the action) do for the reader?</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Write</a:t>
            </a:r>
            <a:endParaRPr lang="en-US" sz="3200" dirty="0"/>
          </a:p>
        </p:txBody>
      </p:sp>
      <p:sp>
        <p:nvSpPr>
          <p:cNvPr id="3" name="Text 1"/>
          <p:cNvSpPr/>
          <p:nvPr/>
        </p:nvSpPr>
        <p:spPr>
          <a:xfrm>
            <a:off x="914400" y="749808"/>
            <a:ext cx="7315200" cy="347472"/>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20 minutes - keep your pencil moving!</a:t>
            </a:r>
            <a:endParaRPr lang="en-US" sz="1500" dirty="0"/>
          </a:p>
        </p:txBody>
      </p:sp>
      <p:sp>
        <p:nvSpPr>
          <p:cNvPr id="4" name="Shape 2"/>
          <p:cNvSpPr/>
          <p:nvPr/>
        </p:nvSpPr>
        <p:spPr>
          <a:xfrm>
            <a:off x="457200" y="1170432"/>
            <a:ext cx="8229600" cy="822960"/>
          </a:xfrm>
          <a:prstGeom prst="roundRect">
            <a:avLst>
              <a:gd name="adj" fmla="val 11111"/>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225296"/>
            <a:ext cx="7863840" cy="73152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Prompt: </a:t>
            </a:r>
            <a:pPr indent="0" marL="0">
              <a:buNone/>
            </a:pPr>
            <a:r>
              <a:rPr lang="en-US" sz="1200" i="1" dirty="0">
                <a:solidFill>
                  <a:srgbClr val="1E293B"/>
                </a:solidFill>
                <a:latin typeface="Calibri" pitchFamily="34" charset="0"/>
                <a:ea typeface="Calibri" pitchFamily="34" charset="-122"/>
                <a:cs typeface="Calibri" pitchFamily="34" charset="-120"/>
              </a:rPr>
              <a:t>Write a sentence starting with "Because," explaining a reason for an action, then add "even though" to show a doubt the character overcame.</a:t>
            </a:r>
            <a:endParaRPr lang="en-US" sz="1200" dirty="0"/>
          </a:p>
        </p:txBody>
      </p:sp>
      <p:sp>
        <p:nvSpPr>
          <p:cNvPr id="6" name="Shape 4"/>
          <p:cNvSpPr/>
          <p:nvPr/>
        </p:nvSpPr>
        <p:spPr>
          <a:xfrm>
            <a:off x="457200" y="2121408"/>
            <a:ext cx="8229600" cy="655320"/>
          </a:xfrm>
          <a:prstGeom prst="roundRect">
            <a:avLst>
              <a:gd name="adj" fmla="val 13953"/>
            </a:avLst>
          </a:prstGeom>
          <a:solidFill>
            <a:srgbClr val="FFFFFF"/>
          </a:solidFill>
          <a:ln w="15875">
            <a:solidFill>
              <a:srgbClr val="8B6FC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640080" y="2176272"/>
            <a:ext cx="7863840" cy="545592"/>
          </a:xfrm>
          <a:prstGeom prst="rect">
            <a:avLst/>
          </a:prstGeom>
          <a:noFill/>
          <a:ln/>
        </p:spPr>
        <p:txBody>
          <a:bodyPr wrap="square" lIns="0" tIns="0" rIns="0" bIns="0" rtlCol="0" anchor="t"/>
          <a:lstStyle/>
          <a:p>
            <a:pPr indent="0" marL="0">
              <a:buNone/>
            </a:pPr>
            <a:r>
              <a:rPr lang="en-US" sz="1300" b="1" dirty="0">
                <a:solidFill>
                  <a:srgbClr val="8B6FC0"/>
                </a:solidFill>
                <a:latin typeface="Calibri" pitchFamily="34" charset="0"/>
                <a:ea typeface="Calibri" pitchFamily="34" charset="-122"/>
                <a:cs typeface="Calibri" pitchFamily="34" charset="-120"/>
              </a:rPr>
              <a:t>Today's craft move: </a:t>
            </a:r>
            <a:pPr indent="0" marL="0">
              <a:buNone/>
            </a:pPr>
            <a:r>
              <a:rPr lang="en-US" sz="1300" dirty="0">
                <a:solidFill>
                  <a:srgbClr val="1E293B"/>
                </a:solidFill>
                <a:latin typeface="Calibri" pitchFamily="34" charset="0"/>
                <a:ea typeface="Calibri" pitchFamily="34" charset="-122"/>
                <a:cs typeface="Calibri" pitchFamily="34" charset="-120"/>
              </a:rPr>
              <a:t>Open a sentence with a dependent "Because" clause to lead with the reason before the action.</a:t>
            </a:r>
            <a:endParaRPr lang="en-US" sz="1300" dirty="0"/>
          </a:p>
        </p:txBody>
      </p:sp>
      <p:sp>
        <p:nvSpPr>
          <p:cNvPr id="8" name="Text 6"/>
          <p:cNvSpPr/>
          <p:nvPr/>
        </p:nvSpPr>
        <p:spPr>
          <a:xfrm>
            <a:off x="548640" y="2868168"/>
            <a:ext cx="8046720" cy="2161032"/>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Keep writing the whole time. If you get stuck, reread the prompt or write "I am thinking..." until a new idea comes.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914400" y="64008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Revise</a:t>
            </a:r>
            <a:endParaRPr lang="en-US" sz="3200" dirty="0"/>
          </a:p>
        </p:txBody>
      </p:sp>
      <p:sp>
        <p:nvSpPr>
          <p:cNvPr id="3" name="Text 1"/>
          <p:cNvSpPr/>
          <p:nvPr/>
        </p:nvSpPr>
        <p:spPr>
          <a:xfrm>
            <a:off x="914400" y="1234440"/>
            <a:ext cx="7315200" cy="411480"/>
          </a:xfrm>
          <a:prstGeom prst="rect">
            <a:avLst/>
          </a:prstGeom>
          <a:noFill/>
          <a:ln/>
        </p:spPr>
        <p:txBody>
          <a:bodyPr wrap="square" lIns="0" tIns="0" rIns="0" bIns="0" rtlCol="0" anchor="ctr"/>
          <a:lstStyle/>
          <a:p>
            <a:pPr algn="ctr" indent="0" marL="0">
              <a:buNone/>
            </a:pPr>
            <a:r>
              <a:rPr lang="en-US" sz="1500" dirty="0">
                <a:solidFill>
                  <a:srgbClr val="34B76F"/>
                </a:solidFill>
                <a:latin typeface="Calibri" pitchFamily="34" charset="0"/>
                <a:ea typeface="Calibri" pitchFamily="34" charset="-122"/>
                <a:cs typeface="Calibri" pitchFamily="34" charset="-120"/>
              </a:rPr>
              <a:t>2 minutes - improve ONE specific thing</a:t>
            </a:r>
            <a:endParaRPr lang="en-US" sz="1500" dirty="0"/>
          </a:p>
        </p:txBody>
      </p:sp>
      <p:sp>
        <p:nvSpPr>
          <p:cNvPr id="4" name="Shape 2"/>
          <p:cNvSpPr/>
          <p:nvPr/>
        </p:nvSpPr>
        <p:spPr>
          <a:xfrm>
            <a:off x="1097280" y="1828800"/>
            <a:ext cx="694944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280160" y="1901952"/>
            <a:ext cx="6583680" cy="640080"/>
          </a:xfrm>
          <a:prstGeom prst="rect">
            <a:avLst/>
          </a:prstGeom>
          <a:noFill/>
          <a:ln/>
        </p:spPr>
        <p:txBody>
          <a:bodyPr wrap="square" lIns="0" tIns="0" rIns="0" bIns="0" rtlCol="0" anchor="ctr"/>
          <a:lstStyle/>
          <a:p>
            <a:pPr indent="0" marL="0">
              <a:buNone/>
            </a:pPr>
            <a:r>
              <a:rPr lang="en-US" sz="1400" b="1" dirty="0">
                <a:solidFill>
                  <a:srgbClr val="34B76F"/>
                </a:solidFill>
                <a:latin typeface="Calibri" pitchFamily="34" charset="0"/>
                <a:ea typeface="Calibri" pitchFamily="34" charset="-122"/>
                <a:cs typeface="Calibri" pitchFamily="34" charset="-120"/>
              </a:rPr>
              <a:t>Today's revision task: </a:t>
            </a:r>
            <a:pPr indent="0" marL="0">
              <a:buNone/>
            </a:pPr>
            <a:r>
              <a:rPr lang="en-US" sz="1400" dirty="0">
                <a:solidFill>
                  <a:srgbClr val="1E293B"/>
                </a:solidFill>
                <a:latin typeface="Calibri" pitchFamily="34" charset="0"/>
                <a:ea typeface="Calibri" pitchFamily="34" charset="-122"/>
                <a:cs typeface="Calibri" pitchFamily="34" charset="-120"/>
              </a:rPr>
              <a:t>Try moving your "Because" clause to the end of the sentence. Which order works better, and why?</a:t>
            </a:r>
            <a:endParaRPr lang="en-US" sz="1400" dirty="0"/>
          </a:p>
        </p:txBody>
      </p:sp>
      <p:sp>
        <p:nvSpPr>
          <p:cNvPr id="6" name="Shape 4"/>
          <p:cNvSpPr/>
          <p:nvPr/>
        </p:nvSpPr>
        <p:spPr>
          <a:xfrm>
            <a:off x="1097280" y="2788920"/>
            <a:ext cx="6949440" cy="1554480"/>
          </a:xfrm>
          <a:prstGeom prst="roundRect">
            <a:avLst>
              <a:gd name="adj" fmla="val 5882"/>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280160" y="2880360"/>
            <a:ext cx="6583680" cy="1463040"/>
          </a:xfrm>
          <a:prstGeom prst="rect">
            <a:avLst/>
          </a:prstGeom>
          <a:noFill/>
          <a:ln/>
        </p:spPr>
        <p:txBody>
          <a:bodyPr wrap="square" lIns="0" tIns="0" rIns="0" bIns="0" rtlCol="0" anchor="t"/>
          <a:lstStyle/>
          <a:p>
            <a:pPr indent="0" marL="0">
              <a:spcAft>
                <a:spcPts val="200"/>
              </a:spcAft>
              <a:buNone/>
            </a:pPr>
            <a:r>
              <a:rPr lang="en-US" sz="1250" b="1" dirty="0">
                <a:solidFill>
                  <a:srgbClr val="0E1C42"/>
                </a:solidFill>
                <a:latin typeface="Calibri" pitchFamily="34" charset="0"/>
                <a:ea typeface="Calibri" pitchFamily="34" charset="-122"/>
                <a:cs typeface="Calibri" pitchFamily="34" charset="-120"/>
              </a:rPr>
              <a:t>Remember - revision is about ideas, not spelling: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Circle your strongest sentence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Replace one weak verb with a precise one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Add one detail, or cut one you do not need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Improve your opening line</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914400" y="73152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Share</a:t>
            </a:r>
            <a:endParaRPr lang="en-US" sz="3200" dirty="0"/>
          </a:p>
        </p:txBody>
      </p:sp>
      <p:sp>
        <p:nvSpPr>
          <p:cNvPr id="3" name="Text 1"/>
          <p:cNvSpPr/>
          <p:nvPr/>
        </p:nvSpPr>
        <p:spPr>
          <a:xfrm>
            <a:off x="914400" y="13258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2-3 minutes - celebrate a craft move</a:t>
            </a:r>
            <a:endParaRPr lang="en-US" sz="1500" dirty="0"/>
          </a:p>
        </p:txBody>
      </p:sp>
      <p:sp>
        <p:nvSpPr>
          <p:cNvPr id="4" name="Shape 2"/>
          <p:cNvSpPr/>
          <p:nvPr/>
        </p:nvSpPr>
        <p:spPr>
          <a:xfrm>
            <a:off x="1371600" y="1965960"/>
            <a:ext cx="6400800" cy="914400"/>
          </a:xfrm>
          <a:prstGeom prst="roundRect">
            <a:avLst>
              <a:gd name="adj" fmla="val 12000"/>
            </a:avLst>
          </a:prstGeom>
          <a:solidFill>
            <a:srgbClr val="FFFFFF"/>
          </a:solidFill>
          <a:ln w="15875">
            <a:solidFill>
              <a:srgbClr val="55C8E8"/>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554480" y="2029968"/>
            <a:ext cx="6035040" cy="786384"/>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Share your "Because...even though..." sentence.</a:t>
            </a:r>
            <a:endParaRPr lang="en-US" sz="1400" dirty="0"/>
          </a:p>
        </p:txBody>
      </p:sp>
      <p:sp>
        <p:nvSpPr>
          <p:cNvPr id="6" name="Shape 4"/>
          <p:cNvSpPr/>
          <p:nvPr/>
        </p:nvSpPr>
        <p:spPr>
          <a:xfrm>
            <a:off x="1371600" y="3017520"/>
            <a:ext cx="6400800" cy="914400"/>
          </a:xfrm>
          <a:prstGeom prst="roundRect">
            <a:avLst>
              <a:gd name="adj" fmla="val 12000"/>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554480" y="3090672"/>
            <a:ext cx="6035040" cy="777240"/>
          </a:xfrm>
          <a:prstGeom prst="rect">
            <a:avLst/>
          </a:prstGeom>
          <a:noFill/>
          <a:ln/>
        </p:spPr>
        <p:txBody>
          <a:bodyPr wrap="square" lIns="0" tIns="0" rIns="0" bIns="0" rtlCol="0" anchor="t"/>
          <a:lstStyle/>
          <a:p>
            <a:pPr indent="0" marL="0">
              <a:spcAft>
                <a:spcPts val="200"/>
              </a:spcAft>
              <a:buNone/>
            </a:pPr>
            <a:r>
              <a:rPr lang="en-US" sz="1250" dirty="0">
                <a:solidFill>
                  <a:srgbClr val="1E293B"/>
                </a:solidFill>
                <a:latin typeface="Calibri" pitchFamily="34" charset="0"/>
                <a:ea typeface="Calibri" pitchFamily="34" charset="-122"/>
                <a:cs typeface="Calibri" pitchFamily="34" charset="-120"/>
              </a:rPr>
              <a:t>Raise your hand, or paste it in the chat.
</a:t>
            </a:r>
            <a:pPr indent="0" marL="0">
              <a:spcAft>
                <a:spcPts val="200"/>
              </a:spcAft>
              <a:buNone/>
            </a:pPr>
            <a:r>
              <a:rPr lang="en-US" sz="1150" i="1" dirty="0">
                <a:solidFill>
                  <a:srgbClr val="64748B"/>
                </a:solidFill>
                <a:latin typeface="Calibri" pitchFamily="34" charset="0"/>
                <a:ea typeface="Calibri" pitchFamily="34" charset="-122"/>
                <a:cs typeface="Calibri" pitchFamily="34" charset="-120"/>
              </a:rPr>
              <a:t>Every writer's craft move counts - there are no wrong answers.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Reflect</a:t>
            </a:r>
            <a:endParaRPr lang="en-US" sz="28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457200" y="1005840"/>
            <a:ext cx="8229600" cy="1280160"/>
          </a:xfrm>
          <a:prstGeom prst="roundRect">
            <a:avLst>
              <a:gd name="adj" fmla="val 7143"/>
            </a:avLst>
          </a:prstGeom>
          <a:solidFill>
            <a:srgbClr val="E8F8EF"/>
          </a:solidFill>
          <a:ln/>
          <a:effectLst>
            <a:outerShdw sx="100000" sy="100000" kx="0" ky="0" algn="bl" rotWithShape="0" blurRad="101600" dist="38100" dir="2700000">
              <a:srgbClr val="000000">
                <a:alpha val="12000"/>
              </a:srgbClr>
            </a:outerShdw>
          </a:effectLst>
        </p:spPr>
      </p:sp>
      <p:sp>
        <p:nvSpPr>
          <p:cNvPr id="5" name="Text 3"/>
          <p:cNvSpPr/>
          <p:nvPr/>
        </p:nvSpPr>
        <p:spPr>
          <a:xfrm>
            <a:off x="685800" y="1143000"/>
            <a:ext cx="7772400" cy="1005840"/>
          </a:xfrm>
          <a:prstGeom prst="rect">
            <a:avLst/>
          </a:prstGeom>
          <a:noFill/>
          <a:ln/>
        </p:spPr>
        <p:txBody>
          <a:bodyPr wrap="square" lIns="0" tIns="0" rIns="0" bIns="0" rtlCol="0" anchor="ctr"/>
          <a:lstStyle/>
          <a:p>
            <a:pPr indent="0" marL="0">
              <a:buNone/>
            </a:pPr>
            <a:r>
              <a:rPr lang="en-US" sz="1900" b="1" dirty="0">
                <a:solidFill>
                  <a:srgbClr val="0E1C42"/>
                </a:solidFill>
                <a:latin typeface="Calibri" pitchFamily="34" charset="0"/>
                <a:ea typeface="Calibri" pitchFamily="34" charset="-122"/>
                <a:cs typeface="Calibri" pitchFamily="34" charset="-120"/>
              </a:rPr>
              <a:t>What did you do today that made your writing stronger?</a:t>
            </a:r>
            <a:endParaRPr lang="en-US" sz="1900" dirty="0"/>
          </a:p>
        </p:txBody>
      </p:sp>
      <p:sp>
        <p:nvSpPr>
          <p:cNvPr id="6" name="Text 4"/>
          <p:cNvSpPr/>
          <p:nvPr/>
        </p:nvSpPr>
        <p:spPr>
          <a:xfrm>
            <a:off x="548640" y="2468880"/>
            <a:ext cx="8046720" cy="45720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Turn and tell a partner, or jot one sentence in your writing notebook.</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Recap + Today's Focus</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Shape 2"/>
          <p:cNvSpPr/>
          <p:nvPr/>
        </p:nvSpPr>
        <p:spPr>
          <a:xfrm>
            <a:off x="6492240" y="173736"/>
            <a:ext cx="2286000" cy="502920"/>
          </a:xfrm>
          <a:prstGeom prst="roundRect">
            <a:avLst>
              <a:gd name="adj" fmla="val 21818"/>
            </a:avLst>
          </a:prstGeom>
          <a:solidFill>
            <a:srgbClr val="5CC9A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YESTERDAY</a:t>
            </a:r>
            <a:endParaRPr lang="en-US" sz="1100" dirty="0"/>
          </a:p>
        </p:txBody>
      </p:sp>
      <p:sp>
        <p:nvSpPr>
          <p:cNvPr id="7" name="Shape 5"/>
          <p:cNvSpPr/>
          <p:nvPr/>
        </p:nvSpPr>
        <p:spPr>
          <a:xfrm>
            <a:off x="365760" y="1078992"/>
            <a:ext cx="8412480" cy="749808"/>
          </a:xfrm>
          <a:prstGeom prst="roundRect">
            <a:avLst>
              <a:gd name="adj" fmla="val 1219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Yesterday, Trumpkin volunteered to carry the magic Horn’s message, even though he didn’t believe in it himself.</a:t>
            </a:r>
            <a:endParaRPr lang="en-US" sz="1400" dirty="0"/>
          </a:p>
        </p:txBody>
      </p:sp>
      <p:sp>
        <p:nvSpPr>
          <p:cNvPr id="9" name="Text 7"/>
          <p:cNvSpPr/>
          <p:nvPr/>
        </p:nvSpPr>
        <p:spPr>
          <a:xfrm>
            <a:off x="365760" y="1938528"/>
            <a:ext cx="8046720" cy="292608"/>
          </a:xfrm>
          <a:prstGeom prst="rect">
            <a:avLst/>
          </a:prstGeom>
          <a:noFill/>
          <a:ln/>
        </p:spPr>
        <p:txBody>
          <a:bodyPr wrap="square" lIns="0" tIns="0" rIns="0" bIns="0" rtlCol="0" anchor="ctr"/>
          <a:lstStyle/>
          <a:p>
            <a:pPr indent="0" marL="0">
              <a:buNone/>
            </a:pPr>
            <a:r>
              <a:rPr lang="en-US" sz="1100" b="1" spc="200" kern="0" dirty="0">
                <a:solidFill>
                  <a:srgbClr val="5CC9A0"/>
                </a:solidFill>
                <a:latin typeface="Calibri" pitchFamily="34" charset="0"/>
                <a:ea typeface="Calibri" pitchFamily="34" charset="-122"/>
                <a:cs typeface="Calibri" pitchFamily="34" charset="-120"/>
              </a:rPr>
              <a:t>TODAY</a:t>
            </a:r>
            <a:endParaRPr lang="en-US" sz="1100" dirty="0"/>
          </a:p>
        </p:txBody>
      </p:sp>
      <p:sp>
        <p:nvSpPr>
          <p:cNvPr id="10" name="Shape 8"/>
          <p:cNvSpPr/>
          <p:nvPr/>
        </p:nvSpPr>
        <p:spPr>
          <a:xfrm>
            <a:off x="365760" y="2194560"/>
            <a:ext cx="8412480" cy="713232"/>
          </a:xfrm>
          <a:prstGeom prst="roundRect">
            <a:avLst>
              <a:gd name="adj" fmla="val 12821"/>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286000"/>
            <a:ext cx="7863840" cy="530352"/>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Follow the children as they decide to leave the island and row to find Caspian.</a:t>
            </a:r>
            <a:endParaRPr lang="en-US" sz="1400" dirty="0"/>
          </a:p>
        </p:txBody>
      </p:sp>
      <p:sp>
        <p:nvSpPr>
          <p:cNvPr id="12" name="Text 10"/>
          <p:cNvSpPr/>
          <p:nvPr/>
        </p:nvSpPr>
        <p:spPr>
          <a:xfrm>
            <a:off x="365760" y="303580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13" name="Shape 11"/>
          <p:cNvSpPr/>
          <p:nvPr/>
        </p:nvSpPr>
        <p:spPr>
          <a:xfrm>
            <a:off x="365760" y="3291840"/>
            <a:ext cx="8412480" cy="749808"/>
          </a:xfrm>
          <a:prstGeom prst="roundRect">
            <a:avLst>
              <a:gd name="adj" fmla="val 12195"/>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83280"/>
            <a:ext cx="7863840" cy="56692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Notice the decisions the characters make. Who takes charge? Who pushes through? What does “leading” look like when there’s no battle to fight?</a:t>
            </a:r>
            <a:endParaRPr lang="en-US" sz="1300" dirty="0"/>
          </a:p>
        </p:txBody>
      </p:sp>
      <p:sp>
        <p:nvSpPr>
          <p:cNvPr id="15" name="Text 13"/>
          <p:cNvSpPr/>
          <p:nvPr/>
        </p:nvSpPr>
        <p:spPr>
          <a:xfrm>
            <a:off x="365760" y="4169664"/>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READING LENS</a:t>
            </a:r>
            <a:endParaRPr lang="en-US" sz="1100" dirty="0"/>
          </a:p>
        </p:txBody>
      </p:sp>
      <p:sp>
        <p:nvSpPr>
          <p:cNvPr id="16" name="Text 14"/>
          <p:cNvSpPr/>
          <p:nvPr/>
        </p:nvSpPr>
        <p:spPr>
          <a:xfrm>
            <a:off x="457200" y="4407408"/>
            <a:ext cx="8229600" cy="45720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Good readers notice the quiet conflicts &amp;mdash; not just sword fights, but the hard choices. Today&amp;rsquo;s chapter doesn&amp;rsquo;t have a battle. But the...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Study What's Right</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FROM THE TEXT</a:t>
            </a:r>
            <a:endParaRPr lang="en-US" sz="1100" dirty="0"/>
          </a:p>
        </p:txBody>
      </p:sp>
      <p:sp>
        <p:nvSpPr>
          <p:cNvPr id="5" name="Shape 3"/>
          <p:cNvSpPr/>
          <p:nvPr/>
        </p:nvSpPr>
        <p:spPr>
          <a:xfrm>
            <a:off x="365760" y="1078992"/>
            <a:ext cx="8412480" cy="810768"/>
          </a:xfrm>
          <a:prstGeom prst="roundRect">
            <a:avLst>
              <a:gd name="adj" fmla="val 11278"/>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582168"/>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Because the Horn had summoned them , the children knew they had to help Caspian even though they were far from his army .</a:t>
            </a:r>
            <a:endParaRPr lang="en-US" sz="1600" dirty="0"/>
          </a:p>
        </p:txBody>
      </p:sp>
      <p:sp>
        <p:nvSpPr>
          <p:cNvPr id="7" name="Text 5"/>
          <p:cNvSpPr/>
          <p:nvPr/>
        </p:nvSpPr>
        <p:spPr>
          <a:xfrm>
            <a:off x="457200" y="2036064"/>
            <a:ext cx="8229600" cy="38404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Circle: capitals, quotation marks, punctuation, proper nouns</a:t>
            </a:r>
            <a:endParaRPr lang="en-US" sz="1400" dirty="0"/>
          </a:p>
        </p:txBody>
      </p:sp>
      <p:sp>
        <p:nvSpPr>
          <p:cNvPr id="8" name="Text 6"/>
          <p:cNvSpPr/>
          <p:nvPr/>
        </p:nvSpPr>
        <p:spPr>
          <a:xfrm>
            <a:off x="457200" y="2493264"/>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Copy this sentence in your journal. Circle one thing you notice.</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Shape 2"/>
          <p:cNvSpPr/>
          <p:nvPr/>
        </p:nvSpPr>
        <p:spPr>
          <a:xfrm>
            <a:off x="6492240" y="173736"/>
            <a:ext cx="2286000" cy="502920"/>
          </a:xfrm>
          <a:prstGeom prst="roundRect">
            <a:avLst>
              <a:gd name="adj" fmla="val 21818"/>
            </a:avLst>
          </a:prstGeom>
          <a:solidFill>
            <a:srgbClr val="5CC9A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810768"/>
          </a:xfrm>
          <a:prstGeom prst="roundRect">
            <a:avLst>
              <a:gd name="adj" fmla="val 11278"/>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82168"/>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because the horn had summoned them the children knew they had to help caspian even though they were far from his army</a:t>
            </a:r>
            <a:endParaRPr lang="en-US" sz="1600" dirty="0"/>
          </a:p>
        </p:txBody>
      </p:sp>
      <p:sp>
        <p:nvSpPr>
          <p:cNvPr id="9" name="Text 7"/>
          <p:cNvSpPr/>
          <p:nvPr/>
        </p:nvSpPr>
        <p:spPr>
          <a:xfrm>
            <a:off x="457200" y="2036064"/>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Shape 2"/>
          <p:cNvSpPr/>
          <p:nvPr/>
        </p:nvSpPr>
        <p:spPr>
          <a:xfrm>
            <a:off x="6492240" y="173736"/>
            <a:ext cx="2286000" cy="502920"/>
          </a:xfrm>
          <a:prstGeom prst="roundRect">
            <a:avLst>
              <a:gd name="adj" fmla="val 21818"/>
            </a:avLst>
          </a:prstGeom>
          <a:solidFill>
            <a:srgbClr val="5CC9A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810768"/>
          </a:xfrm>
          <a:prstGeom prst="roundRect">
            <a:avLst>
              <a:gd name="adj" fmla="val 11278"/>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82168"/>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because the horn had summoned them the children knew they had to help caspian even though they were far from his army</a:t>
            </a:r>
            <a:endParaRPr lang="en-US" sz="1600" dirty="0"/>
          </a:p>
        </p:txBody>
      </p:sp>
      <p:sp>
        <p:nvSpPr>
          <p:cNvPr id="9" name="Text 7"/>
          <p:cNvSpPr/>
          <p:nvPr/>
        </p:nvSpPr>
        <p:spPr>
          <a:xfrm>
            <a:off x="457200" y="2036064"/>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474976"/>
            <a:ext cx="8412480" cy="960120"/>
          </a:xfrm>
          <a:prstGeom prst="roundRect">
            <a:avLst>
              <a:gd name="adj" fmla="val 9524"/>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2984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CORRECTED</a:t>
            </a:r>
            <a:endParaRPr lang="en-US" sz="1100" dirty="0"/>
          </a:p>
        </p:txBody>
      </p:sp>
      <p:sp>
        <p:nvSpPr>
          <p:cNvPr id="12" name="Text 10"/>
          <p:cNvSpPr/>
          <p:nvPr/>
        </p:nvSpPr>
        <p:spPr>
          <a:xfrm>
            <a:off x="594360" y="2822448"/>
            <a:ext cx="7863840" cy="576072"/>
          </a:xfrm>
          <a:prstGeom prst="rect">
            <a:avLst/>
          </a:prstGeom>
          <a:noFill/>
          <a:ln/>
        </p:spPr>
        <p:txBody>
          <a:bodyPr wrap="square" lIns="0" tIns="0" rIns="0" bIns="0" rtlCol="0" anchor="ctr"/>
          <a:lstStyle/>
          <a:p>
            <a:pPr indent="0" marL="0">
              <a:buNone/>
            </a:pPr>
            <a:r>
              <a:rPr lang="en-US" sz="1500" i="1" dirty="0">
                <a:solidFill>
                  <a:srgbClr val="1E293B"/>
                </a:solidFill>
                <a:latin typeface="Calibri" pitchFamily="34" charset="0"/>
                <a:ea typeface="Calibri" pitchFamily="34" charset="-122"/>
                <a:cs typeface="Calibri" pitchFamily="34" charset="-120"/>
              </a:rPr>
              <a:t>Because the Horn had summoned them, the children knew they had to help Caspian even though they were far from his army.</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Vocabulary</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Text 2"/>
          <p:cNvSpPr/>
          <p:nvPr/>
        </p:nvSpPr>
        <p:spPr>
          <a:xfrm>
            <a:off x="365760" y="786384"/>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4 WORDS - READ THE SENTENCE, THEN THE MEANING</a:t>
            </a:r>
            <a:endParaRPr lang="en-US" sz="1100" dirty="0"/>
          </a:p>
        </p:txBody>
      </p:sp>
      <p:sp>
        <p:nvSpPr>
          <p:cNvPr id="5" name="Shape 3"/>
          <p:cNvSpPr/>
          <p:nvPr/>
        </p:nvSpPr>
        <p:spPr>
          <a:xfrm>
            <a:off x="320040" y="914400"/>
            <a:ext cx="4069080" cy="954024"/>
          </a:xfrm>
          <a:prstGeom prst="roundRect">
            <a:avLst>
              <a:gd name="adj" fmla="val 9585"/>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457200" y="1005840"/>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council</a:t>
            </a:r>
            <a:endParaRPr lang="en-US" sz="1400" dirty="0"/>
          </a:p>
        </p:txBody>
      </p:sp>
      <p:sp>
        <p:nvSpPr>
          <p:cNvPr id="7" name="Text 5"/>
          <p:cNvSpPr/>
          <p:nvPr/>
        </p:nvSpPr>
        <p:spPr>
          <a:xfrm>
            <a:off x="457200" y="1316736"/>
            <a:ext cx="3794760" cy="496824"/>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a group of people gathered to make decisions or give advice.</a:t>
            </a:r>
            <a:endParaRPr lang="en-US" sz="1100" dirty="0"/>
          </a:p>
        </p:txBody>
      </p:sp>
      <p:sp>
        <p:nvSpPr>
          <p:cNvPr id="8" name="Shape 6"/>
          <p:cNvSpPr/>
          <p:nvPr/>
        </p:nvSpPr>
        <p:spPr>
          <a:xfrm>
            <a:off x="4572000" y="914400"/>
            <a:ext cx="4069080" cy="954024"/>
          </a:xfrm>
          <a:prstGeom prst="roundRect">
            <a:avLst>
              <a:gd name="adj" fmla="val 9585"/>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4709160" y="1005840"/>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seneschal</a:t>
            </a:r>
            <a:endParaRPr lang="en-US" sz="1400" dirty="0"/>
          </a:p>
        </p:txBody>
      </p:sp>
      <p:sp>
        <p:nvSpPr>
          <p:cNvPr id="10" name="Text 8"/>
          <p:cNvSpPr/>
          <p:nvPr/>
        </p:nvSpPr>
        <p:spPr>
          <a:xfrm>
            <a:off x="4709160" y="1316736"/>
            <a:ext cx="3794760" cy="496824"/>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a steward or manager of a lord’s estate; a chief servant.</a:t>
            </a:r>
            <a:endParaRPr lang="en-US" sz="1100" dirty="0"/>
          </a:p>
        </p:txBody>
      </p:sp>
      <p:sp>
        <p:nvSpPr>
          <p:cNvPr id="11" name="Shape 9"/>
          <p:cNvSpPr/>
          <p:nvPr/>
        </p:nvSpPr>
        <p:spPr>
          <a:xfrm>
            <a:off x="320040" y="1978152"/>
            <a:ext cx="4069080" cy="954024"/>
          </a:xfrm>
          <a:prstGeom prst="roundRect">
            <a:avLst>
              <a:gd name="adj" fmla="val 9585"/>
            </a:avLst>
          </a:prstGeom>
          <a:solidFill>
            <a:srgbClr val="F0E8FF"/>
          </a:solidFill>
          <a:ln/>
          <a:effectLst>
            <a:outerShdw sx="100000" sy="100000" kx="0" ky="0" algn="bl" rotWithShape="0" blurRad="101600" dist="38100" dir="2700000">
              <a:srgbClr val="000000">
                <a:alpha val="12000"/>
              </a:srgbClr>
            </a:outerShdw>
          </a:effectLst>
        </p:spPr>
      </p:sp>
      <p:sp>
        <p:nvSpPr>
          <p:cNvPr id="12" name="Text 10"/>
          <p:cNvSpPr/>
          <p:nvPr/>
        </p:nvSpPr>
        <p:spPr>
          <a:xfrm>
            <a:off x="457200" y="2069592"/>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entrenchments</a:t>
            </a:r>
            <a:endParaRPr lang="en-US" sz="1400" dirty="0"/>
          </a:p>
        </p:txBody>
      </p:sp>
      <p:sp>
        <p:nvSpPr>
          <p:cNvPr id="13" name="Text 11"/>
          <p:cNvSpPr/>
          <p:nvPr/>
        </p:nvSpPr>
        <p:spPr>
          <a:xfrm>
            <a:off x="457200" y="2380488"/>
            <a:ext cx="3794760" cy="496824"/>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defensive ditches or fortifications dug into the ground.</a:t>
            </a:r>
            <a:endParaRPr lang="en-US" sz="1100" dirty="0"/>
          </a:p>
        </p:txBody>
      </p:sp>
      <p:sp>
        <p:nvSpPr>
          <p:cNvPr id="14" name="Shape 12"/>
          <p:cNvSpPr/>
          <p:nvPr/>
        </p:nvSpPr>
        <p:spPr>
          <a:xfrm>
            <a:off x="4572000" y="1978152"/>
            <a:ext cx="4069080" cy="954024"/>
          </a:xfrm>
          <a:prstGeom prst="roundRect">
            <a:avLst>
              <a:gd name="adj" fmla="val 9585"/>
            </a:avLst>
          </a:prstGeom>
          <a:solidFill>
            <a:srgbClr val="F0E8FF"/>
          </a:solidFill>
          <a:ln/>
          <a:effectLst>
            <a:outerShdw sx="100000" sy="100000" kx="0" ky="0" algn="bl" rotWithShape="0" blurRad="101600" dist="38100" dir="2700000">
              <a:srgbClr val="000000">
                <a:alpha val="12000"/>
              </a:srgbClr>
            </a:outerShdw>
          </a:effectLst>
        </p:spPr>
      </p:sp>
      <p:sp>
        <p:nvSpPr>
          <p:cNvPr id="15" name="Text 13"/>
          <p:cNvSpPr/>
          <p:nvPr/>
        </p:nvSpPr>
        <p:spPr>
          <a:xfrm>
            <a:off x="4709160" y="2069592"/>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consorts</a:t>
            </a:r>
            <a:endParaRPr lang="en-US" sz="1400" dirty="0"/>
          </a:p>
        </p:txBody>
      </p:sp>
      <p:sp>
        <p:nvSpPr>
          <p:cNvPr id="16" name="Text 14"/>
          <p:cNvSpPr/>
          <p:nvPr/>
        </p:nvSpPr>
        <p:spPr>
          <a:xfrm>
            <a:off x="4709160" y="2380488"/>
            <a:ext cx="3794760" cy="496824"/>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companions, partners, or associates (especially of royalty).</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Complex Sentences — Identify</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Shape 2"/>
          <p:cNvSpPr/>
          <p:nvPr/>
        </p:nvSpPr>
        <p:spPr>
          <a:xfrm>
            <a:off x="6492240" y="173736"/>
            <a:ext cx="2286000" cy="502920"/>
          </a:xfrm>
          <a:prstGeom prst="roundRect">
            <a:avLst>
              <a:gd name="adj" fmla="val 21818"/>
            </a:avLst>
          </a:prstGeom>
          <a:solidFill>
            <a:srgbClr val="5CC9A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SPOT THE TARGET WORD</a:t>
            </a:r>
            <a:endParaRPr lang="en-US" sz="1100" dirty="0"/>
          </a:p>
        </p:txBody>
      </p:sp>
      <p:sp>
        <p:nvSpPr>
          <p:cNvPr id="7" name="Shape 5"/>
          <p:cNvSpPr/>
          <p:nvPr/>
        </p:nvSpPr>
        <p:spPr>
          <a:xfrm>
            <a:off x="365760" y="1078992"/>
            <a:ext cx="8412480" cy="621792"/>
          </a:xfrm>
          <a:prstGeom prst="roundRect">
            <a:avLst>
              <a:gd name="adj" fmla="val 11765"/>
            </a:avLst>
          </a:prstGeom>
          <a:solidFill>
            <a:srgbClr val="FEF6E8"/>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438912"/>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Although Trumpkin was doubtful, he agreed to lead them to Caspian.</a:t>
            </a:r>
            <a:endParaRPr lang="en-US" sz="1500" dirty="0"/>
          </a:p>
        </p:txBody>
      </p:sp>
      <p:sp>
        <p:nvSpPr>
          <p:cNvPr id="9" name="Shape 7"/>
          <p:cNvSpPr/>
          <p:nvPr/>
        </p:nvSpPr>
        <p:spPr>
          <a:xfrm>
            <a:off x="365760" y="1792224"/>
            <a:ext cx="8412480" cy="621792"/>
          </a:xfrm>
          <a:prstGeom prst="roundRect">
            <a:avLst>
              <a:gd name="adj" fmla="val 11765"/>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1883664"/>
            <a:ext cx="7863840" cy="438912"/>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Peter kept rowing even though his arms ached terribly.</a:t>
            </a:r>
            <a:endParaRPr lang="en-US" sz="1500" dirty="0"/>
          </a:p>
        </p:txBody>
      </p:sp>
      <p:sp>
        <p:nvSpPr>
          <p:cNvPr id="11" name="Shape 9"/>
          <p:cNvSpPr/>
          <p:nvPr/>
        </p:nvSpPr>
        <p:spPr>
          <a:xfrm>
            <a:off x="365760" y="2505456"/>
            <a:ext cx="8412480" cy="621792"/>
          </a:xfrm>
          <a:prstGeom prst="roundRect">
            <a:avLst>
              <a:gd name="adj" fmla="val 11765"/>
            </a:avLst>
          </a:prstGeom>
          <a:solidFill>
            <a:srgbClr val="FEF6E8"/>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596896"/>
            <a:ext cx="7863840" cy="438912"/>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When they passed the island, Susan remembered the Splendour Hyaline.</a:t>
            </a:r>
            <a:endParaRPr lang="en-US" sz="1500" dirty="0"/>
          </a:p>
        </p:txBody>
      </p:sp>
      <p:sp>
        <p:nvSpPr>
          <p:cNvPr id="13" name="Shape 11"/>
          <p:cNvSpPr/>
          <p:nvPr/>
        </p:nvSpPr>
        <p:spPr>
          <a:xfrm>
            <a:off x="365760" y="3218688"/>
            <a:ext cx="8412480" cy="621792"/>
          </a:xfrm>
          <a:prstGeom prst="roundRect">
            <a:avLst>
              <a:gd name="adj" fmla="val 11765"/>
            </a:avLst>
          </a:prstGeom>
          <a:solidFill>
            <a:srgbClr val="FEF6E8"/>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10128"/>
            <a:ext cx="7863840" cy="438912"/>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The children chose to row because the woods might be dangerous.</a:t>
            </a:r>
            <a:endParaRPr lang="en-US" sz="1500" dirty="0"/>
          </a:p>
        </p:txBody>
      </p:sp>
      <p:sp>
        <p:nvSpPr>
          <p:cNvPr id="15" name="Text 13"/>
          <p:cNvSpPr/>
          <p:nvPr/>
        </p:nvSpPr>
        <p:spPr>
          <a:xfrm>
            <a:off x="457200" y="3977640"/>
            <a:ext cx="8229600" cy="347472"/>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Find the target word. Write it in your notebook.</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Complex Sentences — Identify</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Shape 2"/>
          <p:cNvSpPr/>
          <p:nvPr/>
        </p:nvSpPr>
        <p:spPr>
          <a:xfrm>
            <a:off x="6492240" y="173736"/>
            <a:ext cx="2286000" cy="502920"/>
          </a:xfrm>
          <a:prstGeom prst="roundRect">
            <a:avLst>
              <a:gd name="adj" fmla="val 21818"/>
            </a:avLst>
          </a:prstGeom>
          <a:solidFill>
            <a:srgbClr val="5CC9A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ANSWERS REVEALED</a:t>
            </a:r>
            <a:endParaRPr lang="en-US" sz="1100" dirty="0"/>
          </a:p>
        </p:txBody>
      </p:sp>
      <p:sp>
        <p:nvSpPr>
          <p:cNvPr id="7" name="Shape 5"/>
          <p:cNvSpPr/>
          <p:nvPr/>
        </p:nvSpPr>
        <p:spPr>
          <a:xfrm>
            <a:off x="365760" y="1078992"/>
            <a:ext cx="8412480" cy="621792"/>
          </a:xfrm>
          <a:prstGeom prst="roundRect">
            <a:avLst>
              <a:gd name="adj" fmla="val 11765"/>
            </a:avLst>
          </a:prstGeom>
          <a:solidFill>
            <a:srgbClr val="E8F8E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438912"/>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Although Trumpkin was doubtful, he agreed to lead them to Caspian.</a:t>
            </a:r>
            <a:endParaRPr lang="en-US" sz="1500" dirty="0"/>
          </a:p>
        </p:txBody>
      </p:sp>
      <p:sp>
        <p:nvSpPr>
          <p:cNvPr id="9" name="Shape 7"/>
          <p:cNvSpPr/>
          <p:nvPr/>
        </p:nvSpPr>
        <p:spPr>
          <a:xfrm>
            <a:off x="365760" y="1792224"/>
            <a:ext cx="8412480" cy="621792"/>
          </a:xfrm>
          <a:prstGeom prst="roundRect">
            <a:avLst>
              <a:gd name="adj" fmla="val 11765"/>
            </a:avLst>
          </a:prstGeom>
          <a:solidFill>
            <a:srgbClr val="E8F8E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1883664"/>
            <a:ext cx="7863840" cy="438912"/>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Peter kept rowing even though his arms ached terribly.</a:t>
            </a:r>
            <a:endParaRPr lang="en-US" sz="1500" dirty="0"/>
          </a:p>
        </p:txBody>
      </p:sp>
      <p:sp>
        <p:nvSpPr>
          <p:cNvPr id="11" name="Shape 9"/>
          <p:cNvSpPr/>
          <p:nvPr/>
        </p:nvSpPr>
        <p:spPr>
          <a:xfrm>
            <a:off x="365760" y="2505456"/>
            <a:ext cx="8412480" cy="621792"/>
          </a:xfrm>
          <a:prstGeom prst="roundRect">
            <a:avLst>
              <a:gd name="adj" fmla="val 11765"/>
            </a:avLst>
          </a:prstGeom>
          <a:solidFill>
            <a:srgbClr val="E8F8E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596896"/>
            <a:ext cx="7863840" cy="438912"/>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When they passed the island, Susan remembered the Splendour Hyaline.</a:t>
            </a:r>
            <a:endParaRPr lang="en-US" sz="1500" dirty="0"/>
          </a:p>
        </p:txBody>
      </p:sp>
      <p:sp>
        <p:nvSpPr>
          <p:cNvPr id="13" name="Shape 11"/>
          <p:cNvSpPr/>
          <p:nvPr/>
        </p:nvSpPr>
        <p:spPr>
          <a:xfrm>
            <a:off x="365760" y="3218688"/>
            <a:ext cx="8412480" cy="621792"/>
          </a:xfrm>
          <a:prstGeom prst="roundRect">
            <a:avLst>
              <a:gd name="adj" fmla="val 11765"/>
            </a:avLst>
          </a:prstGeom>
          <a:solidFill>
            <a:srgbClr val="E8F8E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10128"/>
            <a:ext cx="7863840" cy="438912"/>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The children chose to row because the woods might be dangerous.</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Schwa Sort</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Shape 2"/>
          <p:cNvSpPr/>
          <p:nvPr/>
        </p:nvSpPr>
        <p:spPr>
          <a:xfrm>
            <a:off x="6492240" y="173736"/>
            <a:ext cx="2286000" cy="502920"/>
          </a:xfrm>
          <a:prstGeom prst="roundRect">
            <a:avLst>
              <a:gd name="adj" fmla="val 21818"/>
            </a:avLst>
          </a:prstGeom>
          <a:solidFill>
            <a:srgbClr val="5CC9A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THE WORDS</a:t>
            </a:r>
            <a:endParaRPr lang="en-US" sz="1100" dirty="0"/>
          </a:p>
        </p:txBody>
      </p:sp>
      <p:sp>
        <p:nvSpPr>
          <p:cNvPr id="7" name="Shape 5"/>
          <p:cNvSpPr/>
          <p:nvPr/>
        </p:nvSpPr>
        <p:spPr>
          <a:xfrm>
            <a:off x="365760" y="1024128"/>
            <a:ext cx="8412480" cy="685800"/>
          </a:xfrm>
          <a:prstGeom prst="roundRect">
            <a:avLst>
              <a:gd name="adj" fmla="val 13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078992"/>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 BANK</a:t>
            </a:r>
            <a:endParaRPr lang="en-US" sz="1100" dirty="0"/>
          </a:p>
        </p:txBody>
      </p:sp>
      <p:sp>
        <p:nvSpPr>
          <p:cNvPr id="9" name="Text 7"/>
          <p:cNvSpPr/>
          <p:nvPr/>
        </p:nvSpPr>
        <p:spPr>
          <a:xfrm>
            <a:off x="594360" y="1325880"/>
            <a:ext cx="7863840" cy="320040"/>
          </a:xfrm>
          <a:prstGeom prst="rect">
            <a:avLst/>
          </a:prstGeom>
          <a:noFill/>
          <a:ln/>
        </p:spPr>
        <p:txBody>
          <a:bodyPr wrap="square" lIns="0" tIns="0" rIns="0" bIns="0" rtlCol="0" anchor="ctr"/>
          <a:lstStyle/>
          <a:p>
            <a:pPr indent="0" marL="0">
              <a:buNone/>
            </a:pPr>
            <a:r>
              <a:rPr lang="en-US" sz="1600" b="1" dirty="0">
                <a:solidFill>
                  <a:srgbClr val="0E1C42"/>
                </a:solidFill>
                <a:latin typeface="Calibri" pitchFamily="34" charset="0"/>
                <a:ea typeface="Calibri" pitchFamily="34" charset="-122"/>
                <a:cs typeface="Calibri" pitchFamily="34" charset="-120"/>
              </a:rPr>
              <a:t>about   -   afraid   -   problem   -   open   -   animal   -   family   -   person   -   lemon</a:t>
            </a:r>
            <a:endParaRPr lang="en-US" sz="1600" dirty="0"/>
          </a:p>
        </p:txBody>
      </p:sp>
      <p:sp>
        <p:nvSpPr>
          <p:cNvPr id="10" name="Text 8"/>
          <p:cNvSpPr/>
          <p:nvPr/>
        </p:nvSpPr>
        <p:spPr>
          <a:xfrm>
            <a:off x="365760" y="18745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INTO GROUPS</a:t>
            </a:r>
            <a:endParaRPr lang="en-US" sz="1100" dirty="0"/>
          </a:p>
        </p:txBody>
      </p:sp>
      <p:sp>
        <p:nvSpPr>
          <p:cNvPr id="11" name="Shape 9"/>
          <p:cNvSpPr/>
          <p:nvPr/>
        </p:nvSpPr>
        <p:spPr>
          <a:xfrm>
            <a:off x="365760" y="2176272"/>
            <a:ext cx="4114800" cy="1051560"/>
          </a:xfrm>
          <a:prstGeom prst="roundRect">
            <a:avLst>
              <a:gd name="adj" fmla="val 8696"/>
            </a:avLst>
          </a:prstGeom>
          <a:solidFill>
            <a:srgbClr val="E8F8EF"/>
          </a:solidFill>
          <a:ln w="19050">
            <a:solidFill>
              <a:srgbClr val="4A7C2E"/>
            </a:solidFill>
            <a:prstDash val="solid"/>
          </a:ln>
        </p:spPr>
      </p:sp>
      <p:sp>
        <p:nvSpPr>
          <p:cNvPr id="12" name="Text 10"/>
          <p:cNvSpPr/>
          <p:nvPr/>
        </p:nvSpPr>
        <p:spPr>
          <a:xfrm>
            <a:off x="502920" y="2286000"/>
            <a:ext cx="3840480" cy="411480"/>
          </a:xfrm>
          <a:prstGeom prst="rect">
            <a:avLst/>
          </a:prstGeom>
          <a:noFill/>
          <a:ln/>
        </p:spPr>
        <p:txBody>
          <a:bodyPr wrap="square" lIns="0" tIns="0" rIns="0" bIns="0" rtlCol="0" anchor="ctr"/>
          <a:lstStyle/>
          <a:p>
            <a:pPr indent="0" marL="0">
              <a:buNone/>
            </a:pPr>
            <a:r>
              <a:rPr lang="en-US" sz="1300" b="1" dirty="0">
                <a:solidFill>
                  <a:srgbClr val="4A7C2E"/>
                </a:solidFill>
                <a:latin typeface="Calibri" pitchFamily="34" charset="0"/>
                <a:ea typeface="Calibri" pitchFamily="34" charset="-122"/>
                <a:cs typeface="Calibri" pitchFamily="34" charset="-120"/>
              </a:rPr>
              <a:t>Schwa-a</a:t>
            </a:r>
            <a:endParaRPr lang="en-US" sz="1300" dirty="0"/>
          </a:p>
        </p:txBody>
      </p:sp>
      <p:sp>
        <p:nvSpPr>
          <p:cNvPr id="13" name="Shape 11"/>
          <p:cNvSpPr/>
          <p:nvPr/>
        </p:nvSpPr>
        <p:spPr>
          <a:xfrm>
            <a:off x="4800600" y="2176272"/>
            <a:ext cx="4114800" cy="1051560"/>
          </a:xfrm>
          <a:prstGeom prst="roundRect">
            <a:avLst>
              <a:gd name="adj" fmla="val 8696"/>
            </a:avLst>
          </a:prstGeom>
          <a:solidFill>
            <a:srgbClr val="F0E8FF"/>
          </a:solidFill>
          <a:ln w="19050">
            <a:solidFill>
              <a:srgbClr val="5C2D91"/>
            </a:solidFill>
            <a:prstDash val="solid"/>
          </a:ln>
        </p:spPr>
      </p:sp>
      <p:sp>
        <p:nvSpPr>
          <p:cNvPr id="14" name="Text 12"/>
          <p:cNvSpPr/>
          <p:nvPr/>
        </p:nvSpPr>
        <p:spPr>
          <a:xfrm>
            <a:off x="4937760" y="2286000"/>
            <a:ext cx="3840480" cy="411480"/>
          </a:xfrm>
          <a:prstGeom prst="rect">
            <a:avLst/>
          </a:prstGeom>
          <a:noFill/>
          <a:ln/>
        </p:spPr>
        <p:txBody>
          <a:bodyPr wrap="square" lIns="0" tIns="0" rIns="0" bIns="0" rtlCol="0" anchor="ctr"/>
          <a:lstStyle/>
          <a:p>
            <a:pPr indent="0" marL="0">
              <a:buNone/>
            </a:pPr>
            <a:r>
              <a:rPr lang="en-US" sz="1300" b="1" dirty="0">
                <a:solidFill>
                  <a:srgbClr val="5C2D91"/>
                </a:solidFill>
                <a:latin typeface="Calibri" pitchFamily="34" charset="0"/>
                <a:ea typeface="Calibri" pitchFamily="34" charset="-122"/>
                <a:cs typeface="Calibri" pitchFamily="34" charset="-120"/>
              </a:rPr>
              <a:t>Schwa-e</a:t>
            </a:r>
            <a:endParaRPr lang="en-US" sz="1300" dirty="0"/>
          </a:p>
        </p:txBody>
      </p:sp>
      <p:sp>
        <p:nvSpPr>
          <p:cNvPr id="15" name="Shape 13"/>
          <p:cNvSpPr/>
          <p:nvPr/>
        </p:nvSpPr>
        <p:spPr>
          <a:xfrm>
            <a:off x="365760" y="3364992"/>
            <a:ext cx="4114800" cy="1051560"/>
          </a:xfrm>
          <a:prstGeom prst="roundRect">
            <a:avLst>
              <a:gd name="adj" fmla="val 8696"/>
            </a:avLst>
          </a:prstGeom>
          <a:solidFill>
            <a:srgbClr val="FEF6E8"/>
          </a:solidFill>
          <a:ln w="19050">
            <a:solidFill>
              <a:srgbClr val="B8860B"/>
            </a:solidFill>
            <a:prstDash val="solid"/>
          </a:ln>
        </p:spPr>
      </p:sp>
      <p:sp>
        <p:nvSpPr>
          <p:cNvPr id="16" name="Text 14"/>
          <p:cNvSpPr/>
          <p:nvPr/>
        </p:nvSpPr>
        <p:spPr>
          <a:xfrm>
            <a:off x="502920" y="3474720"/>
            <a:ext cx="3840480" cy="411480"/>
          </a:xfrm>
          <a:prstGeom prst="rect">
            <a:avLst/>
          </a:prstGeom>
          <a:noFill/>
          <a:ln/>
        </p:spPr>
        <p:txBody>
          <a:bodyPr wrap="square" lIns="0" tIns="0" rIns="0" bIns="0" rtlCol="0" anchor="ctr"/>
          <a:lstStyle/>
          <a:p>
            <a:pPr indent="0" marL="0">
              <a:buNone/>
            </a:pPr>
            <a:r>
              <a:rPr lang="en-US" sz="1300" b="1" dirty="0">
                <a:solidFill>
                  <a:srgbClr val="B8860B"/>
                </a:solidFill>
                <a:latin typeface="Calibri" pitchFamily="34" charset="0"/>
                <a:ea typeface="Calibri" pitchFamily="34" charset="-122"/>
                <a:cs typeface="Calibri" pitchFamily="34" charset="-120"/>
              </a:rPr>
              <a:t>Schwa-i</a:t>
            </a:r>
            <a:endParaRPr lang="en-US" sz="1300" dirty="0"/>
          </a:p>
        </p:txBody>
      </p:sp>
      <p:sp>
        <p:nvSpPr>
          <p:cNvPr id="17" name="Shape 15"/>
          <p:cNvSpPr/>
          <p:nvPr/>
        </p:nvSpPr>
        <p:spPr>
          <a:xfrm>
            <a:off x="4800600" y="3364992"/>
            <a:ext cx="4114800" cy="1051560"/>
          </a:xfrm>
          <a:prstGeom prst="roundRect">
            <a:avLst>
              <a:gd name="adj" fmla="val 8696"/>
            </a:avLst>
          </a:prstGeom>
          <a:solidFill>
            <a:srgbClr val="E5F7FC"/>
          </a:solidFill>
          <a:ln w="19050">
            <a:solidFill>
              <a:srgbClr val="2A6496"/>
            </a:solidFill>
            <a:prstDash val="solid"/>
          </a:ln>
        </p:spPr>
      </p:sp>
      <p:sp>
        <p:nvSpPr>
          <p:cNvPr id="18" name="Text 16"/>
          <p:cNvSpPr/>
          <p:nvPr/>
        </p:nvSpPr>
        <p:spPr>
          <a:xfrm>
            <a:off x="4937760" y="3474720"/>
            <a:ext cx="3840480" cy="411480"/>
          </a:xfrm>
          <a:prstGeom prst="rect">
            <a:avLst/>
          </a:prstGeom>
          <a:noFill/>
          <a:ln/>
        </p:spPr>
        <p:txBody>
          <a:bodyPr wrap="square" lIns="0" tIns="0" rIns="0" bIns="0" rtlCol="0" anchor="ctr"/>
          <a:lstStyle/>
          <a:p>
            <a:pPr indent="0" marL="0">
              <a:buNone/>
            </a:pPr>
            <a:r>
              <a:rPr lang="en-US" sz="1300" b="1" dirty="0">
                <a:solidFill>
                  <a:srgbClr val="2A6496"/>
                </a:solidFill>
                <a:latin typeface="Calibri" pitchFamily="34" charset="0"/>
                <a:ea typeface="Calibri" pitchFamily="34" charset="-122"/>
                <a:cs typeface="Calibri" pitchFamily="34" charset="-120"/>
              </a:rPr>
              <a:t>Schwa-o</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Schwa Sort</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Shape 2"/>
          <p:cNvSpPr/>
          <p:nvPr/>
        </p:nvSpPr>
        <p:spPr>
          <a:xfrm>
            <a:off x="6492240" y="173736"/>
            <a:ext cx="2286000" cy="502920"/>
          </a:xfrm>
          <a:prstGeom prst="roundRect">
            <a:avLst>
              <a:gd name="adj" fmla="val 21818"/>
            </a:avLst>
          </a:prstGeom>
          <a:solidFill>
            <a:srgbClr val="5CC9A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SORTED</a:t>
            </a:r>
            <a:endParaRPr lang="en-US" sz="1100" dirty="0"/>
          </a:p>
        </p:txBody>
      </p:sp>
      <p:sp>
        <p:nvSpPr>
          <p:cNvPr id="7" name="Shape 5"/>
          <p:cNvSpPr/>
          <p:nvPr/>
        </p:nvSpPr>
        <p:spPr>
          <a:xfrm>
            <a:off x="365760" y="1024128"/>
            <a:ext cx="1920240" cy="1106424"/>
          </a:xfrm>
          <a:prstGeom prst="roundRect">
            <a:avLst>
              <a:gd name="adj" fmla="val 8264"/>
            </a:avLst>
          </a:prstGeom>
          <a:solidFill>
            <a:srgbClr val="E8F8EF"/>
          </a:solidFill>
          <a:ln w="19050">
            <a:solidFill>
              <a:srgbClr val="4A7C2E"/>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02920" y="1097280"/>
            <a:ext cx="1645920" cy="347472"/>
          </a:xfrm>
          <a:prstGeom prst="rect">
            <a:avLst/>
          </a:prstGeom>
          <a:noFill/>
          <a:ln/>
        </p:spPr>
        <p:txBody>
          <a:bodyPr wrap="square" lIns="0" tIns="0" rIns="0" bIns="0" rtlCol="0" anchor="ctr"/>
          <a:lstStyle/>
          <a:p>
            <a:pPr indent="0" marL="0">
              <a:buNone/>
            </a:pPr>
            <a:r>
              <a:rPr lang="en-US" sz="1200" b="1" dirty="0">
                <a:solidFill>
                  <a:srgbClr val="4A7C2E"/>
                </a:solidFill>
                <a:latin typeface="Calibri" pitchFamily="34" charset="0"/>
                <a:ea typeface="Calibri" pitchFamily="34" charset="-122"/>
                <a:cs typeface="Calibri" pitchFamily="34" charset="-120"/>
              </a:rPr>
              <a:t>Schwa-a</a:t>
            </a:r>
            <a:endParaRPr lang="en-US" sz="1200" dirty="0"/>
          </a:p>
        </p:txBody>
      </p:sp>
      <p:sp>
        <p:nvSpPr>
          <p:cNvPr id="9" name="Text 7"/>
          <p:cNvSpPr/>
          <p:nvPr/>
        </p:nvSpPr>
        <p:spPr>
          <a:xfrm>
            <a:off x="594360" y="1463040"/>
            <a:ext cx="155448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about</a:t>
            </a:r>
            <a:endParaRPr lang="en-US" sz="1400" dirty="0"/>
          </a:p>
        </p:txBody>
      </p:sp>
      <p:sp>
        <p:nvSpPr>
          <p:cNvPr id="10" name="Text 8"/>
          <p:cNvSpPr/>
          <p:nvPr/>
        </p:nvSpPr>
        <p:spPr>
          <a:xfrm>
            <a:off x="594360" y="1810512"/>
            <a:ext cx="155448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afraid</a:t>
            </a:r>
            <a:endParaRPr lang="en-US" sz="1400" dirty="0"/>
          </a:p>
        </p:txBody>
      </p:sp>
      <p:sp>
        <p:nvSpPr>
          <p:cNvPr id="11" name="Shape 9"/>
          <p:cNvSpPr/>
          <p:nvPr/>
        </p:nvSpPr>
        <p:spPr>
          <a:xfrm>
            <a:off x="2487168" y="1024128"/>
            <a:ext cx="1920240" cy="1106424"/>
          </a:xfrm>
          <a:prstGeom prst="roundRect">
            <a:avLst>
              <a:gd name="adj" fmla="val 8264"/>
            </a:avLst>
          </a:prstGeom>
          <a:solidFill>
            <a:srgbClr val="F0E8FF"/>
          </a:solidFill>
          <a:ln w="19050">
            <a:solidFill>
              <a:srgbClr val="5C2D91"/>
            </a:solidFill>
            <a:prstDash val="solid"/>
          </a:ln>
          <a:effectLst>
            <a:outerShdw sx="100000" sy="100000" kx="0" ky="0" algn="bl" rotWithShape="0" blurRad="101600" dist="38100" dir="2700000">
              <a:srgbClr val="000000">
                <a:alpha val="12000"/>
              </a:srgbClr>
            </a:outerShdw>
          </a:effectLst>
        </p:spPr>
      </p:sp>
      <p:sp>
        <p:nvSpPr>
          <p:cNvPr id="12" name="Text 10"/>
          <p:cNvSpPr/>
          <p:nvPr/>
        </p:nvSpPr>
        <p:spPr>
          <a:xfrm>
            <a:off x="2624328" y="1097280"/>
            <a:ext cx="1645920" cy="347472"/>
          </a:xfrm>
          <a:prstGeom prst="rect">
            <a:avLst/>
          </a:prstGeom>
          <a:noFill/>
          <a:ln/>
        </p:spPr>
        <p:txBody>
          <a:bodyPr wrap="square" lIns="0" tIns="0" rIns="0" bIns="0" rtlCol="0" anchor="ctr"/>
          <a:lstStyle/>
          <a:p>
            <a:pPr indent="0" marL="0">
              <a:buNone/>
            </a:pPr>
            <a:r>
              <a:rPr lang="en-US" sz="1200" b="1" dirty="0">
                <a:solidFill>
                  <a:srgbClr val="5C2D91"/>
                </a:solidFill>
                <a:latin typeface="Calibri" pitchFamily="34" charset="0"/>
                <a:ea typeface="Calibri" pitchFamily="34" charset="-122"/>
                <a:cs typeface="Calibri" pitchFamily="34" charset="-120"/>
              </a:rPr>
              <a:t>Schwa-e</a:t>
            </a:r>
            <a:endParaRPr lang="en-US" sz="1200" dirty="0"/>
          </a:p>
        </p:txBody>
      </p:sp>
      <p:sp>
        <p:nvSpPr>
          <p:cNvPr id="13" name="Text 11"/>
          <p:cNvSpPr/>
          <p:nvPr/>
        </p:nvSpPr>
        <p:spPr>
          <a:xfrm>
            <a:off x="2715768" y="1463040"/>
            <a:ext cx="155448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problem</a:t>
            </a:r>
            <a:endParaRPr lang="en-US" sz="1400" dirty="0"/>
          </a:p>
        </p:txBody>
      </p:sp>
      <p:sp>
        <p:nvSpPr>
          <p:cNvPr id="14" name="Text 12"/>
          <p:cNvSpPr/>
          <p:nvPr/>
        </p:nvSpPr>
        <p:spPr>
          <a:xfrm>
            <a:off x="2715768" y="1810512"/>
            <a:ext cx="155448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open</a:t>
            </a:r>
            <a:endParaRPr lang="en-US" sz="1400" dirty="0"/>
          </a:p>
        </p:txBody>
      </p:sp>
      <p:sp>
        <p:nvSpPr>
          <p:cNvPr id="15" name="Shape 13"/>
          <p:cNvSpPr/>
          <p:nvPr/>
        </p:nvSpPr>
        <p:spPr>
          <a:xfrm>
            <a:off x="4608576" y="1024128"/>
            <a:ext cx="1920240" cy="1106424"/>
          </a:xfrm>
          <a:prstGeom prst="roundRect">
            <a:avLst>
              <a:gd name="adj" fmla="val 8264"/>
            </a:avLst>
          </a:prstGeom>
          <a:solidFill>
            <a:srgbClr val="FEF6E8"/>
          </a:solidFill>
          <a:ln w="19050">
            <a:solidFill>
              <a:srgbClr val="B8860B"/>
            </a:solidFill>
            <a:prstDash val="solid"/>
          </a:ln>
          <a:effectLst>
            <a:outerShdw sx="100000" sy="100000" kx="0" ky="0" algn="bl" rotWithShape="0" blurRad="101600" dist="38100" dir="2700000">
              <a:srgbClr val="000000">
                <a:alpha val="12000"/>
              </a:srgbClr>
            </a:outerShdw>
          </a:effectLst>
        </p:spPr>
      </p:sp>
      <p:sp>
        <p:nvSpPr>
          <p:cNvPr id="16" name="Text 14"/>
          <p:cNvSpPr/>
          <p:nvPr/>
        </p:nvSpPr>
        <p:spPr>
          <a:xfrm>
            <a:off x="4745736" y="1097280"/>
            <a:ext cx="1645920" cy="347472"/>
          </a:xfrm>
          <a:prstGeom prst="rect">
            <a:avLst/>
          </a:prstGeom>
          <a:noFill/>
          <a:ln/>
        </p:spPr>
        <p:txBody>
          <a:bodyPr wrap="square" lIns="0" tIns="0" rIns="0" bIns="0" rtlCol="0" anchor="ctr"/>
          <a:lstStyle/>
          <a:p>
            <a:pPr indent="0" marL="0">
              <a:buNone/>
            </a:pPr>
            <a:r>
              <a:rPr lang="en-US" sz="1200" b="1" dirty="0">
                <a:solidFill>
                  <a:srgbClr val="B8860B"/>
                </a:solidFill>
                <a:latin typeface="Calibri" pitchFamily="34" charset="0"/>
                <a:ea typeface="Calibri" pitchFamily="34" charset="-122"/>
                <a:cs typeface="Calibri" pitchFamily="34" charset="-120"/>
              </a:rPr>
              <a:t>Schwa-i</a:t>
            </a:r>
            <a:endParaRPr lang="en-US" sz="1200" dirty="0"/>
          </a:p>
        </p:txBody>
      </p:sp>
      <p:sp>
        <p:nvSpPr>
          <p:cNvPr id="17" name="Text 15"/>
          <p:cNvSpPr/>
          <p:nvPr/>
        </p:nvSpPr>
        <p:spPr>
          <a:xfrm>
            <a:off x="4837176" y="1463040"/>
            <a:ext cx="155448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animal</a:t>
            </a:r>
            <a:endParaRPr lang="en-US" sz="1400" dirty="0"/>
          </a:p>
        </p:txBody>
      </p:sp>
      <p:sp>
        <p:nvSpPr>
          <p:cNvPr id="18" name="Text 16"/>
          <p:cNvSpPr/>
          <p:nvPr/>
        </p:nvSpPr>
        <p:spPr>
          <a:xfrm>
            <a:off x="4837176" y="1810512"/>
            <a:ext cx="155448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family</a:t>
            </a:r>
            <a:endParaRPr lang="en-US" sz="1400" dirty="0"/>
          </a:p>
        </p:txBody>
      </p:sp>
      <p:sp>
        <p:nvSpPr>
          <p:cNvPr id="19" name="Shape 17"/>
          <p:cNvSpPr/>
          <p:nvPr/>
        </p:nvSpPr>
        <p:spPr>
          <a:xfrm>
            <a:off x="6729984" y="1024128"/>
            <a:ext cx="1920240" cy="1106424"/>
          </a:xfrm>
          <a:prstGeom prst="roundRect">
            <a:avLst>
              <a:gd name="adj" fmla="val 8264"/>
            </a:avLst>
          </a:prstGeom>
          <a:solidFill>
            <a:srgbClr val="E5F7FC"/>
          </a:solidFill>
          <a:ln w="19050">
            <a:solidFill>
              <a:srgbClr val="2A6496"/>
            </a:solidFill>
            <a:prstDash val="solid"/>
          </a:ln>
          <a:effectLst>
            <a:outerShdw sx="100000" sy="100000" kx="0" ky="0" algn="bl" rotWithShape="0" blurRad="101600" dist="38100" dir="2700000">
              <a:srgbClr val="000000">
                <a:alpha val="12000"/>
              </a:srgbClr>
            </a:outerShdw>
          </a:effectLst>
        </p:spPr>
      </p:sp>
      <p:sp>
        <p:nvSpPr>
          <p:cNvPr id="20" name="Text 18"/>
          <p:cNvSpPr/>
          <p:nvPr/>
        </p:nvSpPr>
        <p:spPr>
          <a:xfrm>
            <a:off x="6867144" y="1097280"/>
            <a:ext cx="1645920" cy="347472"/>
          </a:xfrm>
          <a:prstGeom prst="rect">
            <a:avLst/>
          </a:prstGeom>
          <a:noFill/>
          <a:ln/>
        </p:spPr>
        <p:txBody>
          <a:bodyPr wrap="square" lIns="0" tIns="0" rIns="0" bIns="0" rtlCol="0" anchor="ctr"/>
          <a:lstStyle/>
          <a:p>
            <a:pPr indent="0" marL="0">
              <a:buNone/>
            </a:pPr>
            <a:r>
              <a:rPr lang="en-US" sz="1200" b="1" dirty="0">
                <a:solidFill>
                  <a:srgbClr val="2A6496"/>
                </a:solidFill>
                <a:latin typeface="Calibri" pitchFamily="34" charset="0"/>
                <a:ea typeface="Calibri" pitchFamily="34" charset="-122"/>
                <a:cs typeface="Calibri" pitchFamily="34" charset="-120"/>
              </a:rPr>
              <a:t>Schwa-o</a:t>
            </a:r>
            <a:endParaRPr lang="en-US" sz="1200" dirty="0"/>
          </a:p>
        </p:txBody>
      </p:sp>
      <p:sp>
        <p:nvSpPr>
          <p:cNvPr id="21" name="Text 19"/>
          <p:cNvSpPr/>
          <p:nvPr/>
        </p:nvSpPr>
        <p:spPr>
          <a:xfrm>
            <a:off x="6958584" y="1463040"/>
            <a:ext cx="155448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person</a:t>
            </a:r>
            <a:endParaRPr lang="en-US" sz="1400" dirty="0"/>
          </a:p>
        </p:txBody>
      </p:sp>
      <p:sp>
        <p:nvSpPr>
          <p:cNvPr id="22" name="Text 20"/>
          <p:cNvSpPr/>
          <p:nvPr/>
        </p:nvSpPr>
        <p:spPr>
          <a:xfrm>
            <a:off x="6958584" y="1810512"/>
            <a:ext cx="155448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lemon</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Reading - Chapter 8</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Text 2"/>
          <p:cNvSpPr/>
          <p:nvPr/>
        </p:nvSpPr>
        <p:spPr>
          <a:xfrm>
            <a:off x="457200" y="841248"/>
            <a:ext cx="8229600" cy="502920"/>
          </a:xfrm>
          <a:prstGeom prst="rect">
            <a:avLst/>
          </a:prstGeom>
          <a:noFill/>
          <a:ln/>
        </p:spPr>
        <p:txBody>
          <a:bodyPr wrap="square" lIns="0" tIns="0" rIns="0" bIns="0" rtlCol="0" anchor="ctr"/>
          <a:lstStyle/>
          <a:p>
            <a:pPr indent="0" marL="0">
              <a:buNone/>
            </a:pPr>
            <a:r>
              <a:rPr lang="en-US" sz="1700" b="1" i="1" dirty="0">
                <a:solidFill>
                  <a:srgbClr val="0E1C42"/>
                </a:solidFill>
                <a:latin typeface="Calibri" pitchFamily="34" charset="0"/>
                <a:ea typeface="Calibri" pitchFamily="34" charset="-122"/>
                <a:cs typeface="Calibri" pitchFamily="34" charset="-120"/>
              </a:rPr>
              <a:t>How They Left the Island</a:t>
            </a:r>
            <a:endParaRPr lang="en-US" sz="1700" dirty="0"/>
          </a:p>
        </p:txBody>
      </p:sp>
      <p:sp>
        <p:nvSpPr>
          <p:cNvPr id="5" name="Text 3"/>
          <p:cNvSpPr/>
          <p:nvPr/>
        </p:nvSpPr>
        <p:spPr>
          <a:xfrm>
            <a:off x="365760" y="146304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PAUSE &amp; THINK</a:t>
            </a:r>
            <a:endParaRPr lang="en-US" sz="1100" dirty="0"/>
          </a:p>
        </p:txBody>
      </p:sp>
      <p:sp>
        <p:nvSpPr>
          <p:cNvPr id="6" name="Shape 4"/>
          <p:cNvSpPr/>
          <p:nvPr/>
        </p:nvSpPr>
        <p:spPr>
          <a:xfrm>
            <a:off x="365760" y="1719072"/>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10512"/>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1.  What does it feel like to be called to do something you didn’t choose? Think about a time you had to do something difficult that wasn’t your idea. How does this poem connect to what happens to the children in Chapter 8?</a:t>
            </a:r>
            <a:endParaRPr lang="en-US" sz="1400" dirty="0"/>
          </a:p>
        </p:txBody>
      </p:sp>
      <p:sp>
        <p:nvSpPr>
          <p:cNvPr id="8" name="Shape 6"/>
          <p:cNvSpPr/>
          <p:nvPr/>
        </p:nvSpPr>
        <p:spPr>
          <a:xfrm>
            <a:off x="365760" y="2651760"/>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594360" y="2743200"/>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2.  The children realize they were “summoned” by the Horn — pulled out of their world without choosing to come. How does each child react to this idea? Who seems most comfortable with it, and why?</a:t>
            </a:r>
            <a:endParaRPr lang="en-US" sz="1400" dirty="0"/>
          </a:p>
        </p:txBody>
      </p:sp>
      <p:sp>
        <p:nvSpPr>
          <p:cNvPr id="10" name="Shape 8"/>
          <p:cNvSpPr/>
          <p:nvPr/>
        </p:nvSpPr>
        <p:spPr>
          <a:xfrm>
            <a:off x="365760" y="3584448"/>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594360" y="3675888"/>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3.  Peter takes charge of the rowing even though he’s exhausted. No one makes him — he just does it. Is this a leadership choice? Why or why not?</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 like a Reader, Writer, Mimic</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MENTOR SENTENCE</a:t>
            </a:r>
            <a:endParaRPr lang="en-US" sz="1100" dirty="0"/>
          </a:p>
        </p:txBody>
      </p:sp>
      <p:sp>
        <p:nvSpPr>
          <p:cNvPr id="5" name="Shape 3"/>
          <p:cNvSpPr/>
          <p:nvPr/>
        </p:nvSpPr>
        <p:spPr>
          <a:xfrm>
            <a:off x="365760" y="1042416"/>
            <a:ext cx="8412480" cy="1347216"/>
          </a:xfrm>
          <a:prstGeom prst="roundRect">
            <a:avLst>
              <a:gd name="adj" fmla="val 6787"/>
            </a:avLst>
          </a:prstGeom>
          <a:solidFill>
            <a:srgbClr val="F0E8FF"/>
          </a:solidFill>
          <a:ln w="12700">
            <a:solidFill>
              <a:srgbClr val="8B6FC0"/>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1118616"/>
          </a:xfrm>
          <a:prstGeom prst="rect">
            <a:avLst/>
          </a:prstGeom>
          <a:noFill/>
          <a:ln/>
        </p:spPr>
        <p:txBody>
          <a:bodyPr wrap="square" lIns="0" tIns="0" rIns="0" bIns="0" rtlCol="0" anchor="ctr"/>
          <a:lstStyle/>
          <a:p>
            <a:pPr indent="0" marL="0">
              <a:buNone/>
            </a:pPr>
            <a:r>
              <a:rPr lang="en-US" sz="1600" i="1" dirty="0">
                <a:solidFill>
                  <a:srgbClr val="0E1C42"/>
                </a:solidFill>
                <a:latin typeface="Calibri" pitchFamily="34" charset="0"/>
                <a:ea typeface="Calibri" pitchFamily="34" charset="-122"/>
                <a:cs typeface="Calibri" pitchFamily="34" charset="-120"/>
              </a:rPr>
              <a:t>“Do you remember our voyage to Terebinthia… And the silken sails, and the great stern lanterns?… Do you remember when we had the musicians up in the rigging playing flutes so that it sounded like music out of the sky?”</a:t>
            </a:r>
            <a:endParaRPr lang="en-US" sz="1600" dirty="0"/>
          </a:p>
        </p:txBody>
      </p:sp>
      <p:sp>
        <p:nvSpPr>
          <p:cNvPr id="7" name="Text 5"/>
          <p:cNvSpPr/>
          <p:nvPr/>
        </p:nvSpPr>
        <p:spPr>
          <a:xfrm>
            <a:off x="365760" y="2517648"/>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YOUR THREE JOBS</a:t>
            </a:r>
            <a:endParaRPr lang="en-US" sz="1100" dirty="0"/>
          </a:p>
        </p:txBody>
      </p:sp>
      <p:sp>
        <p:nvSpPr>
          <p:cNvPr id="8" name="Shape 6"/>
          <p:cNvSpPr/>
          <p:nvPr/>
        </p:nvSpPr>
        <p:spPr>
          <a:xfrm>
            <a:off x="365760" y="2773680"/>
            <a:ext cx="8412480" cy="932688"/>
          </a:xfrm>
          <a:prstGeom prst="roundRect">
            <a:avLst>
              <a:gd name="adj" fmla="val 9804"/>
            </a:avLst>
          </a:prstGeom>
          <a:solidFill>
            <a:srgbClr val="E5F7FC"/>
          </a:solidFill>
          <a:ln/>
          <a:effectLst>
            <a:outerShdw sx="100000" sy="100000" kx="0" ky="0" algn="bl" rotWithShape="0" blurRad="101600" dist="38100" dir="2700000">
              <a:srgbClr val="000000">
                <a:alpha val="12000"/>
              </a:srgbClr>
            </a:outerShdw>
          </a:effectLst>
        </p:spPr>
      </p:sp>
      <p:sp>
        <p:nvSpPr>
          <p:cNvPr id="9" name="Text 7"/>
          <p:cNvSpPr/>
          <p:nvPr/>
        </p:nvSpPr>
        <p:spPr>
          <a:xfrm>
            <a:off x="594360" y="2837688"/>
            <a:ext cx="2651760" cy="804672"/>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 Read like a Reader</a:t>
            </a:r>
            <a:endParaRPr lang="en-US" sz="1300" dirty="0"/>
          </a:p>
        </p:txBody>
      </p:sp>
      <p:sp>
        <p:nvSpPr>
          <p:cNvPr id="10" name="Text 8"/>
          <p:cNvSpPr/>
          <p:nvPr/>
        </p:nvSpPr>
        <p:spPr>
          <a:xfrm>
            <a:off x="3337560" y="2837688"/>
            <a:ext cx="5303520" cy="804672"/>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What are Susan and Lucy doing? They’re remembering a beautiful voyage from their time as queens. Why do they bring up these memories now, in the middle of a hard, exhausting rowing trip?</a:t>
            </a:r>
            <a:endParaRPr lang="en-US" sz="1200" dirty="0"/>
          </a:p>
        </p:txBody>
      </p:sp>
      <p:sp>
        <p:nvSpPr>
          <p:cNvPr id="11" name="Shape 9"/>
          <p:cNvSpPr/>
          <p:nvPr/>
        </p:nvSpPr>
        <p:spPr>
          <a:xfrm>
            <a:off x="365760" y="3797808"/>
            <a:ext cx="8412480" cy="1133856"/>
          </a:xfrm>
          <a:prstGeom prst="roundRect">
            <a:avLst>
              <a:gd name="adj" fmla="val 8065"/>
            </a:avLst>
          </a:prstGeom>
          <a:solidFill>
            <a:srgbClr val="F0E8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3861816"/>
            <a:ext cx="2651760" cy="100584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 Read like a Writer</a:t>
            </a:r>
            <a:endParaRPr lang="en-US" sz="1300" dirty="0"/>
          </a:p>
        </p:txBody>
      </p:sp>
      <p:sp>
        <p:nvSpPr>
          <p:cNvPr id="13" name="Text 11"/>
          <p:cNvSpPr/>
          <p:nvPr/>
        </p:nvSpPr>
        <p:spPr>
          <a:xfrm>
            <a:off x="3337560" y="3861816"/>
            <a:ext cx="5303520" cy="1005840"/>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Notice how Lewis uses questions — “Do you remember…” repeated. Each question adds a more beautiful detail: first the sails, then the lanterns, then the musicians playing flutes. Why does he structure it this way? What effect does the pattern create?</a:t>
            </a:r>
            <a:endParaRPr lang="en-US" sz="1200" dirty="0"/>
          </a:p>
        </p:txBody>
      </p:sp>
      <p:sp>
        <p:nvSpPr>
          <p:cNvPr id="14" name="Shape 12"/>
          <p:cNvSpPr/>
          <p:nvPr/>
        </p:nvSpPr>
        <p:spPr>
          <a:xfrm>
            <a:off x="365760" y="5023104"/>
            <a:ext cx="8412480" cy="731520"/>
          </a:xfrm>
          <a:prstGeom prst="roundRect">
            <a:avLst>
              <a:gd name="adj" fmla="val 12500"/>
            </a:avLst>
          </a:prstGeom>
          <a:solidFill>
            <a:srgbClr val="E8F8EF"/>
          </a:solidFill>
          <a:ln/>
          <a:effectLst>
            <a:outerShdw sx="100000" sy="100000" kx="0" ky="0" algn="bl" rotWithShape="0" blurRad="101600" dist="38100" dir="2700000">
              <a:srgbClr val="000000">
                <a:alpha val="12000"/>
              </a:srgbClr>
            </a:outerShdw>
          </a:effectLst>
        </p:spPr>
      </p:sp>
      <p:sp>
        <p:nvSpPr>
          <p:cNvPr id="15" name="Text 13"/>
          <p:cNvSpPr/>
          <p:nvPr/>
        </p:nvSpPr>
        <p:spPr>
          <a:xfrm>
            <a:off x="594360" y="5087112"/>
            <a:ext cx="2651760" cy="603504"/>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 Mimic</a:t>
            </a:r>
            <a:endParaRPr lang="en-US" sz="1300" dirty="0"/>
          </a:p>
        </p:txBody>
      </p:sp>
      <p:sp>
        <p:nvSpPr>
          <p:cNvPr id="16" name="Text 14"/>
          <p:cNvSpPr/>
          <p:nvPr/>
        </p:nvSpPr>
        <p:spPr>
          <a:xfrm>
            <a:off x="3337560" y="5087112"/>
            <a:ext cx="5303520" cy="603504"/>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Write 2–3 sentences using the “Do you remember…” pattern to describe a memory. Each sentence should add a more vivid detail than the last.</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Writer's Workshop</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WRITING STAGE</a:t>
            </a:r>
            <a:endParaRPr lang="en-US" sz="1100" dirty="0"/>
          </a:p>
        </p:txBody>
      </p:sp>
      <p:sp>
        <p:nvSpPr>
          <p:cNvPr id="5" name="Shape 3"/>
          <p:cNvSpPr/>
          <p:nvPr/>
        </p:nvSpPr>
        <p:spPr>
          <a:xfrm>
            <a:off x="365760" y="1042416"/>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33856"/>
            <a:ext cx="7863840" cy="475488"/>
          </a:xfrm>
          <a:prstGeom prst="rect">
            <a:avLst/>
          </a:prstGeom>
          <a:noFill/>
          <a:ln/>
        </p:spPr>
        <p:txBody>
          <a:bodyPr wrap="square" lIns="0" tIns="0" rIns="0" bIns="0" rtlCol="0" anchor="ctr"/>
          <a:lstStyle/>
          <a:p>
            <a:pPr indent="0" marL="0">
              <a:buNone/>
            </a:pPr>
            <a:r>
              <a:rPr lang="en-US" sz="2200" b="1" dirty="0">
                <a:solidFill>
                  <a:srgbClr val="C7922C"/>
                </a:solidFill>
                <a:latin typeface="Calibri" pitchFamily="34" charset="0"/>
                <a:ea typeface="Calibri" pitchFamily="34" charset="-122"/>
                <a:cs typeface="Calibri" pitchFamily="34" charset="-120"/>
              </a:rPr>
              <a:t>Literary Analysis — Organizing Evidence</a:t>
            </a:r>
            <a:endParaRPr lang="en-US" sz="2200" dirty="0"/>
          </a:p>
        </p:txBody>
      </p:sp>
      <p:sp>
        <p:nvSpPr>
          <p:cNvPr id="7" name="Text 5"/>
          <p:cNvSpPr/>
          <p:nvPr/>
        </p:nvSpPr>
        <p:spPr>
          <a:xfrm>
            <a:off x="365760" y="182880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TODAY'S FOCUS</a:t>
            </a:r>
            <a:endParaRPr lang="en-US" sz="1100" dirty="0"/>
          </a:p>
        </p:txBody>
      </p:sp>
      <p:sp>
        <p:nvSpPr>
          <p:cNvPr id="8" name="Text 6"/>
          <p:cNvSpPr/>
          <p:nvPr/>
        </p:nvSpPr>
        <p:spPr>
          <a:xfrm>
            <a:off x="457200" y="2084832"/>
            <a:ext cx="8229600" cy="5943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Record how your character responds to a hard decision today.</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2026-07-11T22:29:48Z</dcterms:created>
  <dcterms:modified xsi:type="dcterms:W3CDTF">2026-07-11T22:29:48Z</dcterms:modified>
</cp:coreProperties>
</file>