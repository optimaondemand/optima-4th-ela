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30, Day 2.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Use "as" to show a bystander’s physical reaction simultaneously with the main tense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20-minute timer. Craft move: Use "as" to show a bystander’s physical reaction simultaneously with the main tense action.. Level-up: 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Check: does your sentence make clear that both things are happening at the same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"Share your simultaneous-action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Yesterday, Peter, now High King again, calmly dictated a formal challenge to Miraz. Today: Follow the tense duel between Peter and Miraz. Big Q: What details create suspense during Peter’s fight with Miraz? When does the tension feel highest? And what do Peter’s choices during the fight reveal about who he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"Edmund bit his lips till the blood came , as the sword flashed down on Peter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"trumpkin danced with delight and shouted the high king up old narnia" Corrected: "Trumpkin danced with delight, and shouted, “The High King! Up, Old Narnia!”"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"trumpkin danced with delight and shouted the high king up old narnia" Corrected: "Trumpkin danced with delight, and shouted, “The High King! Up, Old Narnia!”"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 hauberk: a coat of chain mail armor; Peter wears his dwarf-wrought mail for the single combat. | treachery: betrayal of trust; what Glozelle and Sopespian commit when they stab Miraz and blame the Narnians. | parley: a discussion between opposing sides; Edmund meets with Miraz’s lords to arrange the combat. | dastard: a cowardly person; Miraz fears being called one if he refuses Peter’s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 CORRECT ❌ INCORRECT" -&gt; ✅ CORRECT | "✅ CORRECT ❌ INCORRECT" -&gt; ❌ INCORRECT | "✅ CORRECT ❌ INCORRECT" -&gt; ❌ INCORRECT | "✅ CORRECT ❌ INCORRECT" -&gt; ✅ CORRECT | "✅ CORRECT ❌ INCORRECT" -&gt; ✅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 CORRECT ❌ INCORRECT" -&gt; ✅ CORRECT | "✅ CORRECT ❌ INCORRECT" -&gt; ❌ INCORRECT | "✅ CORRECT ❌ INCORRECT" -&gt; ❌ INCORRECT | "✅ CORRECT ❌ INCORRECT" -&gt; ✅ CORRECT | "✅ CORRECT ❌ INCORRECT" -&gt; ✅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 Latin Root: conduct, reform, erupt, introduce | 🔊 Vowel Team: treachery, shield, combat | 🔤 Prefix: unbroken, dishonor, misbehave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 Latin Root: conduct, reform, erupt, introduce | 🔊 Vowel Team: treachery, shield, combat | 🔤 Prefix: unbroken, dishonor, misbehave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Chapter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RWM: "“Grabbed Miraz’s arm as it came down,” said Trumpkin, dancing with delight. “There’s a man for you! Uses his enemy’s arm as a ladder.”"
Craft: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Literary Analysis — Drafting the Essay
Focus: Draft your final evidence paragraph and a concluding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2E"/>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5CC9A0">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5CC9A0"/>
                </a:solidFill>
                <a:latin typeface="Calibri" pitchFamily="34" charset="0"/>
                <a:ea typeface="Calibri" pitchFamily="34" charset="-122"/>
                <a:cs typeface="Calibri" pitchFamily="34" charset="-120"/>
              </a:rPr>
              <a:t>WEEK 30  ·  DAY 2</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Chapter 14</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How All Were Very Busy</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30  ·  Virtue: Loyalty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5CC9A0"/>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This sentence shows Edmund’s reaction (biting his lip) at the same time as the action (the sword flashing down). Why show a bystander’s reaction during the action, instead of before or after?</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20 minutes - keep your pencil moving!</a:t>
            </a:r>
            <a:endParaRPr lang="en-US" sz="1500" dirty="0"/>
          </a:p>
        </p:txBody>
      </p:sp>
      <p:sp>
        <p:nvSpPr>
          <p:cNvPr id="4" name="Shape 2"/>
          <p:cNvSpPr/>
          <p:nvPr/>
        </p:nvSpPr>
        <p:spPr>
          <a:xfrm>
            <a:off x="457200" y="1170432"/>
            <a:ext cx="8229600" cy="822960"/>
          </a:xfrm>
          <a:prstGeom prst="roundRect">
            <a:avLst>
              <a:gd name="adj" fmla="val 11111"/>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3152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Write a sentence showing a character’s physical reaction happening AT THE SAME TIME as a tense action, using "as."</a:t>
            </a:r>
            <a:endParaRPr lang="en-US" sz="1200" dirty="0"/>
          </a:p>
        </p:txBody>
      </p:sp>
      <p:sp>
        <p:nvSpPr>
          <p:cNvPr id="6" name="Shape 4"/>
          <p:cNvSpPr/>
          <p:nvPr/>
        </p:nvSpPr>
        <p:spPr>
          <a:xfrm>
            <a:off x="457200" y="2121408"/>
            <a:ext cx="8229600" cy="655320"/>
          </a:xfrm>
          <a:prstGeom prst="roundRect">
            <a:avLst>
              <a:gd name="adj" fmla="val 13953"/>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176272"/>
            <a:ext cx="7863840" cy="5455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Use "as" to show a bystander’s physical reaction simultaneously with the main tense action.</a:t>
            </a:r>
            <a:endParaRPr lang="en-US" sz="1300" dirty="0"/>
          </a:p>
        </p:txBody>
      </p:sp>
      <p:sp>
        <p:nvSpPr>
          <p:cNvPr id="8" name="Text 6"/>
          <p:cNvSpPr/>
          <p:nvPr/>
        </p:nvSpPr>
        <p:spPr>
          <a:xfrm>
            <a:off x="548640" y="2868168"/>
            <a:ext cx="8046720" cy="2161032"/>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Check: does your sentence make clear that both things are happening at the same moment?</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Share your simultaneous-action sentence.</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Yesterday, Peter, now High King again, calmly dictated a formal challenge to Miraz.</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5CC9A0"/>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Follow the tense duel between Peter and Miraz.</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What details create suspense during Peter’s fight with Miraz? When does the tension feel highest? And what do Peter’s choices during the fight reveal about who he is?</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Good readers notice tension. C.S. Lewis builds suspense not just through action, but through small details &amp;mdash; a pause, a description, a choice a character...</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810768"/>
          </a:xfrm>
          <a:prstGeom prst="roundRect">
            <a:avLst>
              <a:gd name="adj" fmla="val 11278"/>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Edmund bit his lips till the blood came , as the sword flashed down on Peter .</a:t>
            </a:r>
            <a:endParaRPr lang="en-US" sz="1600" dirty="0"/>
          </a:p>
        </p:txBody>
      </p:sp>
      <p:sp>
        <p:nvSpPr>
          <p:cNvPr id="7" name="Text 5"/>
          <p:cNvSpPr/>
          <p:nvPr/>
        </p:nvSpPr>
        <p:spPr>
          <a:xfrm>
            <a:off x="457200" y="2036064"/>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93264"/>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trumpkin danced with delight and shouted the high king up old narnia</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trumpkin danced with delight and shouted the high king up old narnia</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350008"/>
            <a:ext cx="8412480" cy="960120"/>
          </a:xfrm>
          <a:prstGeom prst="roundRect">
            <a:avLst>
              <a:gd name="adj" fmla="val 9524"/>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404872"/>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697480"/>
            <a:ext cx="7863840" cy="57607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Trumpkin danced with delight, and shouted, “The High King! Up, Old Narnia!”</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Text 2"/>
          <p:cNvSpPr/>
          <p:nvPr/>
        </p:nvSpPr>
        <p:spPr>
          <a:xfrm>
            <a:off x="365760" y="786384"/>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4 WORDS - READ THE SENTENCE, THEN THE MEANING</a:t>
            </a:r>
            <a:endParaRPr lang="en-US" sz="1100" dirty="0"/>
          </a:p>
        </p:txBody>
      </p:sp>
      <p:sp>
        <p:nvSpPr>
          <p:cNvPr id="5" name="Shape 3"/>
          <p:cNvSpPr/>
          <p:nvPr/>
        </p:nvSpPr>
        <p:spPr>
          <a:xfrm>
            <a:off x="320040" y="914400"/>
            <a:ext cx="4069080" cy="1138428"/>
          </a:xfrm>
          <a:prstGeom prst="roundRect">
            <a:avLst>
              <a:gd name="adj" fmla="val 803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457200" y="1005840"/>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hauberk</a:t>
            </a:r>
            <a:endParaRPr lang="en-US" sz="1400" dirty="0"/>
          </a:p>
        </p:txBody>
      </p:sp>
      <p:sp>
        <p:nvSpPr>
          <p:cNvPr id="7" name="Text 5"/>
          <p:cNvSpPr/>
          <p:nvPr/>
        </p:nvSpPr>
        <p:spPr>
          <a:xfrm>
            <a:off x="457200" y="1316736"/>
            <a:ext cx="3794760" cy="681228"/>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a coat of chain mail armor; Peter wears his dwarf-wrought mail for the single combat.</a:t>
            </a:r>
            <a:endParaRPr lang="en-US" sz="1100" dirty="0"/>
          </a:p>
        </p:txBody>
      </p:sp>
      <p:sp>
        <p:nvSpPr>
          <p:cNvPr id="8" name="Shape 6"/>
          <p:cNvSpPr/>
          <p:nvPr/>
        </p:nvSpPr>
        <p:spPr>
          <a:xfrm>
            <a:off x="4572000" y="914400"/>
            <a:ext cx="4069080" cy="1138428"/>
          </a:xfrm>
          <a:prstGeom prst="roundRect">
            <a:avLst>
              <a:gd name="adj" fmla="val 8032"/>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4709160" y="1005840"/>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treachery</a:t>
            </a:r>
            <a:endParaRPr lang="en-US" sz="1400" dirty="0"/>
          </a:p>
        </p:txBody>
      </p:sp>
      <p:sp>
        <p:nvSpPr>
          <p:cNvPr id="10" name="Text 8"/>
          <p:cNvSpPr/>
          <p:nvPr/>
        </p:nvSpPr>
        <p:spPr>
          <a:xfrm>
            <a:off x="4709160" y="1316736"/>
            <a:ext cx="3794760" cy="681228"/>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betrayal of trust; what Glozelle and Sopespian commit when they stab Miraz and blame the Narnians.</a:t>
            </a:r>
            <a:endParaRPr lang="en-US" sz="1100" dirty="0"/>
          </a:p>
        </p:txBody>
      </p:sp>
      <p:sp>
        <p:nvSpPr>
          <p:cNvPr id="11" name="Shape 9"/>
          <p:cNvSpPr/>
          <p:nvPr/>
        </p:nvSpPr>
        <p:spPr>
          <a:xfrm>
            <a:off x="320040" y="2162556"/>
            <a:ext cx="4069080" cy="954024"/>
          </a:xfrm>
          <a:prstGeom prst="roundRect">
            <a:avLst>
              <a:gd name="adj" fmla="val 9585"/>
            </a:avLst>
          </a:prstGeom>
          <a:solidFill>
            <a:srgbClr val="F0E8FF"/>
          </a:solidFill>
          <a:ln/>
          <a:effectLst>
            <a:outerShdw sx="100000" sy="100000" kx="0" ky="0" algn="bl" rotWithShape="0" blurRad="101600" dist="38100" dir="2700000">
              <a:srgbClr val="000000">
                <a:alpha val="12000"/>
              </a:srgbClr>
            </a:outerShdw>
          </a:effectLst>
        </p:spPr>
      </p:sp>
      <p:sp>
        <p:nvSpPr>
          <p:cNvPr id="12" name="Text 10"/>
          <p:cNvSpPr/>
          <p:nvPr/>
        </p:nvSpPr>
        <p:spPr>
          <a:xfrm>
            <a:off x="457200" y="2253996"/>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parley</a:t>
            </a:r>
            <a:endParaRPr lang="en-US" sz="1400" dirty="0"/>
          </a:p>
        </p:txBody>
      </p:sp>
      <p:sp>
        <p:nvSpPr>
          <p:cNvPr id="13" name="Text 11"/>
          <p:cNvSpPr/>
          <p:nvPr/>
        </p:nvSpPr>
        <p:spPr>
          <a:xfrm>
            <a:off x="457200" y="2564892"/>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a discussion between opposing sides; Edmund meets with Miraz’s lords to arrange the combat.</a:t>
            </a:r>
            <a:endParaRPr lang="en-US" sz="1100" dirty="0"/>
          </a:p>
        </p:txBody>
      </p:sp>
      <p:sp>
        <p:nvSpPr>
          <p:cNvPr id="14" name="Shape 12"/>
          <p:cNvSpPr/>
          <p:nvPr/>
        </p:nvSpPr>
        <p:spPr>
          <a:xfrm>
            <a:off x="4572000" y="2162556"/>
            <a:ext cx="4069080" cy="954024"/>
          </a:xfrm>
          <a:prstGeom prst="roundRect">
            <a:avLst>
              <a:gd name="adj" fmla="val 9585"/>
            </a:avLst>
          </a:prstGeom>
          <a:solidFill>
            <a:srgbClr val="F0E8FF"/>
          </a:solidFill>
          <a:ln/>
          <a:effectLst>
            <a:outerShdw sx="100000" sy="100000" kx="0" ky="0" algn="bl" rotWithShape="0" blurRad="101600" dist="38100" dir="2700000">
              <a:srgbClr val="000000">
                <a:alpha val="12000"/>
              </a:srgbClr>
            </a:outerShdw>
          </a:effectLst>
        </p:spPr>
      </p:sp>
      <p:sp>
        <p:nvSpPr>
          <p:cNvPr id="15" name="Text 13"/>
          <p:cNvSpPr/>
          <p:nvPr/>
        </p:nvSpPr>
        <p:spPr>
          <a:xfrm>
            <a:off x="4709160" y="2253996"/>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dastard</a:t>
            </a:r>
            <a:endParaRPr lang="en-US" sz="1400" dirty="0"/>
          </a:p>
        </p:txBody>
      </p:sp>
      <p:sp>
        <p:nvSpPr>
          <p:cNvPr id="16" name="Text 14"/>
          <p:cNvSpPr/>
          <p:nvPr/>
        </p:nvSpPr>
        <p:spPr>
          <a:xfrm>
            <a:off x="4709160" y="2564892"/>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a cowardly person; Miraz fears being called one if he refuses Peter’s challenge.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Dialogue Punctuation — Identify</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SPOT THE TARGET WORD</a:t>
            </a:r>
            <a:endParaRPr lang="en-US" sz="1100" dirty="0"/>
          </a:p>
        </p:txBody>
      </p:sp>
      <p:sp>
        <p:nvSpPr>
          <p:cNvPr id="7" name="Shape 5"/>
          <p:cNvSpPr/>
          <p:nvPr/>
        </p:nvSpPr>
        <p:spPr>
          <a:xfrm>
            <a:off x="365760" y="1078992"/>
            <a:ext cx="8412480" cy="621792"/>
          </a:xfrm>
          <a:prstGeom prst="roundRect">
            <a:avLst>
              <a:gd name="adj" fmla="val 11765"/>
            </a:avLst>
          </a:prstGeom>
          <a:solidFill>
            <a:srgbClr val="FEF6E8"/>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43891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CORRECT ❌ INCORRECT</a:t>
            </a:r>
            <a:endParaRPr lang="en-US" sz="1500" dirty="0"/>
          </a:p>
        </p:txBody>
      </p:sp>
      <p:sp>
        <p:nvSpPr>
          <p:cNvPr id="9" name="Shape 7"/>
          <p:cNvSpPr/>
          <p:nvPr/>
        </p:nvSpPr>
        <p:spPr>
          <a:xfrm>
            <a:off x="365760" y="1792224"/>
            <a:ext cx="8412480" cy="621792"/>
          </a:xfrm>
          <a:prstGeom prst="roundRect">
            <a:avLst>
              <a:gd name="adj" fmla="val 11765"/>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1883664"/>
            <a:ext cx="7863840" cy="43891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CORRECT ❌ INCORRECT</a:t>
            </a:r>
            <a:endParaRPr lang="en-US" sz="1500" dirty="0"/>
          </a:p>
        </p:txBody>
      </p:sp>
      <p:sp>
        <p:nvSpPr>
          <p:cNvPr id="11" name="Shape 9"/>
          <p:cNvSpPr/>
          <p:nvPr/>
        </p:nvSpPr>
        <p:spPr>
          <a:xfrm>
            <a:off x="365760" y="2505456"/>
            <a:ext cx="8412480" cy="621792"/>
          </a:xfrm>
          <a:prstGeom prst="roundRect">
            <a:avLst>
              <a:gd name="adj" fmla="val 11765"/>
            </a:avLst>
          </a:prstGeom>
          <a:solidFill>
            <a:srgbClr val="FEF6E8"/>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596896"/>
            <a:ext cx="7863840" cy="43891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CORRECT ❌ INCORRECT</a:t>
            </a:r>
            <a:endParaRPr lang="en-US" sz="1500" dirty="0"/>
          </a:p>
        </p:txBody>
      </p:sp>
      <p:sp>
        <p:nvSpPr>
          <p:cNvPr id="13" name="Shape 11"/>
          <p:cNvSpPr/>
          <p:nvPr/>
        </p:nvSpPr>
        <p:spPr>
          <a:xfrm>
            <a:off x="365760" y="3218688"/>
            <a:ext cx="8412480" cy="621792"/>
          </a:xfrm>
          <a:prstGeom prst="roundRect">
            <a:avLst>
              <a:gd name="adj" fmla="val 11765"/>
            </a:avLst>
          </a:prstGeom>
          <a:solidFill>
            <a:srgbClr val="FEF6E8"/>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10128"/>
            <a:ext cx="7863840" cy="43891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CORRECT ❌ INCORRECT</a:t>
            </a:r>
            <a:endParaRPr lang="en-US" sz="1500" dirty="0"/>
          </a:p>
        </p:txBody>
      </p:sp>
      <p:sp>
        <p:nvSpPr>
          <p:cNvPr id="15" name="Text 13"/>
          <p:cNvSpPr/>
          <p:nvPr/>
        </p:nvSpPr>
        <p:spPr>
          <a:xfrm>
            <a:off x="457200" y="3977640"/>
            <a:ext cx="8229600" cy="347472"/>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Find the target word. Write it in your notebook.</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Dialogue Punctuation — Identify</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ANSWERS REVEALED</a:t>
            </a:r>
            <a:endParaRPr lang="en-US" sz="1100" dirty="0"/>
          </a:p>
        </p:txBody>
      </p:sp>
      <p:sp>
        <p:nvSpPr>
          <p:cNvPr id="7" name="Shape 5"/>
          <p:cNvSpPr/>
          <p:nvPr/>
        </p:nvSpPr>
        <p:spPr>
          <a:xfrm>
            <a:off x="365760" y="1078992"/>
            <a:ext cx="8412480" cy="621792"/>
          </a:xfrm>
          <a:prstGeom prst="roundRect">
            <a:avLst>
              <a:gd name="adj" fmla="val 11765"/>
            </a:avLst>
          </a:prstGeom>
          <a:solidFill>
            <a:srgbClr val="E8F8E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43891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CORRECT ❌ INCORRECT</a:t>
            </a:r>
            <a:endParaRPr lang="en-US" sz="1500" dirty="0"/>
          </a:p>
        </p:txBody>
      </p:sp>
      <p:sp>
        <p:nvSpPr>
          <p:cNvPr id="9" name="Shape 7"/>
          <p:cNvSpPr/>
          <p:nvPr/>
        </p:nvSpPr>
        <p:spPr>
          <a:xfrm>
            <a:off x="365760" y="1792224"/>
            <a:ext cx="8412480" cy="621792"/>
          </a:xfrm>
          <a:prstGeom prst="roundRect">
            <a:avLst>
              <a:gd name="adj" fmla="val 11765"/>
            </a:avLst>
          </a:prstGeom>
          <a:solidFill>
            <a:srgbClr val="E8F8E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1883664"/>
            <a:ext cx="7863840" cy="43891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CORRECT ❌ INCORRECT</a:t>
            </a:r>
            <a:endParaRPr lang="en-US" sz="1500" dirty="0"/>
          </a:p>
        </p:txBody>
      </p:sp>
      <p:sp>
        <p:nvSpPr>
          <p:cNvPr id="11" name="Shape 9"/>
          <p:cNvSpPr/>
          <p:nvPr/>
        </p:nvSpPr>
        <p:spPr>
          <a:xfrm>
            <a:off x="365760" y="2505456"/>
            <a:ext cx="8412480" cy="621792"/>
          </a:xfrm>
          <a:prstGeom prst="roundRect">
            <a:avLst>
              <a:gd name="adj" fmla="val 11765"/>
            </a:avLst>
          </a:prstGeom>
          <a:solidFill>
            <a:srgbClr val="E8F8E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596896"/>
            <a:ext cx="7863840" cy="43891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CORRECT ❌ INCORRECT</a:t>
            </a:r>
            <a:endParaRPr lang="en-US" sz="1500" dirty="0"/>
          </a:p>
        </p:txBody>
      </p:sp>
      <p:sp>
        <p:nvSpPr>
          <p:cNvPr id="13" name="Shape 11"/>
          <p:cNvSpPr/>
          <p:nvPr/>
        </p:nvSpPr>
        <p:spPr>
          <a:xfrm>
            <a:off x="365760" y="3218688"/>
            <a:ext cx="8412480" cy="621792"/>
          </a:xfrm>
          <a:prstGeom prst="roundRect">
            <a:avLst>
              <a:gd name="adj" fmla="val 11765"/>
            </a:avLst>
          </a:prstGeom>
          <a:solidFill>
            <a:srgbClr val="E8F8E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10128"/>
            <a:ext cx="7863840" cy="43891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CORRECT ❌ INCORRECT</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Cumulative Review Sort</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THE WORDS</a:t>
            </a:r>
            <a:endParaRPr lang="en-US" sz="1100" dirty="0"/>
          </a:p>
        </p:txBody>
      </p:sp>
      <p:sp>
        <p:nvSpPr>
          <p:cNvPr id="7" name="Shape 5"/>
          <p:cNvSpPr/>
          <p:nvPr/>
        </p:nvSpPr>
        <p:spPr>
          <a:xfrm>
            <a:off x="365760" y="1024128"/>
            <a:ext cx="8412480" cy="685800"/>
          </a:xfrm>
          <a:prstGeom prst="roundRect">
            <a:avLst>
              <a:gd name="adj" fmla="val 13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078992"/>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BANK</a:t>
            </a:r>
            <a:endParaRPr lang="en-US" sz="1100" dirty="0"/>
          </a:p>
        </p:txBody>
      </p:sp>
      <p:sp>
        <p:nvSpPr>
          <p:cNvPr id="9" name="Text 7"/>
          <p:cNvSpPr/>
          <p:nvPr/>
        </p:nvSpPr>
        <p:spPr>
          <a:xfrm>
            <a:off x="594360" y="1325880"/>
            <a:ext cx="7863840" cy="32004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conduct   -   reform   -   erupt   -   introduce   -   treachery   -   shield   -   combat   -   unbroken   -   dishonor   -   misbehave</a:t>
            </a:r>
            <a:endParaRPr lang="en-US" sz="1600" dirty="0"/>
          </a:p>
        </p:txBody>
      </p:sp>
      <p:sp>
        <p:nvSpPr>
          <p:cNvPr id="10" name="Text 8"/>
          <p:cNvSpPr/>
          <p:nvPr/>
        </p:nvSpPr>
        <p:spPr>
          <a:xfrm>
            <a:off x="365760" y="18745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INTO GROUPS</a:t>
            </a:r>
            <a:endParaRPr lang="en-US" sz="1100" dirty="0"/>
          </a:p>
        </p:txBody>
      </p:sp>
      <p:sp>
        <p:nvSpPr>
          <p:cNvPr id="11" name="Shape 9"/>
          <p:cNvSpPr/>
          <p:nvPr/>
        </p:nvSpPr>
        <p:spPr>
          <a:xfrm>
            <a:off x="365760" y="2176272"/>
            <a:ext cx="4114800" cy="1051560"/>
          </a:xfrm>
          <a:prstGeom prst="roundRect">
            <a:avLst>
              <a:gd name="adj" fmla="val 8696"/>
            </a:avLst>
          </a:prstGeom>
          <a:solidFill>
            <a:srgbClr val="E8F8EF"/>
          </a:solidFill>
          <a:ln w="19050">
            <a:solidFill>
              <a:srgbClr val="4A7C2E"/>
            </a:solidFill>
            <a:prstDash val="solid"/>
          </a:ln>
        </p:spPr>
      </p:sp>
      <p:sp>
        <p:nvSpPr>
          <p:cNvPr id="12" name="Text 10"/>
          <p:cNvSpPr/>
          <p:nvPr/>
        </p:nvSpPr>
        <p:spPr>
          <a:xfrm>
            <a:off x="502920" y="2286000"/>
            <a:ext cx="3840480" cy="411480"/>
          </a:xfrm>
          <a:prstGeom prst="rect">
            <a:avLst/>
          </a:prstGeom>
          <a:noFill/>
          <a:ln/>
        </p:spPr>
        <p:txBody>
          <a:bodyPr wrap="square" lIns="0" tIns="0" rIns="0" bIns="0" rtlCol="0" anchor="ctr"/>
          <a:lstStyle/>
          <a:p>
            <a:pPr indent="0" marL="0">
              <a:buNone/>
            </a:pPr>
            <a:r>
              <a:rPr lang="en-US" sz="1300" b="1" dirty="0">
                <a:solidFill>
                  <a:srgbClr val="4A7C2E"/>
                </a:solidFill>
                <a:latin typeface="Calibri" pitchFamily="34" charset="0"/>
                <a:ea typeface="Calibri" pitchFamily="34" charset="-122"/>
                <a:cs typeface="Calibri" pitchFamily="34" charset="-120"/>
              </a:rPr>
              <a:t>🌱 Latin Root</a:t>
            </a:r>
            <a:endParaRPr lang="en-US" sz="1300" dirty="0"/>
          </a:p>
        </p:txBody>
      </p:sp>
      <p:sp>
        <p:nvSpPr>
          <p:cNvPr id="13" name="Shape 11"/>
          <p:cNvSpPr/>
          <p:nvPr/>
        </p:nvSpPr>
        <p:spPr>
          <a:xfrm>
            <a:off x="4800600" y="2176272"/>
            <a:ext cx="4114800" cy="1051560"/>
          </a:xfrm>
          <a:prstGeom prst="roundRect">
            <a:avLst>
              <a:gd name="adj" fmla="val 8696"/>
            </a:avLst>
          </a:prstGeom>
          <a:solidFill>
            <a:srgbClr val="F0E8FF"/>
          </a:solidFill>
          <a:ln w="19050">
            <a:solidFill>
              <a:srgbClr val="5C2D91"/>
            </a:solidFill>
            <a:prstDash val="solid"/>
          </a:ln>
        </p:spPr>
      </p:sp>
      <p:sp>
        <p:nvSpPr>
          <p:cNvPr id="14" name="Text 12"/>
          <p:cNvSpPr/>
          <p:nvPr/>
        </p:nvSpPr>
        <p:spPr>
          <a:xfrm>
            <a:off x="4937760" y="2286000"/>
            <a:ext cx="3840480" cy="411480"/>
          </a:xfrm>
          <a:prstGeom prst="rect">
            <a:avLst/>
          </a:prstGeom>
          <a:noFill/>
          <a:ln/>
        </p:spPr>
        <p:txBody>
          <a:bodyPr wrap="square" lIns="0" tIns="0" rIns="0" bIns="0" rtlCol="0" anchor="ctr"/>
          <a:lstStyle/>
          <a:p>
            <a:pPr indent="0" marL="0">
              <a:buNone/>
            </a:pPr>
            <a:r>
              <a:rPr lang="en-US" sz="1300" b="1" dirty="0">
                <a:solidFill>
                  <a:srgbClr val="5C2D91"/>
                </a:solidFill>
                <a:latin typeface="Calibri" pitchFamily="34" charset="0"/>
                <a:ea typeface="Calibri" pitchFamily="34" charset="-122"/>
                <a:cs typeface="Calibri" pitchFamily="34" charset="-120"/>
              </a:rPr>
              <a:t>🔊 Vowel Team</a:t>
            </a:r>
            <a:endParaRPr lang="en-US" sz="1300" dirty="0"/>
          </a:p>
        </p:txBody>
      </p:sp>
      <p:sp>
        <p:nvSpPr>
          <p:cNvPr id="15" name="Shape 13"/>
          <p:cNvSpPr/>
          <p:nvPr/>
        </p:nvSpPr>
        <p:spPr>
          <a:xfrm>
            <a:off x="365760" y="3364992"/>
            <a:ext cx="4114800" cy="1051560"/>
          </a:xfrm>
          <a:prstGeom prst="roundRect">
            <a:avLst>
              <a:gd name="adj" fmla="val 8696"/>
            </a:avLst>
          </a:prstGeom>
          <a:solidFill>
            <a:srgbClr val="FEF6E8"/>
          </a:solidFill>
          <a:ln w="19050">
            <a:solidFill>
              <a:srgbClr val="B8860B"/>
            </a:solidFill>
            <a:prstDash val="solid"/>
          </a:ln>
        </p:spPr>
      </p:sp>
      <p:sp>
        <p:nvSpPr>
          <p:cNvPr id="16" name="Text 14"/>
          <p:cNvSpPr/>
          <p:nvPr/>
        </p:nvSpPr>
        <p:spPr>
          <a:xfrm>
            <a:off x="502920" y="3474720"/>
            <a:ext cx="3840480" cy="411480"/>
          </a:xfrm>
          <a:prstGeom prst="rect">
            <a:avLst/>
          </a:prstGeom>
          <a:noFill/>
          <a:ln/>
        </p:spPr>
        <p:txBody>
          <a:bodyPr wrap="square" lIns="0" tIns="0" rIns="0" bIns="0" rtlCol="0" anchor="ctr"/>
          <a:lstStyle/>
          <a:p>
            <a:pPr indent="0" marL="0">
              <a:buNone/>
            </a:pPr>
            <a:r>
              <a:rPr lang="en-US" sz="1300" b="1" dirty="0">
                <a:solidFill>
                  <a:srgbClr val="B8860B"/>
                </a:solidFill>
                <a:latin typeface="Calibri" pitchFamily="34" charset="0"/>
                <a:ea typeface="Calibri" pitchFamily="34" charset="-122"/>
                <a:cs typeface="Calibri" pitchFamily="34" charset="-120"/>
              </a:rPr>
              <a:t>🔤 Prefix</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Cumulative Review Sort</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SORTED</a:t>
            </a:r>
            <a:endParaRPr lang="en-US" sz="1100" dirty="0"/>
          </a:p>
        </p:txBody>
      </p:sp>
      <p:sp>
        <p:nvSpPr>
          <p:cNvPr id="7" name="Shape 5"/>
          <p:cNvSpPr/>
          <p:nvPr/>
        </p:nvSpPr>
        <p:spPr>
          <a:xfrm>
            <a:off x="365760" y="1024128"/>
            <a:ext cx="2651760" cy="1801368"/>
          </a:xfrm>
          <a:prstGeom prst="roundRect">
            <a:avLst>
              <a:gd name="adj" fmla="val 5076"/>
            </a:avLst>
          </a:prstGeom>
          <a:solidFill>
            <a:srgbClr val="E8F8EF"/>
          </a:solidFill>
          <a:ln w="19050">
            <a:solidFill>
              <a:srgbClr val="4A7C2E"/>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02920" y="1097280"/>
            <a:ext cx="2377440" cy="347472"/>
          </a:xfrm>
          <a:prstGeom prst="rect">
            <a:avLst/>
          </a:prstGeom>
          <a:noFill/>
          <a:ln/>
        </p:spPr>
        <p:txBody>
          <a:bodyPr wrap="square" lIns="0" tIns="0" rIns="0" bIns="0" rtlCol="0" anchor="ctr"/>
          <a:lstStyle/>
          <a:p>
            <a:pPr indent="0" marL="0">
              <a:buNone/>
            </a:pPr>
            <a:r>
              <a:rPr lang="en-US" sz="1200" b="1" dirty="0">
                <a:solidFill>
                  <a:srgbClr val="4A7C2E"/>
                </a:solidFill>
                <a:latin typeface="Calibri" pitchFamily="34" charset="0"/>
                <a:ea typeface="Calibri" pitchFamily="34" charset="-122"/>
                <a:cs typeface="Calibri" pitchFamily="34" charset="-120"/>
              </a:rPr>
              <a:t>🌱 Latin Root</a:t>
            </a:r>
            <a:endParaRPr lang="en-US" sz="1200" dirty="0"/>
          </a:p>
        </p:txBody>
      </p:sp>
      <p:sp>
        <p:nvSpPr>
          <p:cNvPr id="9" name="Text 7"/>
          <p:cNvSpPr/>
          <p:nvPr/>
        </p:nvSpPr>
        <p:spPr>
          <a:xfrm>
            <a:off x="594360" y="1463040"/>
            <a:ext cx="228600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conduct</a:t>
            </a:r>
            <a:endParaRPr lang="en-US" sz="1400" dirty="0"/>
          </a:p>
        </p:txBody>
      </p:sp>
      <p:sp>
        <p:nvSpPr>
          <p:cNvPr id="10" name="Text 8"/>
          <p:cNvSpPr/>
          <p:nvPr/>
        </p:nvSpPr>
        <p:spPr>
          <a:xfrm>
            <a:off x="594360" y="1810512"/>
            <a:ext cx="228600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reform</a:t>
            </a:r>
            <a:endParaRPr lang="en-US" sz="1400" dirty="0"/>
          </a:p>
        </p:txBody>
      </p:sp>
      <p:sp>
        <p:nvSpPr>
          <p:cNvPr id="11" name="Text 9"/>
          <p:cNvSpPr/>
          <p:nvPr/>
        </p:nvSpPr>
        <p:spPr>
          <a:xfrm>
            <a:off x="594360" y="2157984"/>
            <a:ext cx="228600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erupt</a:t>
            </a:r>
            <a:endParaRPr lang="en-US" sz="1400" dirty="0"/>
          </a:p>
        </p:txBody>
      </p:sp>
      <p:sp>
        <p:nvSpPr>
          <p:cNvPr id="12" name="Text 10"/>
          <p:cNvSpPr/>
          <p:nvPr/>
        </p:nvSpPr>
        <p:spPr>
          <a:xfrm>
            <a:off x="594360" y="2505456"/>
            <a:ext cx="228600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introduce</a:t>
            </a:r>
            <a:endParaRPr lang="en-US" sz="1400" dirty="0"/>
          </a:p>
        </p:txBody>
      </p:sp>
      <p:sp>
        <p:nvSpPr>
          <p:cNvPr id="13" name="Shape 11"/>
          <p:cNvSpPr/>
          <p:nvPr/>
        </p:nvSpPr>
        <p:spPr>
          <a:xfrm>
            <a:off x="3218688" y="1024128"/>
            <a:ext cx="2651760" cy="1453896"/>
          </a:xfrm>
          <a:prstGeom prst="roundRect">
            <a:avLst>
              <a:gd name="adj" fmla="val 6289"/>
            </a:avLst>
          </a:prstGeom>
          <a:solidFill>
            <a:srgbClr val="F0E8FF"/>
          </a:solidFill>
          <a:ln w="19050">
            <a:solidFill>
              <a:srgbClr val="5C2D91"/>
            </a:solidFill>
            <a:prstDash val="solid"/>
          </a:ln>
          <a:effectLst>
            <a:outerShdw sx="100000" sy="100000" kx="0" ky="0" algn="bl" rotWithShape="0" blurRad="101600" dist="38100" dir="2700000">
              <a:srgbClr val="000000">
                <a:alpha val="12000"/>
              </a:srgbClr>
            </a:outerShdw>
          </a:effectLst>
        </p:spPr>
      </p:sp>
      <p:sp>
        <p:nvSpPr>
          <p:cNvPr id="14" name="Text 12"/>
          <p:cNvSpPr/>
          <p:nvPr/>
        </p:nvSpPr>
        <p:spPr>
          <a:xfrm>
            <a:off x="3355848" y="1097280"/>
            <a:ext cx="2377440" cy="347472"/>
          </a:xfrm>
          <a:prstGeom prst="rect">
            <a:avLst/>
          </a:prstGeom>
          <a:noFill/>
          <a:ln/>
        </p:spPr>
        <p:txBody>
          <a:bodyPr wrap="square" lIns="0" tIns="0" rIns="0" bIns="0" rtlCol="0" anchor="ctr"/>
          <a:lstStyle/>
          <a:p>
            <a:pPr indent="0" marL="0">
              <a:buNone/>
            </a:pPr>
            <a:r>
              <a:rPr lang="en-US" sz="1200" b="1" dirty="0">
                <a:solidFill>
                  <a:srgbClr val="5C2D91"/>
                </a:solidFill>
                <a:latin typeface="Calibri" pitchFamily="34" charset="0"/>
                <a:ea typeface="Calibri" pitchFamily="34" charset="-122"/>
                <a:cs typeface="Calibri" pitchFamily="34" charset="-120"/>
              </a:rPr>
              <a:t>🔊 Vowel Team</a:t>
            </a:r>
            <a:endParaRPr lang="en-US" sz="1200" dirty="0"/>
          </a:p>
        </p:txBody>
      </p:sp>
      <p:sp>
        <p:nvSpPr>
          <p:cNvPr id="15" name="Text 13"/>
          <p:cNvSpPr/>
          <p:nvPr/>
        </p:nvSpPr>
        <p:spPr>
          <a:xfrm>
            <a:off x="3447288" y="1463040"/>
            <a:ext cx="228600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treachery</a:t>
            </a:r>
            <a:endParaRPr lang="en-US" sz="1400" dirty="0"/>
          </a:p>
        </p:txBody>
      </p:sp>
      <p:sp>
        <p:nvSpPr>
          <p:cNvPr id="16" name="Text 14"/>
          <p:cNvSpPr/>
          <p:nvPr/>
        </p:nvSpPr>
        <p:spPr>
          <a:xfrm>
            <a:off x="3447288" y="1810512"/>
            <a:ext cx="228600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shield</a:t>
            </a:r>
            <a:endParaRPr lang="en-US" sz="1400" dirty="0"/>
          </a:p>
        </p:txBody>
      </p:sp>
      <p:sp>
        <p:nvSpPr>
          <p:cNvPr id="17" name="Text 15"/>
          <p:cNvSpPr/>
          <p:nvPr/>
        </p:nvSpPr>
        <p:spPr>
          <a:xfrm>
            <a:off x="3447288" y="2157984"/>
            <a:ext cx="228600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combat</a:t>
            </a:r>
            <a:endParaRPr lang="en-US" sz="1400" dirty="0"/>
          </a:p>
        </p:txBody>
      </p:sp>
      <p:sp>
        <p:nvSpPr>
          <p:cNvPr id="18" name="Shape 16"/>
          <p:cNvSpPr/>
          <p:nvPr/>
        </p:nvSpPr>
        <p:spPr>
          <a:xfrm>
            <a:off x="6071616" y="1024128"/>
            <a:ext cx="2651760" cy="1453896"/>
          </a:xfrm>
          <a:prstGeom prst="roundRect">
            <a:avLst>
              <a:gd name="adj" fmla="val 6289"/>
            </a:avLst>
          </a:prstGeom>
          <a:solidFill>
            <a:srgbClr val="FEF6E8"/>
          </a:solidFill>
          <a:ln w="19050">
            <a:solidFill>
              <a:srgbClr val="B8860B"/>
            </a:solidFill>
            <a:prstDash val="solid"/>
          </a:ln>
          <a:effectLst>
            <a:outerShdw sx="100000" sy="100000" kx="0" ky="0" algn="bl" rotWithShape="0" blurRad="101600" dist="38100" dir="2700000">
              <a:srgbClr val="000000">
                <a:alpha val="12000"/>
              </a:srgbClr>
            </a:outerShdw>
          </a:effectLst>
        </p:spPr>
      </p:sp>
      <p:sp>
        <p:nvSpPr>
          <p:cNvPr id="19" name="Text 17"/>
          <p:cNvSpPr/>
          <p:nvPr/>
        </p:nvSpPr>
        <p:spPr>
          <a:xfrm>
            <a:off x="6208776" y="1097280"/>
            <a:ext cx="2377440" cy="347472"/>
          </a:xfrm>
          <a:prstGeom prst="rect">
            <a:avLst/>
          </a:prstGeom>
          <a:noFill/>
          <a:ln/>
        </p:spPr>
        <p:txBody>
          <a:bodyPr wrap="square" lIns="0" tIns="0" rIns="0" bIns="0" rtlCol="0" anchor="ctr"/>
          <a:lstStyle/>
          <a:p>
            <a:pPr indent="0" marL="0">
              <a:buNone/>
            </a:pPr>
            <a:r>
              <a:rPr lang="en-US" sz="1200" b="1" dirty="0">
                <a:solidFill>
                  <a:srgbClr val="B8860B"/>
                </a:solidFill>
                <a:latin typeface="Calibri" pitchFamily="34" charset="0"/>
                <a:ea typeface="Calibri" pitchFamily="34" charset="-122"/>
                <a:cs typeface="Calibri" pitchFamily="34" charset="-120"/>
              </a:rPr>
              <a:t>🔤 Prefix</a:t>
            </a:r>
            <a:endParaRPr lang="en-US" sz="1200" dirty="0"/>
          </a:p>
        </p:txBody>
      </p:sp>
      <p:sp>
        <p:nvSpPr>
          <p:cNvPr id="20" name="Text 18"/>
          <p:cNvSpPr/>
          <p:nvPr/>
        </p:nvSpPr>
        <p:spPr>
          <a:xfrm>
            <a:off x="6300216" y="1463040"/>
            <a:ext cx="228600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unbroken</a:t>
            </a:r>
            <a:endParaRPr lang="en-US" sz="1400" dirty="0"/>
          </a:p>
        </p:txBody>
      </p:sp>
      <p:sp>
        <p:nvSpPr>
          <p:cNvPr id="21" name="Text 19"/>
          <p:cNvSpPr/>
          <p:nvPr/>
        </p:nvSpPr>
        <p:spPr>
          <a:xfrm>
            <a:off x="6300216" y="1810512"/>
            <a:ext cx="228600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dishonor</a:t>
            </a:r>
            <a:endParaRPr lang="en-US" sz="1400" dirty="0"/>
          </a:p>
        </p:txBody>
      </p:sp>
      <p:sp>
        <p:nvSpPr>
          <p:cNvPr id="22" name="Text 20"/>
          <p:cNvSpPr/>
          <p:nvPr/>
        </p:nvSpPr>
        <p:spPr>
          <a:xfrm>
            <a:off x="6300216" y="2157984"/>
            <a:ext cx="228600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misbehave</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Chapter 14</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How All Were Very Busy</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These soldiers ride forward even though they know what waits for them in “the valley of Death.” In Chapter 14, Peter steps into single combat with Miraz, knowing that if he loses, the battle is lost. How is Peter’s courage like the Light Brigade’s? What does it mean to go forward when you’re afraid?</a:t>
            </a:r>
            <a:endParaRPr lang="en-US" sz="1400" dirty="0"/>
          </a:p>
        </p:txBody>
      </p:sp>
      <p:sp>
        <p:nvSpPr>
          <p:cNvPr id="8" name="Shape 6"/>
          <p:cNvSpPr/>
          <p:nvPr/>
        </p:nvSpPr>
        <p:spPr>
          <a:xfrm>
            <a:off x="365760" y="2651760"/>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743200"/>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Peter tells Edmund, “Give my love to everyone at home, Ed, if he gets me.” He says this quietly, before the combat resumes. Why does Peter say this now? What does this moment tell you about what Peter believes might happen — and what kind of person says something like that before a fight?</a:t>
            </a:r>
            <a:endParaRPr lang="en-US" sz="1400" dirty="0"/>
          </a:p>
        </p:txBody>
      </p:sp>
      <p:sp>
        <p:nvSpPr>
          <p:cNvPr id="10" name="Shape 8"/>
          <p:cNvSpPr/>
          <p:nvPr/>
        </p:nvSpPr>
        <p:spPr>
          <a:xfrm>
            <a:off x="365760" y="3584448"/>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675888"/>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Miraz trips on a tussock of grass. Peter steps back instead of striking. Edmund thinks “Need he be as gentlemanly as all that?” Why does Peter step back? What does it cost him? And what does that choice say about the difference between winning and fighting with honor?</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 like a Reader, Writer, Mimic</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MENTOR SENTENCE</a:t>
            </a:r>
            <a:endParaRPr lang="en-US" sz="1100" dirty="0"/>
          </a:p>
        </p:txBody>
      </p:sp>
      <p:sp>
        <p:nvSpPr>
          <p:cNvPr id="5" name="Shape 3"/>
          <p:cNvSpPr/>
          <p:nvPr/>
        </p:nvSpPr>
        <p:spPr>
          <a:xfrm>
            <a:off x="365760" y="1042416"/>
            <a:ext cx="8412480" cy="810768"/>
          </a:xfrm>
          <a:prstGeom prst="roundRect">
            <a:avLst>
              <a:gd name="adj" fmla="val 11278"/>
            </a:avLst>
          </a:prstGeom>
          <a:solidFill>
            <a:srgbClr val="F0E8FF"/>
          </a:solidFill>
          <a:ln w="12700">
            <a:solidFill>
              <a:srgbClr val="8B6FC0"/>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582168"/>
          </a:xfrm>
          <a:prstGeom prst="rect">
            <a:avLst/>
          </a:prstGeom>
          <a:noFill/>
          <a:ln/>
        </p:spPr>
        <p:txBody>
          <a:bodyPr wrap="square" lIns="0" tIns="0" rIns="0" bIns="0" rtlCol="0" anchor="ctr"/>
          <a:lstStyle/>
          <a:p>
            <a:pPr indent="0" marL="0">
              <a:buNone/>
            </a:pPr>
            <a:r>
              <a:rPr lang="en-US" sz="1600" i="1" dirty="0">
                <a:solidFill>
                  <a:srgbClr val="0E1C42"/>
                </a:solidFill>
                <a:latin typeface="Calibri" pitchFamily="34" charset="0"/>
                <a:ea typeface="Calibri" pitchFamily="34" charset="-122"/>
                <a:cs typeface="Calibri" pitchFamily="34" charset="-120"/>
              </a:rPr>
              <a:t>“Grabbed Miraz’s arm as it came down,” said Trumpkin, dancing with delight. “There’s a man for you! Uses his enemy’s arm as a ladder.”</a:t>
            </a:r>
            <a:endParaRPr lang="en-US" sz="1600" dirty="0"/>
          </a:p>
        </p:txBody>
      </p:sp>
      <p:sp>
        <p:nvSpPr>
          <p:cNvPr id="7" name="Text 5"/>
          <p:cNvSpPr/>
          <p:nvPr/>
        </p:nvSpPr>
        <p:spPr>
          <a:xfrm>
            <a:off x="365760" y="19812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YOUR THREE JOBS</a:t>
            </a:r>
            <a:endParaRPr lang="en-US" sz="1100" dirty="0"/>
          </a:p>
        </p:txBody>
      </p:sp>
      <p:sp>
        <p:nvSpPr>
          <p:cNvPr id="8" name="Shape 6"/>
          <p:cNvSpPr/>
          <p:nvPr/>
        </p:nvSpPr>
        <p:spPr>
          <a:xfrm>
            <a:off x="365760" y="2237232"/>
            <a:ext cx="8412480" cy="1133856"/>
          </a:xfrm>
          <a:prstGeom prst="roundRect">
            <a:avLst>
              <a:gd name="adj" fmla="val 8065"/>
            </a:avLst>
          </a:prstGeom>
          <a:solidFill>
            <a:srgbClr val="E5F7FC"/>
          </a:solidFill>
          <a:ln/>
          <a:effectLst>
            <a:outerShdw sx="100000" sy="100000" kx="0" ky="0" algn="bl" rotWithShape="0" blurRad="101600" dist="38100" dir="2700000">
              <a:srgbClr val="000000">
                <a:alpha val="12000"/>
              </a:srgbClr>
            </a:outerShdw>
          </a:effectLst>
        </p:spPr>
      </p:sp>
      <p:sp>
        <p:nvSpPr>
          <p:cNvPr id="9" name="Text 7"/>
          <p:cNvSpPr/>
          <p:nvPr/>
        </p:nvSpPr>
        <p:spPr>
          <a:xfrm>
            <a:off x="594360" y="2301240"/>
            <a:ext cx="2651760" cy="100584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Read like a Reader</a:t>
            </a:r>
            <a:endParaRPr lang="en-US" sz="1300" dirty="0"/>
          </a:p>
        </p:txBody>
      </p:sp>
      <p:sp>
        <p:nvSpPr>
          <p:cNvPr id="10" name="Text 8"/>
          <p:cNvSpPr/>
          <p:nvPr/>
        </p:nvSpPr>
        <p:spPr>
          <a:xfrm>
            <a:off x="3337560" y="2301240"/>
            <a:ext cx="5303520" cy="1005840"/>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What is Trumpkin describing? He’s retelling a moment from the combat — excitedly, in fragments. Why does he speak in a fragment (“Grabbed Miraz’s arm”) instead of a complete sentence? What does that tell you about how he’s feeling right now?</a:t>
            </a:r>
            <a:endParaRPr lang="en-US" sz="1200" dirty="0"/>
          </a:p>
        </p:txBody>
      </p:sp>
      <p:sp>
        <p:nvSpPr>
          <p:cNvPr id="11" name="Shape 9"/>
          <p:cNvSpPr/>
          <p:nvPr/>
        </p:nvSpPr>
        <p:spPr>
          <a:xfrm>
            <a:off x="365760" y="3462528"/>
            <a:ext cx="8412480" cy="1335024"/>
          </a:xfrm>
          <a:prstGeom prst="roundRect">
            <a:avLst>
              <a:gd name="adj" fmla="val 6849"/>
            </a:avLst>
          </a:prstGeom>
          <a:solidFill>
            <a:srgbClr val="F0E8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526536"/>
            <a:ext cx="2651760" cy="1207008"/>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Read like a Writer</a:t>
            </a:r>
            <a:endParaRPr lang="en-US" sz="1300" dirty="0"/>
          </a:p>
        </p:txBody>
      </p:sp>
      <p:sp>
        <p:nvSpPr>
          <p:cNvPr id="13" name="Text 11"/>
          <p:cNvSpPr/>
          <p:nvPr/>
        </p:nvSpPr>
        <p:spPr>
          <a:xfrm>
            <a:off x="3337560" y="3526536"/>
            <a:ext cx="5303520" cy="1207008"/>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Lewis uses an action fragment as dialogue, then a speaker tag with action (“said Trumpkin, dancing with delight”), then Trumpkin’s excited commentary. Notice how the fragment creates energy — it feels rushed and thrilled. Notice also the comma after “Trumpkin” that links his action to his speech. How does this pattern make you feel the excitement?</a:t>
            </a:r>
            <a:endParaRPr lang="en-US" sz="1200" dirty="0"/>
          </a:p>
        </p:txBody>
      </p:sp>
      <p:sp>
        <p:nvSpPr>
          <p:cNvPr id="14" name="Shape 12"/>
          <p:cNvSpPr/>
          <p:nvPr/>
        </p:nvSpPr>
        <p:spPr>
          <a:xfrm>
            <a:off x="365760" y="4888992"/>
            <a:ext cx="8412480" cy="932688"/>
          </a:xfrm>
          <a:prstGeom prst="roundRect">
            <a:avLst>
              <a:gd name="adj" fmla="val 9804"/>
            </a:avLst>
          </a:prstGeom>
          <a:solidFill>
            <a:srgbClr val="E8F8EF"/>
          </a:solidFill>
          <a:ln/>
          <a:effectLst>
            <a:outerShdw sx="100000" sy="100000" kx="0" ky="0" algn="bl" rotWithShape="0" blurRad="101600" dist="38100" dir="2700000">
              <a:srgbClr val="000000">
                <a:alpha val="12000"/>
              </a:srgbClr>
            </a:outerShdw>
          </a:effectLst>
        </p:spPr>
      </p:sp>
      <p:sp>
        <p:nvSpPr>
          <p:cNvPr id="15" name="Text 13"/>
          <p:cNvSpPr/>
          <p:nvPr/>
        </p:nvSpPr>
        <p:spPr>
          <a:xfrm>
            <a:off x="594360" y="4953000"/>
            <a:ext cx="2651760" cy="804672"/>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Mimic</a:t>
            </a:r>
            <a:endParaRPr lang="en-US" sz="1300" dirty="0"/>
          </a:p>
        </p:txBody>
      </p:sp>
      <p:sp>
        <p:nvSpPr>
          <p:cNvPr id="16" name="Text 14"/>
          <p:cNvSpPr/>
          <p:nvPr/>
        </p:nvSpPr>
        <p:spPr>
          <a:xfrm>
            <a:off x="3337560" y="4953000"/>
            <a:ext cx="5303520" cy="804672"/>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Write your own version using this pattern: an action fragment as dialogue, then a speaker tag with movement, then excited commentary. It can be about any character — from this book or your own imagination.</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Literary Analysis — Drafting the Essay</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Draft your final evidence paragraph and a concluding sentence.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2026-07-11T22:29:48Z</dcterms:created>
  <dcterms:modified xsi:type="dcterms:W3CDTF">2026-07-11T22:29:48Z</dcterms:modified>
</cp:coreProperties>
</file>