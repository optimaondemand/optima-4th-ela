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16, Day 1.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Define an opinion using a specific story example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15-minute timer. Craft move: Define an opinion using a specific story example as evidence.. Level-up: ⭐ State your opinion clearly  ⭐⭐ Use this scene as your example  ⭐⭐⭐ Give one reason  ⭐⭐⭐⭐ Consider both types of danger before choosing.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Check that your opinion answers the actual question, not a different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"Share your opinion about facing known versus surprising danger."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Last week, we learned how Danish fishermen risked everything to rescue their Jewish neighbors. Today: Meet Annemarie and find out what she is running from. Big Q: As you read today, watch for the setting, the characters, and the moment of danger. What is Copenhagen like in 1943? Who is Annemarie? What small thing happens that tells you life is not normal?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"Annemarie and her sister ran down the street."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"ellen and her family lived in copenhagen they were annemaries neighbors" Corrected: "Ellen and her family lived in Copenhagen. They were Annemarie’s neighbors."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"ellen and her family lived in copenhagen they were annemaries neighbors" Corrected: "Ellen and her family lived in Copenhagen. They were Annemarie’s neighbors."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interrupt — — to break in between | erupt — — to break out (volcano, news) | conduct — — to lead together; how a person behaves | introduce — — to lead someone or something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interrupt: To stop something while it is happening. | conduct: How someone behaves or acts — or, to lead or guide. | relocate: To move someone or something to a new place — sometimes by force. | suspicion: A feeling that something is wrong, even if you don’t have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"Annemarie ran with her little sister." -&gt; her | "The king rode his horse alone." -&gt; his | "Ellen hid with their family for the night." -&gt; their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"Annemarie ran with her little sister." -&gt; her | "The king rode his horse alone." -&gt; his | "Ellen hid with their family for the night." -&gt; their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Everyday word (schwa): banana, sofa, above | Academic word (schwa): occupation, resistance, soldier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Everyday word (schwa): banana, sofa, above | Academic word (schwa): occupation, resistance, soldier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Opinion Writing — Practicing Claims
Focus: Write a claim about bravery using this week's reading as your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6E9BD9">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6E9BD9"/>
                </a:solidFill>
                <a:latin typeface="Calibri" pitchFamily="34" charset="0"/>
                <a:ea typeface="Calibri" pitchFamily="34" charset="-122"/>
                <a:cs typeface="Calibri" pitchFamily="34" charset="-120"/>
              </a:rPr>
              <a:t>WEEK 16  ·  DAY 1</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1</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Why Are You Running?</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16  ·  Virtue: Courage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Annemarie and her sister ran down the street.</a:t>
            </a:r>
            <a:endParaRPr lang="en-US" sz="1600" dirty="0"/>
          </a:p>
        </p:txBody>
      </p:sp>
      <p:sp>
        <p:nvSpPr>
          <p:cNvPr id="7" name="Text 5"/>
          <p:cNvSpPr/>
          <p:nvPr/>
        </p:nvSpPr>
        <p:spPr>
          <a:xfrm>
            <a:off x="548640" y="2496312"/>
            <a:ext cx="8046720" cy="2441448"/>
          </a:xfrm>
          <a:prstGeom prst="rect">
            <a:avLst/>
          </a:prstGeom>
          <a:noFill/>
          <a:ln/>
        </p:spPr>
        <p:txBody>
          <a:bodyPr wrap="square" lIns="0" tIns="0" rIns="0" bIns="0" rtlCol="0" anchor="t"/>
          <a:lstStyle/>
          <a:p>
            <a:pPr indent="0" marL="0">
              <a:buNone/>
            </a:pPr>
            <a:r>
              <a:rPr lang="en-US" sz="1200" b="1" dirty="0">
                <a:solidFill>
                  <a:srgbClr val="8B6FC0"/>
                </a:solidFill>
                <a:latin typeface="Calibri" pitchFamily="34" charset="0"/>
                <a:ea typeface="Calibri" pitchFamily="34" charset="-122"/>
                <a:cs typeface="Calibri" pitchFamily="34" charset="-120"/>
              </a:rPr>
              <a:t>From the novel: </a:t>
            </a:r>
            <a:pPr indent="0" marL="0">
              <a:buNone/>
            </a:pPr>
            <a:r>
              <a:rPr lang="en-US" sz="1200" i="1" dirty="0">
                <a:solidFill>
                  <a:srgbClr val="1E293B"/>
                </a:solidFill>
                <a:latin typeface="Calibri" pitchFamily="34" charset="0"/>
                <a:ea typeface="Calibri" pitchFamily="34" charset="-122"/>
                <a:cs typeface="Calibri" pitchFamily="34" charset="-120"/>
              </a:rPr>
              <a:t>"Annemarie and her sister ran down the street."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E9BD9"/>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What does starting the book with running suggest about the danger these characters live with every day?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15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Write your opinion: is it braver to face danger you know is coming, or danger that surprises you? State your opinion and one reason, using this opening scene as your example.</a:t>
            </a:r>
            <a:endParaRPr lang="en-US" sz="1200" dirty="0"/>
          </a:p>
        </p:txBody>
      </p:sp>
      <p:sp>
        <p:nvSpPr>
          <p:cNvPr id="6" name="Shape 4"/>
          <p:cNvSpPr/>
          <p:nvPr/>
        </p:nvSpPr>
        <p:spPr>
          <a:xfrm>
            <a:off x="457200" y="2121408"/>
            <a:ext cx="8229600" cy="502920"/>
          </a:xfrm>
          <a:prstGeom prst="roundRect">
            <a:avLst>
              <a:gd name="adj" fmla="val 18182"/>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3931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Define an opinion using a specific story example as evidence.</a:t>
            </a:r>
            <a:endParaRPr lang="en-US" sz="1300" dirty="0"/>
          </a:p>
        </p:txBody>
      </p:sp>
      <p:sp>
        <p:nvSpPr>
          <p:cNvPr id="8" name="Text 6"/>
          <p:cNvSpPr/>
          <p:nvPr/>
        </p:nvSpPr>
        <p:spPr>
          <a:xfrm>
            <a:off x="548640" y="2715768"/>
            <a:ext cx="8046720" cy="431292"/>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State your opinion clearly  ⭐⭐ Use this scene as your example  ⭐⭐⭐ Give one reason  ⭐⭐⭐⭐ Consider both types of danger before choosing</a:t>
            </a:r>
            <a:endParaRPr lang="en-US" sz="1150" dirty="0"/>
          </a:p>
        </p:txBody>
      </p:sp>
      <p:sp>
        <p:nvSpPr>
          <p:cNvPr id="9" name="Text 7"/>
          <p:cNvSpPr/>
          <p:nvPr/>
        </p:nvSpPr>
        <p:spPr>
          <a:xfrm>
            <a:off x="548640" y="3220212"/>
            <a:ext cx="8046720" cy="1808988"/>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Check that your opinion answers the actual question, not a different one.</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Share your opinion about facing known versus surprising danger.</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Last week, we learned how Danish fishermen risked everything to rescue their Jewish neighbors.</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6E9BD9"/>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Meet Annemarie and find out what she is running from.</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As you read today, watch for the setting, the characters, and the moment of danger. What is Copenhagen like in 1943? Who is Annemarie? What small thing happens that tells you life is not normal?</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slow down at the start of a book. The first chapters tell you who the characters are, where they live, and what trouble is about to begin.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Annemarie and her sister ran down the street.</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ellen and her family lived in copenhagen they were annemaries neighbors</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ellen and her family lived in copenhagen they were annemaries neighbors</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74976"/>
            <a:ext cx="8412480" cy="960120"/>
          </a:xfrm>
          <a:prstGeom prst="roundRect">
            <a:avLst>
              <a:gd name="adj" fmla="val 9524"/>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2984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822448"/>
            <a:ext cx="7863840" cy="57607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Ellen and her family lived in Copenhagen. They were Annemarie’s neighbors.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Morphology</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Word Bases: rupt + duct/duce</a:t>
            </a:r>
            <a:endParaRPr lang="en-US" sz="1100" dirty="0"/>
          </a:p>
        </p:txBody>
      </p:sp>
      <p:sp>
        <p:nvSpPr>
          <p:cNvPr id="5" name="Shape 3"/>
          <p:cNvSpPr/>
          <p:nvPr/>
        </p:nvSpPr>
        <p:spPr>
          <a:xfrm>
            <a:off x="365760" y="1060704"/>
            <a:ext cx="8412480" cy="457200"/>
          </a:xfrm>
          <a:prstGeom prst="roundRect">
            <a:avLst>
              <a:gd name="adj" fmla="val 2000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15568"/>
            <a:ext cx="8046720" cy="365760"/>
          </a:xfrm>
          <a:prstGeom prst="rect">
            <a:avLst/>
          </a:prstGeom>
          <a:noFill/>
          <a:ln/>
        </p:spPr>
        <p:txBody>
          <a:bodyPr wrap="square" lIns="0" tIns="0" rIns="0" bIns="0" rtlCol="0" anchor="ctr"/>
          <a:lstStyle/>
          <a:p>
            <a:pPr indent="0" marL="0">
              <a:buNone/>
            </a:pPr>
            <a:r>
              <a:rPr lang="en-US" sz="1150" i="1" dirty="0">
                <a:solidFill>
                  <a:srgbClr val="8B6FC0"/>
                </a:solidFill>
                <a:latin typeface="Calibri" pitchFamily="34" charset="0"/>
                <a:ea typeface="Calibri" pitchFamily="34" charset="-122"/>
                <a:cs typeface="Calibri" pitchFamily="34" charset="-120"/>
              </a:rPr>
              <a:t>rupt is a Latin root meaning to break. duct and duce both mean to lead or to bring. Both roots show up in lots of historical and academic words.</a:t>
            </a:r>
            <a:endParaRPr lang="en-US" sz="1150" dirty="0"/>
          </a:p>
        </p:txBody>
      </p:sp>
      <p:sp>
        <p:nvSpPr>
          <p:cNvPr id="7" name="Text 5"/>
          <p:cNvSpPr/>
          <p:nvPr/>
        </p:nvSpPr>
        <p:spPr>
          <a:xfrm>
            <a:off x="365760" y="1591056"/>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PARTS REFERENCE</a:t>
            </a:r>
            <a:endParaRPr lang="en-US" sz="1100" dirty="0"/>
          </a:p>
        </p:txBody>
      </p:sp>
      <p:sp>
        <p:nvSpPr>
          <p:cNvPr id="8" name="Shape 6"/>
          <p:cNvSpPr/>
          <p:nvPr/>
        </p:nvSpPr>
        <p:spPr>
          <a:xfrm>
            <a:off x="365760" y="1847088"/>
            <a:ext cx="2011680" cy="662940"/>
          </a:xfrm>
          <a:prstGeom prst="roundRect">
            <a:avLst>
              <a:gd name="adj" fmla="val 11034"/>
            </a:avLst>
          </a:prstGeom>
          <a:solidFill>
            <a:srgbClr val="F8F4FF"/>
          </a:solidFill>
          <a:ln w="12700">
            <a:solidFill>
              <a:srgbClr val="8B6FC0"/>
            </a:solidFill>
            <a:prstDash val="solid"/>
          </a:ln>
        </p:spPr>
      </p:sp>
      <p:sp>
        <p:nvSpPr>
          <p:cNvPr id="9" name="Text 7"/>
          <p:cNvSpPr/>
          <p:nvPr/>
        </p:nvSpPr>
        <p:spPr>
          <a:xfrm>
            <a:off x="43891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interrupt = inter- + rupt (break in between)</a:t>
            </a:r>
            <a:endParaRPr lang="en-US" sz="1100" dirty="0"/>
          </a:p>
        </p:txBody>
      </p:sp>
      <p:sp>
        <p:nvSpPr>
          <p:cNvPr id="10" name="Shape 8"/>
          <p:cNvSpPr/>
          <p:nvPr/>
        </p:nvSpPr>
        <p:spPr>
          <a:xfrm>
            <a:off x="2468880" y="1847088"/>
            <a:ext cx="2011680" cy="662940"/>
          </a:xfrm>
          <a:prstGeom prst="roundRect">
            <a:avLst>
              <a:gd name="adj" fmla="val 11034"/>
            </a:avLst>
          </a:prstGeom>
          <a:solidFill>
            <a:srgbClr val="F8F4FF"/>
          </a:solidFill>
          <a:ln w="12700">
            <a:solidFill>
              <a:srgbClr val="8B6FC0"/>
            </a:solidFill>
            <a:prstDash val="solid"/>
          </a:ln>
        </p:spPr>
      </p:sp>
      <p:sp>
        <p:nvSpPr>
          <p:cNvPr id="11" name="Text 9"/>
          <p:cNvSpPr/>
          <p:nvPr/>
        </p:nvSpPr>
        <p:spPr>
          <a:xfrm>
            <a:off x="254203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erupt = e- + rupt (break out, as in a volcano)</a:t>
            </a:r>
            <a:endParaRPr lang="en-US" sz="1100" dirty="0"/>
          </a:p>
        </p:txBody>
      </p:sp>
      <p:sp>
        <p:nvSpPr>
          <p:cNvPr id="12" name="Shape 10"/>
          <p:cNvSpPr/>
          <p:nvPr/>
        </p:nvSpPr>
        <p:spPr>
          <a:xfrm>
            <a:off x="4572000" y="1847088"/>
            <a:ext cx="2011680" cy="662940"/>
          </a:xfrm>
          <a:prstGeom prst="roundRect">
            <a:avLst>
              <a:gd name="adj" fmla="val 11034"/>
            </a:avLst>
          </a:prstGeom>
          <a:solidFill>
            <a:srgbClr val="F8F4FF"/>
          </a:solidFill>
          <a:ln w="12700">
            <a:solidFill>
              <a:srgbClr val="8B6FC0"/>
            </a:solidFill>
            <a:prstDash val="solid"/>
          </a:ln>
        </p:spPr>
      </p:sp>
      <p:sp>
        <p:nvSpPr>
          <p:cNvPr id="13" name="Text 11"/>
          <p:cNvSpPr/>
          <p:nvPr/>
        </p:nvSpPr>
        <p:spPr>
          <a:xfrm>
            <a:off x="464515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conduct = con- + duct (lead together; behavior)</a:t>
            </a:r>
            <a:endParaRPr lang="en-US" sz="1100" dirty="0"/>
          </a:p>
        </p:txBody>
      </p:sp>
      <p:sp>
        <p:nvSpPr>
          <p:cNvPr id="14" name="Shape 12"/>
          <p:cNvSpPr/>
          <p:nvPr/>
        </p:nvSpPr>
        <p:spPr>
          <a:xfrm>
            <a:off x="6675120" y="1847088"/>
            <a:ext cx="2011680" cy="662940"/>
          </a:xfrm>
          <a:prstGeom prst="roundRect">
            <a:avLst>
              <a:gd name="adj" fmla="val 11034"/>
            </a:avLst>
          </a:prstGeom>
          <a:solidFill>
            <a:srgbClr val="F8F4FF"/>
          </a:solidFill>
          <a:ln w="12700">
            <a:solidFill>
              <a:srgbClr val="8B6FC0"/>
            </a:solidFill>
            <a:prstDash val="solid"/>
          </a:ln>
        </p:spPr>
      </p:sp>
      <p:sp>
        <p:nvSpPr>
          <p:cNvPr id="15" name="Text 13"/>
          <p:cNvSpPr/>
          <p:nvPr/>
        </p:nvSpPr>
        <p:spPr>
          <a:xfrm>
            <a:off x="674827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introduce = intro- + duce (lead in)</a:t>
            </a:r>
            <a:endParaRPr lang="en-US" sz="1100" dirty="0"/>
          </a:p>
        </p:txBody>
      </p:sp>
      <p:sp>
        <p:nvSpPr>
          <p:cNvPr id="16" name="Text 14"/>
          <p:cNvSpPr/>
          <p:nvPr/>
        </p:nvSpPr>
        <p:spPr>
          <a:xfrm>
            <a:off x="365760" y="26289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TRY IT - FILL IN THE MISSING PART</a:t>
            </a:r>
            <a:endParaRPr lang="en-US" sz="1100" dirty="0"/>
          </a:p>
        </p:txBody>
      </p:sp>
      <p:sp>
        <p:nvSpPr>
          <p:cNvPr id="17" name="Shape 15"/>
          <p:cNvSpPr/>
          <p:nvPr/>
        </p:nvSpPr>
        <p:spPr>
          <a:xfrm>
            <a:off x="365760" y="288493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18" name="Text 16"/>
          <p:cNvSpPr/>
          <p:nvPr/>
        </p:nvSpPr>
        <p:spPr>
          <a:xfrm>
            <a:off x="594360" y="29306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interrupt — — to break in between</a:t>
            </a:r>
            <a:endParaRPr lang="en-US" sz="1300" dirty="0"/>
          </a:p>
        </p:txBody>
      </p:sp>
      <p:sp>
        <p:nvSpPr>
          <p:cNvPr id="19" name="Shape 17"/>
          <p:cNvSpPr/>
          <p:nvPr/>
        </p:nvSpPr>
        <p:spPr>
          <a:xfrm>
            <a:off x="365760" y="334213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0" name="Text 18"/>
          <p:cNvSpPr/>
          <p:nvPr/>
        </p:nvSpPr>
        <p:spPr>
          <a:xfrm>
            <a:off x="594360" y="33878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erupt — — to break out (volcano, news)</a:t>
            </a:r>
            <a:endParaRPr lang="en-US" sz="1300" dirty="0"/>
          </a:p>
        </p:txBody>
      </p:sp>
      <p:sp>
        <p:nvSpPr>
          <p:cNvPr id="21" name="Shape 19"/>
          <p:cNvSpPr/>
          <p:nvPr/>
        </p:nvSpPr>
        <p:spPr>
          <a:xfrm>
            <a:off x="365760" y="379933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22" name="Text 20"/>
          <p:cNvSpPr/>
          <p:nvPr/>
        </p:nvSpPr>
        <p:spPr>
          <a:xfrm>
            <a:off x="594360" y="38450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conduct — — to lead together; how a person behaves</a:t>
            </a:r>
            <a:endParaRPr lang="en-US" sz="1300" dirty="0"/>
          </a:p>
        </p:txBody>
      </p:sp>
      <p:sp>
        <p:nvSpPr>
          <p:cNvPr id="23" name="Shape 21"/>
          <p:cNvSpPr/>
          <p:nvPr/>
        </p:nvSpPr>
        <p:spPr>
          <a:xfrm>
            <a:off x="365760" y="425653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4" name="Text 22"/>
          <p:cNvSpPr/>
          <p:nvPr/>
        </p:nvSpPr>
        <p:spPr>
          <a:xfrm>
            <a:off x="594360" y="43022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introduce — — to lead someone or something IN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4 WORDS - READ THE SENTENCE, THEN THE MEANING</a:t>
            </a:r>
            <a:endParaRPr lang="en-US" sz="1100" dirty="0"/>
          </a:p>
        </p:txBody>
      </p:sp>
      <p:sp>
        <p:nvSpPr>
          <p:cNvPr id="5" name="Shape 3"/>
          <p:cNvSpPr/>
          <p:nvPr/>
        </p:nvSpPr>
        <p:spPr>
          <a:xfrm>
            <a:off x="320040" y="914400"/>
            <a:ext cx="4069080" cy="1360932"/>
          </a:xfrm>
          <a:prstGeom prst="roundRect">
            <a:avLst>
              <a:gd name="adj" fmla="val 6719"/>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“The soldier’s shout interrupted the girls’ race home.”</a:t>
            </a:r>
            <a:endParaRPr lang="en-US" sz="1050" dirty="0"/>
          </a:p>
        </p:txBody>
      </p:sp>
      <p:sp>
        <p:nvSpPr>
          <p:cNvPr id="7" name="Text 5"/>
          <p:cNvSpPr/>
          <p:nvPr/>
        </p:nvSpPr>
        <p:spPr>
          <a:xfrm>
            <a:off x="457200" y="141274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interrupt</a:t>
            </a:r>
            <a:endParaRPr lang="en-US" sz="1400" dirty="0"/>
          </a:p>
        </p:txBody>
      </p:sp>
      <p:sp>
        <p:nvSpPr>
          <p:cNvPr id="8" name="Text 6"/>
          <p:cNvSpPr/>
          <p:nvPr/>
        </p:nvSpPr>
        <p:spPr>
          <a:xfrm>
            <a:off x="457200" y="1723644"/>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To stop something while it is happening.</a:t>
            </a:r>
            <a:endParaRPr lang="en-US" sz="1100" dirty="0"/>
          </a:p>
        </p:txBody>
      </p:sp>
      <p:sp>
        <p:nvSpPr>
          <p:cNvPr id="9" name="Shape 7"/>
          <p:cNvSpPr/>
          <p:nvPr/>
        </p:nvSpPr>
        <p:spPr>
          <a:xfrm>
            <a:off x="4572000" y="914400"/>
            <a:ext cx="4069080" cy="1360932"/>
          </a:xfrm>
          <a:prstGeom prst="roundRect">
            <a:avLst>
              <a:gd name="adj" fmla="val 6719"/>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470916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“Papa’s conduct stayed calm when the soldiers came near the apartment.”</a:t>
            </a:r>
            <a:endParaRPr lang="en-US" sz="1050" dirty="0"/>
          </a:p>
        </p:txBody>
      </p:sp>
      <p:sp>
        <p:nvSpPr>
          <p:cNvPr id="11" name="Text 9"/>
          <p:cNvSpPr/>
          <p:nvPr/>
        </p:nvSpPr>
        <p:spPr>
          <a:xfrm>
            <a:off x="4709160" y="141274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conduct</a:t>
            </a:r>
            <a:endParaRPr lang="en-US" sz="1400" dirty="0"/>
          </a:p>
        </p:txBody>
      </p:sp>
      <p:sp>
        <p:nvSpPr>
          <p:cNvPr id="12" name="Text 10"/>
          <p:cNvSpPr/>
          <p:nvPr/>
        </p:nvSpPr>
        <p:spPr>
          <a:xfrm>
            <a:off x="4709160" y="1723644"/>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How someone behaves or acts — or, to lead or guide.</a:t>
            </a:r>
            <a:endParaRPr lang="en-US" sz="1100" dirty="0"/>
          </a:p>
        </p:txBody>
      </p:sp>
      <p:sp>
        <p:nvSpPr>
          <p:cNvPr id="13" name="Shape 11"/>
          <p:cNvSpPr/>
          <p:nvPr/>
        </p:nvSpPr>
        <p:spPr>
          <a:xfrm>
            <a:off x="320040" y="2385060"/>
            <a:ext cx="4069080" cy="1360932"/>
          </a:xfrm>
          <a:prstGeom prst="roundRect">
            <a:avLst>
              <a:gd name="adj" fmla="val 6719"/>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457200" y="247650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“Papa said the Germans planned to ‘relocate’ the Jews — but Annemarie knew what he really meant.”</a:t>
            </a:r>
            <a:endParaRPr lang="en-US" sz="1050" dirty="0"/>
          </a:p>
        </p:txBody>
      </p:sp>
      <p:sp>
        <p:nvSpPr>
          <p:cNvPr id="15" name="Text 13"/>
          <p:cNvSpPr/>
          <p:nvPr/>
        </p:nvSpPr>
        <p:spPr>
          <a:xfrm>
            <a:off x="457200" y="288340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relocate</a:t>
            </a:r>
            <a:endParaRPr lang="en-US" sz="1400" dirty="0"/>
          </a:p>
        </p:txBody>
      </p:sp>
      <p:sp>
        <p:nvSpPr>
          <p:cNvPr id="16" name="Text 14"/>
          <p:cNvSpPr/>
          <p:nvPr/>
        </p:nvSpPr>
        <p:spPr>
          <a:xfrm>
            <a:off x="457200" y="3194304"/>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To move someone or something to a new place — sometimes by force.</a:t>
            </a:r>
            <a:endParaRPr lang="en-US" sz="1100" dirty="0"/>
          </a:p>
        </p:txBody>
      </p:sp>
      <p:sp>
        <p:nvSpPr>
          <p:cNvPr id="17" name="Shape 15"/>
          <p:cNvSpPr/>
          <p:nvPr/>
        </p:nvSpPr>
        <p:spPr>
          <a:xfrm>
            <a:off x="4572000" y="2385060"/>
            <a:ext cx="4069080" cy="1360932"/>
          </a:xfrm>
          <a:prstGeom prst="roundRect">
            <a:avLst>
              <a:gd name="adj" fmla="val 6719"/>
            </a:avLst>
          </a:prstGeom>
          <a:solidFill>
            <a:srgbClr val="F0E8FF"/>
          </a:solidFill>
          <a:ln/>
          <a:effectLst>
            <a:outerShdw sx="100000" sy="100000" kx="0" ky="0" algn="bl" rotWithShape="0" blurRad="101600" dist="38100" dir="2700000">
              <a:srgbClr val="000000">
                <a:alpha val="12000"/>
              </a:srgbClr>
            </a:outerShdw>
          </a:effectLst>
        </p:spPr>
      </p:sp>
      <p:sp>
        <p:nvSpPr>
          <p:cNvPr id="18" name="Text 16"/>
          <p:cNvSpPr/>
          <p:nvPr/>
        </p:nvSpPr>
        <p:spPr>
          <a:xfrm>
            <a:off x="4709160" y="247650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“The padlock on Mrs. Hirsch’s shop filled Annemarie with suspicion.”</a:t>
            </a:r>
            <a:endParaRPr lang="en-US" sz="1050" dirty="0"/>
          </a:p>
        </p:txBody>
      </p:sp>
      <p:sp>
        <p:nvSpPr>
          <p:cNvPr id="19" name="Text 17"/>
          <p:cNvSpPr/>
          <p:nvPr/>
        </p:nvSpPr>
        <p:spPr>
          <a:xfrm>
            <a:off x="4709160" y="288340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suspicion</a:t>
            </a:r>
            <a:endParaRPr lang="en-US" sz="1400" dirty="0"/>
          </a:p>
        </p:txBody>
      </p:sp>
      <p:sp>
        <p:nvSpPr>
          <p:cNvPr id="20" name="Text 18"/>
          <p:cNvSpPr/>
          <p:nvPr/>
        </p:nvSpPr>
        <p:spPr>
          <a:xfrm>
            <a:off x="4709160" y="3194304"/>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 feeling that something is wrong, even if you don’t have proof.</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Possessive Pronouns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TARGET WORD</a:t>
            </a:r>
            <a:endParaRPr lang="en-US" sz="1100" dirty="0"/>
          </a:p>
        </p:txBody>
      </p:sp>
      <p:sp>
        <p:nvSpPr>
          <p:cNvPr id="7" name="Shape 5"/>
          <p:cNvSpPr/>
          <p:nvPr/>
        </p:nvSpPr>
        <p:spPr>
          <a:xfrm>
            <a:off x="365760" y="1078992"/>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Annemarie ran with her little sister.</a:t>
            </a:r>
            <a:endParaRPr lang="en-US" sz="1500" dirty="0"/>
          </a:p>
        </p:txBody>
      </p:sp>
      <p:sp>
        <p:nvSpPr>
          <p:cNvPr id="9" name="Shape 7"/>
          <p:cNvSpPr/>
          <p:nvPr/>
        </p:nvSpPr>
        <p:spPr>
          <a:xfrm>
            <a:off x="365760" y="1920240"/>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king rode his horse alone.</a:t>
            </a:r>
            <a:endParaRPr lang="en-US" sz="1500" dirty="0"/>
          </a:p>
        </p:txBody>
      </p:sp>
      <p:sp>
        <p:nvSpPr>
          <p:cNvPr id="11" name="Shape 9"/>
          <p:cNvSpPr/>
          <p:nvPr/>
        </p:nvSpPr>
        <p:spPr>
          <a:xfrm>
            <a:off x="365760" y="2761488"/>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Ellen hid with their family for the night.</a:t>
            </a:r>
            <a:endParaRPr lang="en-US" sz="1500" dirty="0"/>
          </a:p>
        </p:txBody>
      </p:sp>
      <p:sp>
        <p:nvSpPr>
          <p:cNvPr id="13" name="Text 11"/>
          <p:cNvSpPr/>
          <p:nvPr/>
        </p:nvSpPr>
        <p:spPr>
          <a:xfrm>
            <a:off x="457200" y="3648456"/>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target word. Write it in your notebook.</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Possessive Pronouns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Annemarie ran with </a:t>
            </a:r>
            <a:pPr indent="0" marL="0">
              <a:buNone/>
            </a:pPr>
            <a:r>
              <a:rPr lang="en-US" sz="1500" b="1" u="sng" dirty="0">
                <a:solidFill>
                  <a:srgbClr val="34B76F"/>
                </a:solidFill>
                <a:latin typeface="Calibri" pitchFamily="34" charset="0"/>
                <a:ea typeface="Calibri" pitchFamily="34" charset="-122"/>
                <a:cs typeface="Calibri" pitchFamily="34" charset="-120"/>
              </a:rPr>
              <a:t>her</a:t>
            </a:r>
            <a:pPr indent="0" marL="0">
              <a:buNone/>
            </a:pPr>
            <a:r>
              <a:rPr lang="en-US" sz="1500" dirty="0">
                <a:solidFill>
                  <a:srgbClr val="1E293B"/>
                </a:solidFill>
                <a:latin typeface="Calibri" pitchFamily="34" charset="0"/>
                <a:ea typeface="Calibri" pitchFamily="34" charset="-122"/>
                <a:cs typeface="Calibri" pitchFamily="34" charset="-120"/>
              </a:rPr>
              <a:t> little sister.</a:t>
            </a:r>
            <a:endParaRPr lang="en-US" sz="1500" dirty="0"/>
          </a:p>
        </p:txBody>
      </p:sp>
      <p:sp>
        <p:nvSpPr>
          <p:cNvPr id="9" name="Shape 7"/>
          <p:cNvSpPr/>
          <p:nvPr/>
        </p:nvSpPr>
        <p:spPr>
          <a:xfrm>
            <a:off x="365760" y="1920240"/>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king rode </a:t>
            </a:r>
            <a:pPr indent="0" marL="0">
              <a:buNone/>
            </a:pPr>
            <a:r>
              <a:rPr lang="en-US" sz="1500" b="1" u="sng" dirty="0">
                <a:solidFill>
                  <a:srgbClr val="34B76F"/>
                </a:solidFill>
                <a:latin typeface="Calibri" pitchFamily="34" charset="0"/>
                <a:ea typeface="Calibri" pitchFamily="34" charset="-122"/>
                <a:cs typeface="Calibri" pitchFamily="34" charset="-120"/>
              </a:rPr>
              <a:t>his</a:t>
            </a:r>
            <a:pPr indent="0" marL="0">
              <a:buNone/>
            </a:pPr>
            <a:r>
              <a:rPr lang="en-US" sz="1500" dirty="0">
                <a:solidFill>
                  <a:srgbClr val="1E293B"/>
                </a:solidFill>
                <a:latin typeface="Calibri" pitchFamily="34" charset="0"/>
                <a:ea typeface="Calibri" pitchFamily="34" charset="-122"/>
                <a:cs typeface="Calibri" pitchFamily="34" charset="-120"/>
              </a:rPr>
              <a:t> horse alone.</a:t>
            </a:r>
            <a:endParaRPr lang="en-US" sz="1500" dirty="0"/>
          </a:p>
        </p:txBody>
      </p:sp>
      <p:sp>
        <p:nvSpPr>
          <p:cNvPr id="11" name="Shape 9"/>
          <p:cNvSpPr/>
          <p:nvPr/>
        </p:nvSpPr>
        <p:spPr>
          <a:xfrm>
            <a:off x="365760" y="2761488"/>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Ellen hid with </a:t>
            </a:r>
            <a:pPr indent="0" marL="0">
              <a:buNone/>
            </a:pPr>
            <a:r>
              <a:rPr lang="en-US" sz="1500" b="1" u="sng" dirty="0">
                <a:solidFill>
                  <a:srgbClr val="34B76F"/>
                </a:solidFill>
                <a:latin typeface="Calibri" pitchFamily="34" charset="0"/>
                <a:ea typeface="Calibri" pitchFamily="34" charset="-122"/>
                <a:cs typeface="Calibri" pitchFamily="34" charset="-120"/>
              </a:rPr>
              <a:t>their</a:t>
            </a:r>
            <a:pPr indent="0" marL="0">
              <a:buNone/>
            </a:pPr>
            <a:r>
              <a:rPr lang="en-US" sz="1500" dirty="0">
                <a:solidFill>
                  <a:srgbClr val="1E293B"/>
                </a:solidFill>
                <a:latin typeface="Calibri" pitchFamily="34" charset="0"/>
                <a:ea typeface="Calibri" pitchFamily="34" charset="-122"/>
                <a:cs typeface="Calibri" pitchFamily="34" charset="-120"/>
              </a:rPr>
              <a:t> family for the night.</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Schwa in Academic Words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banana   -   sofa   -   above   -   occupation   -   resistance   -   soldier</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Everyday word (schwa)</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Academic word (schwa)</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Schwa in Academic Words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4114800" cy="1453896"/>
          </a:xfrm>
          <a:prstGeom prst="roundRect">
            <a:avLst>
              <a:gd name="adj" fmla="val 6289"/>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384048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Everyday word (schwa)</a:t>
            </a:r>
            <a:endParaRPr lang="en-US" sz="1200" dirty="0"/>
          </a:p>
        </p:txBody>
      </p:sp>
      <p:sp>
        <p:nvSpPr>
          <p:cNvPr id="9" name="Text 7"/>
          <p:cNvSpPr/>
          <p:nvPr/>
        </p:nvSpPr>
        <p:spPr>
          <a:xfrm>
            <a:off x="594360"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banana</a:t>
            </a:r>
            <a:endParaRPr lang="en-US" sz="1400" dirty="0"/>
          </a:p>
        </p:txBody>
      </p:sp>
      <p:sp>
        <p:nvSpPr>
          <p:cNvPr id="10" name="Text 8"/>
          <p:cNvSpPr/>
          <p:nvPr/>
        </p:nvSpPr>
        <p:spPr>
          <a:xfrm>
            <a:off x="594360"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sofa</a:t>
            </a:r>
            <a:endParaRPr lang="en-US" sz="1400" dirty="0"/>
          </a:p>
        </p:txBody>
      </p:sp>
      <p:sp>
        <p:nvSpPr>
          <p:cNvPr id="11" name="Text 9"/>
          <p:cNvSpPr/>
          <p:nvPr/>
        </p:nvSpPr>
        <p:spPr>
          <a:xfrm>
            <a:off x="594360"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above</a:t>
            </a:r>
            <a:endParaRPr lang="en-US" sz="1400" dirty="0"/>
          </a:p>
        </p:txBody>
      </p:sp>
      <p:sp>
        <p:nvSpPr>
          <p:cNvPr id="12" name="Shape 10"/>
          <p:cNvSpPr/>
          <p:nvPr/>
        </p:nvSpPr>
        <p:spPr>
          <a:xfrm>
            <a:off x="4681728" y="1024128"/>
            <a:ext cx="4114800" cy="1453896"/>
          </a:xfrm>
          <a:prstGeom prst="roundRect">
            <a:avLst>
              <a:gd name="adj" fmla="val 6289"/>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818888" y="1097280"/>
            <a:ext cx="384048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Academic word (schwa)</a:t>
            </a:r>
            <a:endParaRPr lang="en-US" sz="1200" dirty="0"/>
          </a:p>
        </p:txBody>
      </p:sp>
      <p:sp>
        <p:nvSpPr>
          <p:cNvPr id="14" name="Text 12"/>
          <p:cNvSpPr/>
          <p:nvPr/>
        </p:nvSpPr>
        <p:spPr>
          <a:xfrm>
            <a:off x="4910328"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occupation</a:t>
            </a:r>
            <a:endParaRPr lang="en-US" sz="1400" dirty="0"/>
          </a:p>
        </p:txBody>
      </p:sp>
      <p:sp>
        <p:nvSpPr>
          <p:cNvPr id="15" name="Text 13"/>
          <p:cNvSpPr/>
          <p:nvPr/>
        </p:nvSpPr>
        <p:spPr>
          <a:xfrm>
            <a:off x="4910328"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resistance</a:t>
            </a:r>
            <a:endParaRPr lang="en-US" sz="1400" dirty="0"/>
          </a:p>
        </p:txBody>
      </p:sp>
      <p:sp>
        <p:nvSpPr>
          <p:cNvPr id="16" name="Text 14"/>
          <p:cNvSpPr/>
          <p:nvPr/>
        </p:nvSpPr>
        <p:spPr>
          <a:xfrm>
            <a:off x="4910328"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soldier</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1</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Why Are You Running?</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Say banana. The middle a sounds like ‘uh.’ That’s the schwa.</a:t>
            </a:r>
            <a:endParaRPr lang="en-US" sz="1400" dirty="0"/>
          </a:p>
        </p:txBody>
      </p:sp>
      <p:sp>
        <p:nvSpPr>
          <p:cNvPr id="8" name="Shape 6"/>
          <p:cNvSpPr/>
          <p:nvPr/>
        </p:nvSpPr>
        <p:spPr>
          <a:xfrm>
            <a:off x="365760" y="2514600"/>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606040"/>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Now say occupation. Listen for the ‘uh’ in oc-cu-PA-tion. Where is it?</a:t>
            </a:r>
            <a:endParaRPr lang="en-US" sz="1400" dirty="0"/>
          </a:p>
        </p:txBody>
      </p:sp>
      <p:sp>
        <p:nvSpPr>
          <p:cNvPr id="10" name="Shape 8"/>
          <p:cNvSpPr/>
          <p:nvPr/>
        </p:nvSpPr>
        <p:spPr>
          <a:xfrm>
            <a:off x="365760" y="331012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40156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Schwa shows up in unstressed syllables of bigger words. Knowing this helps you SPELL the syllable even when you can’t hear it clearly.</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Opinion Writing — Practicing Claims</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Write a claim about bravery using this week's reading as your example.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2026-07-11T22:13:23Z</dcterms:created>
  <dcterms:modified xsi:type="dcterms:W3CDTF">2026-07-11T22:13:23Z</dcterms:modified>
</cp:coreProperties>
</file>