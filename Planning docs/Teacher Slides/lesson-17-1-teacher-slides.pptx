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17,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Define an opinion about quick versus planned courage, supported by a specific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Define an opinion about quick versus planned courage, supported by a specific moment.. Level-up: ⭐ State your opinion  ⭐⭐ Use this scene as evidence  ⭐⭐⭐ Explain what made the decision risky  ⭐⭐⭐⭐ Consider what could have gone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Make sure your opinion is about the QUESTION asked (quick vs. planned courage), not just a summary of the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opinion about quick versus planned courage."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Last week, Annemarie looked to her parents, searching for the truth about what was happening. Today: Watch Annemarie make a split-second, risky decision.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"Annemarie grabbed the necklace and broke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soldier asked who is the dark haired one ellen looked frightened" Corrected: "The soldier asked, “Who is the dark-haired one?” Ellen looked frightened."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soldier asked who is the dark haired one ellen looked frightened" Corrected: "The soldier asked, “Who is the dark-haired one?” Ellen looked frightened."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cred — ible — able to be believed | cred — it — trust in someone’s ability to pay back | intend — — to stretch your mind toward; to plan | extend — — to stretch out; to reach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intend: To plan to do something on purpose. | credible: Believable; easy to trust. | discreet: Careful not to draw attention. | tense: Tight with worry; nervous.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hides Ellen’s necklace." -&gt; hides | "They travel north by train." -&gt; travel | "Ellen misses her parents." -&gt;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"Annemarie hides Ellen’s necklace." -&gt; hides | "They travel north by train." -&gt; travel | "Ellen misses her parents." -&gt;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prefix: unsafe, disappear, misunderstood | Has a suffix: frightened, careful,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prefix: unsafe, disappear, misunderstood | Has a suffix: frightened, careful,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Writing — Practicing Evidence
Focus: Write a claim comparing quick decisions to planned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17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5</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Broken Necklace</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17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grabbed the necklace and broke it.</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"Annemarie grabbed the necklace and broke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split-second decision, like grabbing a necklace, matter more than a long, planned-out one?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your opinion: do quick, instinctive decisions show more courage than carefully planned ones, or less? Use this moment as your evidence.</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Define an opinion about quick versus planned courage, supported by a specific moment.</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State your opinion  ⭐⭐ Use this scene as evidence  ⭐⭐⭐ Explain what made the decision risky  ⭐⭐⭐⭐ Consider what could have gone wrong</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Make sure your opinion is about the QUESTION asked (quick vs. planned courage), not just a summary of the scene.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opinion about quick versus planned courage.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Last week, Annemarie looked to her parents, searching for the truth about what was happening.</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Watch Annemarie make a split-second, risky decision.</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Annemarie grabbed the necklace and broke it.</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soldier asked who is the dark haired one ellen looked frightened</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soldier asked who is the dark haired one ellen looked frightened</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The soldier asked, “Who is the dark-haired one?” Ellen looked frightened.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cred + tend</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cred is a Latin root meaning to believe. tend means to stretch or to reach. Both roots build a lot of words you’ll see in this week’s reading.</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847344"/>
          </a:xfrm>
          <a:prstGeom prst="roundRect">
            <a:avLst>
              <a:gd name="adj" fmla="val 8633"/>
            </a:avLst>
          </a:prstGeom>
          <a:solidFill>
            <a:srgbClr val="F8F4FF"/>
          </a:solidFill>
          <a:ln w="12700">
            <a:solidFill>
              <a:srgbClr val="8B6FC0"/>
            </a:solidFill>
            <a:prstDash val="solid"/>
          </a:ln>
        </p:spPr>
      </p:sp>
      <p:sp>
        <p:nvSpPr>
          <p:cNvPr id="9" name="Text 7"/>
          <p:cNvSpPr/>
          <p:nvPr/>
        </p:nvSpPr>
        <p:spPr>
          <a:xfrm>
            <a:off x="43891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credible = cred + -ible (able to be believed)</a:t>
            </a:r>
            <a:endParaRPr lang="en-US" sz="1100" dirty="0"/>
          </a:p>
        </p:txBody>
      </p:sp>
      <p:sp>
        <p:nvSpPr>
          <p:cNvPr id="10" name="Shape 8"/>
          <p:cNvSpPr/>
          <p:nvPr/>
        </p:nvSpPr>
        <p:spPr>
          <a:xfrm>
            <a:off x="2468880" y="1847088"/>
            <a:ext cx="2011680" cy="847344"/>
          </a:xfrm>
          <a:prstGeom prst="roundRect">
            <a:avLst>
              <a:gd name="adj" fmla="val 8633"/>
            </a:avLst>
          </a:prstGeom>
          <a:solidFill>
            <a:srgbClr val="F8F4FF"/>
          </a:solidFill>
          <a:ln w="12700">
            <a:solidFill>
              <a:srgbClr val="8B6FC0"/>
            </a:solidFill>
            <a:prstDash val="solid"/>
          </a:ln>
        </p:spPr>
      </p:sp>
      <p:sp>
        <p:nvSpPr>
          <p:cNvPr id="11" name="Text 9"/>
          <p:cNvSpPr/>
          <p:nvPr/>
        </p:nvSpPr>
        <p:spPr>
          <a:xfrm>
            <a:off x="254203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credit = cred + -it (something you believe in someone’s ability to pay)</a:t>
            </a:r>
            <a:endParaRPr lang="en-US" sz="1100" dirty="0"/>
          </a:p>
        </p:txBody>
      </p:sp>
      <p:sp>
        <p:nvSpPr>
          <p:cNvPr id="12" name="Shape 10"/>
          <p:cNvSpPr/>
          <p:nvPr/>
        </p:nvSpPr>
        <p:spPr>
          <a:xfrm>
            <a:off x="4572000" y="1847088"/>
            <a:ext cx="2011680" cy="847344"/>
          </a:xfrm>
          <a:prstGeom prst="roundRect">
            <a:avLst>
              <a:gd name="adj" fmla="val 8633"/>
            </a:avLst>
          </a:prstGeom>
          <a:solidFill>
            <a:srgbClr val="F8F4FF"/>
          </a:solidFill>
          <a:ln w="12700">
            <a:solidFill>
              <a:srgbClr val="8B6FC0"/>
            </a:solidFill>
            <a:prstDash val="solid"/>
          </a:ln>
        </p:spPr>
      </p:sp>
      <p:sp>
        <p:nvSpPr>
          <p:cNvPr id="13" name="Text 11"/>
          <p:cNvSpPr/>
          <p:nvPr/>
        </p:nvSpPr>
        <p:spPr>
          <a:xfrm>
            <a:off x="464515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intend = in- + tend (stretch your mind toward)</a:t>
            </a:r>
            <a:endParaRPr lang="en-US" sz="1100" dirty="0"/>
          </a:p>
        </p:txBody>
      </p:sp>
      <p:sp>
        <p:nvSpPr>
          <p:cNvPr id="14" name="Shape 12"/>
          <p:cNvSpPr/>
          <p:nvPr/>
        </p:nvSpPr>
        <p:spPr>
          <a:xfrm>
            <a:off x="6675120" y="1847088"/>
            <a:ext cx="2011680" cy="847344"/>
          </a:xfrm>
          <a:prstGeom prst="roundRect">
            <a:avLst>
              <a:gd name="adj" fmla="val 8633"/>
            </a:avLst>
          </a:prstGeom>
          <a:solidFill>
            <a:srgbClr val="F8F4FF"/>
          </a:solidFill>
          <a:ln w="12700">
            <a:solidFill>
              <a:srgbClr val="8B6FC0"/>
            </a:solidFill>
            <a:prstDash val="solid"/>
          </a:ln>
        </p:spPr>
      </p:sp>
      <p:sp>
        <p:nvSpPr>
          <p:cNvPr id="15" name="Text 13"/>
          <p:cNvSpPr/>
          <p:nvPr/>
        </p:nvSpPr>
        <p:spPr>
          <a:xfrm>
            <a:off x="6748272" y="1892808"/>
            <a:ext cx="1865376" cy="755904"/>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extend = ex- + tend (stretch out)</a:t>
            </a:r>
            <a:endParaRPr lang="en-US" sz="1100" dirty="0"/>
          </a:p>
        </p:txBody>
      </p:sp>
      <p:sp>
        <p:nvSpPr>
          <p:cNvPr id="16" name="Text 14"/>
          <p:cNvSpPr/>
          <p:nvPr/>
        </p:nvSpPr>
        <p:spPr>
          <a:xfrm>
            <a:off x="365760" y="2813304"/>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3069336"/>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31150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cred — ible — able to be believed</a:t>
            </a:r>
            <a:endParaRPr lang="en-US" sz="1300" dirty="0"/>
          </a:p>
        </p:txBody>
      </p:sp>
      <p:sp>
        <p:nvSpPr>
          <p:cNvPr id="19" name="Shape 17"/>
          <p:cNvSpPr/>
          <p:nvPr/>
        </p:nvSpPr>
        <p:spPr>
          <a:xfrm>
            <a:off x="365760" y="3526536"/>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5722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cred — it — trust in someone’s ability to pay back</a:t>
            </a:r>
            <a:endParaRPr lang="en-US" sz="1300" dirty="0"/>
          </a:p>
        </p:txBody>
      </p:sp>
      <p:sp>
        <p:nvSpPr>
          <p:cNvPr id="21" name="Shape 19"/>
          <p:cNvSpPr/>
          <p:nvPr/>
        </p:nvSpPr>
        <p:spPr>
          <a:xfrm>
            <a:off x="365760" y="3983736"/>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40294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intend — — to stretch your mind toward; to plan</a:t>
            </a:r>
            <a:endParaRPr lang="en-US" sz="1300" dirty="0"/>
          </a:p>
        </p:txBody>
      </p:sp>
      <p:sp>
        <p:nvSpPr>
          <p:cNvPr id="23" name="Shape 21"/>
          <p:cNvSpPr/>
          <p:nvPr/>
        </p:nvSpPr>
        <p:spPr>
          <a:xfrm>
            <a:off x="365760" y="4440936"/>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486656"/>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extend — — to stretch out; to reach further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Nazis intended to find Jewish families that night.”</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intend</a:t>
            </a:r>
            <a:endParaRPr lang="en-US" sz="1400" dirty="0"/>
          </a:p>
        </p:txBody>
      </p:sp>
      <p:sp>
        <p:nvSpPr>
          <p:cNvPr id="8" name="Text 6"/>
          <p:cNvSpPr/>
          <p:nvPr/>
        </p:nvSpPr>
        <p:spPr>
          <a:xfrm>
            <a:off x="45720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plan to do something on purpose.</a:t>
            </a:r>
            <a:endParaRPr lang="en-US" sz="1100" dirty="0"/>
          </a:p>
        </p:txBody>
      </p:sp>
      <p:sp>
        <p:nvSpPr>
          <p:cNvPr id="9" name="Shape 7"/>
          <p:cNvSpPr/>
          <p:nvPr/>
        </p:nvSpPr>
        <p:spPr>
          <a:xfrm>
            <a:off x="457200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“Papa’s photo-album story had to sound credible to the soldier.”</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credible</a:t>
            </a:r>
            <a:endParaRPr lang="en-US" sz="1400" dirty="0"/>
          </a:p>
        </p:txBody>
      </p:sp>
      <p:sp>
        <p:nvSpPr>
          <p:cNvPr id="12" name="Text 10"/>
          <p:cNvSpPr/>
          <p:nvPr/>
        </p:nvSpPr>
        <p:spPr>
          <a:xfrm>
            <a:off x="470916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Believable; easy to trust.</a:t>
            </a:r>
            <a:endParaRPr lang="en-US" sz="1100" dirty="0"/>
          </a:p>
        </p:txBody>
      </p:sp>
      <p:sp>
        <p:nvSpPr>
          <p:cNvPr id="13" name="Shape 11"/>
          <p:cNvSpPr/>
          <p:nvPr/>
        </p:nvSpPr>
        <p:spPr>
          <a:xfrm>
            <a:off x="32004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“Mama’s discreet phone call to Uncle Henrik used code instead of plain talk.”</a:t>
            </a:r>
            <a:endParaRPr lang="en-US" sz="1050" dirty="0"/>
          </a:p>
        </p:txBody>
      </p:sp>
      <p:sp>
        <p:nvSpPr>
          <p:cNvPr id="15" name="Text 13"/>
          <p:cNvSpPr/>
          <p:nvPr/>
        </p:nvSpPr>
        <p:spPr>
          <a:xfrm>
            <a:off x="45720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discreet</a:t>
            </a:r>
            <a:endParaRPr lang="en-US" sz="1400" dirty="0"/>
          </a:p>
        </p:txBody>
      </p:sp>
      <p:sp>
        <p:nvSpPr>
          <p:cNvPr id="16" name="Text 14"/>
          <p:cNvSpPr/>
          <p:nvPr/>
        </p:nvSpPr>
        <p:spPr>
          <a:xfrm>
            <a:off x="45720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Careful not to draw attention.</a:t>
            </a:r>
            <a:endParaRPr lang="en-US" sz="1100" dirty="0"/>
          </a:p>
        </p:txBody>
      </p:sp>
      <p:sp>
        <p:nvSpPr>
          <p:cNvPr id="17" name="Shape 15"/>
          <p:cNvSpPr/>
          <p:nvPr/>
        </p:nvSpPr>
        <p:spPr>
          <a:xfrm>
            <a:off x="457200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“Mama and Papa stood beside each other, their faces tense.”</a:t>
            </a:r>
            <a:endParaRPr lang="en-US" sz="1050" dirty="0"/>
          </a:p>
        </p:txBody>
      </p:sp>
      <p:sp>
        <p:nvSpPr>
          <p:cNvPr id="19" name="Text 17"/>
          <p:cNvSpPr/>
          <p:nvPr/>
        </p:nvSpPr>
        <p:spPr>
          <a:xfrm>
            <a:off x="470916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tense</a:t>
            </a:r>
            <a:endParaRPr lang="en-US" sz="1400" dirty="0"/>
          </a:p>
        </p:txBody>
      </p:sp>
      <p:sp>
        <p:nvSpPr>
          <p:cNvPr id="20" name="Text 18"/>
          <p:cNvSpPr/>
          <p:nvPr/>
        </p:nvSpPr>
        <p:spPr>
          <a:xfrm>
            <a:off x="470916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Tight with worry; nervous.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Pronoun-Verb Agreement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hides Ellen’s necklace.</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 travel north by train.</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Ellen misses her parents.</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Pronoun-Verb Agreement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a:t>
            </a:r>
            <a:pPr indent="0" marL="0">
              <a:buNone/>
            </a:pPr>
            <a:r>
              <a:rPr lang="en-US" sz="1500" b="1" u="sng" dirty="0">
                <a:solidFill>
                  <a:srgbClr val="34B76F"/>
                </a:solidFill>
                <a:latin typeface="Calibri" pitchFamily="34" charset="0"/>
                <a:ea typeface="Calibri" pitchFamily="34" charset="-122"/>
                <a:cs typeface="Calibri" pitchFamily="34" charset="-120"/>
              </a:rPr>
              <a:t>hides</a:t>
            </a:r>
            <a:pPr indent="0" marL="0">
              <a:buNone/>
            </a:pPr>
            <a:r>
              <a:rPr lang="en-US" sz="1500" dirty="0">
                <a:solidFill>
                  <a:srgbClr val="1E293B"/>
                </a:solidFill>
                <a:latin typeface="Calibri" pitchFamily="34" charset="0"/>
                <a:ea typeface="Calibri" pitchFamily="34" charset="-122"/>
                <a:cs typeface="Calibri" pitchFamily="34" charset="-120"/>
              </a:rPr>
              <a:t> Ellen’s necklace.</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 </a:t>
            </a:r>
            <a:pPr indent="0" marL="0">
              <a:buNone/>
            </a:pPr>
            <a:r>
              <a:rPr lang="en-US" sz="1500" b="1" u="sng" dirty="0">
                <a:solidFill>
                  <a:srgbClr val="34B76F"/>
                </a:solidFill>
                <a:latin typeface="Calibri" pitchFamily="34" charset="0"/>
                <a:ea typeface="Calibri" pitchFamily="34" charset="-122"/>
                <a:cs typeface="Calibri" pitchFamily="34" charset="-120"/>
              </a:rPr>
              <a:t>travel</a:t>
            </a:r>
            <a:pPr indent="0" marL="0">
              <a:buNone/>
            </a:pPr>
            <a:r>
              <a:rPr lang="en-US" sz="1500" dirty="0">
                <a:solidFill>
                  <a:srgbClr val="1E293B"/>
                </a:solidFill>
                <a:latin typeface="Calibri" pitchFamily="34" charset="0"/>
                <a:ea typeface="Calibri" pitchFamily="34" charset="-122"/>
                <a:cs typeface="Calibri" pitchFamily="34" charset="-120"/>
              </a:rPr>
              <a:t> north by train.</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Ellen </a:t>
            </a:r>
            <a:pPr indent="0" marL="0">
              <a:buNone/>
            </a:pPr>
            <a:r>
              <a:rPr lang="en-US" sz="1500" b="1" u="sng" dirty="0">
                <a:solidFill>
                  <a:srgbClr val="34B76F"/>
                </a:solidFill>
                <a:latin typeface="Calibri" pitchFamily="34" charset="0"/>
                <a:ea typeface="Calibri" pitchFamily="34" charset="-122"/>
                <a:cs typeface="Calibri" pitchFamily="34" charset="-120"/>
              </a:rPr>
              <a:t>misses</a:t>
            </a:r>
            <a:pPr indent="0" marL="0">
              <a:buNone/>
            </a:pPr>
            <a:r>
              <a:rPr lang="en-US" sz="1500" dirty="0">
                <a:solidFill>
                  <a:srgbClr val="1E293B"/>
                </a:solidFill>
                <a:latin typeface="Calibri" pitchFamily="34" charset="0"/>
                <a:ea typeface="Calibri" pitchFamily="34" charset="-122"/>
                <a:cs typeface="Calibri" pitchFamily="34" charset="-120"/>
              </a:rPr>
              <a:t> her parents.</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Prefix &amp; Suffix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unsafe   -   disappear   -   misunderstood   -   frightened   -   careful   -   dangerous</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Has a prefix</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Has a suffix</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Prefix &amp; Suffix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Has a prefix</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unsafe</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disappear</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misunderstood</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Has a suffix</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frightened</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careful</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dangerous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5</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Broken Necklace</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Group A: say un + safe. What does the prefix un- do to the word?</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Group B: say care + ful. What does the suffix -ful do?</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does it help to know prefixes and suffixes when you read a novel? (Hint: you don’t need to look up every word.)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Writing — Practicing Evidence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a claim comparing quick decisions to planned ones.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