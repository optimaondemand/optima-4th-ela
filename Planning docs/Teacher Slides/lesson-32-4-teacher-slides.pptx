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32,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Close with a quiet, hopeful line of dialogue — the way the best endings often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25-minute timer. Craft move: Close with a quiet, hopeful line of dialogue — the way the best endings often do..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Read your final sentence aloud one last time. Is this the best sentence you could end the year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final sentence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we looked back at our writing from the start of the year and named how much we’ve grown. Today: Celebrate the year with a poem about holding fast to dreams. Big Q: Hughes says to “hold fast to dreams.” Think about the characters you read about this year. Which character held fast to a dream — even when it was hard? What was their dream, and what happened because they didn’t let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"Lucy turned to the others and whispered , “ I do hope you’ll come back.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"marilla looked at anne across the kitchen table and said you have been a real blessing to me and i dont know what id do without you" Corrected: "Marilla looked at Anne across the kitchen table and said, “You have been a real blessing to me and I don’t know what I’d do without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"marilla looked at anne across the kitchen table and said you have been a real blessing to me and i dont know what id do without you" Corrected: "Marilla looked at Anne across the kitchen table and said, “You have been a real blessing to me and I don’t know what I’d do without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choice board: ✍️ Option A — Use in 2 Sentences | 📖 Option B — Find It in Reading | 🔤 Option C — Connect to a Root | 🔄 Option D — Sort by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(text): You have learned a lot about grammar this year — commas, dialogue punctuation, complex sentences, interjections, verb tenses, and more. Each skill you learned helps your writing become clearer and more powerful.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spotter: "coronation proclamation imagination" -&gt; proclamation | "wonderful thankful sorrowful" -&gt; thankful | "obedient sufficient benevolent" -&gt; benevolent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spotter: "coronation proclamation imagination" -&gt; proclamation | "wonderful thankful sorrowful" -&gt; thankful | "obedient sufficient benevolent" -&gt; benevolent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Celebration, Day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Synthesis Project — Publish &amp; Celebrate
Focus: Finish your final piece and get ready to share it during the celebration.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C7922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C7922C"/>
                </a:solidFill>
                <a:latin typeface="Calibri" pitchFamily="34" charset="0"/>
                <a:ea typeface="Calibri" pitchFamily="34" charset="-122"/>
                <a:cs typeface="Calibri" pitchFamily="34" charset="-120"/>
              </a:rPr>
              <a:t>WEEK 32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Celebration, Day 4</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Hold Fast to Dreams (Hughes)</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32  ·  Virtue: Reflection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This is our final Writer’s Workshop day of the year. Lucy’s hope for the future closes her story. What hope do you want to carry forward as a writer next year?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25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your final sentence of the year: a hope for yourself as a writer, in the voice of a character saying goodbye.</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Close with a quiet, hopeful line of dialogue — the way the best endings often do.</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Read your final sentence aloud one last time. Is this the best sentence you could end the year on?</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final sentence of the year.</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we looked back at our writing from the start of the year and named how much we’ve grown.</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Celebrate the year with a poem about holding fast to dreams.</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Hughes says to “hold fast to dreams.” Think about the characters you read about this year. Which character held fast to a dream — even when it was hard? What was their dream, and what happened because they didn’t let go?</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step back and ask: what did I discover when I read these stories together? Each novel &amp;mdash;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810768"/>
          </a:xfrm>
          <a:prstGeom prst="roundRect">
            <a:avLst>
              <a:gd name="adj" fmla="val 11278"/>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Lucy turned to the others and whispered , “ I do hope you’ll come back. ”</a:t>
            </a:r>
            <a:endParaRPr lang="en-US" sz="1600" dirty="0"/>
          </a:p>
        </p:txBody>
      </p:sp>
      <p:sp>
        <p:nvSpPr>
          <p:cNvPr id="7" name="Text 5"/>
          <p:cNvSpPr/>
          <p:nvPr/>
        </p:nvSpPr>
        <p:spPr>
          <a:xfrm>
            <a:off x="457200" y="2036064"/>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93264"/>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marilla looked at anne across the kitchen table and said you have been a real blessing to me and i dont know what id do without you</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marilla looked at anne across the kitchen table and said you have been a real blessing to me and i dont know what id do without you</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Marilla looked at Anne across the kitchen table and said, “You have been a real blessing to me and I don’t know what I’d do without you.”</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 - Choice Board</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CHOOSE ONE OPTION</a:t>
            </a:r>
            <a:endParaRPr lang="en-US" sz="1100" dirty="0"/>
          </a:p>
        </p:txBody>
      </p:sp>
      <p:sp>
        <p:nvSpPr>
          <p:cNvPr id="5" name="Shape 3"/>
          <p:cNvSpPr/>
          <p:nvPr/>
        </p:nvSpPr>
        <p:spPr>
          <a:xfrm>
            <a:off x="365760" y="1097280"/>
            <a:ext cx="4114800" cy="1213104"/>
          </a:xfrm>
          <a:prstGeom prst="roundRect">
            <a:avLst>
              <a:gd name="adj" fmla="val 7538"/>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02920" y="1170432"/>
            <a:ext cx="3840480" cy="219456"/>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Option A — Use in 2 Sentences</a:t>
            </a:r>
            <a:endParaRPr lang="en-US" sz="1200" dirty="0"/>
          </a:p>
        </p:txBody>
      </p:sp>
      <p:sp>
        <p:nvSpPr>
          <p:cNvPr id="7" name="Text 5"/>
          <p:cNvSpPr/>
          <p:nvPr/>
        </p:nvSpPr>
        <p:spPr>
          <a:xfrm>
            <a:off x="502920" y="1389888"/>
            <a:ext cx="3840480" cy="84734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Choose 1 vocabulary word. Write two original sentences that show you truly understand its meaning — use it in two different contexts.</a:t>
            </a:r>
            <a:endParaRPr lang="en-US" sz="1100" dirty="0"/>
          </a:p>
        </p:txBody>
      </p:sp>
      <p:sp>
        <p:nvSpPr>
          <p:cNvPr id="8" name="Shape 6"/>
          <p:cNvSpPr/>
          <p:nvPr/>
        </p:nvSpPr>
        <p:spPr>
          <a:xfrm>
            <a:off x="4663440" y="1097280"/>
            <a:ext cx="4114800" cy="1213104"/>
          </a:xfrm>
          <a:prstGeom prst="roundRect">
            <a:avLst>
              <a:gd name="adj" fmla="val 7538"/>
            </a:avLst>
          </a:prstGeom>
          <a:solidFill>
            <a:srgbClr val="FEF6E8"/>
          </a:solidFill>
          <a:ln/>
          <a:effectLst>
            <a:outerShdw sx="100000" sy="100000" kx="0" ky="0" algn="bl" rotWithShape="0" blurRad="101600" dist="38100" dir="2700000">
              <a:srgbClr val="000000">
                <a:alpha val="12000"/>
              </a:srgbClr>
            </a:outerShdw>
          </a:effectLst>
        </p:spPr>
      </p:sp>
      <p:sp>
        <p:nvSpPr>
          <p:cNvPr id="9" name="Text 7"/>
          <p:cNvSpPr/>
          <p:nvPr/>
        </p:nvSpPr>
        <p:spPr>
          <a:xfrm>
            <a:off x="4800600" y="1170432"/>
            <a:ext cx="3840480" cy="219456"/>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Option B — Find It in Reading</a:t>
            </a:r>
            <a:endParaRPr lang="en-US" sz="1200" dirty="0"/>
          </a:p>
        </p:txBody>
      </p:sp>
      <p:sp>
        <p:nvSpPr>
          <p:cNvPr id="10" name="Text 8"/>
          <p:cNvSpPr/>
          <p:nvPr/>
        </p:nvSpPr>
        <p:spPr>
          <a:xfrm>
            <a:off x="4800600" y="1389888"/>
            <a:ext cx="3840480" cy="84734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Find a vocabulary word (or a word related to it) in any of the novels you read this year. Write the sentence and explain what the word means in that moment.</a:t>
            </a:r>
            <a:endParaRPr lang="en-US" sz="1100" dirty="0"/>
          </a:p>
        </p:txBody>
      </p:sp>
      <p:sp>
        <p:nvSpPr>
          <p:cNvPr id="11" name="Shape 9"/>
          <p:cNvSpPr/>
          <p:nvPr/>
        </p:nvSpPr>
        <p:spPr>
          <a:xfrm>
            <a:off x="365760" y="2438400"/>
            <a:ext cx="4114800" cy="1213104"/>
          </a:xfrm>
          <a:prstGeom prst="roundRect">
            <a:avLst>
              <a:gd name="adj" fmla="val 7538"/>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02920" y="2511552"/>
            <a:ext cx="3840480" cy="219456"/>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Option C — Connect to a Root</a:t>
            </a:r>
            <a:endParaRPr lang="en-US" sz="1200" dirty="0"/>
          </a:p>
        </p:txBody>
      </p:sp>
      <p:sp>
        <p:nvSpPr>
          <p:cNvPr id="13" name="Text 11"/>
          <p:cNvSpPr/>
          <p:nvPr/>
        </p:nvSpPr>
        <p:spPr>
          <a:xfrm>
            <a:off x="502920" y="2731008"/>
            <a:ext cx="3840480" cy="84734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Choose one vocabulary word and connect it to a root, prefix, or suffix. Explain how knowing the word parts helps you remember or understand its meaning.</a:t>
            </a:r>
            <a:endParaRPr lang="en-US" sz="1100" dirty="0"/>
          </a:p>
        </p:txBody>
      </p:sp>
      <p:sp>
        <p:nvSpPr>
          <p:cNvPr id="14" name="Shape 12"/>
          <p:cNvSpPr/>
          <p:nvPr/>
        </p:nvSpPr>
        <p:spPr>
          <a:xfrm>
            <a:off x="4663440" y="2438400"/>
            <a:ext cx="4114800" cy="1213104"/>
          </a:xfrm>
          <a:prstGeom prst="roundRect">
            <a:avLst>
              <a:gd name="adj" fmla="val 7538"/>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4800600" y="2511552"/>
            <a:ext cx="3840480" cy="219456"/>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Option D — Sort by Meaning</a:t>
            </a:r>
            <a:endParaRPr lang="en-US" sz="1200" dirty="0"/>
          </a:p>
        </p:txBody>
      </p:sp>
      <p:sp>
        <p:nvSpPr>
          <p:cNvPr id="16" name="Text 14"/>
          <p:cNvSpPr/>
          <p:nvPr/>
        </p:nvSpPr>
        <p:spPr>
          <a:xfrm>
            <a:off x="4800600" y="2731008"/>
            <a:ext cx="3840480" cy="84734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Choose 4 vocabulary words from across the year. Sort them into two groups by meaning, category, or feeling. Explain why each word belongs in its group.</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Year-End Reflection</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THE RULE</a:t>
            </a:r>
            <a:endParaRPr lang="en-US" sz="1100" dirty="0"/>
          </a:p>
        </p:txBody>
      </p:sp>
      <p:sp>
        <p:nvSpPr>
          <p:cNvPr id="7" name="Shape 5"/>
          <p:cNvSpPr/>
          <p:nvPr/>
        </p:nvSpPr>
        <p:spPr>
          <a:xfrm>
            <a:off x="365760" y="1060704"/>
            <a:ext cx="8412480" cy="102870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800100"/>
          </a:xfrm>
          <a:prstGeom prst="rect">
            <a:avLst/>
          </a:prstGeom>
          <a:noFill/>
          <a:ln/>
        </p:spPr>
        <p:txBody>
          <a:bodyPr wrap="square" lIns="0" tIns="0" rIns="0" bIns="0" rtlCol="0" anchor="ctr"/>
          <a:lstStyle/>
          <a:p>
            <a:pPr indent="0" marL="0">
              <a:buNone/>
            </a:pPr>
            <a:r>
              <a:rPr lang="en-US" sz="1500" i="1" dirty="0">
                <a:solidFill>
                  <a:srgbClr val="0E1C42"/>
                </a:solidFill>
                <a:latin typeface="Calibri" pitchFamily="34" charset="0"/>
                <a:ea typeface="Calibri" pitchFamily="34" charset="-122"/>
                <a:cs typeface="Calibri" pitchFamily="34" charset="-120"/>
              </a:rPr>
              <a:t>You have learned a lot about grammar this year — commas, dialogue punctuation, complex sentences, interjections, verb tenses, and more. Each skill you learned helps your writing become clearer and more powerful.</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Challenge: Word Riddles</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ERROR</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coronation proclamation imagination</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wonderful thankful sorrowful</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obedient sufficient benevolent</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word that is WRONG. Write the correct spelling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Challenge: Word Riddles</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coronation </a:t>
            </a:r>
            <a:pPr indent="0" marL="0">
              <a:buNone/>
            </a:pPr>
            <a:r>
              <a:rPr lang="en-US" sz="1500" b="1" u="sng" dirty="0">
                <a:solidFill>
                  <a:srgbClr val="34B76F"/>
                </a:solidFill>
                <a:latin typeface="Calibri" pitchFamily="34" charset="0"/>
                <a:ea typeface="Calibri" pitchFamily="34" charset="-122"/>
                <a:cs typeface="Calibri" pitchFamily="34" charset="-120"/>
              </a:rPr>
              <a:t>proclamation</a:t>
            </a:r>
            <a:pPr indent="0" marL="0">
              <a:buNone/>
            </a:pPr>
            <a:r>
              <a:rPr lang="en-US" sz="1500" dirty="0">
                <a:solidFill>
                  <a:srgbClr val="1E293B"/>
                </a:solidFill>
                <a:latin typeface="Calibri" pitchFamily="34" charset="0"/>
                <a:ea typeface="Calibri" pitchFamily="34" charset="-122"/>
                <a:cs typeface="Calibri" pitchFamily="34" charset="-120"/>
              </a:rPr>
              <a:t> imagination</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wonderful </a:t>
            </a:r>
            <a:pPr indent="0" marL="0">
              <a:buNone/>
            </a:pPr>
            <a:r>
              <a:rPr lang="en-US" sz="1500" b="1" u="sng" dirty="0">
                <a:solidFill>
                  <a:srgbClr val="34B76F"/>
                </a:solidFill>
                <a:latin typeface="Calibri" pitchFamily="34" charset="0"/>
                <a:ea typeface="Calibri" pitchFamily="34" charset="-122"/>
                <a:cs typeface="Calibri" pitchFamily="34" charset="-120"/>
              </a:rPr>
              <a:t>thankful</a:t>
            </a:r>
            <a:pPr indent="0" marL="0">
              <a:buNone/>
            </a:pPr>
            <a:r>
              <a:rPr lang="en-US" sz="1500" dirty="0">
                <a:solidFill>
                  <a:srgbClr val="1E293B"/>
                </a:solidFill>
                <a:latin typeface="Calibri" pitchFamily="34" charset="0"/>
                <a:ea typeface="Calibri" pitchFamily="34" charset="-122"/>
                <a:cs typeface="Calibri" pitchFamily="34" charset="-120"/>
              </a:rPr>
              <a:t> sorrowful</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obedient sufficient </a:t>
            </a:r>
            <a:pPr indent="0" marL="0">
              <a:buNone/>
            </a:pPr>
            <a:r>
              <a:rPr lang="en-US" sz="1500" b="1" u="sng" dirty="0">
                <a:solidFill>
                  <a:srgbClr val="34B76F"/>
                </a:solidFill>
                <a:latin typeface="Calibri" pitchFamily="34" charset="0"/>
                <a:ea typeface="Calibri" pitchFamily="34" charset="-122"/>
                <a:cs typeface="Calibri" pitchFamily="34" charset="-120"/>
              </a:rPr>
              <a:t>benevolent</a:t>
            </a:r>
            <a:pPr indent="0" marL="0">
              <a:buNone/>
            </a:pP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Celebration, Day 4</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Hold Fast to Dreams (Hughes)</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Look back across all three novels. Think about which characters changed the most, which moments surprised you, and which themes will stay with you. What did you discover about your theme when you saw it across more than one story?</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Anne arrived at Green Gables unwanted, and left it beloved. How did she change? Which moment showed you she had truly grown?</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Annemarie said bravery means not thinking about the dangers — just thinking about what you must do. When did she show that most clearly?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Synthesis Project — Publish &amp; Celebrate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Finish your final piece and get ready to share it during the celebration.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2026-07-12T02:19:59Z</dcterms:created>
  <dcterms:modified xsi:type="dcterms:W3CDTF">2026-07-12T02:19:59Z</dcterms:modified>
</cp:coreProperties>
</file>