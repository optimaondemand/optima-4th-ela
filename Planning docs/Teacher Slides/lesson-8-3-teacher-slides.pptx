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8,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Apply a three-part anger description: words + voice + action, stacked in one sentence like the mentor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Apply a three-part anger description: words + voice + action, stacked in one sentence like the mentor sentence.. Level-up: ⭐ Include the words  ⭐⭐ Add a voice description  ⭐⭐⭐ Add a body/action detail  ⭐⭐⭐⭐ Combine all three in one flowing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your character’s angriest moment. Make sure it shows words, voice, AND action — add whichever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three-part anger sentence: words, voice, and action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said her very first prayer in her own unique way. Today: Find out what Anne said that horrified Mrs. Lynde. Big Q: Anne has never belonged anywhere. She invents Katie Maurice in a bookcase and Violetta in an echo because no real people stayed. By the end of Ch. 10, walking down the lane with Marilla, she slips her hand into Marilla’s and says, “It’s lovely to be going home and know it’s home.” For the first time, a place is 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"Mrs. Rachel’s words stung Anne’s heart."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"mrs lyndes opinion mattered to all of avonleas neighbors" Corrected: "Mrs. Lynde’s opinion mattered to all of Avonlea’s neighbors."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"mrs lyndes opinion mattered to all of avonleas neighbors" Corrected: "Mrs. Lynde’s opinion mattered to all of Avonlea’s neighbors."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sub — way — an underground train | inter — view — to meet between two people and ask questions | sub — title — a smaller title under the main title | inter — act — to act between or with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transfigured: Anne’s face was _____ with sudden hope. | benevolent: Mrs. Spencer welcomed them with a _____ smile. | irresistible: The cherry blossoms were lovely, and the temptation to pick one was _____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"Anne’s temper flared at Mrs. Rachel." -&gt; Anne’s | "The women’s voices rose in anger." -&gt; women’s | "Matthew’s heart smote him." -&gt; Matthew’s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"Anne’s temper flared at Mrs. Rachel." -&gt; Anne’s | "The women’s voices rose in anger." -&gt; women’s | "Matthew’s heart smote him." -&gt; Matthew’s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"““I hate you,” she cried in a choked voice, stamping her foot on the floor.”"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Setting &amp; Belonging
Focus: Write a moment where your character does or says something that surprises the adults around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8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9</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Mrs. Lynde Is Horrified</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8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Mrs. Lynde’s words stung Anne’s heart.</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""I hate you," she cried in a choked voice, stamping her foot on the floor."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three things does the mentor sentence show us about anger — the words, the voice, AND the action?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moment when your character loses their temper. Show it in three ways at once: what they say, how their voice sounds, and what their body does.</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Apply a three-part anger description: words + voice + action, stacked in one sentence like the mentor sentence.</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Include the words  ⭐⭐ Add a voice description  ⭐⭐⭐ Add a body/action detail  ⭐⭐⭐⭐ Combine all three in one flowing sentence</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your character’s angriest moment. Make sure it shows words, voice, AND action — add whichever is missing.</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three-part anger sentence: words, voice, and action together.</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said her very first prayer in her own unique way.</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Find out what Anne said that horrified Mrs. Lynde.</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Anne has never belonged anywhere. She invents Katie Maurice in a bookcase and Violetta in an echo because no real people stayed. By the end of Ch. 10, walking down the lane with Marilla, she slips her hand into Marilla’s and says, “It’s lovely to be going home and know it’s home.” For the first time, a place is hers.</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how problems grow. The first problem in a book is rarely the only one — new trouble appears as the story moves.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Mrs. Rachel’s words stung Anne’s heart.</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mrs lyndes opinion mattered to all of avonleas neighbors</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mrs lyndes opinion mattered to all of avonleas neighbors</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Mrs. Lynde’s opinion mattered to all of Avonlea’s neighbors.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Prefixes: sub-, inter-</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This week’s prefixes show direction. sub- means under, below, or lower than. inter- means between or among. They show up in words about position and relationships.</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submarine = sub- + marine (under the sea)</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submerge = sub- + merge (sink under)</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interrupt = inter- + rupt (break between)</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international = inter- + nation (between nations)</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sub — way — an underground train</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inter — view — to meet between two people and ask questions</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sub — title — a smaller title under the main title</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inter — act — to act between or with others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17602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Anne’s face was _____ with sudden hope.</a:t>
            </a:r>
            <a:endParaRPr lang="en-US" sz="1050" dirty="0"/>
          </a:p>
        </p:txBody>
      </p:sp>
      <p:sp>
        <p:nvSpPr>
          <p:cNvPr id="7" name="Text 5"/>
          <p:cNvSpPr/>
          <p:nvPr/>
        </p:nvSpPr>
        <p:spPr>
          <a:xfrm>
            <a:off x="457200" y="1236726"/>
            <a:ext cx="3794760" cy="53721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transfigured</a:t>
            </a:r>
            <a:endParaRPr lang="en-US" sz="1300" dirty="0"/>
          </a:p>
        </p:txBody>
      </p:sp>
      <p:sp>
        <p:nvSpPr>
          <p:cNvPr id="8" name="Shape 6"/>
          <p:cNvSpPr/>
          <p:nvPr/>
        </p:nvSpPr>
        <p:spPr>
          <a:xfrm>
            <a:off x="457200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17602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Mrs. Spencer welcomed them with a _____ smile.</a:t>
            </a:r>
            <a:endParaRPr lang="en-US" sz="1050" dirty="0"/>
          </a:p>
        </p:txBody>
      </p:sp>
      <p:sp>
        <p:nvSpPr>
          <p:cNvPr id="10" name="Text 8"/>
          <p:cNvSpPr/>
          <p:nvPr/>
        </p:nvSpPr>
        <p:spPr>
          <a:xfrm>
            <a:off x="4709160" y="1236726"/>
            <a:ext cx="3794760" cy="53721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benevolent</a:t>
            </a:r>
            <a:endParaRPr lang="en-US" sz="1300" dirty="0"/>
          </a:p>
        </p:txBody>
      </p:sp>
      <p:sp>
        <p:nvSpPr>
          <p:cNvPr id="11" name="Shape 9"/>
          <p:cNvSpPr/>
          <p:nvPr/>
        </p:nvSpPr>
        <p:spPr>
          <a:xfrm>
            <a:off x="320040" y="1938528"/>
            <a:ext cx="4069080" cy="918972"/>
          </a:xfrm>
          <a:prstGeom prst="roundRect">
            <a:avLst>
              <a:gd name="adj" fmla="val 995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29968"/>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cherry blossoms were lovely, and the temptation to pick one was _____ .</a:t>
            </a:r>
            <a:endParaRPr lang="en-US" sz="1050" dirty="0"/>
          </a:p>
        </p:txBody>
      </p:sp>
      <p:sp>
        <p:nvSpPr>
          <p:cNvPr id="13" name="Text 11"/>
          <p:cNvSpPr/>
          <p:nvPr/>
        </p:nvSpPr>
        <p:spPr>
          <a:xfrm>
            <a:off x="457200" y="2436876"/>
            <a:ext cx="379476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Answer: </a:t>
            </a:r>
            <a:pPr indent="0" marL="0">
              <a:buNone/>
            </a:pPr>
            <a:r>
              <a:rPr lang="en-US" sz="1500" b="1" dirty="0">
                <a:solidFill>
                  <a:srgbClr val="34B76F"/>
                </a:solidFill>
                <a:latin typeface="Calibri" pitchFamily="34" charset="0"/>
                <a:ea typeface="Calibri" pitchFamily="34" charset="-122"/>
                <a:cs typeface="Calibri" pitchFamily="34" charset="-120"/>
              </a:rPr>
              <a:t>irresistible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Possessive Nouns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Anne’s temper flared at Mrs. Rachel.</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women’s voices rose in anger.</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Matthew’s heart smote him.</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Possessive Nouns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Anne’s</a:t>
            </a:r>
            <a:pPr indent="0" marL="0">
              <a:buNone/>
            </a:pPr>
            <a:r>
              <a:rPr lang="en-US" sz="1500" dirty="0">
                <a:solidFill>
                  <a:srgbClr val="1E293B"/>
                </a:solidFill>
                <a:latin typeface="Calibri" pitchFamily="34" charset="0"/>
                <a:ea typeface="Calibri" pitchFamily="34" charset="-122"/>
                <a:cs typeface="Calibri" pitchFamily="34" charset="-120"/>
              </a:rPr>
              <a:t> temper flared at Mrs. Rachel.</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a:t>
            </a:r>
            <a:pPr indent="0" marL="0">
              <a:buNone/>
            </a:pPr>
            <a:r>
              <a:rPr lang="en-US" sz="1500" b="1" u="sng" dirty="0">
                <a:solidFill>
                  <a:srgbClr val="34B76F"/>
                </a:solidFill>
                <a:latin typeface="Calibri" pitchFamily="34" charset="0"/>
                <a:ea typeface="Calibri" pitchFamily="34" charset="-122"/>
                <a:cs typeface="Calibri" pitchFamily="34" charset="-120"/>
              </a:rPr>
              <a:t>women’s</a:t>
            </a:r>
            <a:pPr indent="0" marL="0">
              <a:buNone/>
            </a:pPr>
            <a:r>
              <a:rPr lang="en-US" sz="1500" dirty="0">
                <a:solidFill>
                  <a:srgbClr val="1E293B"/>
                </a:solidFill>
                <a:latin typeface="Calibri" pitchFamily="34" charset="0"/>
                <a:ea typeface="Calibri" pitchFamily="34" charset="-122"/>
                <a:cs typeface="Calibri" pitchFamily="34" charset="-120"/>
              </a:rPr>
              <a:t> voices rose in anger.</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Matthew’s</a:t>
            </a:r>
            <a:pPr indent="0" marL="0">
              <a:buNone/>
            </a:pPr>
            <a:r>
              <a:rPr lang="en-US" sz="1500" dirty="0">
                <a:solidFill>
                  <a:srgbClr val="1E293B"/>
                </a:solidFill>
                <a:latin typeface="Calibri" pitchFamily="34" charset="0"/>
                <a:ea typeface="Calibri" pitchFamily="34" charset="-122"/>
                <a:cs typeface="Calibri" pitchFamily="34" charset="-120"/>
              </a:rPr>
              <a:t> heart smote him.</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9</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Mrs. Lynde Is Horrified</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As you read today, ask yourself: What new problem appears in these chapters? How does it connect to the first problem (Timothy's sickness)?</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Anne refuses to apologize. Why is the apology so hard for her, even harder than being shut up alone in her room?</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wakes up and looks out the window. How does her view of Green Gables make YOU see the place differently?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““I hate you,” she cried in a choked voice, stamping her foot on the floor.”</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happening in this sentence? What does “choked voice” tell you about Anne's feelings?</a:t>
            </a:r>
            <a:endParaRPr lang="en-US" sz="1200" dirty="0"/>
          </a:p>
        </p:txBody>
      </p:sp>
      <p:sp>
        <p:nvSpPr>
          <p:cNvPr id="11" name="Shape 9"/>
          <p:cNvSpPr/>
          <p:nvPr/>
        </p:nvSpPr>
        <p:spPr>
          <a:xfrm>
            <a:off x="365760" y="2859024"/>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92303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292303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Notice the three parts: dialogue + dialogue tag + a physical action</a:t>
            </a:r>
            <a:endParaRPr lang="en-US" sz="1200" dirty="0"/>
          </a:p>
        </p:txBody>
      </p:sp>
      <p:sp>
        <p:nvSpPr>
          <p:cNvPr id="14" name="Shape 12"/>
          <p:cNvSpPr/>
          <p:nvPr/>
        </p:nvSpPr>
        <p:spPr>
          <a:xfrm>
            <a:off x="365760" y="3480816"/>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544824"/>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544824"/>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Setting &amp; Belonging</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a moment where your character does or says something that surprises the adults around them.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