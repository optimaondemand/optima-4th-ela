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short, back-and-forth sentences to show a character changing their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Apply short, back-and-forth sentences to show a character changing their mind.. Level-up: ⭐ Add internal thought in quotes  ⭐⭐ Use "and then" to show a sudden change  ⭐⭐⭐ Keep sentences under 8 words each  ⭐⭐⭐⭐ Show the decision reversing at least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sentence where a character decides something. Make sure it shows hesitation, not just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the moment where your character almost changes their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learned the rats have electricity and a whole hidden world underground. Today: See Mrs. Frisby face a hard decision in the hallway. Big Q: When Mrs. Frisby sees Jeremy tangled in string and the cat coming, she could have run. She stays and unties him instead. Later, Nicodemus and the rats agree to move her cinderblock house — a dangerous, hours-long job — because she asked for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"She started out into the hall, and then changed her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"he ran into the library and then stopped at the door" Corrected: "He ran into the library, and then stopped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"he ran into the library and then stopped at the door" Corrected: "He ran into the library, and then stopped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unsafe — ly  — in a way that is not safe | retell — ing  — saying again | help — fully  — in a helpful way | unbroken — not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eavesdrop: Mrs. Frisby paused to _____ on her children's conversation. | muscular: Brutus was greatly oversized and _____ . | deserted: The library was entirely _____ when she walked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"Timothy shivered under his blanket." -&gt; shivered | "Mrs. Frisby read the blackboard." -&gt; read | "Arthur designed the new ploughs." -&gt;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"Timothy shivered under his blanket." -&gt; shivered | "Mrs. Frisby read the blackboard." -&gt; read | "Arthur designed the new ploughs." -&gt;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"“She started out into the hall, and then changed her mind.”"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Sensory Draft Focus: Continue your sensory draft. Show a character’s feelings through description, not by naming the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2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10–11</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Hard Decision</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“She started out into the hall, and then changed her mind.”</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"“She started out into the hall, and then changed her mind.”"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this short sentence show about Mrs. Frisby’s state of mind, without the author explaining her feelings directly?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moment when a character has to make a hard decision, the way Mrs. Frisby hesitates in the hallway. Use short sentences to show uncertainty.</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short, back-and-forth sentences to show a character changing their mind.</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Add internal thought in quotes  ⭐⭐ Use "and then" to show a sudden change  ⭐⭐⭐ Keep sentences under 8 words each  ⭐⭐⭐⭐ Show the decision reversing at least twice</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sentence where a character decides something. Make sure it shows hesitation, not just the decision.</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the moment where your character almost changes their mind.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learned the rats have electricity and a whole hidden world underground.</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See Mrs. Frisby face a hard decision in the hallway.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When Mrs. Frisby sees Jeremy tangled in string and the cat coming, she could have run. She stays and unties him instead. Later, Nicodemus and the rats agree to move her cinderblock house — a dangerous, hours-long job — because she asked for help.</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She started out into the hall, and then changed her mind.</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ran into the library and then stopped at the door</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ran into the library and then stopped at the door</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He ran into the library, and then stopped at the door.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Prefixes Review</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A prefix is a word part at the beginning of a word. This week's prefixes: re- (again), pre- (before), un- (not), dis- (not / opposite of).</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rebuild = re- + build (build again)</a:t>
            </a:r>
            <a:endParaRPr lang="en-US" sz="1100" dirty="0"/>
          </a:p>
        </p:txBody>
      </p:sp>
      <p:sp>
        <p:nvSpPr>
          <p:cNvPr id="10" name="Shape 8"/>
          <p:cNvSpPr/>
          <p:nvPr/>
        </p:nvSpPr>
        <p:spPr>
          <a:xfrm>
            <a:off x="2468880" y="1847088"/>
            <a:ext cx="201168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254203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preheat = pre- + heat (heat before)</a:t>
            </a:r>
            <a:endParaRPr lang="en-US" sz="1100" dirty="0"/>
          </a:p>
        </p:txBody>
      </p:sp>
      <p:sp>
        <p:nvSpPr>
          <p:cNvPr id="12" name="Shape 10"/>
          <p:cNvSpPr/>
          <p:nvPr/>
        </p:nvSpPr>
        <p:spPr>
          <a:xfrm>
            <a:off x="4572000" y="1847088"/>
            <a:ext cx="201168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464515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unfair = un- + fair (not fair)</a:t>
            </a:r>
            <a:endParaRPr lang="en-US" sz="1100" dirty="0"/>
          </a:p>
        </p:txBody>
      </p:sp>
      <p:sp>
        <p:nvSpPr>
          <p:cNvPr id="14" name="Shape 12"/>
          <p:cNvSpPr/>
          <p:nvPr/>
        </p:nvSpPr>
        <p:spPr>
          <a:xfrm>
            <a:off x="6675120" y="1847088"/>
            <a:ext cx="2011680" cy="502920"/>
          </a:xfrm>
          <a:prstGeom prst="roundRect">
            <a:avLst>
              <a:gd name="adj" fmla="val 14545"/>
            </a:avLst>
          </a:prstGeom>
          <a:solidFill>
            <a:srgbClr val="F8F4FF"/>
          </a:solidFill>
          <a:ln w="12700">
            <a:solidFill>
              <a:srgbClr val="8B6FC0"/>
            </a:solidFill>
            <a:prstDash val="solid"/>
          </a:ln>
        </p:spPr>
      </p:sp>
      <p:sp>
        <p:nvSpPr>
          <p:cNvPr id="15" name="Text 13"/>
          <p:cNvSpPr/>
          <p:nvPr/>
        </p:nvSpPr>
        <p:spPr>
          <a:xfrm>
            <a:off x="674827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dislike = dis- + like (not like)</a:t>
            </a:r>
            <a:endParaRPr lang="en-US" sz="1100" dirty="0"/>
          </a:p>
        </p:txBody>
      </p:sp>
      <p:sp>
        <p:nvSpPr>
          <p:cNvPr id="16" name="Text 14"/>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unsafe — ly  — in a way that is not safe</a:t>
            </a:r>
            <a:endParaRPr lang="en-US" sz="1300" dirty="0"/>
          </a:p>
        </p:txBody>
      </p:sp>
      <p:sp>
        <p:nvSpPr>
          <p:cNvPr id="19" name="Shape 17"/>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retell — ing  — saying again</a:t>
            </a:r>
            <a:endParaRPr lang="en-US" sz="1300" dirty="0"/>
          </a:p>
        </p:txBody>
      </p:sp>
      <p:sp>
        <p:nvSpPr>
          <p:cNvPr id="21" name="Shape 19"/>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help — fully  — in a helpful way</a:t>
            </a:r>
            <a:endParaRPr lang="en-US" sz="1300" dirty="0"/>
          </a:p>
        </p:txBody>
      </p:sp>
      <p:sp>
        <p:nvSpPr>
          <p:cNvPr id="23" name="Shape 21"/>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unbroken — not broken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Mrs. Frisby paused to _____ on her children's conversation.</a:t>
            </a:r>
            <a:endParaRPr lang="en-US" sz="1050" dirty="0"/>
          </a:p>
        </p:txBody>
      </p:sp>
      <p:sp>
        <p:nvSpPr>
          <p:cNvPr id="7" name="Text 5"/>
          <p:cNvSpPr/>
          <p:nvPr/>
        </p:nvSpPr>
        <p:spPr>
          <a:xfrm>
            <a:off x="45720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eavesdrop</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Brutus was greatly oversized and _____ .</a:t>
            </a:r>
            <a:endParaRPr lang="en-US" sz="1050" dirty="0"/>
          </a:p>
        </p:txBody>
      </p:sp>
      <p:sp>
        <p:nvSpPr>
          <p:cNvPr id="10" name="Text 8"/>
          <p:cNvSpPr/>
          <p:nvPr/>
        </p:nvSpPr>
        <p:spPr>
          <a:xfrm>
            <a:off x="4709160" y="1236726"/>
            <a:ext cx="3794760" cy="541782"/>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muscular</a:t>
            </a:r>
            <a:endParaRPr lang="en-US" sz="1300" dirty="0"/>
          </a:p>
        </p:txBody>
      </p:sp>
      <p:sp>
        <p:nvSpPr>
          <p:cNvPr id="11" name="Shape 9"/>
          <p:cNvSpPr/>
          <p:nvPr/>
        </p:nvSpPr>
        <p:spPr>
          <a:xfrm>
            <a:off x="320040" y="19431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library was entirely _____ when she walked in.</a:t>
            </a:r>
            <a:endParaRPr lang="en-US" sz="1050" dirty="0"/>
          </a:p>
        </p:txBody>
      </p:sp>
      <p:sp>
        <p:nvSpPr>
          <p:cNvPr id="13" name="Text 11"/>
          <p:cNvSpPr/>
          <p:nvPr/>
        </p:nvSpPr>
        <p:spPr>
          <a:xfrm>
            <a:off x="457200" y="2265426"/>
            <a:ext cx="3794760" cy="53721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deserted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Timothy shivered under his blanket.</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Frisby read the blackboard.</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Arthur designed the new ploughs.</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Timothy </a:t>
            </a:r>
            <a:pPr indent="0" marL="0">
              <a:buNone/>
            </a:pPr>
            <a:r>
              <a:rPr lang="en-US" sz="1500" b="1" u="sng" dirty="0">
                <a:solidFill>
                  <a:srgbClr val="34B76F"/>
                </a:solidFill>
                <a:latin typeface="Calibri" pitchFamily="34" charset="0"/>
                <a:ea typeface="Calibri" pitchFamily="34" charset="-122"/>
                <a:cs typeface="Calibri" pitchFamily="34" charset="-120"/>
              </a:rPr>
              <a:t>shivered</a:t>
            </a:r>
            <a:pPr indent="0" marL="0">
              <a:buNone/>
            </a:pPr>
            <a:r>
              <a:rPr lang="en-US" sz="1500" dirty="0">
                <a:solidFill>
                  <a:srgbClr val="1E293B"/>
                </a:solidFill>
                <a:latin typeface="Calibri" pitchFamily="34" charset="0"/>
                <a:ea typeface="Calibri" pitchFamily="34" charset="-122"/>
                <a:cs typeface="Calibri" pitchFamily="34" charset="-120"/>
              </a:rPr>
              <a:t> under his blanket.</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Frisby </a:t>
            </a:r>
            <a:pPr indent="0" marL="0">
              <a:buNone/>
            </a:pPr>
            <a:r>
              <a:rPr lang="en-US" sz="1500" b="1" u="sng" dirty="0">
                <a:solidFill>
                  <a:srgbClr val="34B76F"/>
                </a:solidFill>
                <a:latin typeface="Calibri" pitchFamily="34" charset="0"/>
                <a:ea typeface="Calibri" pitchFamily="34" charset="-122"/>
                <a:cs typeface="Calibri" pitchFamily="34" charset="-120"/>
              </a:rPr>
              <a:t>read</a:t>
            </a:r>
            <a:pPr indent="0" marL="0">
              <a:buNone/>
            </a:pPr>
            <a:r>
              <a:rPr lang="en-US" sz="1500" dirty="0">
                <a:solidFill>
                  <a:srgbClr val="1E293B"/>
                </a:solidFill>
                <a:latin typeface="Calibri" pitchFamily="34" charset="0"/>
                <a:ea typeface="Calibri" pitchFamily="34" charset="-122"/>
                <a:cs typeface="Calibri" pitchFamily="34" charset="-120"/>
              </a:rPr>
              <a:t> the blackboard.</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Arthur </a:t>
            </a:r>
            <a:pPr indent="0" marL="0">
              <a:buNone/>
            </a:pPr>
            <a:r>
              <a:rPr lang="en-US" sz="1500" b="1" u="sng" dirty="0">
                <a:solidFill>
                  <a:srgbClr val="34B76F"/>
                </a:solidFill>
                <a:latin typeface="Calibri" pitchFamily="34" charset="0"/>
                <a:ea typeface="Calibri" pitchFamily="34" charset="-122"/>
                <a:cs typeface="Calibri" pitchFamily="34" charset="-120"/>
              </a:rPr>
              <a:t>designed</a:t>
            </a:r>
            <a:pPr indent="0" marL="0">
              <a:buNone/>
            </a:pPr>
            <a:r>
              <a:rPr lang="en-US" sz="1500" dirty="0">
                <a:solidFill>
                  <a:srgbClr val="1E293B"/>
                </a:solidFill>
                <a:latin typeface="Calibri" pitchFamily="34" charset="0"/>
                <a:ea typeface="Calibri" pitchFamily="34" charset="-122"/>
                <a:cs typeface="Calibri" pitchFamily="34" charset="-120"/>
              </a:rPr>
              <a:t> the new ploughs.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10–11</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Hard Decision</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Mrs. Frisby learns about Moving Day. What is Moving Day, and why is it especially bad news for Timothy?</a:t>
            </a:r>
            <a:endParaRPr lang="en-US" sz="1400" dirty="0"/>
          </a:p>
        </p:txBody>
      </p:sp>
      <p:sp>
        <p:nvSpPr>
          <p:cNvPr id="10" name="Shape 8"/>
          <p:cNvSpPr/>
          <p:nvPr/>
        </p:nvSpPr>
        <p:spPr>
          <a:xfrm>
            <a:off x="365760" y="358444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Mrs. Frisby asks Jeremy for an unusual favor. Where does she want him to take her, and why?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“She started out into the hall, and then changed her mind.”</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093976"/>
            <a:ext cx="8412480" cy="531876"/>
          </a:xfrm>
          <a:prstGeom prst="roundRect">
            <a:avLst>
              <a:gd name="adj" fmla="val 17192"/>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57984"/>
            <a:ext cx="2651760" cy="403860"/>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Reader</a:t>
            </a:r>
            <a:endParaRPr lang="en-US" sz="1250" dirty="0"/>
          </a:p>
        </p:txBody>
      </p:sp>
      <p:sp>
        <p:nvSpPr>
          <p:cNvPr id="10" name="Text 8"/>
          <p:cNvSpPr/>
          <p:nvPr/>
        </p:nvSpPr>
        <p:spPr>
          <a:xfrm>
            <a:off x="3337560" y="2157984"/>
            <a:ext cx="5303520" cy="40386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What is Mrs. Frisby about to do — and then what does she decide instead? What does this small change show about her?</a:t>
            </a:r>
            <a:endParaRPr lang="en-US" sz="1150" dirty="0"/>
          </a:p>
        </p:txBody>
      </p:sp>
      <p:sp>
        <p:nvSpPr>
          <p:cNvPr id="11" name="Shape 9"/>
          <p:cNvSpPr/>
          <p:nvPr/>
        </p:nvSpPr>
        <p:spPr>
          <a:xfrm>
            <a:off x="365760" y="26990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763012"/>
            <a:ext cx="2651760" cy="329184"/>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Writer</a:t>
            </a:r>
            <a:endParaRPr lang="en-US" sz="1250" dirty="0"/>
          </a:p>
        </p:txBody>
      </p:sp>
      <p:sp>
        <p:nvSpPr>
          <p:cNvPr id="13" name="Text 11"/>
          <p:cNvSpPr/>
          <p:nvPr/>
        </p:nvSpPr>
        <p:spPr>
          <a:xfrm>
            <a:off x="3337560" y="2763012"/>
            <a:ext cx="5303520" cy="329184"/>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How did the author build this sentence? Notice the semicolon</a:t>
            </a:r>
            <a:endParaRPr lang="en-US" sz="1150" dirty="0"/>
          </a:p>
        </p:txBody>
      </p:sp>
      <p:sp>
        <p:nvSpPr>
          <p:cNvPr id="14" name="Shape 12"/>
          <p:cNvSpPr/>
          <p:nvPr/>
        </p:nvSpPr>
        <p:spPr>
          <a:xfrm>
            <a:off x="365760" y="3229356"/>
            <a:ext cx="8412480" cy="457200"/>
          </a:xfrm>
          <a:prstGeom prst="roundRect">
            <a:avLst>
              <a:gd name="adj" fmla="val 20000"/>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293364"/>
            <a:ext cx="2651760" cy="329184"/>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Mimic</a:t>
            </a:r>
            <a:endParaRPr lang="en-US" sz="1250" dirty="0"/>
          </a:p>
        </p:txBody>
      </p:sp>
      <p:sp>
        <p:nvSpPr>
          <p:cNvPr id="16" name="Text 14"/>
          <p:cNvSpPr/>
          <p:nvPr/>
        </p:nvSpPr>
        <p:spPr>
          <a:xfrm>
            <a:off x="3337560" y="3293364"/>
            <a:ext cx="5303520" cy="329184"/>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Sensory Draft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Continue your sensory draft. Show a character’s feelings through description, not by naming the feeling.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2026-07-11T21:52:57Z</dcterms:created>
  <dcterms:modified xsi:type="dcterms:W3CDTF">2026-07-11T21:52:57Z</dcterms:modified>
</cp:coreProperties>
</file>