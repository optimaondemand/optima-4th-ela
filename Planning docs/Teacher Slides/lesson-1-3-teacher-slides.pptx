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 Day 3.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Use short, punchy sentences back-to-back to build tension and urgency.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10-minute timer. Craft move: Use short, punchy sentences back-to-back to build tension and urgency.. Level-up: ⭐ Add a line of dialogue with Jeremy  ⭐⭐ Add one sensory detail (wind, height, darkness)  ⭐⭐⭐ Use three transition words naturally (first, then, suddenly)  ⭐⭐⭐⭐ Use at least two short sentences in a row for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Find one long sentence in your writing. Try breaking it into two short ones for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"Read the short sentence you used to build tension or show urgency."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Jeremy the crow needed Mrs. Frisby’s help to get untangled, and in return, he agreed to help her. Today: Follow Mrs. Frisby’s brave flight to ask the Great Owl for help. Big Q: Mrs. Frisby is a tiny field mouse, but she walks across the farm to see Mr. Ages because Timothy needs medicine. Later, she climbs onto Jeremy the crow and flies to the great owl. She is afraid. She goes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""Five days?" said Mrs. Frisby. "What shall I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"two weeks said mrs frisby where shall i go" Corrected: "“Two weeks?” said Mrs. Frisby. “Where shall I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"two weeks said mrs frisby where shall i go" Corrected: "“Two weeks?” said Mrs. Frisby. “Where shall I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unsafe — ly  — in a way that is not safe | retell — ing  — saying again | help — fully  — in a helpful way | unbroken — not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delirious: Timothy's fever was so high he was almost _____ . | warily: Mrs. Frisby crept up to the stump _____ , looking for danger. | abandoned: The corn had been _____ in the stump and forgotten.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"The medicine worked slowly." -&gt; medicine | "Jeremy flew down to help." -&gt; Jeremy | "The rosebush grew near the garden." -&gt; rosebush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"The medicine worked slowly." -&gt; medicine | "Jeremy flew down to help." -&gt; Jeremy | "The rosebush grew near the garden." -&gt; rosebush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Chapters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"“She could not stand still; she had to do something.”"
Craft: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Narrative Writing — Moment Map
Focus: Map out the key moments of your story in order, the way Mrs. Frisby’s journey moved from problem to owl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4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8FBF7A">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8FBF7A"/>
                </a:solidFill>
                <a:latin typeface="Calibri" pitchFamily="34" charset="0"/>
                <a:ea typeface="Calibri" pitchFamily="34" charset="-122"/>
                <a:cs typeface="Calibri" pitchFamily="34" charset="-120"/>
              </a:rPr>
              <a:t>WEEK 1  ·  DAY 3</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Chapters 4–5</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The Great Owl</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  ·  Virtue: Ingenuity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“She could not stand still; she had to do something.”</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"“She could not stand still; she had to do something.”"</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FBF7A"/>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Why does the author use two short sentences here instead of one long one? What effect does it create?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10 minutes - keep your pencil moving!</a:t>
            </a:r>
            <a:endParaRPr lang="en-US" sz="1500" dirty="0"/>
          </a:p>
        </p:txBody>
      </p:sp>
      <p:sp>
        <p:nvSpPr>
          <p:cNvPr id="4" name="Shape 2"/>
          <p:cNvSpPr/>
          <p:nvPr/>
        </p:nvSpPr>
        <p:spPr>
          <a:xfrm>
            <a:off x="457200" y="1170432"/>
            <a:ext cx="8229600" cy="877824"/>
          </a:xfrm>
          <a:prstGeom prst="roundRect">
            <a:avLst>
              <a:gd name="adj" fmla="val 10417"/>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86384"/>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a field journal entry as Mrs. Frisby during her flight on Jeremy’s back to see the Great Owl. Use short, quick sentences to show her fear and determination, the way the author does.</a:t>
            </a:r>
            <a:endParaRPr lang="en-US" sz="1200" dirty="0"/>
          </a:p>
        </p:txBody>
      </p:sp>
      <p:sp>
        <p:nvSpPr>
          <p:cNvPr id="6" name="Shape 4"/>
          <p:cNvSpPr/>
          <p:nvPr/>
        </p:nvSpPr>
        <p:spPr>
          <a:xfrm>
            <a:off x="457200" y="2176272"/>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231136"/>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Use short, punchy sentences back-to-back to build tension and urgency.</a:t>
            </a:r>
            <a:endParaRPr lang="en-US" sz="1300" dirty="0"/>
          </a:p>
        </p:txBody>
      </p:sp>
      <p:sp>
        <p:nvSpPr>
          <p:cNvPr id="8" name="Text 6"/>
          <p:cNvSpPr/>
          <p:nvPr/>
        </p:nvSpPr>
        <p:spPr>
          <a:xfrm>
            <a:off x="548640" y="2923032"/>
            <a:ext cx="8046720" cy="624078"/>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Add a line of dialogue with Jeremy  ⭐⭐ Add one sensory detail (wind, height, darkness)  ⭐⭐⭐ Use three transition words naturally (first, then, suddenly)  ⭐⭐⭐⭐ Use at least two short sentences in a row for effect</a:t>
            </a:r>
            <a:endParaRPr lang="en-US" sz="1150" dirty="0"/>
          </a:p>
        </p:txBody>
      </p:sp>
      <p:sp>
        <p:nvSpPr>
          <p:cNvPr id="9" name="Text 7"/>
          <p:cNvSpPr/>
          <p:nvPr/>
        </p:nvSpPr>
        <p:spPr>
          <a:xfrm>
            <a:off x="548640" y="3620262"/>
            <a:ext cx="8046720" cy="140893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Find one long sentence in your writing. Try breaking it into two short ones for impact.</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Read the short sentence you used to build tension or show urgency.</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Jeremy the crow needed Mrs. Frisby’s help to get untangled, and in return, he agreed to help her.</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8FBF7A"/>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Follow Mrs. Frisby’s brave flight to ask the Great Owl for help.</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Mrs. Frisby is a tiny field mouse, but she walks across the farm to see Mr. Ages because Timothy needs medicine. Later, she climbs onto Jeremy the crow and flies to the great owl. She is afraid. She goes anyway.</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think about how problems grow. The first problem in a book is rarely the only one — new trouble appears as the story moves.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"Five days?" said Mrs. Frisby. "What shall I do?"</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two weeks said mrs frisby where shall i go</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two weeks said mrs frisby where shall i go</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“Two weeks?” said Mrs. Frisby. “Where shall I go?”</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Morphology</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Word Parts Review</a:t>
            </a:r>
            <a:endParaRPr lang="en-US" sz="1100" dirty="0"/>
          </a:p>
        </p:txBody>
      </p:sp>
      <p:sp>
        <p:nvSpPr>
          <p:cNvPr id="5" name="Shape 3"/>
          <p:cNvSpPr/>
          <p:nvPr/>
        </p:nvSpPr>
        <p:spPr>
          <a:xfrm>
            <a:off x="365760" y="1060704"/>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15568"/>
            <a:ext cx="8046720" cy="365760"/>
          </a:xfrm>
          <a:prstGeom prst="rect">
            <a:avLst/>
          </a:prstGeom>
          <a:noFill/>
          <a:ln/>
        </p:spPr>
        <p:txBody>
          <a:bodyPr wrap="square" lIns="0" tIns="0" rIns="0" bIns="0" rtlCol="0" anchor="ctr"/>
          <a:lstStyle/>
          <a:p>
            <a:pPr indent="0" marL="0">
              <a:buNone/>
            </a:pPr>
            <a:r>
              <a:rPr lang="en-US" sz="1150" i="1" dirty="0">
                <a:solidFill>
                  <a:srgbClr val="8B6FC0"/>
                </a:solidFill>
                <a:latin typeface="Calibri" pitchFamily="34" charset="0"/>
                <a:ea typeface="Calibri" pitchFamily="34" charset="-122"/>
                <a:cs typeface="Calibri" pitchFamily="34" charset="-120"/>
              </a:rPr>
              <a:t>When you meet a long word, break it into parts. Take off the prefix and suffix to find the base. The base tells you the meaning.</a:t>
            </a:r>
            <a:endParaRPr lang="en-US" sz="1150" dirty="0"/>
          </a:p>
        </p:txBody>
      </p:sp>
      <p:sp>
        <p:nvSpPr>
          <p:cNvPr id="7" name="Text 5"/>
          <p:cNvSpPr/>
          <p:nvPr/>
        </p:nvSpPr>
        <p:spPr>
          <a:xfrm>
            <a:off x="365760" y="1591056"/>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PARTS REFERENCE</a:t>
            </a:r>
            <a:endParaRPr lang="en-US" sz="1100" dirty="0"/>
          </a:p>
        </p:txBody>
      </p:sp>
      <p:sp>
        <p:nvSpPr>
          <p:cNvPr id="8" name="Shape 6"/>
          <p:cNvSpPr/>
          <p:nvPr/>
        </p:nvSpPr>
        <p:spPr>
          <a:xfrm>
            <a:off x="365760" y="1847088"/>
            <a:ext cx="2712720" cy="502920"/>
          </a:xfrm>
          <a:prstGeom prst="roundRect">
            <a:avLst>
              <a:gd name="adj" fmla="val 14545"/>
            </a:avLst>
          </a:prstGeom>
          <a:solidFill>
            <a:srgbClr val="F8F4FF"/>
          </a:solidFill>
          <a:ln w="12700">
            <a:solidFill>
              <a:srgbClr val="8B6FC0"/>
            </a:solidFill>
            <a:prstDash val="solid"/>
          </a:ln>
        </p:spPr>
      </p:sp>
      <p:sp>
        <p:nvSpPr>
          <p:cNvPr id="9" name="Text 7"/>
          <p:cNvSpPr/>
          <p:nvPr/>
        </p:nvSpPr>
        <p:spPr>
          <a:xfrm>
            <a:off x="438912" y="1892808"/>
            <a:ext cx="2566416" cy="41148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unsafely = un- + safe + -ly</a:t>
            </a:r>
            <a:endParaRPr lang="en-US" sz="1100" dirty="0"/>
          </a:p>
        </p:txBody>
      </p:sp>
      <p:sp>
        <p:nvSpPr>
          <p:cNvPr id="10" name="Shape 8"/>
          <p:cNvSpPr/>
          <p:nvPr/>
        </p:nvSpPr>
        <p:spPr>
          <a:xfrm>
            <a:off x="3169920" y="1847088"/>
            <a:ext cx="2712720" cy="502920"/>
          </a:xfrm>
          <a:prstGeom prst="roundRect">
            <a:avLst>
              <a:gd name="adj" fmla="val 14545"/>
            </a:avLst>
          </a:prstGeom>
          <a:solidFill>
            <a:srgbClr val="F8F4FF"/>
          </a:solidFill>
          <a:ln w="12700">
            <a:solidFill>
              <a:srgbClr val="8B6FC0"/>
            </a:solidFill>
            <a:prstDash val="solid"/>
          </a:ln>
        </p:spPr>
      </p:sp>
      <p:sp>
        <p:nvSpPr>
          <p:cNvPr id="11" name="Text 9"/>
          <p:cNvSpPr/>
          <p:nvPr/>
        </p:nvSpPr>
        <p:spPr>
          <a:xfrm>
            <a:off x="3243072" y="1892808"/>
            <a:ext cx="2566416" cy="41148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helpfully = help + -ful + -ly</a:t>
            </a:r>
            <a:endParaRPr lang="en-US" sz="1100" dirty="0"/>
          </a:p>
        </p:txBody>
      </p:sp>
      <p:sp>
        <p:nvSpPr>
          <p:cNvPr id="12" name="Shape 10"/>
          <p:cNvSpPr/>
          <p:nvPr/>
        </p:nvSpPr>
        <p:spPr>
          <a:xfrm>
            <a:off x="5974080" y="1847088"/>
            <a:ext cx="2712720" cy="502920"/>
          </a:xfrm>
          <a:prstGeom prst="roundRect">
            <a:avLst>
              <a:gd name="adj" fmla="val 14545"/>
            </a:avLst>
          </a:prstGeom>
          <a:solidFill>
            <a:srgbClr val="F8F4FF"/>
          </a:solidFill>
          <a:ln w="12700">
            <a:solidFill>
              <a:srgbClr val="8B6FC0"/>
            </a:solidFill>
            <a:prstDash val="solid"/>
          </a:ln>
        </p:spPr>
      </p:sp>
      <p:sp>
        <p:nvSpPr>
          <p:cNvPr id="13" name="Text 11"/>
          <p:cNvSpPr/>
          <p:nvPr/>
        </p:nvSpPr>
        <p:spPr>
          <a:xfrm>
            <a:off x="6047232" y="1892808"/>
            <a:ext cx="2566416" cy="41148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retelling = re- + tell + -ing</a:t>
            </a:r>
            <a:endParaRPr lang="en-US" sz="1100" dirty="0"/>
          </a:p>
        </p:txBody>
      </p:sp>
      <p:sp>
        <p:nvSpPr>
          <p:cNvPr id="14" name="Text 12"/>
          <p:cNvSpPr/>
          <p:nvPr/>
        </p:nvSpPr>
        <p:spPr>
          <a:xfrm>
            <a:off x="365760" y="246888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TRY IT - FILL IN THE MISSING PART</a:t>
            </a:r>
            <a:endParaRPr lang="en-US" sz="1100" dirty="0"/>
          </a:p>
        </p:txBody>
      </p:sp>
      <p:sp>
        <p:nvSpPr>
          <p:cNvPr id="15" name="Shape 13"/>
          <p:cNvSpPr/>
          <p:nvPr/>
        </p:nvSpPr>
        <p:spPr>
          <a:xfrm>
            <a:off x="365760" y="272491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16" name="Text 14"/>
          <p:cNvSpPr/>
          <p:nvPr/>
        </p:nvSpPr>
        <p:spPr>
          <a:xfrm>
            <a:off x="594360" y="277063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unsafe — ly  — in a way that is not safe</a:t>
            </a:r>
            <a:endParaRPr lang="en-US" sz="1300" dirty="0"/>
          </a:p>
        </p:txBody>
      </p:sp>
      <p:sp>
        <p:nvSpPr>
          <p:cNvPr id="17" name="Shape 15"/>
          <p:cNvSpPr/>
          <p:nvPr/>
        </p:nvSpPr>
        <p:spPr>
          <a:xfrm>
            <a:off x="365760" y="318211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18" name="Text 16"/>
          <p:cNvSpPr/>
          <p:nvPr/>
        </p:nvSpPr>
        <p:spPr>
          <a:xfrm>
            <a:off x="594360" y="322783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retell — ing  — saying again</a:t>
            </a:r>
            <a:endParaRPr lang="en-US" sz="1300" dirty="0"/>
          </a:p>
        </p:txBody>
      </p:sp>
      <p:sp>
        <p:nvSpPr>
          <p:cNvPr id="19" name="Shape 17"/>
          <p:cNvSpPr/>
          <p:nvPr/>
        </p:nvSpPr>
        <p:spPr>
          <a:xfrm>
            <a:off x="365760" y="363931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20" name="Text 18"/>
          <p:cNvSpPr/>
          <p:nvPr/>
        </p:nvSpPr>
        <p:spPr>
          <a:xfrm>
            <a:off x="594360" y="368503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help — fully  — in a helpful way</a:t>
            </a:r>
            <a:endParaRPr lang="en-US" sz="1300" dirty="0"/>
          </a:p>
        </p:txBody>
      </p:sp>
      <p:sp>
        <p:nvSpPr>
          <p:cNvPr id="21" name="Shape 19"/>
          <p:cNvSpPr/>
          <p:nvPr/>
        </p:nvSpPr>
        <p:spPr>
          <a:xfrm>
            <a:off x="365760" y="409651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2" name="Text 20"/>
          <p:cNvSpPr/>
          <p:nvPr/>
        </p:nvSpPr>
        <p:spPr>
          <a:xfrm>
            <a:off x="594360" y="414223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unbroken — not broken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3 WORDS - READ THE SENTENCE, THEN THE MEANING</a:t>
            </a:r>
            <a:endParaRPr lang="en-US" sz="1100" dirty="0"/>
          </a:p>
        </p:txBody>
      </p:sp>
      <p:sp>
        <p:nvSpPr>
          <p:cNvPr id="5" name="Shape 3"/>
          <p:cNvSpPr/>
          <p:nvPr/>
        </p:nvSpPr>
        <p:spPr>
          <a:xfrm>
            <a:off x="320040" y="914400"/>
            <a:ext cx="4069080" cy="918972"/>
          </a:xfrm>
          <a:prstGeom prst="roundRect">
            <a:avLst>
              <a:gd name="adj" fmla="val 995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176022"/>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Timothy's fever was so high he was almost _____ .</a:t>
            </a:r>
            <a:endParaRPr lang="en-US" sz="1050" dirty="0"/>
          </a:p>
        </p:txBody>
      </p:sp>
      <p:sp>
        <p:nvSpPr>
          <p:cNvPr id="7" name="Text 5"/>
          <p:cNvSpPr/>
          <p:nvPr/>
        </p:nvSpPr>
        <p:spPr>
          <a:xfrm>
            <a:off x="457200" y="1236726"/>
            <a:ext cx="3794760" cy="541782"/>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Answer: </a:t>
            </a:r>
            <a:pPr indent="0" marL="0">
              <a:buNone/>
            </a:pPr>
            <a:r>
              <a:rPr lang="en-US" sz="1500" b="1" dirty="0">
                <a:solidFill>
                  <a:srgbClr val="34B76F"/>
                </a:solidFill>
                <a:latin typeface="Calibri" pitchFamily="34" charset="0"/>
                <a:ea typeface="Calibri" pitchFamily="34" charset="-122"/>
                <a:cs typeface="Calibri" pitchFamily="34" charset="-120"/>
              </a:rPr>
              <a:t>delirious</a:t>
            </a:r>
            <a:endParaRPr lang="en-US" sz="1300" dirty="0"/>
          </a:p>
        </p:txBody>
      </p:sp>
      <p:sp>
        <p:nvSpPr>
          <p:cNvPr id="8" name="Shape 6"/>
          <p:cNvSpPr/>
          <p:nvPr/>
        </p:nvSpPr>
        <p:spPr>
          <a:xfrm>
            <a:off x="4572000" y="914400"/>
            <a:ext cx="4069080" cy="918972"/>
          </a:xfrm>
          <a:prstGeom prst="roundRect">
            <a:avLst>
              <a:gd name="adj" fmla="val 9950"/>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470916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Mrs. Frisby crept up to the stump _____ , looking for danger.</a:t>
            </a:r>
            <a:endParaRPr lang="en-US" sz="1050" dirty="0"/>
          </a:p>
        </p:txBody>
      </p:sp>
      <p:sp>
        <p:nvSpPr>
          <p:cNvPr id="10" name="Text 8"/>
          <p:cNvSpPr/>
          <p:nvPr/>
        </p:nvSpPr>
        <p:spPr>
          <a:xfrm>
            <a:off x="4709160" y="1412748"/>
            <a:ext cx="3794760" cy="3657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Answer: </a:t>
            </a:r>
            <a:pPr indent="0" marL="0">
              <a:buNone/>
            </a:pPr>
            <a:r>
              <a:rPr lang="en-US" sz="1500" b="1" dirty="0">
                <a:solidFill>
                  <a:srgbClr val="34B76F"/>
                </a:solidFill>
                <a:latin typeface="Calibri" pitchFamily="34" charset="0"/>
                <a:ea typeface="Calibri" pitchFamily="34" charset="-122"/>
                <a:cs typeface="Calibri" pitchFamily="34" charset="-120"/>
              </a:rPr>
              <a:t>warily</a:t>
            </a:r>
            <a:endParaRPr lang="en-US" sz="1300" dirty="0"/>
          </a:p>
        </p:txBody>
      </p:sp>
      <p:sp>
        <p:nvSpPr>
          <p:cNvPr id="11" name="Shape 9"/>
          <p:cNvSpPr/>
          <p:nvPr/>
        </p:nvSpPr>
        <p:spPr>
          <a:xfrm>
            <a:off x="320040" y="1943100"/>
            <a:ext cx="4069080" cy="918972"/>
          </a:xfrm>
          <a:prstGeom prst="roundRect">
            <a:avLst>
              <a:gd name="adj" fmla="val 9950"/>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457200" y="20345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The corn had been _____ in the stump and forgotten.</a:t>
            </a:r>
            <a:endParaRPr lang="en-US" sz="1050" dirty="0"/>
          </a:p>
        </p:txBody>
      </p:sp>
      <p:sp>
        <p:nvSpPr>
          <p:cNvPr id="13" name="Text 11"/>
          <p:cNvSpPr/>
          <p:nvPr/>
        </p:nvSpPr>
        <p:spPr>
          <a:xfrm>
            <a:off x="457200" y="2441448"/>
            <a:ext cx="3794760" cy="3657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Answer: </a:t>
            </a:r>
            <a:pPr indent="0" marL="0">
              <a:buNone/>
            </a:pPr>
            <a:r>
              <a:rPr lang="en-US" sz="1500" b="1" dirty="0">
                <a:solidFill>
                  <a:srgbClr val="34B76F"/>
                </a:solidFill>
                <a:latin typeface="Calibri" pitchFamily="34" charset="0"/>
                <a:ea typeface="Calibri" pitchFamily="34" charset="-122"/>
                <a:cs typeface="Calibri" pitchFamily="34" charset="-120"/>
              </a:rPr>
              <a:t>abandoned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Nouns &amp; Subjects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medicine worked slowly.</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Jeremy flew down to help.</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rosebush grew near the garden.</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Nouns &amp; Subjects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a:t>
            </a:r>
            <a:pPr indent="0" marL="0">
              <a:buNone/>
            </a:pPr>
            <a:r>
              <a:rPr lang="en-US" sz="1500" b="1" u="sng" dirty="0">
                <a:solidFill>
                  <a:srgbClr val="34B76F"/>
                </a:solidFill>
                <a:latin typeface="Calibri" pitchFamily="34" charset="0"/>
                <a:ea typeface="Calibri" pitchFamily="34" charset="-122"/>
                <a:cs typeface="Calibri" pitchFamily="34" charset="-120"/>
              </a:rPr>
              <a:t>medicine</a:t>
            </a:r>
            <a:pPr indent="0" marL="0">
              <a:buNone/>
            </a:pPr>
            <a:r>
              <a:rPr lang="en-US" sz="1500" dirty="0">
                <a:solidFill>
                  <a:srgbClr val="1E293B"/>
                </a:solidFill>
                <a:latin typeface="Calibri" pitchFamily="34" charset="0"/>
                <a:ea typeface="Calibri" pitchFamily="34" charset="-122"/>
                <a:cs typeface="Calibri" pitchFamily="34" charset="-120"/>
              </a:rPr>
              <a:t> worked slowly.</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pPr indent="0" marL="0">
              <a:buNone/>
            </a:pPr>
            <a:r>
              <a:rPr lang="en-US" sz="1500" b="1" u="sng" dirty="0">
                <a:solidFill>
                  <a:srgbClr val="34B76F"/>
                </a:solidFill>
                <a:latin typeface="Calibri" pitchFamily="34" charset="0"/>
                <a:ea typeface="Calibri" pitchFamily="34" charset="-122"/>
                <a:cs typeface="Calibri" pitchFamily="34" charset="-120"/>
              </a:rPr>
              <a:t>Jeremy</a:t>
            </a:r>
            <a:pPr indent="0" marL="0">
              <a:buNone/>
            </a:pPr>
            <a:r>
              <a:rPr lang="en-US" sz="1500" dirty="0">
                <a:solidFill>
                  <a:srgbClr val="1E293B"/>
                </a:solidFill>
                <a:latin typeface="Calibri" pitchFamily="34" charset="0"/>
                <a:ea typeface="Calibri" pitchFamily="34" charset="-122"/>
                <a:cs typeface="Calibri" pitchFamily="34" charset="-120"/>
              </a:rPr>
              <a:t> flew down to help.</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a:t>
            </a:r>
            <a:pPr indent="0" marL="0">
              <a:buNone/>
            </a:pPr>
            <a:r>
              <a:rPr lang="en-US" sz="1500" b="1" u="sng" dirty="0">
                <a:solidFill>
                  <a:srgbClr val="34B76F"/>
                </a:solidFill>
                <a:latin typeface="Calibri" pitchFamily="34" charset="0"/>
                <a:ea typeface="Calibri" pitchFamily="34" charset="-122"/>
                <a:cs typeface="Calibri" pitchFamily="34" charset="-120"/>
              </a:rPr>
              <a:t>rosebush</a:t>
            </a:r>
            <a:pPr indent="0" marL="0">
              <a:buNone/>
            </a:pPr>
            <a:r>
              <a:rPr lang="en-US" sz="1500" dirty="0">
                <a:solidFill>
                  <a:srgbClr val="1E293B"/>
                </a:solidFill>
                <a:latin typeface="Calibri" pitchFamily="34" charset="0"/>
                <a:ea typeface="Calibri" pitchFamily="34" charset="-122"/>
                <a:cs typeface="Calibri" pitchFamily="34" charset="-120"/>
              </a:rPr>
              <a:t> grew near the garden.</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Chapters 4–5</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The Great Owl</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As you read today, ask yourself: What new problem appears in these chapters? How does it connect to the first problem (Timothy's sickness)?</a:t>
            </a:r>
            <a:endParaRPr lang="en-US" sz="1400" dirty="0"/>
          </a:p>
        </p:txBody>
      </p:sp>
      <p:sp>
        <p:nvSpPr>
          <p:cNvPr id="8" name="Shape 6"/>
          <p:cNvSpPr/>
          <p:nvPr/>
        </p:nvSpPr>
        <p:spPr>
          <a:xfrm>
            <a:off x="365760" y="265176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74320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Mrs. Frisby learns about Moving Day. What is Moving Day, and why is it especially bad news for Timothy?</a:t>
            </a:r>
            <a:endParaRPr lang="en-US" sz="1400" dirty="0"/>
          </a:p>
        </p:txBody>
      </p:sp>
      <p:sp>
        <p:nvSpPr>
          <p:cNvPr id="10" name="Shape 8"/>
          <p:cNvSpPr/>
          <p:nvPr/>
        </p:nvSpPr>
        <p:spPr>
          <a:xfrm>
            <a:off x="365760" y="3584448"/>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675888"/>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Mrs. Frisby asks Jeremy for an unusual favor. Where does she want him to take her, and why?</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 like a Reader, Writer, Mimic</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MENTOR SENTENCE</a:t>
            </a:r>
            <a:endParaRPr lang="en-US" sz="1100" dirty="0"/>
          </a:p>
        </p:txBody>
      </p:sp>
      <p:sp>
        <p:nvSpPr>
          <p:cNvPr id="5" name="Shape 3"/>
          <p:cNvSpPr/>
          <p:nvPr/>
        </p:nvSpPr>
        <p:spPr>
          <a:xfrm>
            <a:off x="365760" y="1042416"/>
            <a:ext cx="8412480" cy="685800"/>
          </a:xfrm>
          <a:prstGeom prst="roundRect">
            <a:avLst>
              <a:gd name="adj" fmla="val 13333"/>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600" i="1" dirty="0">
                <a:solidFill>
                  <a:srgbClr val="0E1C42"/>
                </a:solidFill>
                <a:latin typeface="Calibri" pitchFamily="34" charset="0"/>
                <a:ea typeface="Calibri" pitchFamily="34" charset="-122"/>
                <a:cs typeface="Calibri" pitchFamily="34" charset="-120"/>
              </a:rPr>
              <a:t>“She could not stand still; she had to do something.”</a:t>
            </a:r>
            <a:endParaRPr lang="en-US" sz="1600" dirty="0"/>
          </a:p>
        </p:txBody>
      </p:sp>
      <p:sp>
        <p:nvSpPr>
          <p:cNvPr id="7" name="Text 5"/>
          <p:cNvSpPr/>
          <p:nvPr/>
        </p:nvSpPr>
        <p:spPr>
          <a:xfrm>
            <a:off x="365760" y="1856232"/>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YOUR THREE JOBS</a:t>
            </a:r>
            <a:endParaRPr lang="en-US" sz="1100" dirty="0"/>
          </a:p>
        </p:txBody>
      </p:sp>
      <p:sp>
        <p:nvSpPr>
          <p:cNvPr id="8" name="Shape 6"/>
          <p:cNvSpPr/>
          <p:nvPr/>
        </p:nvSpPr>
        <p:spPr>
          <a:xfrm>
            <a:off x="365760" y="2112264"/>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9" name="Text 7"/>
          <p:cNvSpPr/>
          <p:nvPr/>
        </p:nvSpPr>
        <p:spPr>
          <a:xfrm>
            <a:off x="594360" y="2176272"/>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Reader</a:t>
            </a:r>
            <a:endParaRPr lang="en-US" sz="1300" dirty="0"/>
          </a:p>
        </p:txBody>
      </p:sp>
      <p:sp>
        <p:nvSpPr>
          <p:cNvPr id="10" name="Text 8"/>
          <p:cNvSpPr/>
          <p:nvPr/>
        </p:nvSpPr>
        <p:spPr>
          <a:xfrm>
            <a:off x="3337560" y="2176272"/>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What is Mrs. Frisby feeling in this moment? What kind of trouble is she in?</a:t>
            </a:r>
            <a:endParaRPr lang="en-US" sz="1200" dirty="0"/>
          </a:p>
        </p:txBody>
      </p:sp>
      <p:sp>
        <p:nvSpPr>
          <p:cNvPr id="11" name="Shape 9"/>
          <p:cNvSpPr/>
          <p:nvPr/>
        </p:nvSpPr>
        <p:spPr>
          <a:xfrm>
            <a:off x="365760" y="2734056"/>
            <a:ext cx="8412480" cy="530352"/>
          </a:xfrm>
          <a:prstGeom prst="roundRect">
            <a:avLst>
              <a:gd name="adj" fmla="val 17241"/>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798064"/>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Writer</a:t>
            </a:r>
            <a:endParaRPr lang="en-US" sz="1300" dirty="0"/>
          </a:p>
        </p:txBody>
      </p:sp>
      <p:sp>
        <p:nvSpPr>
          <p:cNvPr id="13" name="Text 11"/>
          <p:cNvSpPr/>
          <p:nvPr/>
        </p:nvSpPr>
        <p:spPr>
          <a:xfrm>
            <a:off x="3337560" y="2798064"/>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How did the author build this sentence? Notice the semicolon</a:t>
            </a:r>
            <a:endParaRPr lang="en-US" sz="1200" dirty="0"/>
          </a:p>
        </p:txBody>
      </p:sp>
      <p:sp>
        <p:nvSpPr>
          <p:cNvPr id="14" name="Shape 12"/>
          <p:cNvSpPr/>
          <p:nvPr/>
        </p:nvSpPr>
        <p:spPr>
          <a:xfrm>
            <a:off x="365760" y="3355848"/>
            <a:ext cx="8412480" cy="530352"/>
          </a:xfrm>
          <a:prstGeom prst="roundRect">
            <a:avLst>
              <a:gd name="adj" fmla="val 17241"/>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94360" y="3419856"/>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Mimic</a:t>
            </a:r>
            <a:endParaRPr lang="en-US" sz="1300" dirty="0"/>
          </a:p>
        </p:txBody>
      </p:sp>
      <p:sp>
        <p:nvSpPr>
          <p:cNvPr id="16" name="Text 14"/>
          <p:cNvSpPr/>
          <p:nvPr/>
        </p:nvSpPr>
        <p:spPr>
          <a:xfrm>
            <a:off x="3337560" y="3419856"/>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Write your own sentence using the same pattern in your notebook.</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Narrative Writing — Moment Map</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Map out the key moments of your story in order, the way Mrs. Frisby’s journey moved from problem to owl to answer.</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2026-07-11T22:13:20Z</dcterms:created>
  <dcterms:modified xsi:type="dcterms:W3CDTF">2026-07-11T22:13:20Z</dcterms:modified>
</cp:coreProperties>
</file>