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Week 18, Day 3. Novel emoji: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1 quiet minute to look/read closely before any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Push toward naming the craft move: Use a second, different piece of evidence, and explain how it connects to the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15-minute timer. Craft move: Use a second, different piece of evidence, and explain how it connects to the first.. Level-up: ⭐ Choose a NEW moment, different from Day 2  ⭐⭐ Explain why it shows courage  ⭐⭐⭐ Compare it briefly to your first piece of evidence  ⭐⭐⭐⭐ Explain what both moments have in common.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a 2-minute timer. Today's revision focus: Make sure your second piece of evidence is truly different from your first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Call on 3-5 students. Keep sharing craft-focused: "Share your second piece of evidence and how it connects to your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1-minute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 Yesterday, Mama whispered the words of a psalm during a tense, quiet moment. Today: Say goodbye to Peter alongside Annemarie. Big Q: As you read today, watch for the setting, the characters, and the moment of danger. What is Copenhagen like in 1943? Who is Annemarie? What small thing happens that tells you life is not normal?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 model: "Peter wouldn’t promise they would meet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"ellen couldnt say goodbye without crying it wasnt easy" Corrected: "Ellen couldn’t say goodbye without crying. It wasn’t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Fix-it: "ellen couldnt say goodbye without crying it wasnt easy" Corrected: "Ellen couldn’t say goodbye without crying. It wasn’t easy."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Morphology: succeed — — to go up under; to do well | recede — — to go back | process — — a forward-going set of steps | secede — — to break away (apart)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Vocab: intend: To plan to do something on purpose. | credible: Believable; easy to trust. | discreet: Careful not to draw attention. | tense: Tight with worry; nervous.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"Peter said they’ll be safe in Sweden." -&gt; they’ll | "Mrs. Rosen doesn’t want to leave." -&gt; doesn’t | "It’s a dangerous night." -&gt; 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Grammar: "Peter said they’ll be safe in Sweden." -&gt; they’ll | "Mrs. Rosen doesn’t want to leave." -&gt; doesn’t | "It’s a dangerous night." -&gt; 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Has a prefix: unsafe, disappear, misunderstood | Has a suffix: frightened, careful, dangerous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Spelling: Has a prefix: unsafe, disappear, misunderstood | Has a suffix: frightened, careful, dangerous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Chapter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Opinion Essay — Evidence #2
Focus: Write your second evidence paragraph and connect it to your claim.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2E4A"/>
        </a:solidFill>
      </p:bgPr>
    </p:bg>
    <p:spTree>
      <p:nvGrpSpPr>
        <p:cNvPr id="1" name=""/>
        <p:cNvGrpSpPr/>
        <p:nvPr/>
      </p:nvGrpSpPr>
      <p:grpSpPr>
        <a:xfrm>
          <a:off x="0" y="0"/>
          <a:ext cx="0" cy="0"/>
          <a:chOff x="0" y="0"/>
          <a:chExt cx="0" cy="0"/>
        </a:xfrm>
      </p:grpSpPr>
      <p:sp>
        <p:nvSpPr>
          <p:cNvPr id="2" name="Shape 0"/>
          <p:cNvSpPr/>
          <p:nvPr/>
        </p:nvSpPr>
        <p:spPr>
          <a:xfrm>
            <a:off x="0" y="4114800"/>
            <a:ext cx="9144000" cy="1028700"/>
          </a:xfrm>
          <a:prstGeom prst="rect">
            <a:avLst/>
          </a:prstGeom>
          <a:solidFill>
            <a:srgbClr val="6E9BD9">
              <a:alpha val="15000"/>
            </a:srgbClr>
          </a:solidFill>
          <a:ln/>
        </p:spPr>
      </p:sp>
      <p:sp>
        <p:nvSpPr>
          <p:cNvPr id="3" name="Text 1"/>
          <p:cNvSpPr/>
          <p:nvPr/>
        </p:nvSpPr>
        <p:spPr>
          <a:xfrm>
            <a:off x="457200" y="640080"/>
            <a:ext cx="8229600" cy="365760"/>
          </a:xfrm>
          <a:prstGeom prst="rect">
            <a:avLst/>
          </a:prstGeom>
          <a:noFill/>
          <a:ln/>
        </p:spPr>
        <p:txBody>
          <a:bodyPr wrap="square" lIns="0" tIns="0" rIns="0" bIns="0" rtlCol="0" anchor="ctr"/>
          <a:lstStyle/>
          <a:p>
            <a:pPr algn="l" indent="0" marL="0">
              <a:buNone/>
            </a:pPr>
            <a:r>
              <a:rPr lang="en-US" sz="1300" b="1" spc="400" kern="0" dirty="0">
                <a:solidFill>
                  <a:srgbClr val="6E9BD9"/>
                </a:solidFill>
                <a:latin typeface="Calibri" pitchFamily="34" charset="0"/>
                <a:ea typeface="Calibri" pitchFamily="34" charset="-122"/>
                <a:cs typeface="Calibri" pitchFamily="34" charset="-120"/>
              </a:rPr>
              <a:t>WEEK 18  ·  DAY 3</a:t>
            </a:r>
            <a:endParaRPr lang="en-US" sz="1300" dirty="0"/>
          </a:p>
        </p:txBody>
      </p:sp>
      <p:sp>
        <p:nvSpPr>
          <p:cNvPr id="4" name="Text 2"/>
          <p:cNvSpPr/>
          <p:nvPr/>
        </p:nvSpPr>
        <p:spPr>
          <a:xfrm>
            <a:off x="457200" y="1097280"/>
            <a:ext cx="8229600" cy="1645920"/>
          </a:xfrm>
          <a:prstGeom prst="rect">
            <a:avLst/>
          </a:prstGeom>
          <a:noFill/>
          <a:ln/>
        </p:spPr>
        <p:txBody>
          <a:bodyPr wrap="square" lIns="0" tIns="0" rIns="0" bIns="0" rtlCol="0" anchor="ctr"/>
          <a:lstStyle/>
          <a:p>
            <a:pPr algn="l" indent="0" marL="0">
              <a:buNone/>
            </a:pPr>
            <a:r>
              <a:rPr lang="en-US" sz="3200" b="1" dirty="0">
                <a:solidFill>
                  <a:srgbClr val="FFFFFF"/>
                </a:solidFill>
                <a:latin typeface="Calibri" pitchFamily="34" charset="0"/>
                <a:ea typeface="Calibri" pitchFamily="34" charset="-122"/>
                <a:cs typeface="Calibri" pitchFamily="34" charset="-120"/>
              </a:rPr>
              <a:t>Chapter 11</a:t>
            </a:r>
            <a:endParaRPr lang="en-US" sz="3200" dirty="0"/>
          </a:p>
          <a:p>
            <a:pPr algn="l" indent="0" marL="0">
              <a:buNone/>
            </a:pPr>
            <a:r>
              <a:rPr lang="en-US" sz="3200" b="1" dirty="0">
                <a:solidFill>
                  <a:srgbClr val="FFFFFF"/>
                </a:solidFill>
                <a:latin typeface="Calibri" pitchFamily="34" charset="0"/>
                <a:ea typeface="Calibri" pitchFamily="34" charset="-122"/>
                <a:cs typeface="Calibri" pitchFamily="34" charset="-120"/>
              </a:rPr>
              <a:t>Goodbye to Peter</a:t>
            </a:r>
            <a:endParaRPr lang="en-US" sz="3200" dirty="0"/>
          </a:p>
        </p:txBody>
      </p:sp>
      <p:sp>
        <p:nvSpPr>
          <p:cNvPr id="5" name="Text 3"/>
          <p:cNvSpPr/>
          <p:nvPr/>
        </p:nvSpPr>
        <p:spPr>
          <a:xfrm>
            <a:off x="457200" y="4434840"/>
            <a:ext cx="8229600" cy="365760"/>
          </a:xfrm>
          <a:prstGeom prst="rect">
            <a:avLst/>
          </a:prstGeom>
          <a:noFill/>
          <a:ln/>
        </p:spPr>
        <p:txBody>
          <a:bodyPr wrap="square" lIns="0" tIns="0" rIns="0" bIns="0" rtlCol="0" anchor="ctr"/>
          <a:lstStyle/>
          <a:p>
            <a:pPr algn="l" indent="0" marL="0">
              <a:buNone/>
            </a:pPr>
            <a:r>
              <a:rPr lang="en-US" sz="1200" dirty="0">
                <a:solidFill>
                  <a:srgbClr val="FFFFFF"/>
                </a:solidFill>
                <a:latin typeface="Calibri" pitchFamily="34" charset="0"/>
                <a:ea typeface="Calibri" pitchFamily="34" charset="-122"/>
                <a:cs typeface="Calibri" pitchFamily="34" charset="-120"/>
              </a:rPr>
              <a:t>⭐  Week 18  ·  Virtue: Courage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Notice</a:t>
            </a:r>
            <a:endParaRPr lang="en-US" sz="2800" dirty="0"/>
          </a:p>
        </p:txBody>
      </p:sp>
      <p:sp>
        <p:nvSpPr>
          <p:cNvPr id="3" name="Shape 1"/>
          <p:cNvSpPr/>
          <p:nvPr/>
        </p:nvSpPr>
        <p:spPr>
          <a:xfrm>
            <a:off x="365760" y="749808"/>
            <a:ext cx="8412480" cy="0"/>
          </a:xfrm>
          <a:prstGeom prst="line">
            <a:avLst/>
          </a:prstGeom>
          <a:noFill/>
          <a:ln w="19050">
            <a:solidFill>
              <a:srgbClr val="C7922C"/>
            </a:solidFill>
            <a:prstDash val="solid"/>
          </a:ln>
        </p:spPr>
      </p:sp>
      <p:sp>
        <p:nvSpPr>
          <p:cNvPr id="4" name="Text 2"/>
          <p:cNvSpPr/>
          <p:nvPr/>
        </p:nvSpPr>
        <p:spPr>
          <a:xfrm>
            <a:off x="457200" y="9601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LOOK CLOSELY - 1 MINUTE</a:t>
            </a:r>
            <a:endParaRPr lang="en-US" sz="1100" dirty="0"/>
          </a:p>
        </p:txBody>
      </p:sp>
      <p:sp>
        <p:nvSpPr>
          <p:cNvPr id="5" name="Shape 3"/>
          <p:cNvSpPr/>
          <p:nvPr/>
        </p:nvSpPr>
        <p:spPr>
          <a:xfrm>
            <a:off x="457200" y="1325880"/>
            <a:ext cx="8229600" cy="1005840"/>
          </a:xfrm>
          <a:prstGeom prst="roundRect">
            <a:avLst>
              <a:gd name="adj" fmla="val 9091"/>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640080" y="1435608"/>
            <a:ext cx="7863840" cy="7772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Peter wouldn’t promise they would meet again.</a:t>
            </a:r>
            <a:endParaRPr lang="en-US" sz="1600" dirty="0"/>
          </a:p>
        </p:txBody>
      </p:sp>
      <p:sp>
        <p:nvSpPr>
          <p:cNvPr id="7" name="Text 5"/>
          <p:cNvSpPr/>
          <p:nvPr/>
        </p:nvSpPr>
        <p:spPr>
          <a:xfrm>
            <a:off x="548640" y="2496312"/>
            <a:ext cx="8046720" cy="2441448"/>
          </a:xfrm>
          <a:prstGeom prst="rect">
            <a:avLst/>
          </a:prstGeom>
          <a:noFill/>
          <a:ln/>
        </p:spPr>
        <p:txBody>
          <a:bodyPr wrap="square" lIns="0" tIns="0" rIns="0" bIns="0" rtlCol="0" anchor="t"/>
          <a:lstStyle/>
          <a:p>
            <a:pPr indent="0" marL="0">
              <a:buNone/>
            </a:pPr>
            <a:r>
              <a:rPr lang="en-US" sz="1200" b="1" dirty="0">
                <a:solidFill>
                  <a:srgbClr val="8B6FC0"/>
                </a:solidFill>
                <a:latin typeface="Calibri" pitchFamily="34" charset="0"/>
                <a:ea typeface="Calibri" pitchFamily="34" charset="-122"/>
                <a:cs typeface="Calibri" pitchFamily="34" charset="-120"/>
              </a:rPr>
              <a:t>From the novel: </a:t>
            </a:r>
            <a:pPr indent="0" marL="0">
              <a:buNone/>
            </a:pPr>
            <a:r>
              <a:rPr lang="en-US" sz="1200" i="1" dirty="0">
                <a:solidFill>
                  <a:srgbClr val="1E293B"/>
                </a:solidFill>
                <a:latin typeface="Calibri" pitchFamily="34" charset="0"/>
                <a:ea typeface="Calibri" pitchFamily="34" charset="-122"/>
                <a:cs typeface="Calibri" pitchFamily="34" charset="-120"/>
              </a:rPr>
              <a:t>"Peter wouldn’t promise they would meet again."</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Discuss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TALK IT OVER - 2 MINUTES</a:t>
            </a:r>
            <a:endParaRPr lang="en-US" sz="1100" dirty="0"/>
          </a:p>
        </p:txBody>
      </p:sp>
      <p:sp>
        <p:nvSpPr>
          <p:cNvPr id="7" name="Shape 5"/>
          <p:cNvSpPr/>
          <p:nvPr/>
        </p:nvSpPr>
        <p:spPr>
          <a:xfrm>
            <a:off x="365760" y="1097280"/>
            <a:ext cx="8412480" cy="1097280"/>
          </a:xfrm>
          <a:prstGeom prst="roundRect">
            <a:avLst>
              <a:gd name="adj" fmla="val 8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88720"/>
            <a:ext cx="7863840" cy="914400"/>
          </a:xfrm>
          <a:prstGeom prst="rect">
            <a:avLst/>
          </a:prstGeom>
          <a:noFill/>
          <a:ln/>
        </p:spPr>
        <p:txBody>
          <a:bodyPr wrap="square" lIns="0" tIns="0" rIns="0" bIns="0" rtlCol="0" anchor="ctr"/>
          <a:lstStyle/>
          <a:p>
            <a:pPr indent="0" marL="0">
              <a:buNone/>
            </a:pPr>
            <a:r>
              <a:rPr lang="en-US" sz="1600" dirty="0">
                <a:solidFill>
                  <a:srgbClr val="1E293B"/>
                </a:solidFill>
                <a:latin typeface="Calibri" pitchFamily="34" charset="0"/>
                <a:ea typeface="Calibri" pitchFamily="34" charset="-122"/>
                <a:cs typeface="Calibri" pitchFamily="34" charset="-120"/>
              </a:rPr>
              <a:t>Why might refusing to make a promise you cannot keep be its own kind of bravery? Turn and talk.</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6E8"/>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Write</a:t>
            </a:r>
            <a:endParaRPr lang="en-US" sz="3200" dirty="0"/>
          </a:p>
        </p:txBody>
      </p:sp>
      <p:sp>
        <p:nvSpPr>
          <p:cNvPr id="3" name="Text 1"/>
          <p:cNvSpPr/>
          <p:nvPr/>
        </p:nvSpPr>
        <p:spPr>
          <a:xfrm>
            <a:off x="914400" y="749808"/>
            <a:ext cx="7315200" cy="347472"/>
          </a:xfrm>
          <a:prstGeom prst="rect">
            <a:avLst/>
          </a:prstGeom>
          <a:noFill/>
          <a:ln/>
        </p:spPr>
        <p:txBody>
          <a:bodyPr wrap="square" lIns="0" tIns="0" rIns="0" bIns="0" rtlCol="0" anchor="ctr"/>
          <a:lstStyle/>
          <a:p>
            <a:pPr algn="ctr" indent="0" marL="0">
              <a:buNone/>
            </a:pPr>
            <a:r>
              <a:rPr lang="en-US" sz="1500" dirty="0">
                <a:solidFill>
                  <a:srgbClr val="C7922C"/>
                </a:solidFill>
                <a:latin typeface="Calibri" pitchFamily="34" charset="0"/>
                <a:ea typeface="Calibri" pitchFamily="34" charset="-122"/>
                <a:cs typeface="Calibri" pitchFamily="34" charset="-120"/>
              </a:rPr>
              <a:t>15 minutes - keep your pencil moving!</a:t>
            </a:r>
            <a:endParaRPr lang="en-US" sz="1500" dirty="0"/>
          </a:p>
        </p:txBody>
      </p:sp>
      <p:sp>
        <p:nvSpPr>
          <p:cNvPr id="4" name="Shape 2"/>
          <p:cNvSpPr/>
          <p:nvPr/>
        </p:nvSpPr>
        <p:spPr>
          <a:xfrm>
            <a:off x="457200" y="1170432"/>
            <a:ext cx="8229600" cy="822960"/>
          </a:xfrm>
          <a:prstGeom prst="roundRect">
            <a:avLst>
              <a:gd name="adj" fmla="val 11111"/>
            </a:avLst>
          </a:prstGeom>
          <a:solidFill>
            <a:srgbClr val="FFFFFF"/>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640080" y="1225296"/>
            <a:ext cx="7863840" cy="731520"/>
          </a:xfrm>
          <a:prstGeom prst="rect">
            <a:avLst/>
          </a:prstGeom>
          <a:noFill/>
          <a:ln/>
        </p:spPr>
        <p:txBody>
          <a:bodyPr wrap="square" lIns="0" tIns="0" rIns="0" bIns="0" rtlCol="0" anchor="t"/>
          <a:lstStyle/>
          <a:p>
            <a:pPr indent="0" marL="0">
              <a:buNone/>
            </a:pPr>
            <a:r>
              <a:rPr lang="en-US" sz="1200" b="1" dirty="0">
                <a:solidFill>
                  <a:srgbClr val="C7922C"/>
                </a:solidFill>
                <a:latin typeface="Calibri" pitchFamily="34" charset="0"/>
                <a:ea typeface="Calibri" pitchFamily="34" charset="-122"/>
                <a:cs typeface="Calibri" pitchFamily="34" charset="-120"/>
              </a:rPr>
              <a:t>Prompt: </a:t>
            </a:r>
            <a:pPr indent="0" marL="0">
              <a:buNone/>
            </a:pPr>
            <a:r>
              <a:rPr lang="en-US" sz="1200" i="1" dirty="0">
                <a:solidFill>
                  <a:srgbClr val="1E293B"/>
                </a:solidFill>
                <a:latin typeface="Calibri" pitchFamily="34" charset="0"/>
                <a:ea typeface="Calibri" pitchFamily="34" charset="-122"/>
                <a:cs typeface="Calibri" pitchFamily="34" charset="-120"/>
              </a:rPr>
              <a:t>Write a second piece of evidence for your essay: choose another moment of courage from the book and explain it.</a:t>
            </a:r>
            <a:endParaRPr lang="en-US" sz="1200" dirty="0"/>
          </a:p>
        </p:txBody>
      </p:sp>
      <p:sp>
        <p:nvSpPr>
          <p:cNvPr id="6" name="Shape 4"/>
          <p:cNvSpPr/>
          <p:nvPr/>
        </p:nvSpPr>
        <p:spPr>
          <a:xfrm>
            <a:off x="457200" y="2121408"/>
            <a:ext cx="8229600" cy="655320"/>
          </a:xfrm>
          <a:prstGeom prst="roundRect">
            <a:avLst>
              <a:gd name="adj" fmla="val 13953"/>
            </a:avLst>
          </a:prstGeom>
          <a:solidFill>
            <a:srgbClr val="FFFFFF"/>
          </a:solidFill>
          <a:ln w="15875">
            <a:solidFill>
              <a:srgbClr val="8B6FC0"/>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640080" y="2176272"/>
            <a:ext cx="7863840" cy="545592"/>
          </a:xfrm>
          <a:prstGeom prst="rect">
            <a:avLst/>
          </a:prstGeom>
          <a:noFill/>
          <a:ln/>
        </p:spPr>
        <p:txBody>
          <a:bodyPr wrap="square" lIns="0" tIns="0" rIns="0" bIns="0" rtlCol="0" anchor="t"/>
          <a:lstStyle/>
          <a:p>
            <a:pPr indent="0" marL="0">
              <a:buNone/>
            </a:pPr>
            <a:r>
              <a:rPr lang="en-US" sz="1300" b="1" dirty="0">
                <a:solidFill>
                  <a:srgbClr val="8B6FC0"/>
                </a:solidFill>
                <a:latin typeface="Calibri" pitchFamily="34" charset="0"/>
                <a:ea typeface="Calibri" pitchFamily="34" charset="-122"/>
                <a:cs typeface="Calibri" pitchFamily="34" charset="-120"/>
              </a:rPr>
              <a:t>Today's craft move: </a:t>
            </a:r>
            <a:pPr indent="0" marL="0">
              <a:buNone/>
            </a:pPr>
            <a:r>
              <a:rPr lang="en-US" sz="1300" dirty="0">
                <a:solidFill>
                  <a:srgbClr val="1E293B"/>
                </a:solidFill>
                <a:latin typeface="Calibri" pitchFamily="34" charset="0"/>
                <a:ea typeface="Calibri" pitchFamily="34" charset="-122"/>
                <a:cs typeface="Calibri" pitchFamily="34" charset="-120"/>
              </a:rPr>
              <a:t>Use a second, different piece of evidence, and explain how it connects to the first.</a:t>
            </a:r>
            <a:endParaRPr lang="en-US" sz="1300" dirty="0"/>
          </a:p>
        </p:txBody>
      </p:sp>
      <p:sp>
        <p:nvSpPr>
          <p:cNvPr id="8" name="Text 6"/>
          <p:cNvSpPr/>
          <p:nvPr/>
        </p:nvSpPr>
        <p:spPr>
          <a:xfrm>
            <a:off x="548640" y="2868168"/>
            <a:ext cx="8046720" cy="624078"/>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Level-Up (optional): ⭐ Choose a NEW moment, different from Day 2  ⭐⭐ Explain why it shows courage  ⭐⭐⭐ Compare it briefly to your first piece of evidence  ⭐⭐⭐⭐ Explain what both moments have in common</a:t>
            </a:r>
            <a:endParaRPr lang="en-US" sz="1150" dirty="0"/>
          </a:p>
        </p:txBody>
      </p:sp>
      <p:sp>
        <p:nvSpPr>
          <p:cNvPr id="9" name="Text 7"/>
          <p:cNvSpPr/>
          <p:nvPr/>
        </p:nvSpPr>
        <p:spPr>
          <a:xfrm>
            <a:off x="548640" y="3565398"/>
            <a:ext cx="8046720" cy="1463802"/>
          </a:xfrm>
          <a:prstGeom prst="rect">
            <a:avLst/>
          </a:prstGeom>
          <a:noFill/>
          <a:ln/>
        </p:spPr>
        <p:txBody>
          <a:bodyPr wrap="square" lIns="0" tIns="0" rIns="0" bIns="0" rtlCol="0" anchor="ctr"/>
          <a:lstStyle/>
          <a:p>
            <a:pPr indent="0" marL="0">
              <a:buNone/>
            </a:pPr>
            <a:r>
              <a:rPr lang="en-US" sz="1100" i="1" dirty="0">
                <a:solidFill>
                  <a:srgbClr val="64748B"/>
                </a:solidFill>
                <a:latin typeface="Calibri" pitchFamily="34" charset="0"/>
                <a:ea typeface="Calibri" pitchFamily="34" charset="-122"/>
                <a:cs typeface="Calibri" pitchFamily="34" charset="-120"/>
              </a:rPr>
              <a:t>Keep writing the whole time. If you get stuck, reread the prompt or write "I am thinking..." until a new idea comes.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8F8EF"/>
        </a:solidFill>
      </p:bgPr>
    </p:bg>
    <p:spTree>
      <p:nvGrpSpPr>
        <p:cNvPr id="1" name=""/>
        <p:cNvGrpSpPr/>
        <p:nvPr/>
      </p:nvGrpSpPr>
      <p:grpSpPr>
        <a:xfrm>
          <a:off x="0" y="0"/>
          <a:ext cx="0" cy="0"/>
          <a:chOff x="0" y="0"/>
          <a:chExt cx="0" cy="0"/>
        </a:xfrm>
      </p:grpSpPr>
      <p:sp>
        <p:nvSpPr>
          <p:cNvPr id="2" name="Text 0"/>
          <p:cNvSpPr/>
          <p:nvPr/>
        </p:nvSpPr>
        <p:spPr>
          <a:xfrm>
            <a:off x="914400" y="64008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Revise</a:t>
            </a:r>
            <a:endParaRPr lang="en-US" sz="3200" dirty="0"/>
          </a:p>
        </p:txBody>
      </p:sp>
      <p:sp>
        <p:nvSpPr>
          <p:cNvPr id="3" name="Text 1"/>
          <p:cNvSpPr/>
          <p:nvPr/>
        </p:nvSpPr>
        <p:spPr>
          <a:xfrm>
            <a:off x="914400" y="1234440"/>
            <a:ext cx="7315200" cy="411480"/>
          </a:xfrm>
          <a:prstGeom prst="rect">
            <a:avLst/>
          </a:prstGeom>
          <a:noFill/>
          <a:ln/>
        </p:spPr>
        <p:txBody>
          <a:bodyPr wrap="square" lIns="0" tIns="0" rIns="0" bIns="0" rtlCol="0" anchor="ctr"/>
          <a:lstStyle/>
          <a:p>
            <a:pPr algn="ctr" indent="0" marL="0">
              <a:buNone/>
            </a:pPr>
            <a:r>
              <a:rPr lang="en-US" sz="1500" dirty="0">
                <a:solidFill>
                  <a:srgbClr val="34B76F"/>
                </a:solidFill>
                <a:latin typeface="Calibri" pitchFamily="34" charset="0"/>
                <a:ea typeface="Calibri" pitchFamily="34" charset="-122"/>
                <a:cs typeface="Calibri" pitchFamily="34" charset="-120"/>
              </a:rPr>
              <a:t>2 minutes - improve ONE specific thing</a:t>
            </a:r>
            <a:endParaRPr lang="en-US" sz="1500" dirty="0"/>
          </a:p>
        </p:txBody>
      </p:sp>
      <p:sp>
        <p:nvSpPr>
          <p:cNvPr id="4" name="Shape 2"/>
          <p:cNvSpPr/>
          <p:nvPr/>
        </p:nvSpPr>
        <p:spPr>
          <a:xfrm>
            <a:off x="1097280" y="1828800"/>
            <a:ext cx="6949440" cy="777240"/>
          </a:xfrm>
          <a:prstGeom prst="roundRect">
            <a:avLst>
              <a:gd name="adj" fmla="val 11765"/>
            </a:avLst>
          </a:prstGeom>
          <a:solidFill>
            <a:srgbClr val="FFFFFF"/>
          </a:solidFill>
          <a:ln w="19050">
            <a:solidFill>
              <a:srgbClr val="34B76F"/>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280160" y="1901952"/>
            <a:ext cx="6583680" cy="640080"/>
          </a:xfrm>
          <a:prstGeom prst="rect">
            <a:avLst/>
          </a:prstGeom>
          <a:noFill/>
          <a:ln/>
        </p:spPr>
        <p:txBody>
          <a:bodyPr wrap="square" lIns="0" tIns="0" rIns="0" bIns="0" rtlCol="0" anchor="ctr"/>
          <a:lstStyle/>
          <a:p>
            <a:pPr indent="0" marL="0">
              <a:buNone/>
            </a:pPr>
            <a:r>
              <a:rPr lang="en-US" sz="1400" b="1" dirty="0">
                <a:solidFill>
                  <a:srgbClr val="34B76F"/>
                </a:solidFill>
                <a:latin typeface="Calibri" pitchFamily="34" charset="0"/>
                <a:ea typeface="Calibri" pitchFamily="34" charset="-122"/>
                <a:cs typeface="Calibri" pitchFamily="34" charset="-120"/>
              </a:rPr>
              <a:t>Today's revision task: </a:t>
            </a:r>
            <a:pPr indent="0" marL="0">
              <a:buNone/>
            </a:pPr>
            <a:r>
              <a:rPr lang="en-US" sz="1400" dirty="0">
                <a:solidFill>
                  <a:srgbClr val="1E293B"/>
                </a:solidFill>
                <a:latin typeface="Calibri" pitchFamily="34" charset="0"/>
                <a:ea typeface="Calibri" pitchFamily="34" charset="-122"/>
                <a:cs typeface="Calibri" pitchFamily="34" charset="-120"/>
              </a:rPr>
              <a:t>Make sure your second piece of evidence is truly different from your first one.</a:t>
            </a:r>
            <a:endParaRPr lang="en-US" sz="1400" dirty="0"/>
          </a:p>
        </p:txBody>
      </p:sp>
      <p:sp>
        <p:nvSpPr>
          <p:cNvPr id="6" name="Shape 4"/>
          <p:cNvSpPr/>
          <p:nvPr/>
        </p:nvSpPr>
        <p:spPr>
          <a:xfrm>
            <a:off x="1097280" y="2788920"/>
            <a:ext cx="6949440" cy="1554480"/>
          </a:xfrm>
          <a:prstGeom prst="roundRect">
            <a:avLst>
              <a:gd name="adj" fmla="val 5882"/>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280160" y="2880360"/>
            <a:ext cx="6583680" cy="1463040"/>
          </a:xfrm>
          <a:prstGeom prst="rect">
            <a:avLst/>
          </a:prstGeom>
          <a:noFill/>
          <a:ln/>
        </p:spPr>
        <p:txBody>
          <a:bodyPr wrap="square" lIns="0" tIns="0" rIns="0" bIns="0" rtlCol="0" anchor="t"/>
          <a:lstStyle/>
          <a:p>
            <a:pPr indent="0" marL="0">
              <a:spcAft>
                <a:spcPts val="200"/>
              </a:spcAft>
              <a:buNone/>
            </a:pPr>
            <a:r>
              <a:rPr lang="en-US" sz="1250" b="1" dirty="0">
                <a:solidFill>
                  <a:srgbClr val="0E1C42"/>
                </a:solidFill>
                <a:latin typeface="Calibri" pitchFamily="34" charset="0"/>
                <a:ea typeface="Calibri" pitchFamily="34" charset="-122"/>
                <a:cs typeface="Calibri" pitchFamily="34" charset="-120"/>
              </a:rPr>
              <a:t>Remember - revision is about ideas, not spelling: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Circle your strongest sentence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Replace one weak verb with a precise one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Add one detail, or cut one you do not need
</a:t>
            </a:r>
            <a:pPr indent="0" marL="0">
              <a:spcAft>
                <a:spcPts val="200"/>
              </a:spcAft>
              <a:buNone/>
            </a:pPr>
            <a:r>
              <a:rPr lang="en-US" sz="1200" dirty="0">
                <a:solidFill>
                  <a:srgbClr val="1E293B"/>
                </a:solidFill>
                <a:latin typeface="Calibri" pitchFamily="34" charset="0"/>
                <a:ea typeface="Calibri" pitchFamily="34" charset="-122"/>
                <a:cs typeface="Calibri" pitchFamily="34" charset="-120"/>
              </a:rPr>
              <a:t>- Improve your opening line</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914400" y="731520"/>
            <a:ext cx="7315200" cy="594360"/>
          </a:xfrm>
          <a:prstGeom prst="rect">
            <a:avLst/>
          </a:prstGeom>
          <a:noFill/>
          <a:ln/>
        </p:spPr>
        <p:txBody>
          <a:bodyPr wrap="square" lIns="0" tIns="0" rIns="0" bIns="0" rtlCol="0" anchor="ctr"/>
          <a:lstStyle/>
          <a:p>
            <a:pPr algn="ctr" indent="0" marL="0">
              <a:buNone/>
            </a:pPr>
            <a:r>
              <a:rPr lang="en-US" sz="3200" b="1" dirty="0">
                <a:solidFill>
                  <a:srgbClr val="0E1C42"/>
                </a:solidFill>
                <a:latin typeface="Calibri" pitchFamily="34" charset="0"/>
                <a:ea typeface="Calibri" pitchFamily="34" charset="-122"/>
                <a:cs typeface="Calibri" pitchFamily="34" charset="-120"/>
              </a:rPr>
              <a:t>Share</a:t>
            </a:r>
            <a:endParaRPr lang="en-US" sz="3200" dirty="0"/>
          </a:p>
        </p:txBody>
      </p:sp>
      <p:sp>
        <p:nvSpPr>
          <p:cNvPr id="3" name="Text 1"/>
          <p:cNvSpPr/>
          <p:nvPr/>
        </p:nvSpPr>
        <p:spPr>
          <a:xfrm>
            <a:off x="914400" y="1325880"/>
            <a:ext cx="7315200" cy="411480"/>
          </a:xfrm>
          <a:prstGeom prst="rect">
            <a:avLst/>
          </a:prstGeom>
          <a:noFill/>
          <a:ln/>
        </p:spPr>
        <p:txBody>
          <a:bodyPr wrap="square" lIns="0" tIns="0" rIns="0" bIns="0" rtlCol="0" anchor="ctr"/>
          <a:lstStyle/>
          <a:p>
            <a:pPr algn="ctr" indent="0" marL="0">
              <a:buNone/>
            </a:pPr>
            <a:r>
              <a:rPr lang="en-US" sz="1500" dirty="0">
                <a:solidFill>
                  <a:srgbClr val="55C8E8"/>
                </a:solidFill>
                <a:latin typeface="Calibri" pitchFamily="34" charset="0"/>
                <a:ea typeface="Calibri" pitchFamily="34" charset="-122"/>
                <a:cs typeface="Calibri" pitchFamily="34" charset="-120"/>
              </a:rPr>
              <a:t>2-3 minutes - celebrate a craft move</a:t>
            </a:r>
            <a:endParaRPr lang="en-US" sz="1500" dirty="0"/>
          </a:p>
        </p:txBody>
      </p:sp>
      <p:sp>
        <p:nvSpPr>
          <p:cNvPr id="4" name="Shape 2"/>
          <p:cNvSpPr/>
          <p:nvPr/>
        </p:nvSpPr>
        <p:spPr>
          <a:xfrm>
            <a:off x="1371600" y="1965960"/>
            <a:ext cx="6400800" cy="914400"/>
          </a:xfrm>
          <a:prstGeom prst="roundRect">
            <a:avLst>
              <a:gd name="adj" fmla="val 12000"/>
            </a:avLst>
          </a:prstGeom>
          <a:solidFill>
            <a:srgbClr val="FFFFFF"/>
          </a:solidFill>
          <a:ln w="15875">
            <a:solidFill>
              <a:srgbClr val="55C8E8"/>
            </a:solidFill>
            <a:prstDash val="solid"/>
          </a:ln>
          <a:effectLst>
            <a:outerShdw sx="100000" sy="100000" kx="0" ky="0" algn="bl" rotWithShape="0" blurRad="101600" dist="38100" dir="2700000">
              <a:srgbClr val="000000">
                <a:alpha val="12000"/>
              </a:srgbClr>
            </a:outerShdw>
          </a:effectLst>
        </p:spPr>
      </p:sp>
      <p:sp>
        <p:nvSpPr>
          <p:cNvPr id="5" name="Text 3"/>
          <p:cNvSpPr/>
          <p:nvPr/>
        </p:nvSpPr>
        <p:spPr>
          <a:xfrm>
            <a:off x="1554480" y="2029968"/>
            <a:ext cx="6035040" cy="786384"/>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Share your second piece of evidence and how it connects to your claim.</a:t>
            </a:r>
            <a:endParaRPr lang="en-US" sz="1400" dirty="0"/>
          </a:p>
        </p:txBody>
      </p:sp>
      <p:sp>
        <p:nvSpPr>
          <p:cNvPr id="6" name="Shape 4"/>
          <p:cNvSpPr/>
          <p:nvPr/>
        </p:nvSpPr>
        <p:spPr>
          <a:xfrm>
            <a:off x="1371600" y="3017520"/>
            <a:ext cx="6400800" cy="914400"/>
          </a:xfrm>
          <a:prstGeom prst="roundRect">
            <a:avLst>
              <a:gd name="adj" fmla="val 12000"/>
            </a:avLst>
          </a:prstGeom>
          <a:solidFill>
            <a:srgbClr val="FFFFFF"/>
          </a:solidFill>
          <a:ln/>
          <a:effectLst>
            <a:outerShdw sx="100000" sy="100000" kx="0" ky="0" algn="bl" rotWithShape="0" blurRad="101600" dist="38100" dir="2700000">
              <a:srgbClr val="000000">
                <a:alpha val="12000"/>
              </a:srgbClr>
            </a:outerShdw>
          </a:effectLst>
        </p:spPr>
      </p:sp>
      <p:sp>
        <p:nvSpPr>
          <p:cNvPr id="7" name="Text 5"/>
          <p:cNvSpPr/>
          <p:nvPr/>
        </p:nvSpPr>
        <p:spPr>
          <a:xfrm>
            <a:off x="1554480" y="3090672"/>
            <a:ext cx="6035040" cy="777240"/>
          </a:xfrm>
          <a:prstGeom prst="rect">
            <a:avLst/>
          </a:prstGeom>
          <a:noFill/>
          <a:ln/>
        </p:spPr>
        <p:txBody>
          <a:bodyPr wrap="square" lIns="0" tIns="0" rIns="0" bIns="0" rtlCol="0" anchor="t"/>
          <a:lstStyle/>
          <a:p>
            <a:pPr indent="0" marL="0">
              <a:spcAft>
                <a:spcPts val="200"/>
              </a:spcAft>
              <a:buNone/>
            </a:pPr>
            <a:r>
              <a:rPr lang="en-US" sz="1250" dirty="0">
                <a:solidFill>
                  <a:srgbClr val="1E293B"/>
                </a:solidFill>
                <a:latin typeface="Calibri" pitchFamily="34" charset="0"/>
                <a:ea typeface="Calibri" pitchFamily="34" charset="-122"/>
                <a:cs typeface="Calibri" pitchFamily="34" charset="-120"/>
              </a:rPr>
              <a:t>Raise your hand, or paste it in the chat.
</a:t>
            </a:r>
            <a:pPr indent="0" marL="0">
              <a:spcAft>
                <a:spcPts val="200"/>
              </a:spcAft>
              <a:buNone/>
            </a:pPr>
            <a:r>
              <a:rPr lang="en-US" sz="1150" i="1" dirty="0">
                <a:solidFill>
                  <a:srgbClr val="64748B"/>
                </a:solidFill>
                <a:latin typeface="Calibri" pitchFamily="34" charset="0"/>
                <a:ea typeface="Calibri" pitchFamily="34" charset="-122"/>
                <a:cs typeface="Calibri" pitchFamily="34" charset="-120"/>
              </a:rPr>
              <a:t>Every writer's craft move counts - there are no wrong answers.</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Reflect</a:t>
            </a:r>
            <a:endParaRPr lang="en-US" sz="2800" dirty="0"/>
          </a:p>
        </p:txBody>
      </p:sp>
      <p:sp>
        <p:nvSpPr>
          <p:cNvPr id="3" name="Shape 1"/>
          <p:cNvSpPr/>
          <p:nvPr/>
        </p:nvSpPr>
        <p:spPr>
          <a:xfrm>
            <a:off x="365760" y="749808"/>
            <a:ext cx="8412480" cy="0"/>
          </a:xfrm>
          <a:prstGeom prst="line">
            <a:avLst/>
          </a:prstGeom>
          <a:noFill/>
          <a:ln w="19050">
            <a:solidFill>
              <a:srgbClr val="34B76F"/>
            </a:solidFill>
            <a:prstDash val="solid"/>
          </a:ln>
        </p:spPr>
      </p:sp>
      <p:sp>
        <p:nvSpPr>
          <p:cNvPr id="4" name="Shape 2"/>
          <p:cNvSpPr/>
          <p:nvPr/>
        </p:nvSpPr>
        <p:spPr>
          <a:xfrm>
            <a:off x="457200" y="1005840"/>
            <a:ext cx="8229600" cy="1280160"/>
          </a:xfrm>
          <a:prstGeom prst="roundRect">
            <a:avLst>
              <a:gd name="adj" fmla="val 7143"/>
            </a:avLst>
          </a:prstGeom>
          <a:solidFill>
            <a:srgbClr val="E8F8EF"/>
          </a:solidFill>
          <a:ln/>
          <a:effectLst>
            <a:outerShdw sx="100000" sy="100000" kx="0" ky="0" algn="bl" rotWithShape="0" blurRad="101600" dist="38100" dir="2700000">
              <a:srgbClr val="000000">
                <a:alpha val="12000"/>
              </a:srgbClr>
            </a:outerShdw>
          </a:effectLst>
        </p:spPr>
      </p:sp>
      <p:sp>
        <p:nvSpPr>
          <p:cNvPr id="5" name="Text 3"/>
          <p:cNvSpPr/>
          <p:nvPr/>
        </p:nvSpPr>
        <p:spPr>
          <a:xfrm>
            <a:off x="685800" y="1143000"/>
            <a:ext cx="7772400" cy="1005840"/>
          </a:xfrm>
          <a:prstGeom prst="rect">
            <a:avLst/>
          </a:prstGeom>
          <a:noFill/>
          <a:ln/>
        </p:spPr>
        <p:txBody>
          <a:bodyPr wrap="square" lIns="0" tIns="0" rIns="0" bIns="0" rtlCol="0" anchor="ctr"/>
          <a:lstStyle/>
          <a:p>
            <a:pPr indent="0" marL="0">
              <a:buNone/>
            </a:pPr>
            <a:r>
              <a:rPr lang="en-US" sz="1900" b="1" dirty="0">
                <a:solidFill>
                  <a:srgbClr val="0E1C42"/>
                </a:solidFill>
                <a:latin typeface="Calibri" pitchFamily="34" charset="0"/>
                <a:ea typeface="Calibri" pitchFamily="34" charset="-122"/>
                <a:cs typeface="Calibri" pitchFamily="34" charset="-120"/>
              </a:rPr>
              <a:t>What did you do today that made your writing stronger?</a:t>
            </a:r>
            <a:endParaRPr lang="en-US" sz="1900" dirty="0"/>
          </a:p>
        </p:txBody>
      </p:sp>
      <p:sp>
        <p:nvSpPr>
          <p:cNvPr id="6" name="Text 4"/>
          <p:cNvSpPr/>
          <p:nvPr/>
        </p:nvSpPr>
        <p:spPr>
          <a:xfrm>
            <a:off x="548640" y="2468880"/>
            <a:ext cx="8046720"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Turn and tell a partner, or jot one sentence in your writing notebook.</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Recap + Today's Focus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YESTERDAY</a:t>
            </a:r>
            <a:endParaRPr lang="en-US" sz="1100" dirty="0"/>
          </a:p>
        </p:txBody>
      </p:sp>
      <p:sp>
        <p:nvSpPr>
          <p:cNvPr id="7" name="Shape 5"/>
          <p:cNvSpPr/>
          <p:nvPr/>
        </p:nvSpPr>
        <p:spPr>
          <a:xfrm>
            <a:off x="365760" y="1078992"/>
            <a:ext cx="8412480" cy="749808"/>
          </a:xfrm>
          <a:prstGeom prst="roundRect">
            <a:avLst>
              <a:gd name="adj" fmla="val 12195"/>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Yesterday, Mama whispered the words of a psalm during a tense, quiet moment.</a:t>
            </a:r>
            <a:endParaRPr lang="en-US" sz="1400" dirty="0"/>
          </a:p>
        </p:txBody>
      </p:sp>
      <p:sp>
        <p:nvSpPr>
          <p:cNvPr id="9" name="Text 7"/>
          <p:cNvSpPr/>
          <p:nvPr/>
        </p:nvSpPr>
        <p:spPr>
          <a:xfrm>
            <a:off x="365760" y="1938528"/>
            <a:ext cx="8046720" cy="292608"/>
          </a:xfrm>
          <a:prstGeom prst="rect">
            <a:avLst/>
          </a:prstGeom>
          <a:noFill/>
          <a:ln/>
        </p:spPr>
        <p:txBody>
          <a:bodyPr wrap="square" lIns="0" tIns="0" rIns="0" bIns="0" rtlCol="0" anchor="ctr"/>
          <a:lstStyle/>
          <a:p>
            <a:pPr indent="0" marL="0">
              <a:buNone/>
            </a:pPr>
            <a:r>
              <a:rPr lang="en-US" sz="1100" b="1" spc="200" kern="0" dirty="0">
                <a:solidFill>
                  <a:srgbClr val="6E9BD9"/>
                </a:solidFill>
                <a:latin typeface="Calibri" pitchFamily="34" charset="0"/>
                <a:ea typeface="Calibri" pitchFamily="34" charset="-122"/>
                <a:cs typeface="Calibri" pitchFamily="34" charset="-120"/>
              </a:rPr>
              <a:t>TODAY</a:t>
            </a:r>
            <a:endParaRPr lang="en-US" sz="1100" dirty="0"/>
          </a:p>
        </p:txBody>
      </p:sp>
      <p:sp>
        <p:nvSpPr>
          <p:cNvPr id="10" name="Shape 8"/>
          <p:cNvSpPr/>
          <p:nvPr/>
        </p:nvSpPr>
        <p:spPr>
          <a:xfrm>
            <a:off x="365760" y="2194560"/>
            <a:ext cx="8412480" cy="713232"/>
          </a:xfrm>
          <a:prstGeom prst="roundRect">
            <a:avLst>
              <a:gd name="adj" fmla="val 12821"/>
            </a:avLst>
          </a:prstGeom>
          <a:solidFill>
            <a:srgbClr val="FEF6E8"/>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286000"/>
            <a:ext cx="7863840" cy="530352"/>
          </a:xfrm>
          <a:prstGeom prst="rect">
            <a:avLst/>
          </a:prstGeom>
          <a:noFill/>
          <a:ln/>
        </p:spPr>
        <p:txBody>
          <a:bodyPr wrap="square" lIns="0" tIns="0" rIns="0" bIns="0" rtlCol="0" anchor="ctr"/>
          <a:lstStyle/>
          <a:p>
            <a:pPr indent="0" marL="0">
              <a:buNone/>
            </a:pPr>
            <a:r>
              <a:rPr lang="en-US" sz="1400" b="1" dirty="0">
                <a:solidFill>
                  <a:srgbClr val="1E293B"/>
                </a:solidFill>
                <a:latin typeface="Calibri" pitchFamily="34" charset="0"/>
                <a:ea typeface="Calibri" pitchFamily="34" charset="-122"/>
                <a:cs typeface="Calibri" pitchFamily="34" charset="-120"/>
              </a:rPr>
              <a:t>Say goodbye to Peter alongside Annemarie.</a:t>
            </a:r>
            <a:endParaRPr lang="en-US" sz="1400" dirty="0"/>
          </a:p>
        </p:txBody>
      </p:sp>
      <p:sp>
        <p:nvSpPr>
          <p:cNvPr id="12" name="Text 10"/>
          <p:cNvSpPr/>
          <p:nvPr/>
        </p:nvSpPr>
        <p:spPr>
          <a:xfrm>
            <a:off x="365760" y="3035808"/>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BIG QUESTION</a:t>
            </a:r>
            <a:endParaRPr lang="en-US" sz="1100" dirty="0"/>
          </a:p>
        </p:txBody>
      </p:sp>
      <p:sp>
        <p:nvSpPr>
          <p:cNvPr id="13" name="Shape 11"/>
          <p:cNvSpPr/>
          <p:nvPr/>
        </p:nvSpPr>
        <p:spPr>
          <a:xfrm>
            <a:off x="365760" y="3291840"/>
            <a:ext cx="8412480" cy="749808"/>
          </a:xfrm>
          <a:prstGeom prst="roundRect">
            <a:avLst>
              <a:gd name="adj" fmla="val 12195"/>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594360" y="3383280"/>
            <a:ext cx="7863840" cy="566928"/>
          </a:xfrm>
          <a:prstGeom prst="rect">
            <a:avLst/>
          </a:prstGeom>
          <a:noFill/>
          <a:ln/>
        </p:spPr>
        <p:txBody>
          <a:bodyPr wrap="square" lIns="0" tIns="0" rIns="0" bIns="0" rtlCol="0" anchor="ctr"/>
          <a:lstStyle/>
          <a:p>
            <a:pPr indent="0" marL="0">
              <a:buNone/>
            </a:pPr>
            <a:r>
              <a:rPr lang="en-US" sz="1300" i="1" dirty="0">
                <a:solidFill>
                  <a:srgbClr val="1E293B"/>
                </a:solidFill>
                <a:latin typeface="Calibri" pitchFamily="34" charset="0"/>
                <a:ea typeface="Calibri" pitchFamily="34" charset="-122"/>
                <a:cs typeface="Calibri" pitchFamily="34" charset="-120"/>
              </a:rPr>
              <a:t>As you read today, watch for the setting, the characters, and the moment of danger. What is Copenhagen like in 1943? Who is Annemarie? What small thing happens that tells you life is not normal?</a:t>
            </a:r>
            <a:endParaRPr lang="en-US" sz="1300" dirty="0"/>
          </a:p>
        </p:txBody>
      </p:sp>
      <p:sp>
        <p:nvSpPr>
          <p:cNvPr id="15" name="Text 13"/>
          <p:cNvSpPr/>
          <p:nvPr/>
        </p:nvSpPr>
        <p:spPr>
          <a:xfrm>
            <a:off x="365760" y="4169664"/>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READING LENS</a:t>
            </a:r>
            <a:endParaRPr lang="en-US" sz="1100" dirty="0"/>
          </a:p>
        </p:txBody>
      </p:sp>
      <p:sp>
        <p:nvSpPr>
          <p:cNvPr id="16" name="Text 14"/>
          <p:cNvSpPr/>
          <p:nvPr/>
        </p:nvSpPr>
        <p:spPr>
          <a:xfrm>
            <a:off x="457200" y="4407408"/>
            <a:ext cx="8229600" cy="457200"/>
          </a:xfrm>
          <a:prstGeom prst="rect">
            <a:avLst/>
          </a:prstGeom>
          <a:noFill/>
          <a:ln/>
        </p:spPr>
        <p:txBody>
          <a:bodyPr wrap="square" lIns="0" tIns="0" rIns="0" bIns="0" rtlCol="0" anchor="ctr"/>
          <a:lstStyle/>
          <a:p>
            <a:pPr indent="0" marL="0">
              <a:buNone/>
            </a:pPr>
            <a:r>
              <a:rPr lang="en-US" sz="1200" dirty="0">
                <a:solidFill>
                  <a:srgbClr val="64748B"/>
                </a:solidFill>
                <a:latin typeface="Calibri" pitchFamily="34" charset="0"/>
                <a:ea typeface="Calibri" pitchFamily="34" charset="-122"/>
                <a:cs typeface="Calibri" pitchFamily="34" charset="-120"/>
              </a:rPr>
              <a:t>Good readers slow down at the start of a book. The first chapters tell you who the characters are, where they live, and what trouble is about to begin.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Study What's Right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 MODEL - FROM THE TEXT</a:t>
            </a:r>
            <a:endParaRPr lang="en-US" sz="1100" dirty="0"/>
          </a:p>
        </p:txBody>
      </p:sp>
      <p:sp>
        <p:nvSpPr>
          <p:cNvPr id="5" name="Shape 3"/>
          <p:cNvSpPr/>
          <p:nvPr/>
        </p:nvSpPr>
        <p:spPr>
          <a:xfrm>
            <a:off x="365760" y="1078992"/>
            <a:ext cx="8412480" cy="777240"/>
          </a:xfrm>
          <a:prstGeom prst="roundRect">
            <a:avLst>
              <a:gd name="adj" fmla="val 11765"/>
            </a:avLst>
          </a:prstGeom>
          <a:solidFill>
            <a:srgbClr val="E8F8EF"/>
          </a:solidFill>
          <a:ln w="12700">
            <a:solidFill>
              <a:srgbClr val="34B76F"/>
            </a:solidFill>
            <a:prstDash val="solid"/>
          </a:ln>
          <a:effectLst>
            <a:outerShdw sx="100000" sy="100000" kx="0" ky="0" algn="bl" rotWithShape="0" blurRad="101600" dist="38100" dir="2700000">
              <a:srgbClr val="000000">
                <a:alpha val="12000"/>
              </a:srgbClr>
            </a:outerShdw>
          </a:effectLst>
        </p:spPr>
      </p:sp>
      <p:sp>
        <p:nvSpPr>
          <p:cNvPr id="6" name="Text 4"/>
          <p:cNvSpPr/>
          <p:nvPr/>
        </p:nvSpPr>
        <p:spPr>
          <a:xfrm>
            <a:off x="548640" y="1188720"/>
            <a:ext cx="8046720" cy="54864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Peter wouldn’t promise they would meet again.</a:t>
            </a:r>
            <a:endParaRPr lang="en-US" sz="1600" dirty="0"/>
          </a:p>
        </p:txBody>
      </p:sp>
      <p:sp>
        <p:nvSpPr>
          <p:cNvPr id="7" name="Text 5"/>
          <p:cNvSpPr/>
          <p:nvPr/>
        </p:nvSpPr>
        <p:spPr>
          <a:xfrm>
            <a:off x="457200" y="2002536"/>
            <a:ext cx="8229600" cy="384048"/>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Circle: capitals, quotation marks, punctuation, proper nouns</a:t>
            </a:r>
            <a:endParaRPr lang="en-US" sz="1400" dirty="0"/>
          </a:p>
        </p:txBody>
      </p:sp>
      <p:sp>
        <p:nvSpPr>
          <p:cNvPr id="8" name="Text 6"/>
          <p:cNvSpPr/>
          <p:nvPr/>
        </p:nvSpPr>
        <p:spPr>
          <a:xfrm>
            <a:off x="457200" y="2459736"/>
            <a:ext cx="8229600" cy="384048"/>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Copy this sentence in your journal. Circle one thing you notice.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ellen couldnt say goodbye without crying it wasnt easy</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Daily Oral Language - Fix It</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NEEDS FIXING</a:t>
            </a:r>
            <a:endParaRPr lang="en-US" sz="1100" dirty="0"/>
          </a:p>
        </p:txBody>
      </p:sp>
      <p:sp>
        <p:nvSpPr>
          <p:cNvPr id="7" name="Shape 5"/>
          <p:cNvSpPr/>
          <p:nvPr/>
        </p:nvSpPr>
        <p:spPr>
          <a:xfrm>
            <a:off x="365760" y="1078992"/>
            <a:ext cx="8412480" cy="685800"/>
          </a:xfrm>
          <a:prstGeom prst="roundRect">
            <a:avLst>
              <a:gd name="adj" fmla="val 13333"/>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48640" y="1188720"/>
            <a:ext cx="8046720" cy="457200"/>
          </a:xfrm>
          <a:prstGeom prst="rect">
            <a:avLst/>
          </a:prstGeom>
          <a:noFill/>
          <a:ln/>
        </p:spPr>
        <p:txBody>
          <a:bodyPr wrap="square" lIns="0" tIns="0" rIns="0" bIns="0" rtlCol="0" anchor="ctr"/>
          <a:lstStyle/>
          <a:p>
            <a:pPr indent="0" marL="0">
              <a:buNone/>
            </a:pPr>
            <a:r>
              <a:rPr lang="en-US" sz="1600" i="1" dirty="0">
                <a:solidFill>
                  <a:srgbClr val="1E293B"/>
                </a:solidFill>
                <a:latin typeface="Calibri" pitchFamily="34" charset="0"/>
                <a:ea typeface="Calibri" pitchFamily="34" charset="-122"/>
                <a:cs typeface="Calibri" pitchFamily="34" charset="-120"/>
              </a:rPr>
              <a:t>ellen couldnt say goodbye without crying it wasnt easy</a:t>
            </a:r>
            <a:endParaRPr lang="en-US" sz="1600" dirty="0"/>
          </a:p>
        </p:txBody>
      </p:sp>
      <p:sp>
        <p:nvSpPr>
          <p:cNvPr id="9" name="Text 7"/>
          <p:cNvSpPr/>
          <p:nvPr/>
        </p:nvSpPr>
        <p:spPr>
          <a:xfrm>
            <a:off x="457200" y="1911096"/>
            <a:ext cx="8229600" cy="365760"/>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Rewrite the corrected sentence in your notebook.</a:t>
            </a:r>
            <a:endParaRPr lang="en-US" sz="1500" dirty="0"/>
          </a:p>
        </p:txBody>
      </p:sp>
      <p:sp>
        <p:nvSpPr>
          <p:cNvPr id="10" name="Shape 8"/>
          <p:cNvSpPr/>
          <p:nvPr/>
        </p:nvSpPr>
        <p:spPr>
          <a:xfrm>
            <a:off x="365760" y="2350008"/>
            <a:ext cx="8412480" cy="708660"/>
          </a:xfrm>
          <a:prstGeom prst="roundRect">
            <a:avLst>
              <a:gd name="adj" fmla="val 12903"/>
            </a:avLst>
          </a:prstGeom>
          <a:solidFill>
            <a:srgbClr val="E8F8EF"/>
          </a:solidFill>
          <a:ln/>
          <a:effectLst>
            <a:outerShdw sx="100000" sy="100000" kx="0" ky="0" algn="bl" rotWithShape="0" blurRad="101600" dist="38100" dir="2700000">
              <a:srgbClr val="000000">
                <a:alpha val="12000"/>
              </a:srgbClr>
            </a:outerShdw>
          </a:effectLst>
        </p:spPr>
      </p:sp>
      <p:sp>
        <p:nvSpPr>
          <p:cNvPr id="11" name="Text 9"/>
          <p:cNvSpPr/>
          <p:nvPr/>
        </p:nvSpPr>
        <p:spPr>
          <a:xfrm>
            <a:off x="594360" y="2404872"/>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CORRECTED</a:t>
            </a:r>
            <a:endParaRPr lang="en-US" sz="1100" dirty="0"/>
          </a:p>
        </p:txBody>
      </p:sp>
      <p:sp>
        <p:nvSpPr>
          <p:cNvPr id="12" name="Text 10"/>
          <p:cNvSpPr/>
          <p:nvPr/>
        </p:nvSpPr>
        <p:spPr>
          <a:xfrm>
            <a:off x="594360" y="2697480"/>
            <a:ext cx="7863840" cy="324612"/>
          </a:xfrm>
          <a:prstGeom prst="rect">
            <a:avLst/>
          </a:prstGeom>
          <a:noFill/>
          <a:ln/>
        </p:spPr>
        <p:txBody>
          <a:bodyPr wrap="square" lIns="0" tIns="0" rIns="0" bIns="0" rtlCol="0" anchor="ctr"/>
          <a:lstStyle/>
          <a:p>
            <a:pPr indent="0" marL="0">
              <a:buNone/>
            </a:pPr>
            <a:r>
              <a:rPr lang="en-US" sz="1500" i="1" dirty="0">
                <a:solidFill>
                  <a:srgbClr val="1E293B"/>
                </a:solidFill>
                <a:latin typeface="Calibri" pitchFamily="34" charset="0"/>
                <a:ea typeface="Calibri" pitchFamily="34" charset="-122"/>
                <a:cs typeface="Calibri" pitchFamily="34" charset="-120"/>
              </a:rPr>
              <a:t>Ellen couldn’t say goodbye without crying. It wasn’t easy.</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Morphology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8B6FC0"/>
                </a:solidFill>
                <a:latin typeface="Calibri" pitchFamily="34" charset="0"/>
                <a:ea typeface="Calibri" pitchFamily="34" charset="-122"/>
                <a:cs typeface="Calibri" pitchFamily="34" charset="-120"/>
              </a:rPr>
              <a:t>Morphology: Word Bases: ceed + cede + cess</a:t>
            </a:r>
            <a:endParaRPr lang="en-US" sz="1100" dirty="0"/>
          </a:p>
        </p:txBody>
      </p:sp>
      <p:sp>
        <p:nvSpPr>
          <p:cNvPr id="5" name="Shape 3"/>
          <p:cNvSpPr/>
          <p:nvPr/>
        </p:nvSpPr>
        <p:spPr>
          <a:xfrm>
            <a:off x="365760" y="1060704"/>
            <a:ext cx="8412480" cy="457200"/>
          </a:xfrm>
          <a:prstGeom prst="roundRect">
            <a:avLst>
              <a:gd name="adj" fmla="val 20000"/>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548640" y="1115568"/>
            <a:ext cx="8046720" cy="365760"/>
          </a:xfrm>
          <a:prstGeom prst="rect">
            <a:avLst/>
          </a:prstGeom>
          <a:noFill/>
          <a:ln/>
        </p:spPr>
        <p:txBody>
          <a:bodyPr wrap="square" lIns="0" tIns="0" rIns="0" bIns="0" rtlCol="0" anchor="ctr"/>
          <a:lstStyle/>
          <a:p>
            <a:pPr indent="0" marL="0">
              <a:buNone/>
            </a:pPr>
            <a:r>
              <a:rPr lang="en-US" sz="1150" i="1" dirty="0">
                <a:solidFill>
                  <a:srgbClr val="8B6FC0"/>
                </a:solidFill>
                <a:latin typeface="Calibri" pitchFamily="34" charset="0"/>
                <a:ea typeface="Calibri" pitchFamily="34" charset="-122"/>
                <a:cs typeface="Calibri" pitchFamily="34" charset="-120"/>
              </a:rPr>
              <a:t>English has THREE spellings of one root that means to go or to yield: ceed, cede, and cess. They all share a history. Knowing them helps you decode AND spell big new words.</a:t>
            </a:r>
            <a:endParaRPr lang="en-US" sz="1150" dirty="0"/>
          </a:p>
        </p:txBody>
      </p:sp>
      <p:sp>
        <p:nvSpPr>
          <p:cNvPr id="7" name="Text 5"/>
          <p:cNvSpPr/>
          <p:nvPr/>
        </p:nvSpPr>
        <p:spPr>
          <a:xfrm>
            <a:off x="365760" y="1591056"/>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PARTS REFERENCE</a:t>
            </a:r>
            <a:endParaRPr lang="en-US" sz="1100" dirty="0"/>
          </a:p>
        </p:txBody>
      </p:sp>
      <p:sp>
        <p:nvSpPr>
          <p:cNvPr id="8" name="Shape 6"/>
          <p:cNvSpPr/>
          <p:nvPr/>
        </p:nvSpPr>
        <p:spPr>
          <a:xfrm>
            <a:off x="365760" y="1847088"/>
            <a:ext cx="2011680" cy="662940"/>
          </a:xfrm>
          <a:prstGeom prst="roundRect">
            <a:avLst>
              <a:gd name="adj" fmla="val 11034"/>
            </a:avLst>
          </a:prstGeom>
          <a:solidFill>
            <a:srgbClr val="F8F4FF"/>
          </a:solidFill>
          <a:ln w="12700">
            <a:solidFill>
              <a:srgbClr val="8B6FC0"/>
            </a:solidFill>
            <a:prstDash val="solid"/>
          </a:ln>
        </p:spPr>
      </p:sp>
      <p:sp>
        <p:nvSpPr>
          <p:cNvPr id="9" name="Text 7"/>
          <p:cNvSpPr/>
          <p:nvPr/>
        </p:nvSpPr>
        <p:spPr>
          <a:xfrm>
            <a:off x="43891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proceed = pro- + ceed (go forward)</a:t>
            </a:r>
            <a:endParaRPr lang="en-US" sz="1100" dirty="0"/>
          </a:p>
        </p:txBody>
      </p:sp>
      <p:sp>
        <p:nvSpPr>
          <p:cNvPr id="10" name="Shape 8"/>
          <p:cNvSpPr/>
          <p:nvPr/>
        </p:nvSpPr>
        <p:spPr>
          <a:xfrm>
            <a:off x="2468880" y="1847088"/>
            <a:ext cx="2011680" cy="662940"/>
          </a:xfrm>
          <a:prstGeom prst="roundRect">
            <a:avLst>
              <a:gd name="adj" fmla="val 11034"/>
            </a:avLst>
          </a:prstGeom>
          <a:solidFill>
            <a:srgbClr val="F8F4FF"/>
          </a:solidFill>
          <a:ln w="12700">
            <a:solidFill>
              <a:srgbClr val="8B6FC0"/>
            </a:solidFill>
            <a:prstDash val="solid"/>
          </a:ln>
        </p:spPr>
      </p:sp>
      <p:sp>
        <p:nvSpPr>
          <p:cNvPr id="11" name="Text 9"/>
          <p:cNvSpPr/>
          <p:nvPr/>
        </p:nvSpPr>
        <p:spPr>
          <a:xfrm>
            <a:off x="254203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concede = con- + cede (yield together)</a:t>
            </a:r>
            <a:endParaRPr lang="en-US" sz="1100" dirty="0"/>
          </a:p>
        </p:txBody>
      </p:sp>
      <p:sp>
        <p:nvSpPr>
          <p:cNvPr id="12" name="Shape 10"/>
          <p:cNvSpPr/>
          <p:nvPr/>
        </p:nvSpPr>
        <p:spPr>
          <a:xfrm>
            <a:off x="4572000" y="1847088"/>
            <a:ext cx="2011680" cy="662940"/>
          </a:xfrm>
          <a:prstGeom prst="roundRect">
            <a:avLst>
              <a:gd name="adj" fmla="val 11034"/>
            </a:avLst>
          </a:prstGeom>
          <a:solidFill>
            <a:srgbClr val="F8F4FF"/>
          </a:solidFill>
          <a:ln w="12700">
            <a:solidFill>
              <a:srgbClr val="8B6FC0"/>
            </a:solidFill>
            <a:prstDash val="solid"/>
          </a:ln>
        </p:spPr>
      </p:sp>
      <p:sp>
        <p:nvSpPr>
          <p:cNvPr id="13" name="Text 11"/>
          <p:cNvSpPr/>
          <p:nvPr/>
        </p:nvSpPr>
        <p:spPr>
          <a:xfrm>
            <a:off x="464515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access = ac- + cess (a way to go in)</a:t>
            </a:r>
            <a:endParaRPr lang="en-US" sz="1100" dirty="0"/>
          </a:p>
        </p:txBody>
      </p:sp>
      <p:sp>
        <p:nvSpPr>
          <p:cNvPr id="14" name="Shape 12"/>
          <p:cNvSpPr/>
          <p:nvPr/>
        </p:nvSpPr>
        <p:spPr>
          <a:xfrm>
            <a:off x="6675120" y="1847088"/>
            <a:ext cx="2011680" cy="662940"/>
          </a:xfrm>
          <a:prstGeom prst="roundRect">
            <a:avLst>
              <a:gd name="adj" fmla="val 11034"/>
            </a:avLst>
          </a:prstGeom>
          <a:solidFill>
            <a:srgbClr val="F8F4FF"/>
          </a:solidFill>
          <a:ln w="12700">
            <a:solidFill>
              <a:srgbClr val="8B6FC0"/>
            </a:solidFill>
            <a:prstDash val="solid"/>
          </a:ln>
        </p:spPr>
      </p:sp>
      <p:sp>
        <p:nvSpPr>
          <p:cNvPr id="15" name="Text 13"/>
          <p:cNvSpPr/>
          <p:nvPr/>
        </p:nvSpPr>
        <p:spPr>
          <a:xfrm>
            <a:off x="6748272" y="1892808"/>
            <a:ext cx="1865376" cy="571500"/>
          </a:xfrm>
          <a:prstGeom prst="rect">
            <a:avLst/>
          </a:prstGeom>
          <a:noFill/>
          <a:ln/>
        </p:spPr>
        <p:txBody>
          <a:bodyPr wrap="square" lIns="0" tIns="0" rIns="0" bIns="0" rtlCol="0" anchor="ctr"/>
          <a:lstStyle/>
          <a:p>
            <a:pPr algn="ctr" indent="0" marL="0">
              <a:buNone/>
            </a:pPr>
            <a:r>
              <a:rPr lang="en-US" sz="1100" b="1" dirty="0">
                <a:solidFill>
                  <a:srgbClr val="8B6FC0"/>
                </a:solidFill>
                <a:latin typeface="Calibri" pitchFamily="34" charset="0"/>
                <a:ea typeface="Calibri" pitchFamily="34" charset="-122"/>
                <a:cs typeface="Calibri" pitchFamily="34" charset="-120"/>
              </a:rPr>
              <a:t>process = pro- + cess (a forward-going way of doing things)</a:t>
            </a:r>
            <a:endParaRPr lang="en-US" sz="1100" dirty="0"/>
          </a:p>
        </p:txBody>
      </p:sp>
      <p:sp>
        <p:nvSpPr>
          <p:cNvPr id="16" name="Text 14"/>
          <p:cNvSpPr/>
          <p:nvPr/>
        </p:nvSpPr>
        <p:spPr>
          <a:xfrm>
            <a:off x="365760" y="262890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TRY IT - FILL IN THE MISSING PART</a:t>
            </a:r>
            <a:endParaRPr lang="en-US" sz="1100" dirty="0"/>
          </a:p>
        </p:txBody>
      </p:sp>
      <p:sp>
        <p:nvSpPr>
          <p:cNvPr id="17" name="Shape 15"/>
          <p:cNvSpPr/>
          <p:nvPr/>
        </p:nvSpPr>
        <p:spPr>
          <a:xfrm>
            <a:off x="365760" y="28849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594360" y="29306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succeed — — to go up under; to do well</a:t>
            </a:r>
            <a:endParaRPr lang="en-US" sz="1300" dirty="0"/>
          </a:p>
        </p:txBody>
      </p:sp>
      <p:sp>
        <p:nvSpPr>
          <p:cNvPr id="19" name="Shape 17"/>
          <p:cNvSpPr/>
          <p:nvPr/>
        </p:nvSpPr>
        <p:spPr>
          <a:xfrm>
            <a:off x="365760" y="33421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0" name="Text 18"/>
          <p:cNvSpPr/>
          <p:nvPr/>
        </p:nvSpPr>
        <p:spPr>
          <a:xfrm>
            <a:off x="594360" y="33878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recede — — to go back</a:t>
            </a:r>
            <a:endParaRPr lang="en-US" sz="1300" dirty="0"/>
          </a:p>
        </p:txBody>
      </p:sp>
      <p:sp>
        <p:nvSpPr>
          <p:cNvPr id="21" name="Shape 19"/>
          <p:cNvSpPr/>
          <p:nvPr/>
        </p:nvSpPr>
        <p:spPr>
          <a:xfrm>
            <a:off x="365760" y="3799332"/>
            <a:ext cx="8412480" cy="384048"/>
          </a:xfrm>
          <a:prstGeom prst="roundRect">
            <a:avLst>
              <a:gd name="adj" fmla="val 23810"/>
            </a:avLst>
          </a:prstGeom>
          <a:solidFill>
            <a:srgbClr val="F0E8FF"/>
          </a:solidFill>
          <a:ln/>
          <a:effectLst>
            <a:outerShdw sx="100000" sy="100000" kx="0" ky="0" algn="bl" rotWithShape="0" blurRad="101600" dist="38100" dir="2700000">
              <a:srgbClr val="000000">
                <a:alpha val="12000"/>
              </a:srgbClr>
            </a:outerShdw>
          </a:effectLst>
        </p:spPr>
      </p:sp>
      <p:sp>
        <p:nvSpPr>
          <p:cNvPr id="22" name="Text 20"/>
          <p:cNvSpPr/>
          <p:nvPr/>
        </p:nvSpPr>
        <p:spPr>
          <a:xfrm>
            <a:off x="594360" y="38450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process — — a forward-going set of steps</a:t>
            </a:r>
            <a:endParaRPr lang="en-US" sz="1300" dirty="0"/>
          </a:p>
        </p:txBody>
      </p:sp>
      <p:sp>
        <p:nvSpPr>
          <p:cNvPr id="23" name="Shape 21"/>
          <p:cNvSpPr/>
          <p:nvPr/>
        </p:nvSpPr>
        <p:spPr>
          <a:xfrm>
            <a:off x="365760" y="4256532"/>
            <a:ext cx="8412480" cy="384048"/>
          </a:xfrm>
          <a:prstGeom prst="roundRect">
            <a:avLst>
              <a:gd name="adj" fmla="val 23810"/>
            </a:avLst>
          </a:prstGeom>
          <a:solidFill>
            <a:srgbClr val="F8F4FF"/>
          </a:solidFill>
          <a:ln/>
          <a:effectLst>
            <a:outerShdw sx="100000" sy="100000" kx="0" ky="0" algn="bl" rotWithShape="0" blurRad="101600" dist="38100" dir="2700000">
              <a:srgbClr val="000000">
                <a:alpha val="12000"/>
              </a:srgbClr>
            </a:outerShdw>
          </a:effectLst>
        </p:spPr>
      </p:sp>
      <p:sp>
        <p:nvSpPr>
          <p:cNvPr id="24" name="Text 22"/>
          <p:cNvSpPr/>
          <p:nvPr/>
        </p:nvSpPr>
        <p:spPr>
          <a:xfrm>
            <a:off x="594360" y="4302252"/>
            <a:ext cx="7863840" cy="292608"/>
          </a:xfrm>
          <a:prstGeom prst="rect">
            <a:avLst/>
          </a:prstGeom>
          <a:noFill/>
          <a:ln/>
        </p:spPr>
        <p:txBody>
          <a:bodyPr wrap="square" lIns="0" tIns="0" rIns="0" bIns="0" rtlCol="0" anchor="ctr"/>
          <a:lstStyle/>
          <a:p>
            <a:pPr indent="0" marL="0">
              <a:buNone/>
            </a:pPr>
            <a:r>
              <a:rPr lang="en-US" sz="1300" dirty="0">
                <a:solidFill>
                  <a:srgbClr val="1E293B"/>
                </a:solidFill>
                <a:latin typeface="Calibri" pitchFamily="34" charset="0"/>
                <a:ea typeface="Calibri" pitchFamily="34" charset="-122"/>
                <a:cs typeface="Calibri" pitchFamily="34" charset="-120"/>
              </a:rPr>
              <a:t>secede — — to break away (apart)</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Vocabulary</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786384"/>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4 WORDS - READ THE SENTENCE, THEN THE MEANING</a:t>
            </a:r>
            <a:endParaRPr lang="en-US" sz="1100" dirty="0"/>
          </a:p>
        </p:txBody>
      </p:sp>
      <p:sp>
        <p:nvSpPr>
          <p:cNvPr id="5" name="Shape 3"/>
          <p:cNvSpPr/>
          <p:nvPr/>
        </p:nvSpPr>
        <p:spPr>
          <a:xfrm>
            <a:off x="320040" y="914400"/>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6" name="Text 4"/>
          <p:cNvSpPr/>
          <p:nvPr/>
        </p:nvSpPr>
        <p:spPr>
          <a:xfrm>
            <a:off x="45720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“The Nazis intended to find Jewish families that night.”</a:t>
            </a:r>
            <a:endParaRPr lang="en-US" sz="1050" dirty="0"/>
          </a:p>
        </p:txBody>
      </p:sp>
      <p:sp>
        <p:nvSpPr>
          <p:cNvPr id="7" name="Text 5"/>
          <p:cNvSpPr/>
          <p:nvPr/>
        </p:nvSpPr>
        <p:spPr>
          <a:xfrm>
            <a:off x="45720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intend</a:t>
            </a:r>
            <a:endParaRPr lang="en-US" sz="1400" dirty="0"/>
          </a:p>
        </p:txBody>
      </p:sp>
      <p:sp>
        <p:nvSpPr>
          <p:cNvPr id="8" name="Text 6"/>
          <p:cNvSpPr/>
          <p:nvPr/>
        </p:nvSpPr>
        <p:spPr>
          <a:xfrm>
            <a:off x="457200" y="1723644"/>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To plan to do something on purpose.</a:t>
            </a:r>
            <a:endParaRPr lang="en-US" sz="1100" dirty="0"/>
          </a:p>
        </p:txBody>
      </p:sp>
      <p:sp>
        <p:nvSpPr>
          <p:cNvPr id="9" name="Shape 7"/>
          <p:cNvSpPr/>
          <p:nvPr/>
        </p:nvSpPr>
        <p:spPr>
          <a:xfrm>
            <a:off x="4572000" y="914400"/>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0" name="Text 8"/>
          <p:cNvSpPr/>
          <p:nvPr/>
        </p:nvSpPr>
        <p:spPr>
          <a:xfrm>
            <a:off x="4709160" y="1005840"/>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“Papa’s photo-album story had to sound credible to the soldier.”</a:t>
            </a:r>
            <a:endParaRPr lang="en-US" sz="1050" dirty="0"/>
          </a:p>
        </p:txBody>
      </p:sp>
      <p:sp>
        <p:nvSpPr>
          <p:cNvPr id="11" name="Text 9"/>
          <p:cNvSpPr/>
          <p:nvPr/>
        </p:nvSpPr>
        <p:spPr>
          <a:xfrm>
            <a:off x="4709160" y="1412748"/>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credible</a:t>
            </a:r>
            <a:endParaRPr lang="en-US" sz="1400" dirty="0"/>
          </a:p>
        </p:txBody>
      </p:sp>
      <p:sp>
        <p:nvSpPr>
          <p:cNvPr id="12" name="Text 10"/>
          <p:cNvSpPr/>
          <p:nvPr/>
        </p:nvSpPr>
        <p:spPr>
          <a:xfrm>
            <a:off x="4709160" y="1723644"/>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Believable; easy to trust.</a:t>
            </a:r>
            <a:endParaRPr lang="en-US" sz="1100" dirty="0"/>
          </a:p>
        </p:txBody>
      </p:sp>
      <p:sp>
        <p:nvSpPr>
          <p:cNvPr id="13" name="Shape 11"/>
          <p:cNvSpPr/>
          <p:nvPr/>
        </p:nvSpPr>
        <p:spPr>
          <a:xfrm>
            <a:off x="320040" y="2200656"/>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4" name="Text 12"/>
          <p:cNvSpPr/>
          <p:nvPr/>
        </p:nvSpPr>
        <p:spPr>
          <a:xfrm>
            <a:off x="457200" y="2292096"/>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“Mama’s discreet phone call to Uncle Henrik used code instead of plain talk.”</a:t>
            </a:r>
            <a:endParaRPr lang="en-US" sz="1050" dirty="0"/>
          </a:p>
        </p:txBody>
      </p:sp>
      <p:sp>
        <p:nvSpPr>
          <p:cNvPr id="15" name="Text 13"/>
          <p:cNvSpPr/>
          <p:nvPr/>
        </p:nvSpPr>
        <p:spPr>
          <a:xfrm>
            <a:off x="457200" y="2699004"/>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discreet</a:t>
            </a:r>
            <a:endParaRPr lang="en-US" sz="1400" dirty="0"/>
          </a:p>
        </p:txBody>
      </p:sp>
      <p:sp>
        <p:nvSpPr>
          <p:cNvPr id="16" name="Text 14"/>
          <p:cNvSpPr/>
          <p:nvPr/>
        </p:nvSpPr>
        <p:spPr>
          <a:xfrm>
            <a:off x="457200" y="3009900"/>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Careful not to draw attention.</a:t>
            </a:r>
            <a:endParaRPr lang="en-US" sz="1100" dirty="0"/>
          </a:p>
        </p:txBody>
      </p:sp>
      <p:sp>
        <p:nvSpPr>
          <p:cNvPr id="17" name="Shape 15"/>
          <p:cNvSpPr/>
          <p:nvPr/>
        </p:nvSpPr>
        <p:spPr>
          <a:xfrm>
            <a:off x="4572000" y="2200656"/>
            <a:ext cx="4069080" cy="1176528"/>
          </a:xfrm>
          <a:prstGeom prst="roundRect">
            <a:avLst>
              <a:gd name="adj" fmla="val 7772"/>
            </a:avLst>
          </a:prstGeom>
          <a:solidFill>
            <a:srgbClr val="F0E8FF"/>
          </a:solidFill>
          <a:ln/>
          <a:effectLst>
            <a:outerShdw sx="100000" sy="100000" kx="0" ky="0" algn="bl" rotWithShape="0" blurRad="101600" dist="38100" dir="2700000">
              <a:srgbClr val="000000">
                <a:alpha val="12000"/>
              </a:srgbClr>
            </a:outerShdw>
          </a:effectLst>
        </p:spPr>
      </p:sp>
      <p:sp>
        <p:nvSpPr>
          <p:cNvPr id="18" name="Text 16"/>
          <p:cNvSpPr/>
          <p:nvPr/>
        </p:nvSpPr>
        <p:spPr>
          <a:xfrm>
            <a:off x="4709160" y="2292096"/>
            <a:ext cx="3794760" cy="352044"/>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“Mama and Papa stood beside each other, their faces tense.”</a:t>
            </a:r>
            <a:endParaRPr lang="en-US" sz="1050" dirty="0"/>
          </a:p>
        </p:txBody>
      </p:sp>
      <p:sp>
        <p:nvSpPr>
          <p:cNvPr id="19" name="Text 17"/>
          <p:cNvSpPr/>
          <p:nvPr/>
        </p:nvSpPr>
        <p:spPr>
          <a:xfrm>
            <a:off x="4709160" y="2699004"/>
            <a:ext cx="3794760" cy="292608"/>
          </a:xfrm>
          <a:prstGeom prst="rect">
            <a:avLst/>
          </a:prstGeom>
          <a:noFill/>
          <a:ln/>
        </p:spPr>
        <p:txBody>
          <a:bodyPr wrap="square" lIns="0" tIns="0" rIns="0" bIns="0" rtlCol="0" anchor="ctr"/>
          <a:lstStyle/>
          <a:p>
            <a:pPr indent="0" marL="0">
              <a:buNone/>
            </a:pPr>
            <a:r>
              <a:rPr lang="en-US" sz="1400" b="1" dirty="0">
                <a:solidFill>
                  <a:srgbClr val="8B6FC0"/>
                </a:solidFill>
                <a:latin typeface="Calibri" pitchFamily="34" charset="0"/>
                <a:ea typeface="Calibri" pitchFamily="34" charset="-122"/>
                <a:cs typeface="Calibri" pitchFamily="34" charset="-120"/>
              </a:rPr>
              <a:t>😬  tense</a:t>
            </a:r>
            <a:endParaRPr lang="en-US" sz="1400" dirty="0"/>
          </a:p>
        </p:txBody>
      </p:sp>
      <p:sp>
        <p:nvSpPr>
          <p:cNvPr id="20" name="Text 18"/>
          <p:cNvSpPr/>
          <p:nvPr/>
        </p:nvSpPr>
        <p:spPr>
          <a:xfrm>
            <a:off x="4709160" y="3009900"/>
            <a:ext cx="3794760" cy="312420"/>
          </a:xfrm>
          <a:prstGeom prst="rect">
            <a:avLst/>
          </a:prstGeom>
          <a:noFill/>
          <a:ln/>
        </p:spPr>
        <p:txBody>
          <a:bodyPr wrap="square" lIns="0" tIns="0" rIns="0" bIns="0" rtlCol="0" anchor="ctr"/>
          <a:lstStyle/>
          <a:p>
            <a:pPr indent="0" marL="0">
              <a:buNone/>
            </a:pPr>
            <a:r>
              <a:rPr lang="en-US" sz="1100" i="1" dirty="0">
                <a:solidFill>
                  <a:srgbClr val="1E293B"/>
                </a:solidFill>
                <a:latin typeface="Calibri" pitchFamily="34" charset="0"/>
                <a:ea typeface="Calibri" pitchFamily="34" charset="-122"/>
                <a:cs typeface="Calibri" pitchFamily="34" charset="-120"/>
              </a:rPr>
              <a:t>Tight with worry; nervous.</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Contractions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SPOT THE TARGET WORD</a:t>
            </a:r>
            <a:endParaRPr lang="en-US" sz="1100" dirty="0"/>
          </a:p>
        </p:txBody>
      </p:sp>
      <p:sp>
        <p:nvSpPr>
          <p:cNvPr id="7" name="Shape 5"/>
          <p:cNvSpPr/>
          <p:nvPr/>
        </p:nvSpPr>
        <p:spPr>
          <a:xfrm>
            <a:off x="365760" y="1078992"/>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Peter said they’ll be safe in Sweden.</a:t>
            </a:r>
            <a:endParaRPr lang="en-US" sz="1500" dirty="0"/>
          </a:p>
        </p:txBody>
      </p:sp>
      <p:sp>
        <p:nvSpPr>
          <p:cNvPr id="9" name="Shape 7"/>
          <p:cNvSpPr/>
          <p:nvPr/>
        </p:nvSpPr>
        <p:spPr>
          <a:xfrm>
            <a:off x="365760" y="1920240"/>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Mrs. Rosen doesn’t want to leave.</a:t>
            </a:r>
            <a:endParaRPr lang="en-US" sz="1500" dirty="0"/>
          </a:p>
        </p:txBody>
      </p:sp>
      <p:sp>
        <p:nvSpPr>
          <p:cNvPr id="11" name="Shape 9"/>
          <p:cNvSpPr/>
          <p:nvPr/>
        </p:nvSpPr>
        <p:spPr>
          <a:xfrm>
            <a:off x="365760" y="2761488"/>
            <a:ext cx="8412480" cy="749808"/>
          </a:xfrm>
          <a:prstGeom prst="roundRect">
            <a:avLst>
              <a:gd name="adj" fmla="val 9756"/>
            </a:avLst>
          </a:prstGeom>
          <a:solidFill>
            <a:srgbClr val="FEF6E8"/>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It’s a dangerous night.</a:t>
            </a:r>
            <a:endParaRPr lang="en-US" sz="1500" dirty="0"/>
          </a:p>
        </p:txBody>
      </p:sp>
      <p:sp>
        <p:nvSpPr>
          <p:cNvPr id="13" name="Text 11"/>
          <p:cNvSpPr/>
          <p:nvPr/>
        </p:nvSpPr>
        <p:spPr>
          <a:xfrm>
            <a:off x="457200" y="3648456"/>
            <a:ext cx="8229600" cy="347472"/>
          </a:xfrm>
          <a:prstGeom prst="rect">
            <a:avLst/>
          </a:prstGeom>
          <a:noFill/>
          <a:ln/>
        </p:spPr>
        <p:txBody>
          <a:bodyPr wrap="square" lIns="0" tIns="0" rIns="0" bIns="0" rtlCol="0" anchor="ctr"/>
          <a:lstStyle/>
          <a:p>
            <a:pPr indent="0" marL="0">
              <a:buNone/>
            </a:pPr>
            <a:r>
              <a:rPr lang="en-US" sz="1500" b="1" dirty="0">
                <a:solidFill>
                  <a:srgbClr val="0E1C42"/>
                </a:solidFill>
                <a:latin typeface="Calibri" pitchFamily="34" charset="0"/>
                <a:ea typeface="Calibri" pitchFamily="34" charset="-122"/>
                <a:cs typeface="Calibri" pitchFamily="34" charset="-120"/>
              </a:rPr>
              <a:t>Find the target word. Write it in your notebook.</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Grammar - Grammar: Contractions</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ANSWERS REVEALED</a:t>
            </a:r>
            <a:endParaRPr lang="en-US" sz="1100" dirty="0"/>
          </a:p>
        </p:txBody>
      </p:sp>
      <p:sp>
        <p:nvSpPr>
          <p:cNvPr id="7" name="Shape 5"/>
          <p:cNvSpPr/>
          <p:nvPr/>
        </p:nvSpPr>
        <p:spPr>
          <a:xfrm>
            <a:off x="365760" y="1078992"/>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170432"/>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Peter said </a:t>
            </a:r>
            <a:pPr indent="0" marL="0">
              <a:buNone/>
            </a:pPr>
            <a:r>
              <a:rPr lang="en-US" sz="1500" b="1" u="sng" dirty="0">
                <a:solidFill>
                  <a:srgbClr val="34B76F"/>
                </a:solidFill>
                <a:latin typeface="Calibri" pitchFamily="34" charset="0"/>
                <a:ea typeface="Calibri" pitchFamily="34" charset="-122"/>
                <a:cs typeface="Calibri" pitchFamily="34" charset="-120"/>
              </a:rPr>
              <a:t>they’ll</a:t>
            </a:r>
            <a:pPr indent="0" marL="0">
              <a:buNone/>
            </a:pPr>
            <a:r>
              <a:rPr lang="en-US" sz="1500" dirty="0">
                <a:solidFill>
                  <a:srgbClr val="1E293B"/>
                </a:solidFill>
                <a:latin typeface="Calibri" pitchFamily="34" charset="0"/>
                <a:ea typeface="Calibri" pitchFamily="34" charset="-122"/>
                <a:cs typeface="Calibri" pitchFamily="34" charset="-120"/>
              </a:rPr>
              <a:t> be safe in Sweden.</a:t>
            </a:r>
            <a:endParaRPr lang="en-US" sz="1500" dirty="0"/>
          </a:p>
        </p:txBody>
      </p:sp>
      <p:sp>
        <p:nvSpPr>
          <p:cNvPr id="9" name="Shape 7"/>
          <p:cNvSpPr/>
          <p:nvPr/>
        </p:nvSpPr>
        <p:spPr>
          <a:xfrm>
            <a:off x="365760" y="1920240"/>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0" name="Text 8"/>
          <p:cNvSpPr/>
          <p:nvPr/>
        </p:nvSpPr>
        <p:spPr>
          <a:xfrm>
            <a:off x="594360" y="2011680"/>
            <a:ext cx="7863840" cy="566928"/>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Mrs. Rosen </a:t>
            </a:r>
            <a:pPr indent="0" marL="0">
              <a:buNone/>
            </a:pPr>
            <a:r>
              <a:rPr lang="en-US" sz="1500" b="1" u="sng" dirty="0">
                <a:solidFill>
                  <a:srgbClr val="34B76F"/>
                </a:solidFill>
                <a:latin typeface="Calibri" pitchFamily="34" charset="0"/>
                <a:ea typeface="Calibri" pitchFamily="34" charset="-122"/>
                <a:cs typeface="Calibri" pitchFamily="34" charset="-120"/>
              </a:rPr>
              <a:t>doesn’t</a:t>
            </a:r>
            <a:pPr indent="0" marL="0">
              <a:buNone/>
            </a:pPr>
            <a:r>
              <a:rPr lang="en-US" sz="1500" dirty="0">
                <a:solidFill>
                  <a:srgbClr val="1E293B"/>
                </a:solidFill>
                <a:latin typeface="Calibri" pitchFamily="34" charset="0"/>
                <a:ea typeface="Calibri" pitchFamily="34" charset="-122"/>
                <a:cs typeface="Calibri" pitchFamily="34" charset="-120"/>
              </a:rPr>
              <a:t> want to leave.</a:t>
            </a:r>
            <a:endParaRPr lang="en-US" sz="1500" dirty="0"/>
          </a:p>
        </p:txBody>
      </p:sp>
      <p:sp>
        <p:nvSpPr>
          <p:cNvPr id="11" name="Shape 9"/>
          <p:cNvSpPr/>
          <p:nvPr/>
        </p:nvSpPr>
        <p:spPr>
          <a:xfrm>
            <a:off x="365760" y="2761488"/>
            <a:ext cx="8412480" cy="749808"/>
          </a:xfrm>
          <a:prstGeom prst="roundRect">
            <a:avLst>
              <a:gd name="adj" fmla="val 9756"/>
            </a:avLst>
          </a:prstGeom>
          <a:solidFill>
            <a:srgbClr val="E8F8EF"/>
          </a:solidFill>
          <a:ln/>
          <a:effectLst>
            <a:outerShdw sx="100000" sy="100000" kx="0" ky="0" algn="bl" rotWithShape="0" blurRad="101600" dist="38100" dir="2700000">
              <a:srgbClr val="000000">
                <a:alpha val="12000"/>
              </a:srgbClr>
            </a:outerShdw>
          </a:effectLst>
        </p:spPr>
      </p:sp>
      <p:sp>
        <p:nvSpPr>
          <p:cNvPr id="12" name="Text 10"/>
          <p:cNvSpPr/>
          <p:nvPr/>
        </p:nvSpPr>
        <p:spPr>
          <a:xfrm>
            <a:off x="594360" y="2852928"/>
            <a:ext cx="7863840" cy="566928"/>
          </a:xfrm>
          <a:prstGeom prst="rect">
            <a:avLst/>
          </a:prstGeom>
          <a:noFill/>
          <a:ln/>
        </p:spPr>
        <p:txBody>
          <a:bodyPr wrap="square" lIns="0" tIns="0" rIns="0" bIns="0" rtlCol="0" anchor="ctr"/>
          <a:lstStyle/>
          <a:p>
            <a:pPr indent="0" marL="0">
              <a:buNone/>
            </a:pPr>
            <a:pPr indent="0" marL="0">
              <a:buNone/>
            </a:pPr>
            <a:r>
              <a:rPr lang="en-US" sz="1500" b="1" u="sng" dirty="0">
                <a:solidFill>
                  <a:srgbClr val="34B76F"/>
                </a:solidFill>
                <a:latin typeface="Calibri" pitchFamily="34" charset="0"/>
                <a:ea typeface="Calibri" pitchFamily="34" charset="-122"/>
                <a:cs typeface="Calibri" pitchFamily="34" charset="-120"/>
              </a:rPr>
              <a:t>It’s</a:t>
            </a:r>
            <a:pPr indent="0" marL="0">
              <a:buNone/>
            </a:pPr>
            <a:r>
              <a:rPr lang="en-US" sz="1500" dirty="0">
                <a:solidFill>
                  <a:srgbClr val="1E293B"/>
                </a:solidFill>
                <a:latin typeface="Calibri" pitchFamily="34" charset="0"/>
                <a:ea typeface="Calibri" pitchFamily="34" charset="-122"/>
                <a:cs typeface="Calibri" pitchFamily="34" charset="-120"/>
              </a:rPr>
              <a:t> a dangerous night.</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Consonant-le Review</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THE WORDS</a:t>
            </a:r>
            <a:endParaRPr lang="en-US" sz="1100" dirty="0"/>
          </a:p>
        </p:txBody>
      </p:sp>
      <p:sp>
        <p:nvSpPr>
          <p:cNvPr id="7" name="Shape 5"/>
          <p:cNvSpPr/>
          <p:nvPr/>
        </p:nvSpPr>
        <p:spPr>
          <a:xfrm>
            <a:off x="365760" y="1024128"/>
            <a:ext cx="8412480" cy="685800"/>
          </a:xfrm>
          <a:prstGeom prst="roundRect">
            <a:avLst>
              <a:gd name="adj" fmla="val 13333"/>
            </a:avLst>
          </a:prstGeom>
          <a:solidFill>
            <a:srgbClr val="F8FAFC"/>
          </a:solidFill>
          <a:ln/>
          <a:effectLst>
            <a:outerShdw sx="100000" sy="100000" kx="0" ky="0" algn="bl" rotWithShape="0" blurRad="101600" dist="38100" dir="2700000">
              <a:srgbClr val="000000">
                <a:alpha val="12000"/>
              </a:srgbClr>
            </a:outerShdw>
          </a:effectLst>
        </p:spPr>
      </p:sp>
      <p:sp>
        <p:nvSpPr>
          <p:cNvPr id="8" name="Text 6"/>
          <p:cNvSpPr/>
          <p:nvPr/>
        </p:nvSpPr>
        <p:spPr>
          <a:xfrm>
            <a:off x="594360" y="1078992"/>
            <a:ext cx="8046720" cy="292608"/>
          </a:xfrm>
          <a:prstGeom prst="rect">
            <a:avLst/>
          </a:prstGeom>
          <a:noFill/>
          <a:ln/>
        </p:spPr>
        <p:txBody>
          <a:bodyPr wrap="square" lIns="0" tIns="0" rIns="0" bIns="0" rtlCol="0" anchor="ctr"/>
          <a:lstStyle/>
          <a:p>
            <a:pPr indent="0" marL="0">
              <a:buNone/>
            </a:pPr>
            <a:r>
              <a:rPr lang="en-US" sz="1100" b="1" spc="200" kern="0" dirty="0">
                <a:solidFill>
                  <a:srgbClr val="64748B"/>
                </a:solidFill>
                <a:latin typeface="Calibri" pitchFamily="34" charset="0"/>
                <a:ea typeface="Calibri" pitchFamily="34" charset="-122"/>
                <a:cs typeface="Calibri" pitchFamily="34" charset="-120"/>
              </a:rPr>
              <a:t>WORD BANK</a:t>
            </a:r>
            <a:endParaRPr lang="en-US" sz="1100" dirty="0"/>
          </a:p>
        </p:txBody>
      </p:sp>
      <p:sp>
        <p:nvSpPr>
          <p:cNvPr id="9" name="Text 7"/>
          <p:cNvSpPr/>
          <p:nvPr/>
        </p:nvSpPr>
        <p:spPr>
          <a:xfrm>
            <a:off x="594360" y="1325880"/>
            <a:ext cx="7863840" cy="320040"/>
          </a:xfrm>
          <a:prstGeom prst="rect">
            <a:avLst/>
          </a:prstGeom>
          <a:noFill/>
          <a:ln/>
        </p:spPr>
        <p:txBody>
          <a:bodyPr wrap="square" lIns="0" tIns="0" rIns="0" bIns="0" rtlCol="0" anchor="ctr"/>
          <a:lstStyle/>
          <a:p>
            <a:pPr indent="0" marL="0">
              <a:buNone/>
            </a:pPr>
            <a:r>
              <a:rPr lang="en-US" sz="1600" b="1" dirty="0">
                <a:solidFill>
                  <a:srgbClr val="0E1C42"/>
                </a:solidFill>
                <a:latin typeface="Calibri" pitchFamily="34" charset="0"/>
                <a:ea typeface="Calibri" pitchFamily="34" charset="-122"/>
                <a:cs typeface="Calibri" pitchFamily="34" charset="-120"/>
              </a:rPr>
              <a:t>unsafe   -   disappear   -   misunderstood   -   frightened   -   careful   -   dangerous</a:t>
            </a:r>
            <a:endParaRPr lang="en-US" sz="1600" dirty="0"/>
          </a:p>
        </p:txBody>
      </p:sp>
      <p:sp>
        <p:nvSpPr>
          <p:cNvPr id="10" name="Text 8"/>
          <p:cNvSpPr/>
          <p:nvPr/>
        </p:nvSpPr>
        <p:spPr>
          <a:xfrm>
            <a:off x="365760" y="187452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SORT INTO GROUPS</a:t>
            </a:r>
            <a:endParaRPr lang="en-US" sz="1100" dirty="0"/>
          </a:p>
        </p:txBody>
      </p:sp>
      <p:sp>
        <p:nvSpPr>
          <p:cNvPr id="11" name="Shape 9"/>
          <p:cNvSpPr/>
          <p:nvPr/>
        </p:nvSpPr>
        <p:spPr>
          <a:xfrm>
            <a:off x="365760" y="2176272"/>
            <a:ext cx="4114800" cy="1051560"/>
          </a:xfrm>
          <a:prstGeom prst="roundRect">
            <a:avLst>
              <a:gd name="adj" fmla="val 8696"/>
            </a:avLst>
          </a:prstGeom>
          <a:solidFill>
            <a:srgbClr val="E8F8EF"/>
          </a:solidFill>
          <a:ln w="19050">
            <a:solidFill>
              <a:srgbClr val="4A7C2E"/>
            </a:solidFill>
            <a:prstDash val="solid"/>
          </a:ln>
        </p:spPr>
      </p:sp>
      <p:sp>
        <p:nvSpPr>
          <p:cNvPr id="12" name="Text 10"/>
          <p:cNvSpPr/>
          <p:nvPr/>
        </p:nvSpPr>
        <p:spPr>
          <a:xfrm>
            <a:off x="502920" y="2286000"/>
            <a:ext cx="3840480" cy="411480"/>
          </a:xfrm>
          <a:prstGeom prst="rect">
            <a:avLst/>
          </a:prstGeom>
          <a:noFill/>
          <a:ln/>
        </p:spPr>
        <p:txBody>
          <a:bodyPr wrap="square" lIns="0" tIns="0" rIns="0" bIns="0" rtlCol="0" anchor="ctr"/>
          <a:lstStyle/>
          <a:p>
            <a:pPr indent="0" marL="0">
              <a:buNone/>
            </a:pPr>
            <a:r>
              <a:rPr lang="en-US" sz="1300" b="1" dirty="0">
                <a:solidFill>
                  <a:srgbClr val="4A7C2E"/>
                </a:solidFill>
                <a:latin typeface="Calibri" pitchFamily="34" charset="0"/>
                <a:ea typeface="Calibri" pitchFamily="34" charset="-122"/>
                <a:cs typeface="Calibri" pitchFamily="34" charset="-120"/>
              </a:rPr>
              <a:t>Has a prefix</a:t>
            </a:r>
            <a:endParaRPr lang="en-US" sz="1300" dirty="0"/>
          </a:p>
        </p:txBody>
      </p:sp>
      <p:sp>
        <p:nvSpPr>
          <p:cNvPr id="13" name="Shape 11"/>
          <p:cNvSpPr/>
          <p:nvPr/>
        </p:nvSpPr>
        <p:spPr>
          <a:xfrm>
            <a:off x="4800600" y="2176272"/>
            <a:ext cx="4114800" cy="1051560"/>
          </a:xfrm>
          <a:prstGeom prst="roundRect">
            <a:avLst>
              <a:gd name="adj" fmla="val 8696"/>
            </a:avLst>
          </a:prstGeom>
          <a:solidFill>
            <a:srgbClr val="F0E8FF"/>
          </a:solidFill>
          <a:ln w="19050">
            <a:solidFill>
              <a:srgbClr val="5C2D91"/>
            </a:solidFill>
            <a:prstDash val="solid"/>
          </a:ln>
        </p:spPr>
      </p:sp>
      <p:sp>
        <p:nvSpPr>
          <p:cNvPr id="14" name="Text 12"/>
          <p:cNvSpPr/>
          <p:nvPr/>
        </p:nvSpPr>
        <p:spPr>
          <a:xfrm>
            <a:off x="4937760" y="2286000"/>
            <a:ext cx="3840480" cy="411480"/>
          </a:xfrm>
          <a:prstGeom prst="rect">
            <a:avLst/>
          </a:prstGeom>
          <a:noFill/>
          <a:ln/>
        </p:spPr>
        <p:txBody>
          <a:bodyPr wrap="square" lIns="0" tIns="0" rIns="0" bIns="0" rtlCol="0" anchor="ctr"/>
          <a:lstStyle/>
          <a:p>
            <a:pPr indent="0" marL="0">
              <a:buNone/>
            </a:pPr>
            <a:r>
              <a:rPr lang="en-US" sz="1300" b="1" dirty="0">
                <a:solidFill>
                  <a:srgbClr val="5C2D91"/>
                </a:solidFill>
                <a:latin typeface="Calibri" pitchFamily="34" charset="0"/>
                <a:ea typeface="Calibri" pitchFamily="34" charset="-122"/>
                <a:cs typeface="Calibri" pitchFamily="34" charset="-120"/>
              </a:rPr>
              <a:t>Has a suffix</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E5F7FC"/>
        </a:solidFill>
      </p:bgPr>
    </p:bg>
    <p:spTree>
      <p:nvGrpSpPr>
        <p:cNvPr id="1" name=""/>
        <p:cNvGrpSpPr/>
        <p:nvPr/>
      </p:nvGrpSpPr>
      <p:grpSpPr>
        <a:xfrm>
          <a:off x="0" y="0"/>
          <a:ext cx="0" cy="0"/>
          <a:chOff x="0" y="0"/>
          <a:chExt cx="0" cy="0"/>
        </a:xfrm>
      </p:grpSpPr>
      <p:sp>
        <p:nvSpPr>
          <p:cNvPr id="2" name="Text 0"/>
          <p:cNvSpPr/>
          <p:nvPr/>
        </p:nvSpPr>
        <p:spPr>
          <a:xfrm>
            <a:off x="365760" y="164592"/>
            <a:ext cx="594360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Spelling - Spelling: Consonant-le Review</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Shape 2"/>
          <p:cNvSpPr/>
          <p:nvPr/>
        </p:nvSpPr>
        <p:spPr>
          <a:xfrm>
            <a:off x="6492240" y="173736"/>
            <a:ext cx="2286000" cy="502920"/>
          </a:xfrm>
          <a:prstGeom prst="roundRect">
            <a:avLst>
              <a:gd name="adj" fmla="val 21818"/>
            </a:avLst>
          </a:prstGeom>
          <a:solidFill>
            <a:srgbClr val="6E9BD9"/>
          </a:solidFill>
          <a:ln/>
        </p:spPr>
      </p:sp>
      <p:sp>
        <p:nvSpPr>
          <p:cNvPr id="5" name="Text 3"/>
          <p:cNvSpPr/>
          <p:nvPr/>
        </p:nvSpPr>
        <p:spPr>
          <a:xfrm>
            <a:off x="6492240" y="173736"/>
            <a:ext cx="2286000" cy="50292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CHAT PROMPT</a:t>
            </a:r>
            <a:endParaRPr lang="en-US" sz="1100" dirty="0"/>
          </a:p>
        </p:txBody>
      </p:sp>
      <p:sp>
        <p:nvSpPr>
          <p:cNvPr id="6" name="Text 4"/>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34B76F"/>
                </a:solidFill>
                <a:latin typeface="Calibri" pitchFamily="34" charset="0"/>
                <a:ea typeface="Calibri" pitchFamily="34" charset="-122"/>
                <a:cs typeface="Calibri" pitchFamily="34" charset="-120"/>
              </a:rPr>
              <a:t>SORTED</a:t>
            </a:r>
            <a:endParaRPr lang="en-US" sz="1100" dirty="0"/>
          </a:p>
        </p:txBody>
      </p:sp>
      <p:sp>
        <p:nvSpPr>
          <p:cNvPr id="7" name="Shape 5"/>
          <p:cNvSpPr/>
          <p:nvPr/>
        </p:nvSpPr>
        <p:spPr>
          <a:xfrm>
            <a:off x="365760" y="1024128"/>
            <a:ext cx="4114800" cy="1453896"/>
          </a:xfrm>
          <a:prstGeom prst="roundRect">
            <a:avLst>
              <a:gd name="adj" fmla="val 6289"/>
            </a:avLst>
          </a:prstGeom>
          <a:solidFill>
            <a:srgbClr val="E8F8EF"/>
          </a:solidFill>
          <a:ln w="19050">
            <a:solidFill>
              <a:srgbClr val="4A7C2E"/>
            </a:solidFill>
            <a:prstDash val="solid"/>
          </a:ln>
          <a:effectLst>
            <a:outerShdw sx="100000" sy="100000" kx="0" ky="0" algn="bl" rotWithShape="0" blurRad="101600" dist="38100" dir="2700000">
              <a:srgbClr val="000000">
                <a:alpha val="12000"/>
              </a:srgbClr>
            </a:outerShdw>
          </a:effectLst>
        </p:spPr>
      </p:sp>
      <p:sp>
        <p:nvSpPr>
          <p:cNvPr id="8" name="Text 6"/>
          <p:cNvSpPr/>
          <p:nvPr/>
        </p:nvSpPr>
        <p:spPr>
          <a:xfrm>
            <a:off x="502920" y="1097280"/>
            <a:ext cx="3840480" cy="347472"/>
          </a:xfrm>
          <a:prstGeom prst="rect">
            <a:avLst/>
          </a:prstGeom>
          <a:noFill/>
          <a:ln/>
        </p:spPr>
        <p:txBody>
          <a:bodyPr wrap="square" lIns="0" tIns="0" rIns="0" bIns="0" rtlCol="0" anchor="ctr"/>
          <a:lstStyle/>
          <a:p>
            <a:pPr indent="0" marL="0">
              <a:buNone/>
            </a:pPr>
            <a:r>
              <a:rPr lang="en-US" sz="1200" b="1" dirty="0">
                <a:solidFill>
                  <a:srgbClr val="4A7C2E"/>
                </a:solidFill>
                <a:latin typeface="Calibri" pitchFamily="34" charset="0"/>
                <a:ea typeface="Calibri" pitchFamily="34" charset="-122"/>
                <a:cs typeface="Calibri" pitchFamily="34" charset="-120"/>
              </a:rPr>
              <a:t>Has a prefix</a:t>
            </a:r>
            <a:endParaRPr lang="en-US" sz="1200" dirty="0"/>
          </a:p>
        </p:txBody>
      </p:sp>
      <p:sp>
        <p:nvSpPr>
          <p:cNvPr id="9" name="Text 7"/>
          <p:cNvSpPr/>
          <p:nvPr/>
        </p:nvSpPr>
        <p:spPr>
          <a:xfrm>
            <a:off x="594360"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unsafe</a:t>
            </a:r>
            <a:endParaRPr lang="en-US" sz="1400" dirty="0"/>
          </a:p>
        </p:txBody>
      </p:sp>
      <p:sp>
        <p:nvSpPr>
          <p:cNvPr id="10" name="Text 8"/>
          <p:cNvSpPr/>
          <p:nvPr/>
        </p:nvSpPr>
        <p:spPr>
          <a:xfrm>
            <a:off x="594360"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disappear</a:t>
            </a:r>
            <a:endParaRPr lang="en-US" sz="1400" dirty="0"/>
          </a:p>
        </p:txBody>
      </p:sp>
      <p:sp>
        <p:nvSpPr>
          <p:cNvPr id="11" name="Text 9"/>
          <p:cNvSpPr/>
          <p:nvPr/>
        </p:nvSpPr>
        <p:spPr>
          <a:xfrm>
            <a:off x="594360"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misunderstood</a:t>
            </a:r>
            <a:endParaRPr lang="en-US" sz="1400" dirty="0"/>
          </a:p>
        </p:txBody>
      </p:sp>
      <p:sp>
        <p:nvSpPr>
          <p:cNvPr id="12" name="Shape 10"/>
          <p:cNvSpPr/>
          <p:nvPr/>
        </p:nvSpPr>
        <p:spPr>
          <a:xfrm>
            <a:off x="4681728" y="1024128"/>
            <a:ext cx="4114800" cy="1453896"/>
          </a:xfrm>
          <a:prstGeom prst="roundRect">
            <a:avLst>
              <a:gd name="adj" fmla="val 6289"/>
            </a:avLst>
          </a:prstGeom>
          <a:solidFill>
            <a:srgbClr val="F0E8FF"/>
          </a:solidFill>
          <a:ln w="19050">
            <a:solidFill>
              <a:srgbClr val="5C2D91"/>
            </a:solidFill>
            <a:prstDash val="solid"/>
          </a:ln>
          <a:effectLst>
            <a:outerShdw sx="100000" sy="100000" kx="0" ky="0" algn="bl" rotWithShape="0" blurRad="101600" dist="38100" dir="2700000">
              <a:srgbClr val="000000">
                <a:alpha val="12000"/>
              </a:srgbClr>
            </a:outerShdw>
          </a:effectLst>
        </p:spPr>
      </p:sp>
      <p:sp>
        <p:nvSpPr>
          <p:cNvPr id="13" name="Text 11"/>
          <p:cNvSpPr/>
          <p:nvPr/>
        </p:nvSpPr>
        <p:spPr>
          <a:xfrm>
            <a:off x="4818888" y="1097280"/>
            <a:ext cx="3840480" cy="347472"/>
          </a:xfrm>
          <a:prstGeom prst="rect">
            <a:avLst/>
          </a:prstGeom>
          <a:noFill/>
          <a:ln/>
        </p:spPr>
        <p:txBody>
          <a:bodyPr wrap="square" lIns="0" tIns="0" rIns="0" bIns="0" rtlCol="0" anchor="ctr"/>
          <a:lstStyle/>
          <a:p>
            <a:pPr indent="0" marL="0">
              <a:buNone/>
            </a:pPr>
            <a:r>
              <a:rPr lang="en-US" sz="1200" b="1" dirty="0">
                <a:solidFill>
                  <a:srgbClr val="5C2D91"/>
                </a:solidFill>
                <a:latin typeface="Calibri" pitchFamily="34" charset="0"/>
                <a:ea typeface="Calibri" pitchFamily="34" charset="-122"/>
                <a:cs typeface="Calibri" pitchFamily="34" charset="-120"/>
              </a:rPr>
              <a:t>Has a suffix</a:t>
            </a:r>
            <a:endParaRPr lang="en-US" sz="1200" dirty="0"/>
          </a:p>
        </p:txBody>
      </p:sp>
      <p:sp>
        <p:nvSpPr>
          <p:cNvPr id="14" name="Text 12"/>
          <p:cNvSpPr/>
          <p:nvPr/>
        </p:nvSpPr>
        <p:spPr>
          <a:xfrm>
            <a:off x="4910328" y="1463040"/>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frightened</a:t>
            </a:r>
            <a:endParaRPr lang="en-US" sz="1400" dirty="0"/>
          </a:p>
        </p:txBody>
      </p:sp>
      <p:sp>
        <p:nvSpPr>
          <p:cNvPr id="15" name="Text 13"/>
          <p:cNvSpPr/>
          <p:nvPr/>
        </p:nvSpPr>
        <p:spPr>
          <a:xfrm>
            <a:off x="4910328" y="1810512"/>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careful</a:t>
            </a:r>
            <a:endParaRPr lang="en-US" sz="1400" dirty="0"/>
          </a:p>
        </p:txBody>
      </p:sp>
      <p:sp>
        <p:nvSpPr>
          <p:cNvPr id="16" name="Text 14"/>
          <p:cNvSpPr/>
          <p:nvPr/>
        </p:nvSpPr>
        <p:spPr>
          <a:xfrm>
            <a:off x="4910328" y="2157984"/>
            <a:ext cx="3749040" cy="32004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dangerous</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Reading - Chapter 11</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457200" y="841248"/>
            <a:ext cx="8229600" cy="502920"/>
          </a:xfrm>
          <a:prstGeom prst="rect">
            <a:avLst/>
          </a:prstGeom>
          <a:noFill/>
          <a:ln/>
        </p:spPr>
        <p:txBody>
          <a:bodyPr wrap="square" lIns="0" tIns="0" rIns="0" bIns="0" rtlCol="0" anchor="ctr"/>
          <a:lstStyle/>
          <a:p>
            <a:pPr indent="0" marL="0">
              <a:buNone/>
            </a:pPr>
            <a:r>
              <a:rPr lang="en-US" sz="1700" b="1" i="1" dirty="0">
                <a:solidFill>
                  <a:srgbClr val="0E1C42"/>
                </a:solidFill>
                <a:latin typeface="Calibri" pitchFamily="34" charset="0"/>
                <a:ea typeface="Calibri" pitchFamily="34" charset="-122"/>
                <a:cs typeface="Calibri" pitchFamily="34" charset="-120"/>
              </a:rPr>
              <a:t>Goodbye to Peter</a:t>
            </a:r>
            <a:endParaRPr lang="en-US" sz="1700" dirty="0"/>
          </a:p>
        </p:txBody>
      </p:sp>
      <p:sp>
        <p:nvSpPr>
          <p:cNvPr id="5" name="Text 3"/>
          <p:cNvSpPr/>
          <p:nvPr/>
        </p:nvSpPr>
        <p:spPr>
          <a:xfrm>
            <a:off x="365760" y="146304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PAUSE &amp; THINK</a:t>
            </a:r>
            <a:endParaRPr lang="en-US" sz="1100" dirty="0"/>
          </a:p>
        </p:txBody>
      </p:sp>
      <p:sp>
        <p:nvSpPr>
          <p:cNvPr id="6" name="Shape 4"/>
          <p:cNvSpPr/>
          <p:nvPr/>
        </p:nvSpPr>
        <p:spPr>
          <a:xfrm>
            <a:off x="365760" y="1719072"/>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7" name="Text 5"/>
          <p:cNvSpPr/>
          <p:nvPr/>
        </p:nvSpPr>
        <p:spPr>
          <a:xfrm>
            <a:off x="594360" y="1810512"/>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1.  Group A: say un + safe. What does the prefix un- do to the word?</a:t>
            </a:r>
            <a:endParaRPr lang="en-US" sz="1400" dirty="0"/>
          </a:p>
        </p:txBody>
      </p:sp>
      <p:sp>
        <p:nvSpPr>
          <p:cNvPr id="8" name="Shape 6"/>
          <p:cNvSpPr/>
          <p:nvPr/>
        </p:nvSpPr>
        <p:spPr>
          <a:xfrm>
            <a:off x="365760" y="2514600"/>
            <a:ext cx="8412480" cy="685800"/>
          </a:xfrm>
          <a:prstGeom prst="roundRect">
            <a:avLst>
              <a:gd name="adj" fmla="val 10667"/>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9" name="Text 7"/>
          <p:cNvSpPr/>
          <p:nvPr/>
        </p:nvSpPr>
        <p:spPr>
          <a:xfrm>
            <a:off x="594360" y="2606040"/>
            <a:ext cx="7863840" cy="50292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2.  Group B: say care + ful. What does the suffix -ful do?</a:t>
            </a:r>
            <a:endParaRPr lang="en-US" sz="1400" dirty="0"/>
          </a:p>
        </p:txBody>
      </p:sp>
      <p:sp>
        <p:nvSpPr>
          <p:cNvPr id="10" name="Shape 8"/>
          <p:cNvSpPr/>
          <p:nvPr/>
        </p:nvSpPr>
        <p:spPr>
          <a:xfrm>
            <a:off x="365760" y="3310128"/>
            <a:ext cx="8412480" cy="822960"/>
          </a:xfrm>
          <a:prstGeom prst="roundRect">
            <a:avLst>
              <a:gd name="adj" fmla="val 8889"/>
            </a:avLst>
          </a:prstGeom>
          <a:solidFill>
            <a:srgbClr val="FEF6E8"/>
          </a:solidFill>
          <a:ln w="12700">
            <a:solidFill>
              <a:srgbClr val="C7922C"/>
            </a:solidFill>
            <a:prstDash val="solid"/>
          </a:ln>
          <a:effectLst>
            <a:outerShdw sx="100000" sy="100000" kx="0" ky="0" algn="bl" rotWithShape="0" blurRad="101600" dist="38100" dir="2700000">
              <a:srgbClr val="000000">
                <a:alpha val="12000"/>
              </a:srgbClr>
            </a:outerShdw>
          </a:effectLst>
        </p:spPr>
      </p:sp>
      <p:sp>
        <p:nvSpPr>
          <p:cNvPr id="11" name="Text 9"/>
          <p:cNvSpPr/>
          <p:nvPr/>
        </p:nvSpPr>
        <p:spPr>
          <a:xfrm>
            <a:off x="594360" y="3401568"/>
            <a:ext cx="7863840" cy="640080"/>
          </a:xfrm>
          <a:prstGeom prst="rect">
            <a:avLst/>
          </a:prstGeom>
          <a:noFill/>
          <a:ln/>
        </p:spPr>
        <p:txBody>
          <a:bodyPr wrap="square" lIns="0" tIns="0" rIns="0" bIns="0" rtlCol="0" anchor="ctr"/>
          <a:lstStyle/>
          <a:p>
            <a:pPr indent="0" marL="0">
              <a:buNone/>
            </a:pPr>
            <a:r>
              <a:rPr lang="en-US" sz="1400" dirty="0">
                <a:solidFill>
                  <a:srgbClr val="1E293B"/>
                </a:solidFill>
                <a:latin typeface="Calibri" pitchFamily="34" charset="0"/>
                <a:ea typeface="Calibri" pitchFamily="34" charset="-122"/>
                <a:cs typeface="Calibri" pitchFamily="34" charset="-120"/>
              </a:rPr>
              <a:t>3.  Why does it help to know prefixes and suffixes when you read a novel? (Hint: you don’t need to look up every word.)</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365760" y="164592"/>
            <a:ext cx="8412480" cy="566928"/>
          </a:xfrm>
          <a:prstGeom prst="rect">
            <a:avLst/>
          </a:prstGeom>
          <a:noFill/>
          <a:ln/>
        </p:spPr>
        <p:txBody>
          <a:bodyPr wrap="square" lIns="0" tIns="0" rIns="0" bIns="0" rtlCol="0" anchor="ctr"/>
          <a:lstStyle/>
          <a:p>
            <a:pPr algn="l" indent="0" marL="0">
              <a:buNone/>
            </a:pPr>
            <a:r>
              <a:rPr lang="en-US" sz="2800" b="1" dirty="0">
                <a:solidFill>
                  <a:srgbClr val="0E1C42"/>
                </a:solidFill>
                <a:latin typeface="Calibri" pitchFamily="34" charset="0"/>
                <a:ea typeface="Calibri" pitchFamily="34" charset="-122"/>
                <a:cs typeface="Calibri" pitchFamily="34" charset="-120"/>
              </a:rPr>
              <a:t>Writer's Workshop</a:t>
            </a:r>
            <a:endParaRPr lang="en-US" sz="2800" dirty="0"/>
          </a:p>
        </p:txBody>
      </p:sp>
      <p:sp>
        <p:nvSpPr>
          <p:cNvPr id="3" name="Shape 1"/>
          <p:cNvSpPr/>
          <p:nvPr/>
        </p:nvSpPr>
        <p:spPr>
          <a:xfrm>
            <a:off x="365760" y="749808"/>
            <a:ext cx="8412480" cy="0"/>
          </a:xfrm>
          <a:prstGeom prst="line">
            <a:avLst/>
          </a:prstGeom>
          <a:noFill/>
          <a:ln w="19050">
            <a:solidFill>
              <a:srgbClr val="6E9BD9"/>
            </a:solidFill>
            <a:prstDash val="solid"/>
          </a:ln>
        </p:spPr>
      </p:sp>
      <p:sp>
        <p:nvSpPr>
          <p:cNvPr id="4" name="Text 2"/>
          <p:cNvSpPr/>
          <p:nvPr/>
        </p:nvSpPr>
        <p:spPr>
          <a:xfrm>
            <a:off x="365760" y="822960"/>
            <a:ext cx="8046720" cy="292608"/>
          </a:xfrm>
          <a:prstGeom prst="rect">
            <a:avLst/>
          </a:prstGeom>
          <a:noFill/>
          <a:ln/>
        </p:spPr>
        <p:txBody>
          <a:bodyPr wrap="square" lIns="0" tIns="0" rIns="0" bIns="0" rtlCol="0" anchor="ctr"/>
          <a:lstStyle/>
          <a:p>
            <a:pPr indent="0" marL="0">
              <a:buNone/>
            </a:pPr>
            <a:r>
              <a:rPr lang="en-US" sz="1100" b="1" spc="200" kern="0" dirty="0">
                <a:solidFill>
                  <a:srgbClr val="C7922C"/>
                </a:solidFill>
                <a:latin typeface="Calibri" pitchFamily="34" charset="0"/>
                <a:ea typeface="Calibri" pitchFamily="34" charset="-122"/>
                <a:cs typeface="Calibri" pitchFamily="34" charset="-120"/>
              </a:rPr>
              <a:t>WRITING STAGE</a:t>
            </a:r>
            <a:endParaRPr lang="en-US" sz="1100" dirty="0"/>
          </a:p>
        </p:txBody>
      </p:sp>
      <p:sp>
        <p:nvSpPr>
          <p:cNvPr id="5" name="Shape 3"/>
          <p:cNvSpPr/>
          <p:nvPr/>
        </p:nvSpPr>
        <p:spPr>
          <a:xfrm>
            <a:off x="365760" y="1042416"/>
            <a:ext cx="8412480" cy="658368"/>
          </a:xfrm>
          <a:prstGeom prst="roundRect">
            <a:avLst>
              <a:gd name="adj" fmla="val 13889"/>
            </a:avLst>
          </a:prstGeom>
          <a:solidFill>
            <a:srgbClr val="FEF6E8"/>
          </a:solidFill>
          <a:ln/>
          <a:effectLst>
            <a:outerShdw sx="100000" sy="100000" kx="0" ky="0" algn="bl" rotWithShape="0" blurRad="101600" dist="38100" dir="2700000">
              <a:srgbClr val="000000">
                <a:alpha val="12000"/>
              </a:srgbClr>
            </a:outerShdw>
          </a:effectLst>
        </p:spPr>
      </p:sp>
      <p:sp>
        <p:nvSpPr>
          <p:cNvPr id="6" name="Text 4"/>
          <p:cNvSpPr/>
          <p:nvPr/>
        </p:nvSpPr>
        <p:spPr>
          <a:xfrm>
            <a:off x="594360" y="1133856"/>
            <a:ext cx="7863840" cy="475488"/>
          </a:xfrm>
          <a:prstGeom prst="rect">
            <a:avLst/>
          </a:prstGeom>
          <a:noFill/>
          <a:ln/>
        </p:spPr>
        <p:txBody>
          <a:bodyPr wrap="square" lIns="0" tIns="0" rIns="0" bIns="0" rtlCol="0" anchor="ctr"/>
          <a:lstStyle/>
          <a:p>
            <a:pPr indent="0" marL="0">
              <a:buNone/>
            </a:pPr>
            <a:r>
              <a:rPr lang="en-US" sz="2200" b="1" dirty="0">
                <a:solidFill>
                  <a:srgbClr val="C7922C"/>
                </a:solidFill>
                <a:latin typeface="Calibri" pitchFamily="34" charset="0"/>
                <a:ea typeface="Calibri" pitchFamily="34" charset="-122"/>
                <a:cs typeface="Calibri" pitchFamily="34" charset="-120"/>
              </a:rPr>
              <a:t>Opinion Essay — Evidence #2</a:t>
            </a:r>
            <a:endParaRPr lang="en-US" sz="2200" dirty="0"/>
          </a:p>
        </p:txBody>
      </p:sp>
      <p:sp>
        <p:nvSpPr>
          <p:cNvPr id="7" name="Text 5"/>
          <p:cNvSpPr/>
          <p:nvPr/>
        </p:nvSpPr>
        <p:spPr>
          <a:xfrm>
            <a:off x="365760" y="1828800"/>
            <a:ext cx="8046720" cy="292608"/>
          </a:xfrm>
          <a:prstGeom prst="rect">
            <a:avLst/>
          </a:prstGeom>
          <a:noFill/>
          <a:ln/>
        </p:spPr>
        <p:txBody>
          <a:bodyPr wrap="square" lIns="0" tIns="0" rIns="0" bIns="0" rtlCol="0" anchor="ctr"/>
          <a:lstStyle/>
          <a:p>
            <a:pPr indent="0" marL="0">
              <a:buNone/>
            </a:pPr>
            <a:r>
              <a:rPr lang="en-US" sz="1100" b="1" spc="200" kern="0" dirty="0">
                <a:solidFill>
                  <a:srgbClr val="0E1C42"/>
                </a:solidFill>
                <a:latin typeface="Calibri" pitchFamily="34" charset="0"/>
                <a:ea typeface="Calibri" pitchFamily="34" charset="-122"/>
                <a:cs typeface="Calibri" pitchFamily="34" charset="-120"/>
              </a:rPr>
              <a:t>TODAY'S FOCUS</a:t>
            </a:r>
            <a:endParaRPr lang="en-US" sz="1100" dirty="0"/>
          </a:p>
        </p:txBody>
      </p:sp>
      <p:sp>
        <p:nvSpPr>
          <p:cNvPr id="8" name="Text 6"/>
          <p:cNvSpPr/>
          <p:nvPr/>
        </p:nvSpPr>
        <p:spPr>
          <a:xfrm>
            <a:off x="457200" y="2084832"/>
            <a:ext cx="8229600" cy="594360"/>
          </a:xfrm>
          <a:prstGeom prst="rect">
            <a:avLst/>
          </a:prstGeom>
          <a:noFill/>
          <a:ln/>
        </p:spPr>
        <p:txBody>
          <a:bodyPr wrap="square" lIns="0" tIns="0" rIns="0" bIns="0" rtlCol="0" anchor="ctr"/>
          <a:lstStyle/>
          <a:p>
            <a:pPr indent="0" marL="0">
              <a:buNone/>
            </a:pPr>
            <a:r>
              <a:rPr lang="en-US" sz="1500" dirty="0">
                <a:solidFill>
                  <a:srgbClr val="1E293B"/>
                </a:solidFill>
                <a:latin typeface="Calibri" pitchFamily="34" charset="0"/>
                <a:ea typeface="Calibri" pitchFamily="34" charset="-122"/>
                <a:cs typeface="Calibri" pitchFamily="34" charset="-120"/>
              </a:rPr>
              <a:t>Write your second evidence paragraph and connect it to your claim.</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2026-07-11T22:13:23Z</dcterms:created>
  <dcterms:modified xsi:type="dcterms:W3CDTF">2026-07-11T22:13:23Z</dcterms:modified>
</cp:coreProperties>
</file>