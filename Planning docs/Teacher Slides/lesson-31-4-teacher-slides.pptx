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31, Day 4.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Have a character reference another text they’ve read, to show how books connect across a life of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25-minute timer. Craft move: Have a character reference another text they’ve read, to show how books connect across a life of reading.. Level-up: 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Does your reference feel natural to the character, not just dropped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"Share your book-referencing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Yesterday, we checked whether our evidence came from more than just one novel. Today: Discuss a poem comparing books to ships that carry us to new places. Big Q: Dickinson says books are ships that carry us to other lands. Think about the novels you read this year — which one carried you the farthest from your own life? Why? What made that story feel like another world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"Anne whispered , “ I read in a book once that a rose by any other name would smell as sweet , but I ’ve never been able to believe it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"lucy looked at aslan one last time and said he told us we cannot come back because we are getting too old" Corrected: "Lucy looked at Aslan one last time and said, “He told us we cannot come back because we are getting too 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"lucy looked at aslan one last time and said he told us we cannot come back because we are getting too old" Corrected: "Lucy looked at Aslan one last time and said, “He told us we cannot come back because we are getting too 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choice board: ✍️ Option A — Use in 2 Sentences | 📖 Option B — Find It in Reading | 🔤 Option C — Connect to a Root | 🔄 Option D — Sort by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(text): You have learned a lot about grammar this year — commas, dialogue punctuation, complex sentences, interjections, verb tenses, and more. Each skill you learned helps your writing become clearer and more powerful.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spotter: "coronation proclamation imagination" -&gt; proclamation | "wonderful thankful sorrowful" -&gt; thankful | "obedient sufficient benevolent" -&gt; benevolent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spotter: "coronation proclamation imagination" -&gt; proclamation | "wonderful thankful sorrowful" -&gt; thankful | "obedient sufficient benevolent" -&gt; benevolent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Synthesis, Day 4 -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Synthesis Project — Building the Comparison
Focus: Write a sentence connecting your theme to the idea that "books are ships" that carry us to new understanding.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C7922C">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C7922C"/>
                </a:solidFill>
                <a:latin typeface="Calibri" pitchFamily="34" charset="0"/>
                <a:ea typeface="Calibri" pitchFamily="34" charset="-122"/>
                <a:cs typeface="Calibri" pitchFamily="34" charset="-120"/>
              </a:rPr>
              <a:t>WEEK 31  ·  DAY 4</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Synthesis, Day 4 - Discussion</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Books as Ships (Dickinson)</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31  ·  Virtue: Reflection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This is the last Writer’s Workshop day this week. Anne quotes ANOTHER book inside her own story. What does that tell us about how books connect to each other?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25 minutes - keep your pencil moving!</a:t>
            </a:r>
            <a:endParaRPr lang="en-US" sz="1500" dirty="0"/>
          </a:p>
        </p:txBody>
      </p:sp>
      <p:sp>
        <p:nvSpPr>
          <p:cNvPr id="4" name="Shape 2"/>
          <p:cNvSpPr/>
          <p:nvPr/>
        </p:nvSpPr>
        <p:spPr>
          <a:xfrm>
            <a:off x="457200" y="1170432"/>
            <a:ext cx="8229600" cy="822960"/>
          </a:xfrm>
          <a:prstGeom prst="roundRect">
            <a:avLst>
              <a:gd name="adj" fmla="val 11111"/>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3152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Write a sentence where a character quotes or references a book, poem, or story they once read — the way Anne quotes Shakespeare.</a:t>
            </a:r>
            <a:endParaRPr lang="en-US" sz="1200" dirty="0"/>
          </a:p>
        </p:txBody>
      </p:sp>
      <p:sp>
        <p:nvSpPr>
          <p:cNvPr id="6" name="Shape 4"/>
          <p:cNvSpPr/>
          <p:nvPr/>
        </p:nvSpPr>
        <p:spPr>
          <a:xfrm>
            <a:off x="457200" y="2121408"/>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176272"/>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Have a character reference another text they’ve read, to show how books connect across a life of reading.</a:t>
            </a:r>
            <a:endParaRPr lang="en-US" sz="1300" dirty="0"/>
          </a:p>
        </p:txBody>
      </p:sp>
      <p:sp>
        <p:nvSpPr>
          <p:cNvPr id="8" name="Text 6"/>
          <p:cNvSpPr/>
          <p:nvPr/>
        </p:nvSpPr>
        <p:spPr>
          <a:xfrm>
            <a:off x="548640" y="2868168"/>
            <a:ext cx="8046720" cy="2161032"/>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Does your reference feel natural to the character, not just dropped in?</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Share your book-referencing sentence.</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Yesterday, we checked whether our evidence came from more than just one novel.</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Discuss a poem comparing books to ships that carry us to new places.</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Dickinson says books are ships that carry us to other lands. Think about the novels you read this year — which one carried you the farthest from your own life? Why? What made that story feel like another world entirely?</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step back and ask: what did I discover when I read these stories together? Each novel &amp;mdash;</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810768"/>
          </a:xfrm>
          <a:prstGeom prst="roundRect">
            <a:avLst>
              <a:gd name="adj" fmla="val 11278"/>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 whispered , “ I read in a book once that a rose by any other name would smell as sweet , but I ’ve never been able to believe it . ”</a:t>
            </a:r>
            <a:endParaRPr lang="en-US" sz="1600" dirty="0"/>
          </a:p>
        </p:txBody>
      </p:sp>
      <p:sp>
        <p:nvSpPr>
          <p:cNvPr id="7" name="Text 5"/>
          <p:cNvSpPr/>
          <p:nvPr/>
        </p:nvSpPr>
        <p:spPr>
          <a:xfrm>
            <a:off x="457200" y="2036064"/>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93264"/>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810768"/>
          </a:xfrm>
          <a:prstGeom prst="roundRect">
            <a:avLst>
              <a:gd name="adj" fmla="val 11278"/>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lucy looked at aslan one last time and said he told us we cannot come back because we are getting too old</a:t>
            </a:r>
            <a:endParaRPr lang="en-US" sz="1600" dirty="0"/>
          </a:p>
        </p:txBody>
      </p:sp>
      <p:sp>
        <p:nvSpPr>
          <p:cNvPr id="9" name="Text 7"/>
          <p:cNvSpPr/>
          <p:nvPr/>
        </p:nvSpPr>
        <p:spPr>
          <a:xfrm>
            <a:off x="457200" y="2036064"/>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810768"/>
          </a:xfrm>
          <a:prstGeom prst="roundRect">
            <a:avLst>
              <a:gd name="adj" fmla="val 11278"/>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lucy looked at aslan one last time and said he told us we cannot come back because we are getting too old</a:t>
            </a:r>
            <a:endParaRPr lang="en-US" sz="1600" dirty="0"/>
          </a:p>
        </p:txBody>
      </p:sp>
      <p:sp>
        <p:nvSpPr>
          <p:cNvPr id="9" name="Text 7"/>
          <p:cNvSpPr/>
          <p:nvPr/>
        </p:nvSpPr>
        <p:spPr>
          <a:xfrm>
            <a:off x="457200" y="2036064"/>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74976"/>
            <a:ext cx="8412480" cy="960120"/>
          </a:xfrm>
          <a:prstGeom prst="roundRect">
            <a:avLst>
              <a:gd name="adj" fmla="val 9524"/>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2984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822448"/>
            <a:ext cx="7863840" cy="57607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Lucy looked at Aslan one last time and said, “He told us we cannot come back because we are getting too old.”</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 - Choice Board</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CHOOSE ONE OPTION</a:t>
            </a:r>
            <a:endParaRPr lang="en-US" sz="1100" dirty="0"/>
          </a:p>
        </p:txBody>
      </p:sp>
      <p:sp>
        <p:nvSpPr>
          <p:cNvPr id="5" name="Shape 3"/>
          <p:cNvSpPr/>
          <p:nvPr/>
        </p:nvSpPr>
        <p:spPr>
          <a:xfrm>
            <a:off x="365760" y="1097280"/>
            <a:ext cx="4114800" cy="1213104"/>
          </a:xfrm>
          <a:prstGeom prst="roundRect">
            <a:avLst>
              <a:gd name="adj" fmla="val 7538"/>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02920" y="1170432"/>
            <a:ext cx="3840480" cy="219456"/>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 Option A — Use in 2 Sentences</a:t>
            </a:r>
            <a:endParaRPr lang="en-US" sz="1200" dirty="0"/>
          </a:p>
        </p:txBody>
      </p:sp>
      <p:sp>
        <p:nvSpPr>
          <p:cNvPr id="7" name="Text 5"/>
          <p:cNvSpPr/>
          <p:nvPr/>
        </p:nvSpPr>
        <p:spPr>
          <a:xfrm>
            <a:off x="502920" y="1389888"/>
            <a:ext cx="3840480" cy="84734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Choose 1 vocabulary word. Write two original sentences that show you truly understand its meaning — use it in two different contexts.</a:t>
            </a:r>
            <a:endParaRPr lang="en-US" sz="1100" dirty="0"/>
          </a:p>
        </p:txBody>
      </p:sp>
      <p:sp>
        <p:nvSpPr>
          <p:cNvPr id="8" name="Shape 6"/>
          <p:cNvSpPr/>
          <p:nvPr/>
        </p:nvSpPr>
        <p:spPr>
          <a:xfrm>
            <a:off x="4663440" y="1097280"/>
            <a:ext cx="4114800" cy="1213104"/>
          </a:xfrm>
          <a:prstGeom prst="roundRect">
            <a:avLst>
              <a:gd name="adj" fmla="val 7538"/>
            </a:avLst>
          </a:prstGeom>
          <a:solidFill>
            <a:srgbClr val="FEF6E8"/>
          </a:solidFill>
          <a:ln/>
          <a:effectLst>
            <a:outerShdw sx="100000" sy="100000" kx="0" ky="0" algn="bl" rotWithShape="0" blurRad="101600" dist="38100" dir="2700000">
              <a:srgbClr val="000000">
                <a:alpha val="12000"/>
              </a:srgbClr>
            </a:outerShdw>
          </a:effectLst>
        </p:spPr>
      </p:sp>
      <p:sp>
        <p:nvSpPr>
          <p:cNvPr id="9" name="Text 7"/>
          <p:cNvSpPr/>
          <p:nvPr/>
        </p:nvSpPr>
        <p:spPr>
          <a:xfrm>
            <a:off x="4800600" y="1170432"/>
            <a:ext cx="3840480" cy="219456"/>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 Option B — Find It in Reading</a:t>
            </a:r>
            <a:endParaRPr lang="en-US" sz="1200" dirty="0"/>
          </a:p>
        </p:txBody>
      </p:sp>
      <p:sp>
        <p:nvSpPr>
          <p:cNvPr id="10" name="Text 8"/>
          <p:cNvSpPr/>
          <p:nvPr/>
        </p:nvSpPr>
        <p:spPr>
          <a:xfrm>
            <a:off x="4800600" y="1389888"/>
            <a:ext cx="3840480" cy="84734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Find a vocabulary word (or a word related to it) in any of the novels you read this year. Write the sentence and explain what the word means in that moment.</a:t>
            </a:r>
            <a:endParaRPr lang="en-US" sz="1100" dirty="0"/>
          </a:p>
        </p:txBody>
      </p:sp>
      <p:sp>
        <p:nvSpPr>
          <p:cNvPr id="11" name="Shape 9"/>
          <p:cNvSpPr/>
          <p:nvPr/>
        </p:nvSpPr>
        <p:spPr>
          <a:xfrm>
            <a:off x="365760" y="2438400"/>
            <a:ext cx="4114800" cy="1213104"/>
          </a:xfrm>
          <a:prstGeom prst="roundRect">
            <a:avLst>
              <a:gd name="adj" fmla="val 7538"/>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502920" y="2511552"/>
            <a:ext cx="3840480" cy="219456"/>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 Option C — Connect to a Root</a:t>
            </a:r>
            <a:endParaRPr lang="en-US" sz="1200" dirty="0"/>
          </a:p>
        </p:txBody>
      </p:sp>
      <p:sp>
        <p:nvSpPr>
          <p:cNvPr id="13" name="Text 11"/>
          <p:cNvSpPr/>
          <p:nvPr/>
        </p:nvSpPr>
        <p:spPr>
          <a:xfrm>
            <a:off x="502920" y="2731008"/>
            <a:ext cx="3840480" cy="84734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Choose one vocabulary word and connect it to a root, prefix, or suffix. Explain how knowing the word parts helps you remember or understand its meaning.</a:t>
            </a:r>
            <a:endParaRPr lang="en-US" sz="1100" dirty="0"/>
          </a:p>
        </p:txBody>
      </p:sp>
      <p:sp>
        <p:nvSpPr>
          <p:cNvPr id="14" name="Shape 12"/>
          <p:cNvSpPr/>
          <p:nvPr/>
        </p:nvSpPr>
        <p:spPr>
          <a:xfrm>
            <a:off x="4663440" y="2438400"/>
            <a:ext cx="4114800" cy="1213104"/>
          </a:xfrm>
          <a:prstGeom prst="roundRect">
            <a:avLst>
              <a:gd name="adj" fmla="val 7538"/>
            </a:avLst>
          </a:prstGeom>
          <a:solidFill>
            <a:srgbClr val="E8F8EF"/>
          </a:solidFill>
          <a:ln/>
          <a:effectLst>
            <a:outerShdw sx="100000" sy="100000" kx="0" ky="0" algn="bl" rotWithShape="0" blurRad="101600" dist="38100" dir="2700000">
              <a:srgbClr val="000000">
                <a:alpha val="12000"/>
              </a:srgbClr>
            </a:outerShdw>
          </a:effectLst>
        </p:spPr>
      </p:sp>
      <p:sp>
        <p:nvSpPr>
          <p:cNvPr id="15" name="Text 13"/>
          <p:cNvSpPr/>
          <p:nvPr/>
        </p:nvSpPr>
        <p:spPr>
          <a:xfrm>
            <a:off x="4800600" y="2511552"/>
            <a:ext cx="3840480" cy="219456"/>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 Option D — Sort by Meaning</a:t>
            </a:r>
            <a:endParaRPr lang="en-US" sz="1200" dirty="0"/>
          </a:p>
        </p:txBody>
      </p:sp>
      <p:sp>
        <p:nvSpPr>
          <p:cNvPr id="16" name="Text 14"/>
          <p:cNvSpPr/>
          <p:nvPr/>
        </p:nvSpPr>
        <p:spPr>
          <a:xfrm>
            <a:off x="4800600" y="2731008"/>
            <a:ext cx="3840480" cy="84734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Choose 4 vocabulary words from across the year. Sort them into two groups by meaning, category, or feeling. Explain why each word belongs in its group.</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Year-End Reflection</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THE RULE</a:t>
            </a:r>
            <a:endParaRPr lang="en-US" sz="1100" dirty="0"/>
          </a:p>
        </p:txBody>
      </p:sp>
      <p:sp>
        <p:nvSpPr>
          <p:cNvPr id="7" name="Shape 5"/>
          <p:cNvSpPr/>
          <p:nvPr/>
        </p:nvSpPr>
        <p:spPr>
          <a:xfrm>
            <a:off x="365760" y="1060704"/>
            <a:ext cx="8412480" cy="102870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70432"/>
            <a:ext cx="8046720" cy="800100"/>
          </a:xfrm>
          <a:prstGeom prst="rect">
            <a:avLst/>
          </a:prstGeom>
          <a:noFill/>
          <a:ln/>
        </p:spPr>
        <p:txBody>
          <a:bodyPr wrap="square" lIns="0" tIns="0" rIns="0" bIns="0" rtlCol="0" anchor="ctr"/>
          <a:lstStyle/>
          <a:p>
            <a:pPr indent="0" marL="0">
              <a:buNone/>
            </a:pPr>
            <a:r>
              <a:rPr lang="en-US" sz="1500" i="1" dirty="0">
                <a:solidFill>
                  <a:srgbClr val="0E1C42"/>
                </a:solidFill>
                <a:latin typeface="Calibri" pitchFamily="34" charset="0"/>
                <a:ea typeface="Calibri" pitchFamily="34" charset="-122"/>
                <a:cs typeface="Calibri" pitchFamily="34" charset="-120"/>
              </a:rPr>
              <a:t>You have learned a lot about grammar this year — commas, dialogue punctuation, complex sentences, interjections, verb tenses, and more. Each skill you learned helps your writing become clearer and more powerful.</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Challenge: Word Riddles</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SPOT THE ERROR</a:t>
            </a:r>
            <a:endParaRPr lang="en-US" sz="1100" dirty="0"/>
          </a:p>
        </p:txBody>
      </p:sp>
      <p:sp>
        <p:nvSpPr>
          <p:cNvPr id="7" name="Shape 5"/>
          <p:cNvSpPr/>
          <p:nvPr/>
        </p:nvSpPr>
        <p:spPr>
          <a:xfrm>
            <a:off x="365760" y="1078992"/>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coronation proclamation imagination</a:t>
            </a:r>
            <a:endParaRPr lang="en-US" sz="1500" dirty="0"/>
          </a:p>
        </p:txBody>
      </p:sp>
      <p:sp>
        <p:nvSpPr>
          <p:cNvPr id="9" name="Shape 7"/>
          <p:cNvSpPr/>
          <p:nvPr/>
        </p:nvSpPr>
        <p:spPr>
          <a:xfrm>
            <a:off x="365760" y="1920240"/>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wonderful thankful sorrowful</a:t>
            </a:r>
            <a:endParaRPr lang="en-US" sz="1500" dirty="0"/>
          </a:p>
        </p:txBody>
      </p:sp>
      <p:sp>
        <p:nvSpPr>
          <p:cNvPr id="11" name="Shape 9"/>
          <p:cNvSpPr/>
          <p:nvPr/>
        </p:nvSpPr>
        <p:spPr>
          <a:xfrm>
            <a:off x="365760" y="2761488"/>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obedient sufficient benevolent</a:t>
            </a:r>
            <a:endParaRPr lang="en-US" sz="1500" dirty="0"/>
          </a:p>
        </p:txBody>
      </p:sp>
      <p:sp>
        <p:nvSpPr>
          <p:cNvPr id="13" name="Text 11"/>
          <p:cNvSpPr/>
          <p:nvPr/>
        </p:nvSpPr>
        <p:spPr>
          <a:xfrm>
            <a:off x="457200" y="3648456"/>
            <a:ext cx="8229600" cy="347472"/>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Find the word that is WRONG. Write the correct spelling in your notebook.</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Challenge: Word Riddles</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ANSWERS REVEALED</a:t>
            </a:r>
            <a:endParaRPr lang="en-US" sz="1100" dirty="0"/>
          </a:p>
        </p:txBody>
      </p:sp>
      <p:sp>
        <p:nvSpPr>
          <p:cNvPr id="7" name="Shape 5"/>
          <p:cNvSpPr/>
          <p:nvPr/>
        </p:nvSpPr>
        <p:spPr>
          <a:xfrm>
            <a:off x="365760" y="1078992"/>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coronation </a:t>
            </a:r>
            <a:pPr indent="0" marL="0">
              <a:buNone/>
            </a:pPr>
            <a:r>
              <a:rPr lang="en-US" sz="1500" b="1" u="sng" dirty="0">
                <a:solidFill>
                  <a:srgbClr val="34B76F"/>
                </a:solidFill>
                <a:latin typeface="Calibri" pitchFamily="34" charset="0"/>
                <a:ea typeface="Calibri" pitchFamily="34" charset="-122"/>
                <a:cs typeface="Calibri" pitchFamily="34" charset="-120"/>
              </a:rPr>
              <a:t>proclamation</a:t>
            </a:r>
            <a:pPr indent="0" marL="0">
              <a:buNone/>
            </a:pPr>
            <a:r>
              <a:rPr lang="en-US" sz="1500" dirty="0">
                <a:solidFill>
                  <a:srgbClr val="1E293B"/>
                </a:solidFill>
                <a:latin typeface="Calibri" pitchFamily="34" charset="0"/>
                <a:ea typeface="Calibri" pitchFamily="34" charset="-122"/>
                <a:cs typeface="Calibri" pitchFamily="34" charset="-120"/>
              </a:rPr>
              <a:t> imagination</a:t>
            </a:r>
            <a:endParaRPr lang="en-US" sz="1500" dirty="0"/>
          </a:p>
        </p:txBody>
      </p:sp>
      <p:sp>
        <p:nvSpPr>
          <p:cNvPr id="9" name="Shape 7"/>
          <p:cNvSpPr/>
          <p:nvPr/>
        </p:nvSpPr>
        <p:spPr>
          <a:xfrm>
            <a:off x="365760" y="1920240"/>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wonderful </a:t>
            </a:r>
            <a:pPr indent="0" marL="0">
              <a:buNone/>
            </a:pPr>
            <a:r>
              <a:rPr lang="en-US" sz="1500" b="1" u="sng" dirty="0">
                <a:solidFill>
                  <a:srgbClr val="34B76F"/>
                </a:solidFill>
                <a:latin typeface="Calibri" pitchFamily="34" charset="0"/>
                <a:ea typeface="Calibri" pitchFamily="34" charset="-122"/>
                <a:cs typeface="Calibri" pitchFamily="34" charset="-120"/>
              </a:rPr>
              <a:t>thankful</a:t>
            </a:r>
            <a:pPr indent="0" marL="0">
              <a:buNone/>
            </a:pPr>
            <a:r>
              <a:rPr lang="en-US" sz="1500" dirty="0">
                <a:solidFill>
                  <a:srgbClr val="1E293B"/>
                </a:solidFill>
                <a:latin typeface="Calibri" pitchFamily="34" charset="0"/>
                <a:ea typeface="Calibri" pitchFamily="34" charset="-122"/>
                <a:cs typeface="Calibri" pitchFamily="34" charset="-120"/>
              </a:rPr>
              <a:t> sorrowful</a:t>
            </a:r>
            <a:endParaRPr lang="en-US" sz="1500" dirty="0"/>
          </a:p>
        </p:txBody>
      </p:sp>
      <p:sp>
        <p:nvSpPr>
          <p:cNvPr id="11" name="Shape 9"/>
          <p:cNvSpPr/>
          <p:nvPr/>
        </p:nvSpPr>
        <p:spPr>
          <a:xfrm>
            <a:off x="365760" y="2761488"/>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obedient sufficient </a:t>
            </a:r>
            <a:pPr indent="0" marL="0">
              <a:buNone/>
            </a:pPr>
            <a:r>
              <a:rPr lang="en-US" sz="1500" b="1" u="sng" dirty="0">
                <a:solidFill>
                  <a:srgbClr val="34B76F"/>
                </a:solidFill>
                <a:latin typeface="Calibri" pitchFamily="34" charset="0"/>
                <a:ea typeface="Calibri" pitchFamily="34" charset="-122"/>
                <a:cs typeface="Calibri" pitchFamily="34" charset="-120"/>
              </a:rPr>
              <a:t>benevolent</a:t>
            </a:r>
            <a:pPr indent="0" marL="0">
              <a:buNone/>
            </a:pP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Synthesis, Day 4 - Discussion</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Books as Ships (Dickinson)</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Look back across all three novels. Think about which characters changed the most, which moments surprised you, and which themes will stay with you. What did you discover about your theme when you saw it across more than one story?</a:t>
            </a:r>
            <a:endParaRPr lang="en-US" sz="1400" dirty="0"/>
          </a:p>
        </p:txBody>
      </p:sp>
      <p:sp>
        <p:nvSpPr>
          <p:cNvPr id="8" name="Shape 6"/>
          <p:cNvSpPr/>
          <p:nvPr/>
        </p:nvSpPr>
        <p:spPr>
          <a:xfrm>
            <a:off x="365760" y="2651760"/>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743200"/>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Anne arrived at Green Gables unwanted, and left it beloved. How did she change? Which moment showed you she had truly grown?</a:t>
            </a:r>
            <a:endParaRPr lang="en-US" sz="1400" dirty="0"/>
          </a:p>
        </p:txBody>
      </p:sp>
      <p:sp>
        <p:nvSpPr>
          <p:cNvPr id="10" name="Shape 8"/>
          <p:cNvSpPr/>
          <p:nvPr/>
        </p:nvSpPr>
        <p:spPr>
          <a:xfrm>
            <a:off x="365760" y="3584448"/>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675888"/>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Annemarie said bravery means not thinking about the dangers — just thinking about what you must do. When did she show that most clearly?</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Synthesis Project — Building the Comparison</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Write a sentence connecting your theme to the idea that "books are ships" that carry us to new understanding.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2026-07-12T02:19:59Z</dcterms:created>
  <dcterms:modified xsi:type="dcterms:W3CDTF">2026-07-12T02:19:59Z</dcterms:modified>
</cp:coreProperties>
</file>