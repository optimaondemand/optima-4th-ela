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24,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State a claim about a person’s character, then support it with a specific action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18-minute timer. Craft move: State a claim about a person’s character, then support it with a specific action as evidence..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does your evidence sentence clearly connect back to the claim you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claim-and-evidence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saw that the war’s end brought real victory — but an incomplete one. Today: Study what Harriet kept doing even when she had almost nothing. Big Q: What does Harriet keep doing even when she has almost nothing? What does this reveal about what she values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"Harriet worked for the freedmen’s schools after the war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"harriet marched beside elizabeth cady stanton at meetings for the suffrage movement" Corrected: "Harriet marched beside Elizabeth Cady Stanton at meetings for the suffrage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"harriet marched beside elizabeth cady stanton at meetings for the suffrage movement" Corrected: "Harriet marched beside Elizabeth Cady Stanton at meetings for the suffrage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compens — ate — to pay back; to make up for a loss | confid — ent — trusting in yourself or your plan | select — — to choose carefully from a group | elect — — to choose leaders by voting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pension: 1. Congress finally granted Harriet a _____ of $8 a month in 1890 for her service during the Civil War. | mortgage: 2. Harriet took out a _____ to buy the 25-acre property she planned to turn into a home for the aged. | temperance: 3. Harriet worked alongside Susan B. Anthony in both the suffrage and _____ movements. | centenarians: 4. By the time Harriet died at over 90 years old, she had outlived almost everyone she knew; only true _____ are rarer in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"Harriet sat beside her aging parents." -&gt; beside | "Nelson arrived in Auburn to work alongside Harriet." -&gt; in | "She petitioned for her back pay again and again." -&gt;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"Harriet sat beside her aging parents." -&gt; beside | "Nelson arrived in Auburn to work alongside Harriet." -&gt; in | "She petitioned for her back pay again and again." -&gt;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SWYK: Choose three words from the list below. For each word: (1) write the base word, (2) name the suffix, (3) explain how the suffix changed the word’s meaning or part of speech.Word choices: petition, movement, courageous, fearless, government, settlement, famous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19 - Craft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"“When they lay her down, the North Star was shining.”"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Research Writing — Essay Scaffold Begins
Focus: Start your essay scaffold: write a claim about Harriet’s character, supported by evidence from your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A0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A05C"/>
                </a:solidFill>
                <a:latin typeface="Calibri" pitchFamily="34" charset="0"/>
                <a:ea typeface="Calibri" pitchFamily="34" charset="-122"/>
                <a:cs typeface="Calibri" pitchFamily="34" charset="-120"/>
              </a:rPr>
              <a:t>WEEK 24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19 - Craft Study</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What Harriet Kept Doing</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24  ·  Virtue: Justice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A05C"/>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Harriet had very little of her own money, yet she kept helping others. What does this reveal about her values?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18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Begin planning your research piece: write one sentence naming a value Harriet’s actions reveal, and one piece of evidence that supports it.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State a claim about a person’s character, then support it with a specific action as evidence.</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does your evidence sentence clearly connect back to the claim you made?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claim-and-evidence pair.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saw that the war’s end brought real victory — but an incomplete one.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A05C"/>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Study what Harriet kept doing even when she had almost nothing.</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What does Harriet keep doing even when she has almost nothing? What does this reveal about what she values most?</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step back and ask: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Harriet worked for the freedmen’s schools after the war .</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harriet marched beside elizabeth cady stanton at meetings for the suffrage movement</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harriet marched beside elizabeth cady stanton at meetings for the suffrage movement</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Harriet marched beside Elizabeth Cady Stanton at meetings for the suffrage movement.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Review Roots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These three roots come up everywhere in Harriet’s story and in history writing. pen/pens means to weigh out or pay; fid means to trust; leg/lect means to choose or gather.</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8" name="Shape 6"/>
          <p:cNvSpPr/>
          <p:nvPr/>
        </p:nvSpPr>
        <p:spPr>
          <a:xfrm>
            <a:off x="365760" y="1847088"/>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94360" y="18928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compens — ate — to pay back; to make up for a loss</a:t>
            </a:r>
            <a:endParaRPr lang="en-US" sz="1300" dirty="0"/>
          </a:p>
        </p:txBody>
      </p:sp>
      <p:sp>
        <p:nvSpPr>
          <p:cNvPr id="10" name="Shape 8"/>
          <p:cNvSpPr/>
          <p:nvPr/>
        </p:nvSpPr>
        <p:spPr>
          <a:xfrm>
            <a:off x="365760" y="2304288"/>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500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confid — ent — trusting in yourself or your plan</a:t>
            </a:r>
            <a:endParaRPr lang="en-US" sz="1300" dirty="0"/>
          </a:p>
        </p:txBody>
      </p:sp>
      <p:sp>
        <p:nvSpPr>
          <p:cNvPr id="12" name="Shape 10"/>
          <p:cNvSpPr/>
          <p:nvPr/>
        </p:nvSpPr>
        <p:spPr>
          <a:xfrm>
            <a:off x="365760" y="2761488"/>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3" name="Text 11"/>
          <p:cNvSpPr/>
          <p:nvPr/>
        </p:nvSpPr>
        <p:spPr>
          <a:xfrm>
            <a:off x="594360" y="28072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select — — to choose carefully from a group</a:t>
            </a:r>
            <a:endParaRPr lang="en-US" sz="1300" dirty="0"/>
          </a:p>
        </p:txBody>
      </p:sp>
      <p:sp>
        <p:nvSpPr>
          <p:cNvPr id="14" name="Shape 12"/>
          <p:cNvSpPr/>
          <p:nvPr/>
        </p:nvSpPr>
        <p:spPr>
          <a:xfrm>
            <a:off x="365760" y="3218688"/>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264408"/>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elect — — to choose leaders by voting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094994"/>
          </a:xfrm>
          <a:prstGeom prst="roundRect">
            <a:avLst>
              <a:gd name="adj" fmla="val 835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52806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1. Congress finally granted Harriet a _____ of $8 a month in 1890 for her service during the Civil War.</a:t>
            </a:r>
            <a:endParaRPr lang="en-US" sz="1050" dirty="0"/>
          </a:p>
        </p:txBody>
      </p:sp>
      <p:sp>
        <p:nvSpPr>
          <p:cNvPr id="7" name="Text 5"/>
          <p:cNvSpPr/>
          <p:nvPr/>
        </p:nvSpPr>
        <p:spPr>
          <a:xfrm>
            <a:off x="457200" y="1588770"/>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pension</a:t>
            </a:r>
            <a:endParaRPr lang="en-US" sz="1300" dirty="0"/>
          </a:p>
        </p:txBody>
      </p:sp>
      <p:sp>
        <p:nvSpPr>
          <p:cNvPr id="8" name="Shape 6"/>
          <p:cNvSpPr/>
          <p:nvPr/>
        </p:nvSpPr>
        <p:spPr>
          <a:xfrm>
            <a:off x="4572000" y="914400"/>
            <a:ext cx="4069080" cy="1094994"/>
          </a:xfrm>
          <a:prstGeom prst="roundRect">
            <a:avLst>
              <a:gd name="adj" fmla="val 8351"/>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52806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2. Harriet took out a _____ to buy the 25-acre property she planned to turn into a home for the aged.</a:t>
            </a:r>
            <a:endParaRPr lang="en-US" sz="1050" dirty="0"/>
          </a:p>
        </p:txBody>
      </p:sp>
      <p:sp>
        <p:nvSpPr>
          <p:cNvPr id="10" name="Text 8"/>
          <p:cNvSpPr/>
          <p:nvPr/>
        </p:nvSpPr>
        <p:spPr>
          <a:xfrm>
            <a:off x="4709160" y="1588770"/>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mortgage</a:t>
            </a:r>
            <a:endParaRPr lang="en-US" sz="1300" dirty="0"/>
          </a:p>
        </p:txBody>
      </p:sp>
      <p:sp>
        <p:nvSpPr>
          <p:cNvPr id="11" name="Shape 9"/>
          <p:cNvSpPr/>
          <p:nvPr/>
        </p:nvSpPr>
        <p:spPr>
          <a:xfrm>
            <a:off x="320040" y="2119122"/>
            <a:ext cx="4069080" cy="1094994"/>
          </a:xfrm>
          <a:prstGeom prst="roundRect">
            <a:avLst>
              <a:gd name="adj" fmla="val 835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210562"/>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3. Harriet worked alongside Susan B. Anthony in both the suffrage and _____ movements.</a:t>
            </a:r>
            <a:endParaRPr lang="en-US" sz="1050" dirty="0"/>
          </a:p>
        </p:txBody>
      </p:sp>
      <p:sp>
        <p:nvSpPr>
          <p:cNvPr id="13" name="Text 11"/>
          <p:cNvSpPr/>
          <p:nvPr/>
        </p:nvSpPr>
        <p:spPr>
          <a:xfrm>
            <a:off x="457200" y="2617470"/>
            <a:ext cx="3794760" cy="541782"/>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temperance</a:t>
            </a:r>
            <a:endParaRPr lang="en-US" sz="1300" dirty="0"/>
          </a:p>
        </p:txBody>
      </p:sp>
      <p:sp>
        <p:nvSpPr>
          <p:cNvPr id="14" name="Shape 12"/>
          <p:cNvSpPr/>
          <p:nvPr/>
        </p:nvSpPr>
        <p:spPr>
          <a:xfrm>
            <a:off x="4572000" y="2119122"/>
            <a:ext cx="4069080" cy="1094994"/>
          </a:xfrm>
          <a:prstGeom prst="roundRect">
            <a:avLst>
              <a:gd name="adj" fmla="val 8351"/>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210562"/>
            <a:ext cx="3794760" cy="52806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4. By the time Harriet died at over 90 years old, she had outlived almost everyone she knew; only true _____ are rarer in history.</a:t>
            </a:r>
            <a:endParaRPr lang="en-US" sz="1050" dirty="0"/>
          </a:p>
        </p:txBody>
      </p:sp>
      <p:sp>
        <p:nvSpPr>
          <p:cNvPr id="16" name="Text 14"/>
          <p:cNvSpPr/>
          <p:nvPr/>
        </p:nvSpPr>
        <p:spPr>
          <a:xfrm>
            <a:off x="4709160" y="2793492"/>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centenarians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Prepositional Phrases</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Harriet sat beside her aging parents.</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Nelson arrived in Auburn to work alongside Harriet.</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She petitioned for her back pay again and again.</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Prepositional Phrases</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Harriet sat </a:t>
            </a:r>
            <a:pPr indent="0" marL="0">
              <a:buNone/>
            </a:pPr>
            <a:r>
              <a:rPr lang="en-US" sz="1500" b="1" u="sng" dirty="0">
                <a:solidFill>
                  <a:srgbClr val="34B76F"/>
                </a:solidFill>
                <a:latin typeface="Calibri" pitchFamily="34" charset="0"/>
                <a:ea typeface="Calibri" pitchFamily="34" charset="-122"/>
                <a:cs typeface="Calibri" pitchFamily="34" charset="-120"/>
              </a:rPr>
              <a:t>beside</a:t>
            </a:r>
            <a:pPr indent="0" marL="0">
              <a:buNone/>
            </a:pPr>
            <a:r>
              <a:rPr lang="en-US" sz="1500" dirty="0">
                <a:solidFill>
                  <a:srgbClr val="1E293B"/>
                </a:solidFill>
                <a:latin typeface="Calibri" pitchFamily="34" charset="0"/>
                <a:ea typeface="Calibri" pitchFamily="34" charset="-122"/>
                <a:cs typeface="Calibri" pitchFamily="34" charset="-120"/>
              </a:rPr>
              <a:t> her aging parents.</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Nelson arrived </a:t>
            </a:r>
            <a:pPr indent="0" marL="0">
              <a:buNone/>
            </a:pPr>
            <a:r>
              <a:rPr lang="en-US" sz="1500" b="1" u="sng" dirty="0">
                <a:solidFill>
                  <a:srgbClr val="34B76F"/>
                </a:solidFill>
                <a:latin typeface="Calibri" pitchFamily="34" charset="0"/>
                <a:ea typeface="Calibri" pitchFamily="34" charset="-122"/>
                <a:cs typeface="Calibri" pitchFamily="34" charset="-120"/>
              </a:rPr>
              <a:t>in</a:t>
            </a:r>
            <a:pPr indent="0" marL="0">
              <a:buNone/>
            </a:pPr>
            <a:r>
              <a:rPr lang="en-US" sz="1500" dirty="0">
                <a:solidFill>
                  <a:srgbClr val="1E293B"/>
                </a:solidFill>
                <a:latin typeface="Calibri" pitchFamily="34" charset="0"/>
                <a:ea typeface="Calibri" pitchFamily="34" charset="-122"/>
                <a:cs typeface="Calibri" pitchFamily="34" charset="-120"/>
              </a:rPr>
              <a:t> Auburn to work alongside Harriet.</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She petitioned </a:t>
            </a:r>
            <a:pPr indent="0" marL="0">
              <a:buNone/>
            </a:pPr>
            <a:r>
              <a:rPr lang="en-US" sz="1500" b="1" u="sng" dirty="0">
                <a:solidFill>
                  <a:srgbClr val="34B76F"/>
                </a:solidFill>
                <a:latin typeface="Calibri" pitchFamily="34" charset="0"/>
                <a:ea typeface="Calibri" pitchFamily="34" charset="-122"/>
                <a:cs typeface="Calibri" pitchFamily="34" charset="-120"/>
              </a:rPr>
              <a:t>for</a:t>
            </a:r>
            <a:pPr indent="0" marL="0">
              <a:buNone/>
            </a:pPr>
            <a:r>
              <a:rPr lang="en-US" sz="1500" dirty="0">
                <a:solidFill>
                  <a:srgbClr val="1E293B"/>
                </a:solidFill>
                <a:latin typeface="Calibri" pitchFamily="34" charset="0"/>
                <a:ea typeface="Calibri" pitchFamily="34" charset="-122"/>
                <a:cs typeface="Calibri" pitchFamily="34" charset="-120"/>
              </a:rPr>
              <a:t> her back pay again and again.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Suffix &amp; Syllable Review</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Shape 2"/>
          <p:cNvSpPr/>
          <p:nvPr/>
        </p:nvSpPr>
        <p:spPr>
          <a:xfrm>
            <a:off x="6492240" y="173736"/>
            <a:ext cx="2286000" cy="502920"/>
          </a:xfrm>
          <a:prstGeom prst="roundRect">
            <a:avLst>
              <a:gd name="adj" fmla="val 21818"/>
            </a:avLst>
          </a:prstGeom>
          <a:solidFill>
            <a:srgbClr val="D9A0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WORD REFERENCE</a:t>
            </a:r>
            <a:endParaRPr lang="en-US" sz="1100" dirty="0"/>
          </a:p>
        </p:txBody>
      </p:sp>
      <p:sp>
        <p:nvSpPr>
          <p:cNvPr id="7" name="Shape 5"/>
          <p:cNvSpPr/>
          <p:nvPr/>
        </p:nvSpPr>
        <p:spPr>
          <a:xfrm>
            <a:off x="365760" y="1060704"/>
            <a:ext cx="8412480" cy="960120"/>
          </a:xfrm>
          <a:prstGeom prst="roundRect">
            <a:avLst>
              <a:gd name="adj" fmla="val 761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75488" y="1133856"/>
            <a:ext cx="8193024" cy="2743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Suffix Examples from Ch. 19</a:t>
            </a:r>
            <a:endParaRPr lang="en-US" sz="1300" dirty="0"/>
          </a:p>
        </p:txBody>
      </p:sp>
      <p:sp>
        <p:nvSpPr>
          <p:cNvPr id="9" name="Text 7"/>
          <p:cNvSpPr/>
          <p:nvPr/>
        </p:nvSpPr>
        <p:spPr>
          <a:xfrm>
            <a:off x="475488" y="1408176"/>
            <a:ext cx="8193024" cy="55778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-tion / -sion: pension, petition, emancipation</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-ment: movement, government, settlement</a:t>
            </a:r>
            <a:endParaRPr lang="en-US" sz="1150" dirty="0"/>
          </a:p>
          <a:p>
            <a:pPr indent="0" marL="0">
              <a:buNone/>
            </a:pPr>
            <a:r>
              <a:rPr lang="en-US" sz="1150" dirty="0">
                <a:solidFill>
                  <a:srgbClr val="1E293B"/>
                </a:solidFill>
                <a:latin typeface="Calibri" pitchFamily="34" charset="0"/>
                <a:ea typeface="Calibri" pitchFamily="34" charset="-122"/>
                <a:cs typeface="Calibri" pitchFamily="34" charset="-120"/>
              </a:rPr>
              <a:t>-ous: courageous, famous, prosperous</a:t>
            </a:r>
            <a:endParaRPr lang="en-US" sz="1150" dirty="0"/>
          </a:p>
        </p:txBody>
      </p:sp>
      <p:sp>
        <p:nvSpPr>
          <p:cNvPr id="10" name="Text 8"/>
          <p:cNvSpPr/>
          <p:nvPr/>
        </p:nvSpPr>
        <p:spPr>
          <a:xfrm>
            <a:off x="365760" y="22037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SHOW WHAT YOU KNOW</a:t>
            </a:r>
            <a:endParaRPr lang="en-US" sz="1100" dirty="0"/>
          </a:p>
        </p:txBody>
      </p:sp>
      <p:sp>
        <p:nvSpPr>
          <p:cNvPr id="11" name="Shape 9"/>
          <p:cNvSpPr/>
          <p:nvPr/>
        </p:nvSpPr>
        <p:spPr>
          <a:xfrm>
            <a:off x="365760" y="2459736"/>
            <a:ext cx="8412480" cy="1213104"/>
          </a:xfrm>
          <a:prstGeom prst="roundRect">
            <a:avLst>
              <a:gd name="adj" fmla="val 753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48640" y="2569464"/>
            <a:ext cx="8046720" cy="984504"/>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Choose three words from the list below. For each word: (1) write the base word, (2) name the suffix, (3) explain how the suffix changed the word’s meaning or part of speech.Word choices: petition, movement, courageous, fearless, government, settlement, famous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19 - Craft Study</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What Harriet Kept Doing</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detail in this chapter made you feel that Harriet’s spirit was still completely unbroken?</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Sterling ends the biography with a specific image. Why do you think she chose that ending?</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Harriet has returned home to Auburn after the war. She fixes up the house, takes in blind Alice and Baby Susan, and works beside Ben and Old Rit. What does it tell you about Harriet that she fills her home with people who need help, even though she herself has very little?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“When they lay her down, the North Star was shining.”</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sentence? What does it show about the moment of Harriet’s death and why Sterling chose to end with this image?</a:t>
            </a:r>
            <a:endParaRPr lang="en-US" sz="1200" dirty="0"/>
          </a:p>
        </p:txBody>
      </p:sp>
      <p:sp>
        <p:nvSpPr>
          <p:cNvPr id="11" name="Shape 9"/>
          <p:cNvSpPr/>
          <p:nvPr/>
        </p:nvSpPr>
        <p:spPr>
          <a:xfrm>
            <a:off x="365760" y="293522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999232"/>
            <a:ext cx="2651760" cy="32918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999232"/>
            <a:ext cx="5303520" cy="32918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This sentence has a subordinate clause</a:t>
            </a:r>
            <a:endParaRPr lang="en-US" sz="1200" dirty="0"/>
          </a:p>
        </p:txBody>
      </p:sp>
      <p:sp>
        <p:nvSpPr>
          <p:cNvPr id="14" name="Shape 12"/>
          <p:cNvSpPr/>
          <p:nvPr/>
        </p:nvSpPr>
        <p:spPr>
          <a:xfrm>
            <a:off x="365760" y="348386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54787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54787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a “when” clause + a main clause that ends on an image or detail.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A0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Research Writing — Essay Scaffold Begins</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Start your essay scaffold: write a claim about Harriet’s character, supported by evidence from your notes.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2026-07-11T22:13:24Z</dcterms:created>
  <dcterms:modified xsi:type="dcterms:W3CDTF">2026-07-11T22:13:24Z</dcterms:modified>
</cp:coreProperties>
</file>