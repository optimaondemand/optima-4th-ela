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Week 27, Day 1. Novel emoji: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Push toward naming the craft move: Use "but" to set up a clear conflict between a character’s desire and an obstacle.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20-minute timer. Craft move: Use "but" to set up a clear conflict between a character’s desire and an obstacle.. Level-up: 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2-minute timer. Today's revision focus: Check: is the contrast in your sentence clear and specific, not vague?.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3-5 students. Keep sharing craft-focused: "Share your conflict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1-minute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Yesterday, we reflected on what loyalty means to the Old Narnians who still believe in the ancient stories. Today: Meet Prince Caspian and learn why his uncle forbids him from hearing the old stories. Big Q: Who helps Caspian? Who controls him? Who does he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DOL model: "Caspian loved the old stories, but his uncle forbade him from telling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"caspian loved the old stories but his uncle forbade him from telling them" Corrected: "Caspian loved the old stories, but his uncle forbade him from telling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"caspian loved the old stories but his uncle forbade him from telling them" Corrected: "Caspian loved the old stories, but his uncle forbade him from telling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Morphology: transport — — to carry something across a distance | extract — — to pull something out | construct — — to build something by putting parts together | import — — to carry goods into a country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 tutor: A private teacher or guide who instructs one student or a small group. | usurper: Someone who takes power illegally, especially by force — like a king who stole the throne. | astronomy: The scientific study of stars, planets, and outer space. | sternly: In a strict, serious, and firm way — showing disapproval.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(text): Conjunctions are words that connect ideas. “But” shows contrast — two ideas that push against each other. “So” shows result — one thing leads to another. | “Caspian loved the old stories, but his uncle said they were nonsense.” | “Miraz was furious about the Nurse’s tales, so he sent her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-tion: education, conversation | -ful / -ness: wonderful, happiness | -ous / -ly: dangerous, mysterious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-tion: education, conversation | -ful / -ness: wonderful, happiness | -ous / -ly: dangerous, mysterious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Chapter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Literary Analysis — Gathering Evidence
Focus: Record a detail about Caspian’s character. Add it to your evidence notes if he’s your focus.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3A2E"/>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5CC9A0">
              <a:alpha val="15000"/>
            </a:srgbClr>
          </a:solidFill>
          <a:ln/>
        </p:spPr>
      </p:sp>
      <p:sp>
        <p:nvSpPr>
          <p:cNvPr id="3" name="Text 1"/>
          <p:cNvSpPr/>
          <p:nvPr/>
        </p:nvSpPr>
        <p:spPr>
          <a:xfrm>
            <a:off x="457200" y="640080"/>
            <a:ext cx="8229600" cy="365760"/>
          </a:xfrm>
          <a:prstGeom prst="rect">
            <a:avLst/>
          </a:prstGeom>
          <a:noFill/>
          <a:ln/>
        </p:spPr>
        <p:txBody>
          <a:bodyPr wrap="square" lIns="0" tIns="0" rIns="0" bIns="0" rtlCol="0" anchor="ctr"/>
          <a:lstStyle/>
          <a:p>
            <a:pPr algn="l" indent="0" marL="0">
              <a:buNone/>
            </a:pPr>
            <a:r>
              <a:rPr lang="en-US" sz="1300" b="1" spc="400" kern="0" dirty="0">
                <a:solidFill>
                  <a:srgbClr val="5CC9A0"/>
                </a:solidFill>
                <a:latin typeface="Calibri" pitchFamily="34" charset="0"/>
                <a:ea typeface="Calibri" pitchFamily="34" charset="-122"/>
                <a:cs typeface="Calibri" pitchFamily="34" charset="-120"/>
              </a:rPr>
              <a:t>WEEK 27  ·  DAY 1</a:t>
            </a:r>
            <a:endParaRPr lang="en-US" sz="1300" dirty="0"/>
          </a:p>
        </p:txBody>
      </p:sp>
      <p:sp>
        <p:nvSpPr>
          <p:cNvPr id="4" name="Text 2"/>
          <p:cNvSpPr/>
          <p:nvPr/>
        </p:nvSpPr>
        <p:spPr>
          <a:xfrm>
            <a:off x="457200" y="1097280"/>
            <a:ext cx="8229600" cy="1645920"/>
          </a:xfrm>
          <a:prstGeom prst="rect">
            <a:avLst/>
          </a:prstGeom>
          <a:noFill/>
          <a:ln/>
        </p:spPr>
        <p:txBody>
          <a:bodyPr wrap="square" lIns="0" tIns="0" rIns="0" bIns="0"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Chapter 4</a:t>
            </a:r>
            <a:endParaRPr lang="en-US" sz="3200" dirty="0"/>
          </a:p>
          <a:p>
            <a:pPr algn="l" indent="0" marL="0">
              <a:buNone/>
            </a:pPr>
            <a:r>
              <a:rPr lang="en-US" sz="3200" b="1" dirty="0">
                <a:solidFill>
                  <a:srgbClr val="FFFFFF"/>
                </a:solidFill>
                <a:latin typeface="Calibri" pitchFamily="34" charset="0"/>
                <a:ea typeface="Calibri" pitchFamily="34" charset="-122"/>
                <a:cs typeface="Calibri" pitchFamily="34" charset="-120"/>
              </a:rPr>
              <a:t>The Dwarf Tells of Prince Caspian</a:t>
            </a:r>
            <a:endParaRPr lang="en-US" sz="3200" dirty="0"/>
          </a:p>
        </p:txBody>
      </p:sp>
      <p:sp>
        <p:nvSpPr>
          <p:cNvPr id="5" name="Text 3"/>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Week 27  ·  Virtue: Loyalty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Discuss</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Shape 2"/>
          <p:cNvSpPr/>
          <p:nvPr/>
        </p:nvSpPr>
        <p:spPr>
          <a:xfrm>
            <a:off x="6492240" y="173736"/>
            <a:ext cx="2286000" cy="502920"/>
          </a:xfrm>
          <a:prstGeom prst="roundRect">
            <a:avLst>
              <a:gd name="adj" fmla="val 21818"/>
            </a:avLst>
          </a:prstGeom>
          <a:solidFill>
            <a:srgbClr val="5CC9A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5CC9A0"/>
                </a:solidFill>
                <a:latin typeface="Calibri" pitchFamily="34" charset="0"/>
                <a:ea typeface="Calibri" pitchFamily="34" charset="-122"/>
                <a:cs typeface="Calibri" pitchFamily="34" charset="-120"/>
              </a:rPr>
              <a:t>TALK IT OVER - 2 MINUTES</a:t>
            </a:r>
            <a:endParaRPr lang="en-US" sz="1100" dirty="0"/>
          </a:p>
        </p:txBody>
      </p:sp>
      <p:sp>
        <p:nvSpPr>
          <p:cNvPr id="7" name="Shape 5"/>
          <p:cNvSpPr/>
          <p:nvPr/>
        </p:nvSpPr>
        <p:spPr>
          <a:xfrm>
            <a:off x="365760" y="1097280"/>
            <a:ext cx="8412480" cy="1097280"/>
          </a:xfrm>
          <a:prstGeom prst="roundRect">
            <a:avLst>
              <a:gd name="adj" fmla="val 8333"/>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88720"/>
            <a:ext cx="7863840" cy="914400"/>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This sentence uses "but" to show a conflict between what Caspian wants and what he’s allowed to do. Why is this kind of conflict powerful to include early in a story?</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457200" y="182880"/>
            <a:ext cx="82296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Write</a:t>
            </a:r>
            <a:endParaRPr lang="en-US" sz="3200" dirty="0"/>
          </a:p>
        </p:txBody>
      </p:sp>
      <p:sp>
        <p:nvSpPr>
          <p:cNvPr id="3" name="Text 1"/>
          <p:cNvSpPr/>
          <p:nvPr/>
        </p:nvSpPr>
        <p:spPr>
          <a:xfrm>
            <a:off x="914400" y="749808"/>
            <a:ext cx="7315200" cy="347472"/>
          </a:xfrm>
          <a:prstGeom prst="rect">
            <a:avLst/>
          </a:prstGeom>
          <a:noFill/>
          <a:ln/>
        </p:spPr>
        <p:txBody>
          <a:bodyPr wrap="square" lIns="0" tIns="0" rIns="0" bIns="0" rtlCol="0" anchor="ctr"/>
          <a:lstStyle/>
          <a:p>
            <a:pPr algn="ctr" indent="0" marL="0">
              <a:buNone/>
            </a:pPr>
            <a:r>
              <a:rPr lang="en-US" sz="1500" dirty="0">
                <a:solidFill>
                  <a:srgbClr val="C7922C"/>
                </a:solidFill>
                <a:latin typeface="Calibri" pitchFamily="34" charset="0"/>
                <a:ea typeface="Calibri" pitchFamily="34" charset="-122"/>
                <a:cs typeface="Calibri" pitchFamily="34" charset="-120"/>
              </a:rPr>
              <a:t>20 minutes - keep your pencil moving!</a:t>
            </a:r>
            <a:endParaRPr lang="en-US" sz="1500" dirty="0"/>
          </a:p>
        </p:txBody>
      </p:sp>
      <p:sp>
        <p:nvSpPr>
          <p:cNvPr id="4" name="Shape 2"/>
          <p:cNvSpPr/>
          <p:nvPr/>
        </p:nvSpPr>
        <p:spPr>
          <a:xfrm>
            <a:off x="457200" y="1170432"/>
            <a:ext cx="8229600" cy="822960"/>
          </a:xfrm>
          <a:prstGeom prst="roundRect">
            <a:avLst>
              <a:gd name="adj" fmla="val 11111"/>
            </a:avLst>
          </a:prstGeom>
          <a:solidFill>
            <a:srgbClr val="FFFFFF"/>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640080" y="1225296"/>
            <a:ext cx="7863840" cy="731520"/>
          </a:xfrm>
          <a:prstGeom prst="rect">
            <a:avLst/>
          </a:prstGeom>
          <a:noFill/>
          <a:ln/>
        </p:spPr>
        <p:txBody>
          <a:bodyPr wrap="square" lIns="0" tIns="0" rIns="0" bIns="0" rtlCol="0" anchor="t"/>
          <a:lstStyle/>
          <a:p>
            <a:pPr indent="0" marL="0">
              <a:buNone/>
            </a:pPr>
            <a:r>
              <a:rPr lang="en-US" sz="1200" b="1" dirty="0">
                <a:solidFill>
                  <a:srgbClr val="C7922C"/>
                </a:solidFill>
                <a:latin typeface="Calibri" pitchFamily="34" charset="0"/>
                <a:ea typeface="Calibri" pitchFamily="34" charset="-122"/>
                <a:cs typeface="Calibri" pitchFamily="34" charset="-120"/>
              </a:rPr>
              <a:t>Prompt: </a:t>
            </a:r>
            <a:pPr indent="0" marL="0">
              <a:buNone/>
            </a:pPr>
            <a:r>
              <a:rPr lang="en-US" sz="1200" i="1" dirty="0">
                <a:solidFill>
                  <a:srgbClr val="1E293B"/>
                </a:solidFill>
                <a:latin typeface="Calibri" pitchFamily="34" charset="0"/>
                <a:ea typeface="Calibri" pitchFamily="34" charset="-122"/>
                <a:cs typeface="Calibri" pitchFamily="34" charset="-120"/>
              </a:rPr>
              <a:t>Write a sentence about someone who loves or wants something, contrasted with something or someone that forbids or blocks it, using "but."</a:t>
            </a:r>
            <a:endParaRPr lang="en-US" sz="1200" dirty="0"/>
          </a:p>
        </p:txBody>
      </p:sp>
      <p:sp>
        <p:nvSpPr>
          <p:cNvPr id="6" name="Shape 4"/>
          <p:cNvSpPr/>
          <p:nvPr/>
        </p:nvSpPr>
        <p:spPr>
          <a:xfrm>
            <a:off x="457200" y="2121408"/>
            <a:ext cx="8229600" cy="655320"/>
          </a:xfrm>
          <a:prstGeom prst="roundRect">
            <a:avLst>
              <a:gd name="adj" fmla="val 13953"/>
            </a:avLst>
          </a:prstGeom>
          <a:solidFill>
            <a:srgbClr val="FFFFFF"/>
          </a:solidFill>
          <a:ln w="15875">
            <a:solidFill>
              <a:srgbClr val="8B6FC0"/>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640080" y="2176272"/>
            <a:ext cx="7863840" cy="545592"/>
          </a:xfrm>
          <a:prstGeom prst="rect">
            <a:avLst/>
          </a:prstGeom>
          <a:noFill/>
          <a:ln/>
        </p:spPr>
        <p:txBody>
          <a:bodyPr wrap="square" lIns="0" tIns="0" rIns="0" bIns="0" rtlCol="0" anchor="t"/>
          <a:lstStyle/>
          <a:p>
            <a:pPr indent="0" marL="0">
              <a:buNone/>
            </a:pPr>
            <a:r>
              <a:rPr lang="en-US" sz="1300" b="1" dirty="0">
                <a:solidFill>
                  <a:srgbClr val="8B6FC0"/>
                </a:solidFill>
                <a:latin typeface="Calibri" pitchFamily="34" charset="0"/>
                <a:ea typeface="Calibri" pitchFamily="34" charset="-122"/>
                <a:cs typeface="Calibri" pitchFamily="34" charset="-120"/>
              </a:rPr>
              <a:t>Today's craft move: </a:t>
            </a:r>
            <a:pPr indent="0" marL="0">
              <a:buNone/>
            </a:pPr>
            <a:r>
              <a:rPr lang="en-US" sz="1300" dirty="0">
                <a:solidFill>
                  <a:srgbClr val="1E293B"/>
                </a:solidFill>
                <a:latin typeface="Calibri" pitchFamily="34" charset="0"/>
                <a:ea typeface="Calibri" pitchFamily="34" charset="-122"/>
                <a:cs typeface="Calibri" pitchFamily="34" charset="-120"/>
              </a:rPr>
              <a:t>Use "but" to set up a clear conflict between a character’s desire and an obstacle.</a:t>
            </a:r>
            <a:endParaRPr lang="en-US" sz="1300" dirty="0"/>
          </a:p>
        </p:txBody>
      </p:sp>
      <p:sp>
        <p:nvSpPr>
          <p:cNvPr id="8" name="Text 6"/>
          <p:cNvSpPr/>
          <p:nvPr/>
        </p:nvSpPr>
        <p:spPr>
          <a:xfrm>
            <a:off x="548640" y="2868168"/>
            <a:ext cx="8046720" cy="2161032"/>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Keep writing the whole time. If you get stuck, reread the prompt or write "I am thinking..." until a new idea comes.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914400" y="640080"/>
            <a:ext cx="73152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Revise</a:t>
            </a:r>
            <a:endParaRPr lang="en-US" sz="3200" dirty="0"/>
          </a:p>
        </p:txBody>
      </p:sp>
      <p:sp>
        <p:nvSpPr>
          <p:cNvPr id="3" name="Text 1"/>
          <p:cNvSpPr/>
          <p:nvPr/>
        </p:nvSpPr>
        <p:spPr>
          <a:xfrm>
            <a:off x="914400" y="1234440"/>
            <a:ext cx="7315200" cy="411480"/>
          </a:xfrm>
          <a:prstGeom prst="rect">
            <a:avLst/>
          </a:prstGeom>
          <a:noFill/>
          <a:ln/>
        </p:spPr>
        <p:txBody>
          <a:bodyPr wrap="square" lIns="0" tIns="0" rIns="0" bIns="0" rtlCol="0" anchor="ctr"/>
          <a:lstStyle/>
          <a:p>
            <a:pPr algn="ctr" indent="0" marL="0">
              <a:buNone/>
            </a:pPr>
            <a:r>
              <a:rPr lang="en-US" sz="1500" dirty="0">
                <a:solidFill>
                  <a:srgbClr val="34B76F"/>
                </a:solidFill>
                <a:latin typeface="Calibri" pitchFamily="34" charset="0"/>
                <a:ea typeface="Calibri" pitchFamily="34" charset="-122"/>
                <a:cs typeface="Calibri" pitchFamily="34" charset="-120"/>
              </a:rPr>
              <a:t>2 minutes - improve ONE specific thing</a:t>
            </a:r>
            <a:endParaRPr lang="en-US" sz="1500" dirty="0"/>
          </a:p>
        </p:txBody>
      </p:sp>
      <p:sp>
        <p:nvSpPr>
          <p:cNvPr id="4" name="Shape 2"/>
          <p:cNvSpPr/>
          <p:nvPr/>
        </p:nvSpPr>
        <p:spPr>
          <a:xfrm>
            <a:off x="1097280" y="1828800"/>
            <a:ext cx="694944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1280160" y="1901952"/>
            <a:ext cx="6583680" cy="640080"/>
          </a:xfrm>
          <a:prstGeom prst="rect">
            <a:avLst/>
          </a:prstGeom>
          <a:noFill/>
          <a:ln/>
        </p:spPr>
        <p:txBody>
          <a:bodyPr wrap="square" lIns="0" tIns="0" rIns="0" bIns="0" rtlCol="0" anchor="ctr"/>
          <a:lstStyle/>
          <a:p>
            <a:pPr indent="0" marL="0">
              <a:buNone/>
            </a:pPr>
            <a:r>
              <a:rPr lang="en-US" sz="1400" b="1" dirty="0">
                <a:solidFill>
                  <a:srgbClr val="34B76F"/>
                </a:solidFill>
                <a:latin typeface="Calibri" pitchFamily="34" charset="0"/>
                <a:ea typeface="Calibri" pitchFamily="34" charset="-122"/>
                <a:cs typeface="Calibri" pitchFamily="34" charset="-120"/>
              </a:rPr>
              <a:t>Today's revision task: </a:t>
            </a:r>
            <a:pPr indent="0" marL="0">
              <a:buNone/>
            </a:pPr>
            <a:r>
              <a:rPr lang="en-US" sz="1400" dirty="0">
                <a:solidFill>
                  <a:srgbClr val="1E293B"/>
                </a:solidFill>
                <a:latin typeface="Calibri" pitchFamily="34" charset="0"/>
                <a:ea typeface="Calibri" pitchFamily="34" charset="-122"/>
                <a:cs typeface="Calibri" pitchFamily="34" charset="-120"/>
              </a:rPr>
              <a:t>Check: is the contrast in your sentence clear and specific, not vague?</a:t>
            </a:r>
            <a:endParaRPr lang="en-US" sz="1400" dirty="0"/>
          </a:p>
        </p:txBody>
      </p:sp>
      <p:sp>
        <p:nvSpPr>
          <p:cNvPr id="6" name="Shape 4"/>
          <p:cNvSpPr/>
          <p:nvPr/>
        </p:nvSpPr>
        <p:spPr>
          <a:xfrm>
            <a:off x="1097280" y="2788920"/>
            <a:ext cx="6949440" cy="1554480"/>
          </a:xfrm>
          <a:prstGeom prst="roundRect">
            <a:avLst>
              <a:gd name="adj" fmla="val 5882"/>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280160" y="2880360"/>
            <a:ext cx="6583680" cy="1463040"/>
          </a:xfrm>
          <a:prstGeom prst="rect">
            <a:avLst/>
          </a:prstGeom>
          <a:noFill/>
          <a:ln/>
        </p:spPr>
        <p:txBody>
          <a:bodyPr wrap="square" lIns="0" tIns="0" rIns="0" bIns="0" rtlCol="0" anchor="t"/>
          <a:lstStyle/>
          <a:p>
            <a:pPr indent="0" marL="0">
              <a:spcAft>
                <a:spcPts val="200"/>
              </a:spcAft>
              <a:buNone/>
            </a:pPr>
            <a:r>
              <a:rPr lang="en-US" sz="1250" b="1" dirty="0">
                <a:solidFill>
                  <a:srgbClr val="0E1C42"/>
                </a:solidFill>
                <a:latin typeface="Calibri" pitchFamily="34" charset="0"/>
                <a:ea typeface="Calibri" pitchFamily="34" charset="-122"/>
                <a:cs typeface="Calibri" pitchFamily="34" charset="-120"/>
              </a:rPr>
              <a:t>Remember - revision is about ideas, not spelling: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Circle your strongest sentence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Replace one weak verb with a precise one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Add one detail, or cut one you do not need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Improve your opening line</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914400" y="731520"/>
            <a:ext cx="73152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Share</a:t>
            </a:r>
            <a:endParaRPr lang="en-US" sz="3200" dirty="0"/>
          </a:p>
        </p:txBody>
      </p:sp>
      <p:sp>
        <p:nvSpPr>
          <p:cNvPr id="3" name="Text 1"/>
          <p:cNvSpPr/>
          <p:nvPr/>
        </p:nvSpPr>
        <p:spPr>
          <a:xfrm>
            <a:off x="914400" y="1325880"/>
            <a:ext cx="7315200" cy="411480"/>
          </a:xfrm>
          <a:prstGeom prst="rect">
            <a:avLst/>
          </a:prstGeom>
          <a:noFill/>
          <a:ln/>
        </p:spPr>
        <p:txBody>
          <a:bodyPr wrap="square" lIns="0" tIns="0" rIns="0" bIns="0" rtlCol="0" anchor="ctr"/>
          <a:lstStyle/>
          <a:p>
            <a:pPr algn="ctr" indent="0" marL="0">
              <a:buNone/>
            </a:pPr>
            <a:r>
              <a:rPr lang="en-US" sz="1500" dirty="0">
                <a:solidFill>
                  <a:srgbClr val="55C8E8"/>
                </a:solidFill>
                <a:latin typeface="Calibri" pitchFamily="34" charset="0"/>
                <a:ea typeface="Calibri" pitchFamily="34" charset="-122"/>
                <a:cs typeface="Calibri" pitchFamily="34" charset="-120"/>
              </a:rPr>
              <a:t>2-3 minutes - celebrate a craft move</a:t>
            </a:r>
            <a:endParaRPr lang="en-US" sz="1500" dirty="0"/>
          </a:p>
        </p:txBody>
      </p:sp>
      <p:sp>
        <p:nvSpPr>
          <p:cNvPr id="4" name="Shape 2"/>
          <p:cNvSpPr/>
          <p:nvPr/>
        </p:nvSpPr>
        <p:spPr>
          <a:xfrm>
            <a:off x="1371600" y="1965960"/>
            <a:ext cx="6400800" cy="914400"/>
          </a:xfrm>
          <a:prstGeom prst="roundRect">
            <a:avLst>
              <a:gd name="adj" fmla="val 12000"/>
            </a:avLst>
          </a:prstGeom>
          <a:solidFill>
            <a:srgbClr val="FFFFFF"/>
          </a:solidFill>
          <a:ln w="15875">
            <a:solidFill>
              <a:srgbClr val="55C8E8"/>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1554480" y="2029968"/>
            <a:ext cx="6035040" cy="786384"/>
          </a:xfrm>
          <a:prstGeom prst="rect">
            <a:avLst/>
          </a:prstGeom>
          <a:noFill/>
          <a:ln/>
        </p:spPr>
        <p:txBody>
          <a:bodyPr wrap="square" lIns="0" tIns="0" rIns="0" bIns="0"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Share your conflict sentence.</a:t>
            </a:r>
            <a:endParaRPr lang="en-US" sz="1400" dirty="0"/>
          </a:p>
        </p:txBody>
      </p:sp>
      <p:sp>
        <p:nvSpPr>
          <p:cNvPr id="6" name="Shape 4"/>
          <p:cNvSpPr/>
          <p:nvPr/>
        </p:nvSpPr>
        <p:spPr>
          <a:xfrm>
            <a:off x="1371600" y="3017520"/>
            <a:ext cx="6400800" cy="914400"/>
          </a:xfrm>
          <a:prstGeom prst="roundRect">
            <a:avLst>
              <a:gd name="adj" fmla="val 12000"/>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554480" y="3090672"/>
            <a:ext cx="6035040" cy="777240"/>
          </a:xfrm>
          <a:prstGeom prst="rect">
            <a:avLst/>
          </a:prstGeom>
          <a:noFill/>
          <a:ln/>
        </p:spPr>
        <p:txBody>
          <a:bodyPr wrap="square" lIns="0" tIns="0" rIns="0" bIns="0" rtlCol="0" anchor="t"/>
          <a:lstStyle/>
          <a:p>
            <a:pPr indent="0" marL="0">
              <a:spcAft>
                <a:spcPts val="200"/>
              </a:spcAft>
              <a:buNone/>
            </a:pPr>
            <a:r>
              <a:rPr lang="en-US" sz="1250" dirty="0">
                <a:solidFill>
                  <a:srgbClr val="1E293B"/>
                </a:solidFill>
                <a:latin typeface="Calibri" pitchFamily="34" charset="0"/>
                <a:ea typeface="Calibri" pitchFamily="34" charset="-122"/>
                <a:cs typeface="Calibri" pitchFamily="34" charset="-120"/>
              </a:rPr>
              <a:t>Raise your hand, or paste it in the chat.
</a:t>
            </a:r>
            <a:pPr indent="0" marL="0">
              <a:spcAft>
                <a:spcPts val="200"/>
              </a:spcAft>
              <a:buNone/>
            </a:pPr>
            <a:r>
              <a:rPr lang="en-US" sz="1150" i="1" dirty="0">
                <a:solidFill>
                  <a:srgbClr val="64748B"/>
                </a:solidFill>
                <a:latin typeface="Calibri" pitchFamily="34" charset="0"/>
                <a:ea typeface="Calibri" pitchFamily="34" charset="-122"/>
                <a:cs typeface="Calibri" pitchFamily="34" charset="-120"/>
              </a:rPr>
              <a:t>Every writer's craft move counts - there are no wrong answers.</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Reflect</a:t>
            </a:r>
            <a:endParaRPr lang="en-US" sz="28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Shape 2"/>
          <p:cNvSpPr/>
          <p:nvPr/>
        </p:nvSpPr>
        <p:spPr>
          <a:xfrm>
            <a:off x="457200" y="1005840"/>
            <a:ext cx="8229600" cy="1280160"/>
          </a:xfrm>
          <a:prstGeom prst="roundRect">
            <a:avLst>
              <a:gd name="adj" fmla="val 7143"/>
            </a:avLst>
          </a:prstGeom>
          <a:solidFill>
            <a:srgbClr val="E8F8EF"/>
          </a:solidFill>
          <a:ln/>
          <a:effectLst>
            <a:outerShdw sx="100000" sy="100000" kx="0" ky="0" algn="bl" rotWithShape="0" blurRad="101600" dist="38100" dir="2700000">
              <a:srgbClr val="000000">
                <a:alpha val="12000"/>
              </a:srgbClr>
            </a:outerShdw>
          </a:effectLst>
        </p:spPr>
      </p:sp>
      <p:sp>
        <p:nvSpPr>
          <p:cNvPr id="5" name="Text 3"/>
          <p:cNvSpPr/>
          <p:nvPr/>
        </p:nvSpPr>
        <p:spPr>
          <a:xfrm>
            <a:off x="685800" y="1143000"/>
            <a:ext cx="7772400" cy="1005840"/>
          </a:xfrm>
          <a:prstGeom prst="rect">
            <a:avLst/>
          </a:prstGeom>
          <a:noFill/>
          <a:ln/>
        </p:spPr>
        <p:txBody>
          <a:bodyPr wrap="square" lIns="0" tIns="0" rIns="0" bIns="0" rtlCol="0" anchor="ctr"/>
          <a:lstStyle/>
          <a:p>
            <a:pPr indent="0" marL="0">
              <a:buNone/>
            </a:pPr>
            <a:r>
              <a:rPr lang="en-US" sz="1900" b="1" dirty="0">
                <a:solidFill>
                  <a:srgbClr val="0E1C42"/>
                </a:solidFill>
                <a:latin typeface="Calibri" pitchFamily="34" charset="0"/>
                <a:ea typeface="Calibri" pitchFamily="34" charset="-122"/>
                <a:cs typeface="Calibri" pitchFamily="34" charset="-120"/>
              </a:rPr>
              <a:t>What did you do today that made your writing stronger?</a:t>
            </a:r>
            <a:endParaRPr lang="en-US" sz="1900" dirty="0"/>
          </a:p>
        </p:txBody>
      </p:sp>
      <p:sp>
        <p:nvSpPr>
          <p:cNvPr id="6" name="Text 4"/>
          <p:cNvSpPr/>
          <p:nvPr/>
        </p:nvSpPr>
        <p:spPr>
          <a:xfrm>
            <a:off x="548640" y="2468880"/>
            <a:ext cx="8046720" cy="45720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Turn and tell a partner, or jot one sentence in your writing notebook.</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Recap + Today's Focus</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Shape 2"/>
          <p:cNvSpPr/>
          <p:nvPr/>
        </p:nvSpPr>
        <p:spPr>
          <a:xfrm>
            <a:off x="6492240" y="173736"/>
            <a:ext cx="2286000" cy="502920"/>
          </a:xfrm>
          <a:prstGeom prst="roundRect">
            <a:avLst>
              <a:gd name="adj" fmla="val 21818"/>
            </a:avLst>
          </a:prstGeom>
          <a:solidFill>
            <a:srgbClr val="5CC9A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YESTERDAY</a:t>
            </a:r>
            <a:endParaRPr lang="en-US" sz="1100" dirty="0"/>
          </a:p>
        </p:txBody>
      </p:sp>
      <p:sp>
        <p:nvSpPr>
          <p:cNvPr id="7" name="Shape 5"/>
          <p:cNvSpPr/>
          <p:nvPr/>
        </p:nvSpPr>
        <p:spPr>
          <a:xfrm>
            <a:off x="365760" y="1078992"/>
            <a:ext cx="8412480" cy="749808"/>
          </a:xfrm>
          <a:prstGeom prst="roundRect">
            <a:avLst>
              <a:gd name="adj" fmla="val 12195"/>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Yesterday, we reflected on what loyalty means to the Old Narnians who still believe in the ancient stories.</a:t>
            </a:r>
            <a:endParaRPr lang="en-US" sz="1400" dirty="0"/>
          </a:p>
        </p:txBody>
      </p:sp>
      <p:sp>
        <p:nvSpPr>
          <p:cNvPr id="9" name="Text 7"/>
          <p:cNvSpPr/>
          <p:nvPr/>
        </p:nvSpPr>
        <p:spPr>
          <a:xfrm>
            <a:off x="365760" y="1938528"/>
            <a:ext cx="8046720" cy="292608"/>
          </a:xfrm>
          <a:prstGeom prst="rect">
            <a:avLst/>
          </a:prstGeom>
          <a:noFill/>
          <a:ln/>
        </p:spPr>
        <p:txBody>
          <a:bodyPr wrap="square" lIns="0" tIns="0" rIns="0" bIns="0" rtlCol="0" anchor="ctr"/>
          <a:lstStyle/>
          <a:p>
            <a:pPr indent="0" marL="0">
              <a:buNone/>
            </a:pPr>
            <a:r>
              <a:rPr lang="en-US" sz="1100" b="1" spc="200" kern="0" dirty="0">
                <a:solidFill>
                  <a:srgbClr val="5CC9A0"/>
                </a:solidFill>
                <a:latin typeface="Calibri" pitchFamily="34" charset="0"/>
                <a:ea typeface="Calibri" pitchFamily="34" charset="-122"/>
                <a:cs typeface="Calibri" pitchFamily="34" charset="-120"/>
              </a:rPr>
              <a:t>TODAY</a:t>
            </a:r>
            <a:endParaRPr lang="en-US" sz="1100" dirty="0"/>
          </a:p>
        </p:txBody>
      </p:sp>
      <p:sp>
        <p:nvSpPr>
          <p:cNvPr id="10" name="Shape 8"/>
          <p:cNvSpPr/>
          <p:nvPr/>
        </p:nvSpPr>
        <p:spPr>
          <a:xfrm>
            <a:off x="365760" y="2194560"/>
            <a:ext cx="8412480" cy="713232"/>
          </a:xfrm>
          <a:prstGeom prst="roundRect">
            <a:avLst>
              <a:gd name="adj" fmla="val 12821"/>
            </a:avLst>
          </a:prstGeom>
          <a:solidFill>
            <a:srgbClr val="FEF6E8"/>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286000"/>
            <a:ext cx="7863840" cy="530352"/>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Meet Prince Caspian and learn why his uncle forbids him from hearing the old stories.</a:t>
            </a:r>
            <a:endParaRPr lang="en-US" sz="1400" dirty="0"/>
          </a:p>
        </p:txBody>
      </p:sp>
      <p:sp>
        <p:nvSpPr>
          <p:cNvPr id="12" name="Text 10"/>
          <p:cNvSpPr/>
          <p:nvPr/>
        </p:nvSpPr>
        <p:spPr>
          <a:xfrm>
            <a:off x="365760" y="3035808"/>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BIG QUESTION</a:t>
            </a:r>
            <a:endParaRPr lang="en-US" sz="1100" dirty="0"/>
          </a:p>
        </p:txBody>
      </p:sp>
      <p:sp>
        <p:nvSpPr>
          <p:cNvPr id="13" name="Shape 11"/>
          <p:cNvSpPr/>
          <p:nvPr/>
        </p:nvSpPr>
        <p:spPr>
          <a:xfrm>
            <a:off x="365760" y="3291840"/>
            <a:ext cx="8412480" cy="749808"/>
          </a:xfrm>
          <a:prstGeom prst="roundRect">
            <a:avLst>
              <a:gd name="adj" fmla="val 12195"/>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383280"/>
            <a:ext cx="7863840" cy="56692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Who helps Caspian? Who controls him? Who does he trust?</a:t>
            </a:r>
            <a:endParaRPr lang="en-US" sz="1300" dirty="0"/>
          </a:p>
        </p:txBody>
      </p:sp>
      <p:sp>
        <p:nvSpPr>
          <p:cNvPr id="15" name="Text 13"/>
          <p:cNvSpPr/>
          <p:nvPr/>
        </p:nvSpPr>
        <p:spPr>
          <a:xfrm>
            <a:off x="365760" y="4169664"/>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READING LENS</a:t>
            </a:r>
            <a:endParaRPr lang="en-US" sz="1100" dirty="0"/>
          </a:p>
        </p:txBody>
      </p:sp>
      <p:sp>
        <p:nvSpPr>
          <p:cNvPr id="16" name="Text 14"/>
          <p:cNvSpPr/>
          <p:nvPr/>
        </p:nvSpPr>
        <p:spPr>
          <a:xfrm>
            <a:off x="457200" y="4407408"/>
            <a:ext cx="8229600" cy="45720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Good readers keep track of who&amp;rsquo;s who. This week, the story splits &amp;mdash; you&amp;rsquo;ll meet new characters in a different time and place. As you read...</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Study What's Right</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 MODEL - FROM THE TEXT</a:t>
            </a:r>
            <a:endParaRPr lang="en-US" sz="1100" dirty="0"/>
          </a:p>
        </p:txBody>
      </p:sp>
      <p:sp>
        <p:nvSpPr>
          <p:cNvPr id="5" name="Shape 3"/>
          <p:cNvSpPr/>
          <p:nvPr/>
        </p:nvSpPr>
        <p:spPr>
          <a:xfrm>
            <a:off x="365760" y="1078992"/>
            <a:ext cx="8412480" cy="810768"/>
          </a:xfrm>
          <a:prstGeom prst="roundRect">
            <a:avLst>
              <a:gd name="adj" fmla="val 11278"/>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582168"/>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Caspian loved the old stories, but his uncle forbade him from telling them.</a:t>
            </a:r>
            <a:endParaRPr lang="en-US" sz="1600" dirty="0"/>
          </a:p>
        </p:txBody>
      </p:sp>
      <p:sp>
        <p:nvSpPr>
          <p:cNvPr id="7" name="Text 5"/>
          <p:cNvSpPr/>
          <p:nvPr/>
        </p:nvSpPr>
        <p:spPr>
          <a:xfrm>
            <a:off x="457200" y="2036064"/>
            <a:ext cx="8229600" cy="384048"/>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Circle: capitals, quotation marks, punctuation, proper nouns</a:t>
            </a:r>
            <a:endParaRPr lang="en-US" sz="1400" dirty="0"/>
          </a:p>
        </p:txBody>
      </p:sp>
      <p:sp>
        <p:nvSpPr>
          <p:cNvPr id="8" name="Text 6"/>
          <p:cNvSpPr/>
          <p:nvPr/>
        </p:nvSpPr>
        <p:spPr>
          <a:xfrm>
            <a:off x="457200" y="2493264"/>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Copy this sentence in your journal. Circle one thing you notice.</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Fix It</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Shape 2"/>
          <p:cNvSpPr/>
          <p:nvPr/>
        </p:nvSpPr>
        <p:spPr>
          <a:xfrm>
            <a:off x="6492240" y="173736"/>
            <a:ext cx="2286000" cy="502920"/>
          </a:xfrm>
          <a:prstGeom prst="roundRect">
            <a:avLst>
              <a:gd name="adj" fmla="val 21818"/>
            </a:avLst>
          </a:prstGeom>
          <a:solidFill>
            <a:srgbClr val="5CC9A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810768"/>
          </a:xfrm>
          <a:prstGeom prst="roundRect">
            <a:avLst>
              <a:gd name="adj" fmla="val 11278"/>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82168"/>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caspian loved the old stories but his uncle forbade him from telling them</a:t>
            </a:r>
            <a:endParaRPr lang="en-US" sz="1600" dirty="0"/>
          </a:p>
        </p:txBody>
      </p:sp>
      <p:sp>
        <p:nvSpPr>
          <p:cNvPr id="9" name="Text 7"/>
          <p:cNvSpPr/>
          <p:nvPr/>
        </p:nvSpPr>
        <p:spPr>
          <a:xfrm>
            <a:off x="457200" y="2036064"/>
            <a:ext cx="8229600" cy="365760"/>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Fix It</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Shape 2"/>
          <p:cNvSpPr/>
          <p:nvPr/>
        </p:nvSpPr>
        <p:spPr>
          <a:xfrm>
            <a:off x="6492240" y="173736"/>
            <a:ext cx="2286000" cy="502920"/>
          </a:xfrm>
          <a:prstGeom prst="roundRect">
            <a:avLst>
              <a:gd name="adj" fmla="val 21818"/>
            </a:avLst>
          </a:prstGeom>
          <a:solidFill>
            <a:srgbClr val="5CC9A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810768"/>
          </a:xfrm>
          <a:prstGeom prst="roundRect">
            <a:avLst>
              <a:gd name="adj" fmla="val 11278"/>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82168"/>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caspian loved the old stories but his uncle forbade him from telling them</a:t>
            </a:r>
            <a:endParaRPr lang="en-US" sz="1600" dirty="0"/>
          </a:p>
        </p:txBody>
      </p:sp>
      <p:sp>
        <p:nvSpPr>
          <p:cNvPr id="9" name="Text 7"/>
          <p:cNvSpPr/>
          <p:nvPr/>
        </p:nvSpPr>
        <p:spPr>
          <a:xfrm>
            <a:off x="457200" y="2036064"/>
            <a:ext cx="8229600" cy="365760"/>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
        <p:nvSpPr>
          <p:cNvPr id="10" name="Shape 8"/>
          <p:cNvSpPr/>
          <p:nvPr/>
        </p:nvSpPr>
        <p:spPr>
          <a:xfrm>
            <a:off x="365760" y="2474976"/>
            <a:ext cx="8412480" cy="960120"/>
          </a:xfrm>
          <a:prstGeom prst="roundRect">
            <a:avLst>
              <a:gd name="adj" fmla="val 9524"/>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52984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CORRECTED</a:t>
            </a:r>
            <a:endParaRPr lang="en-US" sz="1100" dirty="0"/>
          </a:p>
        </p:txBody>
      </p:sp>
      <p:sp>
        <p:nvSpPr>
          <p:cNvPr id="12" name="Text 10"/>
          <p:cNvSpPr/>
          <p:nvPr/>
        </p:nvSpPr>
        <p:spPr>
          <a:xfrm>
            <a:off x="594360" y="2822448"/>
            <a:ext cx="7863840" cy="576072"/>
          </a:xfrm>
          <a:prstGeom prst="rect">
            <a:avLst/>
          </a:prstGeom>
          <a:noFill/>
          <a:ln/>
        </p:spPr>
        <p:txBody>
          <a:bodyPr wrap="square" lIns="0" tIns="0" rIns="0" bIns="0" rtlCol="0" anchor="ctr"/>
          <a:lstStyle/>
          <a:p>
            <a:pPr indent="0" marL="0">
              <a:buNone/>
            </a:pPr>
            <a:r>
              <a:rPr lang="en-US" sz="1500" i="1" dirty="0">
                <a:solidFill>
                  <a:srgbClr val="1E293B"/>
                </a:solidFill>
                <a:latin typeface="Calibri" pitchFamily="34" charset="0"/>
                <a:ea typeface="Calibri" pitchFamily="34" charset="-122"/>
                <a:cs typeface="Calibri" pitchFamily="34" charset="-120"/>
              </a:rPr>
              <a:t>Caspian loved the old stories, but his uncle forbade him from telling them.</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Morphology</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WORD PARTS</a:t>
            </a:r>
            <a:endParaRPr lang="en-US" sz="1100" dirty="0"/>
          </a:p>
        </p:txBody>
      </p:sp>
      <p:sp>
        <p:nvSpPr>
          <p:cNvPr id="5" name="Shape 3"/>
          <p:cNvSpPr/>
          <p:nvPr/>
        </p:nvSpPr>
        <p:spPr>
          <a:xfrm>
            <a:off x="365760" y="1060704"/>
            <a:ext cx="8412480" cy="457200"/>
          </a:xfrm>
          <a:prstGeom prst="roundRect">
            <a:avLst>
              <a:gd name="adj" fmla="val 20000"/>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15568"/>
            <a:ext cx="8046720" cy="365760"/>
          </a:xfrm>
          <a:prstGeom prst="rect">
            <a:avLst/>
          </a:prstGeom>
          <a:noFill/>
          <a:ln/>
        </p:spPr>
        <p:txBody>
          <a:bodyPr wrap="square" lIns="0" tIns="0" rIns="0" bIns="0" rtlCol="0" anchor="ctr"/>
          <a:lstStyle/>
          <a:p>
            <a:pPr indent="0" marL="0">
              <a:buNone/>
            </a:pPr>
            <a:r>
              <a:rPr lang="en-US" sz="1150" i="1" dirty="0">
                <a:solidFill>
                  <a:srgbClr val="8B6FC0"/>
                </a:solidFill>
                <a:latin typeface="Calibri" pitchFamily="34" charset="0"/>
                <a:ea typeface="Calibri" pitchFamily="34" charset="-122"/>
                <a:cs typeface="Calibri" pitchFamily="34" charset="-120"/>
              </a:rPr>
              <a:t>Many English words are built from Latin word bases. When you know the base, you can figure out words you’ve never seen before.</a:t>
            </a:r>
            <a:endParaRPr lang="en-US" sz="1150" dirty="0"/>
          </a:p>
        </p:txBody>
      </p:sp>
      <p:sp>
        <p:nvSpPr>
          <p:cNvPr id="7" name="Text 5"/>
          <p:cNvSpPr/>
          <p:nvPr/>
        </p:nvSpPr>
        <p:spPr>
          <a:xfrm>
            <a:off x="365760" y="1591056"/>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TRY IT - FILL IN THE MISSING PART</a:t>
            </a:r>
            <a:endParaRPr lang="en-US" sz="1100" dirty="0"/>
          </a:p>
        </p:txBody>
      </p:sp>
      <p:sp>
        <p:nvSpPr>
          <p:cNvPr id="8" name="Shape 6"/>
          <p:cNvSpPr/>
          <p:nvPr/>
        </p:nvSpPr>
        <p:spPr>
          <a:xfrm>
            <a:off x="365760" y="1847088"/>
            <a:ext cx="8412480" cy="384048"/>
          </a:xfrm>
          <a:prstGeom prst="roundRect">
            <a:avLst>
              <a:gd name="adj" fmla="val 23810"/>
            </a:avLst>
          </a:prstGeom>
          <a:solidFill>
            <a:srgbClr val="F0E8FF"/>
          </a:solidFill>
          <a:ln/>
          <a:effectLst>
            <a:outerShdw sx="100000" sy="100000" kx="0" ky="0" algn="bl" rotWithShape="0" blurRad="101600" dist="38100" dir="2700000">
              <a:srgbClr val="000000">
                <a:alpha val="12000"/>
              </a:srgbClr>
            </a:outerShdw>
          </a:effectLst>
        </p:spPr>
      </p:sp>
      <p:sp>
        <p:nvSpPr>
          <p:cNvPr id="9" name="Text 7"/>
          <p:cNvSpPr/>
          <p:nvPr/>
        </p:nvSpPr>
        <p:spPr>
          <a:xfrm>
            <a:off x="594360" y="1892808"/>
            <a:ext cx="7863840" cy="292608"/>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transport — — to carry something across a distance</a:t>
            </a:r>
            <a:endParaRPr lang="en-US" sz="1300" dirty="0"/>
          </a:p>
        </p:txBody>
      </p:sp>
      <p:sp>
        <p:nvSpPr>
          <p:cNvPr id="10" name="Shape 8"/>
          <p:cNvSpPr/>
          <p:nvPr/>
        </p:nvSpPr>
        <p:spPr>
          <a:xfrm>
            <a:off x="365760" y="2304288"/>
            <a:ext cx="8412480" cy="384048"/>
          </a:xfrm>
          <a:prstGeom prst="roundRect">
            <a:avLst>
              <a:gd name="adj" fmla="val 23810"/>
            </a:avLst>
          </a:prstGeom>
          <a:solidFill>
            <a:srgbClr val="F8F4F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350008"/>
            <a:ext cx="7863840" cy="292608"/>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extract — — to pull something out</a:t>
            </a:r>
            <a:endParaRPr lang="en-US" sz="1300" dirty="0"/>
          </a:p>
        </p:txBody>
      </p:sp>
      <p:sp>
        <p:nvSpPr>
          <p:cNvPr id="12" name="Shape 10"/>
          <p:cNvSpPr/>
          <p:nvPr/>
        </p:nvSpPr>
        <p:spPr>
          <a:xfrm>
            <a:off x="365760" y="2761488"/>
            <a:ext cx="8412480" cy="384048"/>
          </a:xfrm>
          <a:prstGeom prst="roundRect">
            <a:avLst>
              <a:gd name="adj" fmla="val 23810"/>
            </a:avLst>
          </a:prstGeom>
          <a:solidFill>
            <a:srgbClr val="F0E8FF"/>
          </a:solidFill>
          <a:ln/>
          <a:effectLst>
            <a:outerShdw sx="100000" sy="100000" kx="0" ky="0" algn="bl" rotWithShape="0" blurRad="101600" dist="38100" dir="2700000">
              <a:srgbClr val="000000">
                <a:alpha val="12000"/>
              </a:srgbClr>
            </a:outerShdw>
          </a:effectLst>
        </p:spPr>
      </p:sp>
      <p:sp>
        <p:nvSpPr>
          <p:cNvPr id="13" name="Text 11"/>
          <p:cNvSpPr/>
          <p:nvPr/>
        </p:nvSpPr>
        <p:spPr>
          <a:xfrm>
            <a:off x="594360" y="2807208"/>
            <a:ext cx="7863840" cy="292608"/>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construct — — to build something by putting parts together</a:t>
            </a:r>
            <a:endParaRPr lang="en-US" sz="1300" dirty="0"/>
          </a:p>
        </p:txBody>
      </p:sp>
      <p:sp>
        <p:nvSpPr>
          <p:cNvPr id="14" name="Shape 12"/>
          <p:cNvSpPr/>
          <p:nvPr/>
        </p:nvSpPr>
        <p:spPr>
          <a:xfrm>
            <a:off x="365760" y="3218688"/>
            <a:ext cx="8412480" cy="384048"/>
          </a:xfrm>
          <a:prstGeom prst="roundRect">
            <a:avLst>
              <a:gd name="adj" fmla="val 23810"/>
            </a:avLst>
          </a:prstGeom>
          <a:solidFill>
            <a:srgbClr val="F8F4FF"/>
          </a:solidFill>
          <a:ln/>
          <a:effectLst>
            <a:outerShdw sx="100000" sy="100000" kx="0" ky="0" algn="bl" rotWithShape="0" blurRad="101600" dist="38100" dir="2700000">
              <a:srgbClr val="000000">
                <a:alpha val="12000"/>
              </a:srgbClr>
            </a:outerShdw>
          </a:effectLst>
        </p:spPr>
      </p:sp>
      <p:sp>
        <p:nvSpPr>
          <p:cNvPr id="15" name="Text 13"/>
          <p:cNvSpPr/>
          <p:nvPr/>
        </p:nvSpPr>
        <p:spPr>
          <a:xfrm>
            <a:off x="594360" y="3264408"/>
            <a:ext cx="7863840" cy="292608"/>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import — — to carry goods into a country</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Vocabulary</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Text 2"/>
          <p:cNvSpPr/>
          <p:nvPr/>
        </p:nvSpPr>
        <p:spPr>
          <a:xfrm>
            <a:off x="365760" y="786384"/>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4 WORDS - READ THE SENTENCE, THEN THE MEANING</a:t>
            </a:r>
            <a:endParaRPr lang="en-US" sz="1100" dirty="0"/>
          </a:p>
        </p:txBody>
      </p:sp>
      <p:sp>
        <p:nvSpPr>
          <p:cNvPr id="5" name="Shape 3"/>
          <p:cNvSpPr/>
          <p:nvPr/>
        </p:nvSpPr>
        <p:spPr>
          <a:xfrm>
            <a:off x="320040" y="914400"/>
            <a:ext cx="4069080" cy="954024"/>
          </a:xfrm>
          <a:prstGeom prst="roundRect">
            <a:avLst>
              <a:gd name="adj" fmla="val 9585"/>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457200" y="1005840"/>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tutor</a:t>
            </a:r>
            <a:endParaRPr lang="en-US" sz="1400" dirty="0"/>
          </a:p>
        </p:txBody>
      </p:sp>
      <p:sp>
        <p:nvSpPr>
          <p:cNvPr id="7" name="Text 5"/>
          <p:cNvSpPr/>
          <p:nvPr/>
        </p:nvSpPr>
        <p:spPr>
          <a:xfrm>
            <a:off x="457200" y="1316736"/>
            <a:ext cx="3794760" cy="496824"/>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A private teacher or guide who instructs one student or a small group.</a:t>
            </a:r>
            <a:endParaRPr lang="en-US" sz="1100" dirty="0"/>
          </a:p>
        </p:txBody>
      </p:sp>
      <p:sp>
        <p:nvSpPr>
          <p:cNvPr id="8" name="Shape 6"/>
          <p:cNvSpPr/>
          <p:nvPr/>
        </p:nvSpPr>
        <p:spPr>
          <a:xfrm>
            <a:off x="4572000" y="914400"/>
            <a:ext cx="4069080" cy="954024"/>
          </a:xfrm>
          <a:prstGeom prst="roundRect">
            <a:avLst>
              <a:gd name="adj" fmla="val 9585"/>
            </a:avLst>
          </a:prstGeom>
          <a:solidFill>
            <a:srgbClr val="F0E8FF"/>
          </a:solidFill>
          <a:ln/>
          <a:effectLst>
            <a:outerShdw sx="100000" sy="100000" kx="0" ky="0" algn="bl" rotWithShape="0" blurRad="101600" dist="38100" dir="2700000">
              <a:srgbClr val="000000">
                <a:alpha val="12000"/>
              </a:srgbClr>
            </a:outerShdw>
          </a:effectLst>
        </p:spPr>
      </p:sp>
      <p:sp>
        <p:nvSpPr>
          <p:cNvPr id="9" name="Text 7"/>
          <p:cNvSpPr/>
          <p:nvPr/>
        </p:nvSpPr>
        <p:spPr>
          <a:xfrm>
            <a:off x="4709160" y="1005840"/>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usurper</a:t>
            </a:r>
            <a:endParaRPr lang="en-US" sz="1400" dirty="0"/>
          </a:p>
        </p:txBody>
      </p:sp>
      <p:sp>
        <p:nvSpPr>
          <p:cNvPr id="10" name="Text 8"/>
          <p:cNvSpPr/>
          <p:nvPr/>
        </p:nvSpPr>
        <p:spPr>
          <a:xfrm>
            <a:off x="4709160" y="1316736"/>
            <a:ext cx="3794760" cy="496824"/>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Someone who takes power illegally, especially by force — like a king who stole the throne.</a:t>
            </a:r>
            <a:endParaRPr lang="en-US" sz="1100" dirty="0"/>
          </a:p>
        </p:txBody>
      </p:sp>
      <p:sp>
        <p:nvSpPr>
          <p:cNvPr id="11" name="Shape 9"/>
          <p:cNvSpPr/>
          <p:nvPr/>
        </p:nvSpPr>
        <p:spPr>
          <a:xfrm>
            <a:off x="320040" y="1978152"/>
            <a:ext cx="4069080" cy="954024"/>
          </a:xfrm>
          <a:prstGeom prst="roundRect">
            <a:avLst>
              <a:gd name="adj" fmla="val 9585"/>
            </a:avLst>
          </a:prstGeom>
          <a:solidFill>
            <a:srgbClr val="F0E8FF"/>
          </a:solidFill>
          <a:ln/>
          <a:effectLst>
            <a:outerShdw sx="100000" sy="100000" kx="0" ky="0" algn="bl" rotWithShape="0" blurRad="101600" dist="38100" dir="2700000">
              <a:srgbClr val="000000">
                <a:alpha val="12000"/>
              </a:srgbClr>
            </a:outerShdw>
          </a:effectLst>
        </p:spPr>
      </p:sp>
      <p:sp>
        <p:nvSpPr>
          <p:cNvPr id="12" name="Text 10"/>
          <p:cNvSpPr/>
          <p:nvPr/>
        </p:nvSpPr>
        <p:spPr>
          <a:xfrm>
            <a:off x="457200" y="2069592"/>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astronomy</a:t>
            </a:r>
            <a:endParaRPr lang="en-US" sz="1400" dirty="0"/>
          </a:p>
        </p:txBody>
      </p:sp>
      <p:sp>
        <p:nvSpPr>
          <p:cNvPr id="13" name="Text 11"/>
          <p:cNvSpPr/>
          <p:nvPr/>
        </p:nvSpPr>
        <p:spPr>
          <a:xfrm>
            <a:off x="457200" y="2380488"/>
            <a:ext cx="3794760" cy="496824"/>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The scientific study of stars, planets, and outer space.</a:t>
            </a:r>
            <a:endParaRPr lang="en-US" sz="1100" dirty="0"/>
          </a:p>
        </p:txBody>
      </p:sp>
      <p:sp>
        <p:nvSpPr>
          <p:cNvPr id="14" name="Shape 12"/>
          <p:cNvSpPr/>
          <p:nvPr/>
        </p:nvSpPr>
        <p:spPr>
          <a:xfrm>
            <a:off x="4572000" y="1978152"/>
            <a:ext cx="4069080" cy="954024"/>
          </a:xfrm>
          <a:prstGeom prst="roundRect">
            <a:avLst>
              <a:gd name="adj" fmla="val 9585"/>
            </a:avLst>
          </a:prstGeom>
          <a:solidFill>
            <a:srgbClr val="F0E8FF"/>
          </a:solidFill>
          <a:ln/>
          <a:effectLst>
            <a:outerShdw sx="100000" sy="100000" kx="0" ky="0" algn="bl" rotWithShape="0" blurRad="101600" dist="38100" dir="2700000">
              <a:srgbClr val="000000">
                <a:alpha val="12000"/>
              </a:srgbClr>
            </a:outerShdw>
          </a:effectLst>
        </p:spPr>
      </p:sp>
      <p:sp>
        <p:nvSpPr>
          <p:cNvPr id="15" name="Text 13"/>
          <p:cNvSpPr/>
          <p:nvPr/>
        </p:nvSpPr>
        <p:spPr>
          <a:xfrm>
            <a:off x="4709160" y="2069592"/>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sternly</a:t>
            </a:r>
            <a:endParaRPr lang="en-US" sz="1400" dirty="0"/>
          </a:p>
        </p:txBody>
      </p:sp>
      <p:sp>
        <p:nvSpPr>
          <p:cNvPr id="16" name="Text 14"/>
          <p:cNvSpPr/>
          <p:nvPr/>
        </p:nvSpPr>
        <p:spPr>
          <a:xfrm>
            <a:off x="4709160" y="2380488"/>
            <a:ext cx="3794760" cy="496824"/>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In a strict, serious, and firm way — showing disapproval.</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Grammar - </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Shape 2"/>
          <p:cNvSpPr/>
          <p:nvPr/>
        </p:nvSpPr>
        <p:spPr>
          <a:xfrm>
            <a:off x="6492240" y="173736"/>
            <a:ext cx="2286000" cy="502920"/>
          </a:xfrm>
          <a:prstGeom prst="roundRect">
            <a:avLst>
              <a:gd name="adj" fmla="val 21818"/>
            </a:avLst>
          </a:prstGeom>
          <a:solidFill>
            <a:srgbClr val="5CC9A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THE RULE</a:t>
            </a:r>
            <a:endParaRPr lang="en-US" sz="1100" dirty="0"/>
          </a:p>
        </p:txBody>
      </p:sp>
      <p:sp>
        <p:nvSpPr>
          <p:cNvPr id="7" name="Shape 5"/>
          <p:cNvSpPr/>
          <p:nvPr/>
        </p:nvSpPr>
        <p:spPr>
          <a:xfrm>
            <a:off x="365760" y="1060704"/>
            <a:ext cx="8412480" cy="102870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70432"/>
            <a:ext cx="8046720" cy="800100"/>
          </a:xfrm>
          <a:prstGeom prst="rect">
            <a:avLst/>
          </a:prstGeom>
          <a:noFill/>
          <a:ln/>
        </p:spPr>
        <p:txBody>
          <a:bodyPr wrap="square" lIns="0" tIns="0" rIns="0" bIns="0" rtlCol="0" anchor="ctr"/>
          <a:lstStyle/>
          <a:p>
            <a:pPr indent="0" marL="0">
              <a:buNone/>
            </a:pPr>
            <a:r>
              <a:rPr lang="en-US" sz="1500" i="1" dirty="0">
                <a:solidFill>
                  <a:srgbClr val="0E1C42"/>
                </a:solidFill>
                <a:latin typeface="Calibri" pitchFamily="34" charset="0"/>
                <a:ea typeface="Calibri" pitchFamily="34" charset="-122"/>
                <a:cs typeface="Calibri" pitchFamily="34" charset="-120"/>
              </a:rPr>
              <a:t>Conjunctions are words that connect ideas. “But” shows contrast — two ideas that push against each other. “So” shows result — one thing leads to another.</a:t>
            </a:r>
            <a:endParaRPr lang="en-US" sz="1500" dirty="0"/>
          </a:p>
        </p:txBody>
      </p:sp>
      <p:sp>
        <p:nvSpPr>
          <p:cNvPr id="9" name="Text 7"/>
          <p:cNvSpPr/>
          <p:nvPr/>
        </p:nvSpPr>
        <p:spPr>
          <a:xfrm>
            <a:off x="365760" y="2235708"/>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EXAMPLES</a:t>
            </a:r>
            <a:endParaRPr lang="en-US" sz="1100" dirty="0"/>
          </a:p>
        </p:txBody>
      </p:sp>
      <p:sp>
        <p:nvSpPr>
          <p:cNvPr id="10" name="Shape 8"/>
          <p:cNvSpPr/>
          <p:nvPr/>
        </p:nvSpPr>
        <p:spPr>
          <a:xfrm>
            <a:off x="365760" y="2491740"/>
            <a:ext cx="8412480" cy="548640"/>
          </a:xfrm>
          <a:prstGeom prst="roundRect">
            <a:avLst>
              <a:gd name="adj" fmla="val 16667"/>
            </a:avLst>
          </a:prstGeom>
          <a:solidFill>
            <a:srgbClr val="F0E8FF"/>
          </a:solidFill>
          <a:ln w="12700">
            <a:solidFill>
              <a:srgbClr val="8B6FC0"/>
            </a:solidFill>
            <a:prstDash val="solid"/>
          </a:ln>
          <a:effectLst>
            <a:outerShdw sx="100000" sy="100000" kx="0" ky="0" algn="bl" rotWithShape="0" blurRad="101600" dist="38100" dir="2700000">
              <a:srgbClr val="000000">
                <a:alpha val="12000"/>
              </a:srgbClr>
            </a:outerShdw>
          </a:effectLst>
        </p:spPr>
      </p:sp>
      <p:sp>
        <p:nvSpPr>
          <p:cNvPr id="11" name="Text 9"/>
          <p:cNvSpPr/>
          <p:nvPr/>
        </p:nvSpPr>
        <p:spPr>
          <a:xfrm>
            <a:off x="548640" y="2601468"/>
            <a:ext cx="8046720" cy="320040"/>
          </a:xfrm>
          <a:prstGeom prst="rect">
            <a:avLst/>
          </a:prstGeom>
          <a:noFill/>
          <a:ln/>
        </p:spPr>
        <p:txBody>
          <a:bodyPr wrap="square" lIns="0" tIns="0" rIns="0" bIns="0" rtlCol="0" anchor="ctr"/>
          <a:lstStyle/>
          <a:p>
            <a:pPr indent="0" marL="0">
              <a:buNone/>
            </a:pPr>
            <a:r>
              <a:rPr lang="en-US" sz="1400" i="1" dirty="0">
                <a:solidFill>
                  <a:srgbClr val="0E1C42"/>
                </a:solidFill>
                <a:latin typeface="Calibri" pitchFamily="34" charset="0"/>
                <a:ea typeface="Calibri" pitchFamily="34" charset="-122"/>
                <a:cs typeface="Calibri" pitchFamily="34" charset="-120"/>
              </a:rPr>
              <a:t>“Caspian loved the old stories, but his uncle said they were nonsense.”</a:t>
            </a:r>
            <a:endParaRPr lang="en-US" sz="1400" dirty="0"/>
          </a:p>
        </p:txBody>
      </p:sp>
      <p:sp>
        <p:nvSpPr>
          <p:cNvPr id="12" name="Shape 10"/>
          <p:cNvSpPr/>
          <p:nvPr/>
        </p:nvSpPr>
        <p:spPr>
          <a:xfrm>
            <a:off x="365760" y="3150108"/>
            <a:ext cx="8412480" cy="548640"/>
          </a:xfrm>
          <a:prstGeom prst="roundRect">
            <a:avLst>
              <a:gd name="adj" fmla="val 16667"/>
            </a:avLst>
          </a:prstGeom>
          <a:solidFill>
            <a:srgbClr val="F0E8FF"/>
          </a:solidFill>
          <a:ln w="12700">
            <a:solidFill>
              <a:srgbClr val="8B6FC0"/>
            </a:solidFill>
            <a:prstDash val="solid"/>
          </a:ln>
          <a:effectLst>
            <a:outerShdw sx="100000" sy="100000" kx="0" ky="0" algn="bl" rotWithShape="0" blurRad="101600" dist="38100" dir="2700000">
              <a:srgbClr val="000000">
                <a:alpha val="12000"/>
              </a:srgbClr>
            </a:outerShdw>
          </a:effectLst>
        </p:spPr>
      </p:sp>
      <p:sp>
        <p:nvSpPr>
          <p:cNvPr id="13" name="Text 11"/>
          <p:cNvSpPr/>
          <p:nvPr/>
        </p:nvSpPr>
        <p:spPr>
          <a:xfrm>
            <a:off x="548640" y="3259836"/>
            <a:ext cx="8046720" cy="320040"/>
          </a:xfrm>
          <a:prstGeom prst="rect">
            <a:avLst/>
          </a:prstGeom>
          <a:noFill/>
          <a:ln/>
        </p:spPr>
        <p:txBody>
          <a:bodyPr wrap="square" lIns="0" tIns="0" rIns="0" bIns="0" rtlCol="0" anchor="ctr"/>
          <a:lstStyle/>
          <a:p>
            <a:pPr indent="0" marL="0">
              <a:buNone/>
            </a:pPr>
            <a:r>
              <a:rPr lang="en-US" sz="1400" i="1" dirty="0">
                <a:solidFill>
                  <a:srgbClr val="0E1C42"/>
                </a:solidFill>
                <a:latin typeface="Calibri" pitchFamily="34" charset="0"/>
                <a:ea typeface="Calibri" pitchFamily="34" charset="-122"/>
                <a:cs typeface="Calibri" pitchFamily="34" charset="-120"/>
              </a:rPr>
              <a:t>“Miraz was furious about the Nurse’s tales, so he sent her away.”</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Spelling - Spelling</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Shape 2"/>
          <p:cNvSpPr/>
          <p:nvPr/>
        </p:nvSpPr>
        <p:spPr>
          <a:xfrm>
            <a:off x="6492240" y="173736"/>
            <a:ext cx="2286000" cy="502920"/>
          </a:xfrm>
          <a:prstGeom prst="roundRect">
            <a:avLst>
              <a:gd name="adj" fmla="val 21818"/>
            </a:avLst>
          </a:prstGeom>
          <a:solidFill>
            <a:srgbClr val="5CC9A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SORT THE WORDS</a:t>
            </a:r>
            <a:endParaRPr lang="en-US" sz="1100" dirty="0"/>
          </a:p>
        </p:txBody>
      </p:sp>
      <p:sp>
        <p:nvSpPr>
          <p:cNvPr id="7" name="Shape 5"/>
          <p:cNvSpPr/>
          <p:nvPr/>
        </p:nvSpPr>
        <p:spPr>
          <a:xfrm>
            <a:off x="365760" y="1024128"/>
            <a:ext cx="8412480" cy="685800"/>
          </a:xfrm>
          <a:prstGeom prst="roundRect">
            <a:avLst>
              <a:gd name="adj" fmla="val 13333"/>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078992"/>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WORD BANK</a:t>
            </a:r>
            <a:endParaRPr lang="en-US" sz="1100" dirty="0"/>
          </a:p>
        </p:txBody>
      </p:sp>
      <p:sp>
        <p:nvSpPr>
          <p:cNvPr id="9" name="Text 7"/>
          <p:cNvSpPr/>
          <p:nvPr/>
        </p:nvSpPr>
        <p:spPr>
          <a:xfrm>
            <a:off x="594360" y="1325880"/>
            <a:ext cx="7863840" cy="320040"/>
          </a:xfrm>
          <a:prstGeom prst="rect">
            <a:avLst/>
          </a:prstGeom>
          <a:noFill/>
          <a:ln/>
        </p:spPr>
        <p:txBody>
          <a:bodyPr wrap="square" lIns="0" tIns="0" rIns="0" bIns="0" rtlCol="0" anchor="ctr"/>
          <a:lstStyle/>
          <a:p>
            <a:pPr indent="0" marL="0">
              <a:buNone/>
            </a:pPr>
            <a:r>
              <a:rPr lang="en-US" sz="1600" b="1" dirty="0">
                <a:solidFill>
                  <a:srgbClr val="0E1C42"/>
                </a:solidFill>
                <a:latin typeface="Calibri" pitchFamily="34" charset="0"/>
                <a:ea typeface="Calibri" pitchFamily="34" charset="-122"/>
                <a:cs typeface="Calibri" pitchFamily="34" charset="-120"/>
              </a:rPr>
              <a:t>education   -   conversation   -   wonderful   -   happiness   -   dangerous   -   mysterious</a:t>
            </a:r>
            <a:endParaRPr lang="en-US" sz="1600" dirty="0"/>
          </a:p>
        </p:txBody>
      </p:sp>
      <p:sp>
        <p:nvSpPr>
          <p:cNvPr id="10" name="Text 8"/>
          <p:cNvSpPr/>
          <p:nvPr/>
        </p:nvSpPr>
        <p:spPr>
          <a:xfrm>
            <a:off x="365760" y="187452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SORT INTO GROUPS</a:t>
            </a:r>
            <a:endParaRPr lang="en-US" sz="1100" dirty="0"/>
          </a:p>
        </p:txBody>
      </p:sp>
      <p:sp>
        <p:nvSpPr>
          <p:cNvPr id="11" name="Shape 9"/>
          <p:cNvSpPr/>
          <p:nvPr/>
        </p:nvSpPr>
        <p:spPr>
          <a:xfrm>
            <a:off x="365760" y="2176272"/>
            <a:ext cx="4114800" cy="1051560"/>
          </a:xfrm>
          <a:prstGeom prst="roundRect">
            <a:avLst>
              <a:gd name="adj" fmla="val 8696"/>
            </a:avLst>
          </a:prstGeom>
          <a:solidFill>
            <a:srgbClr val="E8F8EF"/>
          </a:solidFill>
          <a:ln w="19050">
            <a:solidFill>
              <a:srgbClr val="4A7C2E"/>
            </a:solidFill>
            <a:prstDash val="solid"/>
          </a:ln>
        </p:spPr>
      </p:sp>
      <p:sp>
        <p:nvSpPr>
          <p:cNvPr id="12" name="Text 10"/>
          <p:cNvSpPr/>
          <p:nvPr/>
        </p:nvSpPr>
        <p:spPr>
          <a:xfrm>
            <a:off x="502920" y="2286000"/>
            <a:ext cx="3840480" cy="411480"/>
          </a:xfrm>
          <a:prstGeom prst="rect">
            <a:avLst/>
          </a:prstGeom>
          <a:noFill/>
          <a:ln/>
        </p:spPr>
        <p:txBody>
          <a:bodyPr wrap="square" lIns="0" tIns="0" rIns="0" bIns="0" rtlCol="0" anchor="ctr"/>
          <a:lstStyle/>
          <a:p>
            <a:pPr indent="0" marL="0">
              <a:buNone/>
            </a:pPr>
            <a:r>
              <a:rPr lang="en-US" sz="1300" b="1" dirty="0">
                <a:solidFill>
                  <a:srgbClr val="4A7C2E"/>
                </a:solidFill>
                <a:latin typeface="Calibri" pitchFamily="34" charset="0"/>
                <a:ea typeface="Calibri" pitchFamily="34" charset="-122"/>
                <a:cs typeface="Calibri" pitchFamily="34" charset="-120"/>
              </a:rPr>
              <a:t>-tion</a:t>
            </a:r>
            <a:endParaRPr lang="en-US" sz="1300" dirty="0"/>
          </a:p>
        </p:txBody>
      </p:sp>
      <p:sp>
        <p:nvSpPr>
          <p:cNvPr id="13" name="Shape 11"/>
          <p:cNvSpPr/>
          <p:nvPr/>
        </p:nvSpPr>
        <p:spPr>
          <a:xfrm>
            <a:off x="4800600" y="2176272"/>
            <a:ext cx="4114800" cy="1051560"/>
          </a:xfrm>
          <a:prstGeom prst="roundRect">
            <a:avLst>
              <a:gd name="adj" fmla="val 8696"/>
            </a:avLst>
          </a:prstGeom>
          <a:solidFill>
            <a:srgbClr val="F0E8FF"/>
          </a:solidFill>
          <a:ln w="19050">
            <a:solidFill>
              <a:srgbClr val="5C2D91"/>
            </a:solidFill>
            <a:prstDash val="solid"/>
          </a:ln>
        </p:spPr>
      </p:sp>
      <p:sp>
        <p:nvSpPr>
          <p:cNvPr id="14" name="Text 12"/>
          <p:cNvSpPr/>
          <p:nvPr/>
        </p:nvSpPr>
        <p:spPr>
          <a:xfrm>
            <a:off x="4937760" y="2286000"/>
            <a:ext cx="3840480" cy="411480"/>
          </a:xfrm>
          <a:prstGeom prst="rect">
            <a:avLst/>
          </a:prstGeom>
          <a:noFill/>
          <a:ln/>
        </p:spPr>
        <p:txBody>
          <a:bodyPr wrap="square" lIns="0" tIns="0" rIns="0" bIns="0" rtlCol="0" anchor="ctr"/>
          <a:lstStyle/>
          <a:p>
            <a:pPr indent="0" marL="0">
              <a:buNone/>
            </a:pPr>
            <a:r>
              <a:rPr lang="en-US" sz="1300" b="1" dirty="0">
                <a:solidFill>
                  <a:srgbClr val="5C2D91"/>
                </a:solidFill>
                <a:latin typeface="Calibri" pitchFamily="34" charset="0"/>
                <a:ea typeface="Calibri" pitchFamily="34" charset="-122"/>
                <a:cs typeface="Calibri" pitchFamily="34" charset="-120"/>
              </a:rPr>
              <a:t>-ful / -ness</a:t>
            </a:r>
            <a:endParaRPr lang="en-US" sz="1300" dirty="0"/>
          </a:p>
        </p:txBody>
      </p:sp>
      <p:sp>
        <p:nvSpPr>
          <p:cNvPr id="15" name="Shape 13"/>
          <p:cNvSpPr/>
          <p:nvPr/>
        </p:nvSpPr>
        <p:spPr>
          <a:xfrm>
            <a:off x="365760" y="3364992"/>
            <a:ext cx="4114800" cy="1051560"/>
          </a:xfrm>
          <a:prstGeom prst="roundRect">
            <a:avLst>
              <a:gd name="adj" fmla="val 8696"/>
            </a:avLst>
          </a:prstGeom>
          <a:solidFill>
            <a:srgbClr val="FEF6E8"/>
          </a:solidFill>
          <a:ln w="19050">
            <a:solidFill>
              <a:srgbClr val="B8860B"/>
            </a:solidFill>
            <a:prstDash val="solid"/>
          </a:ln>
        </p:spPr>
      </p:sp>
      <p:sp>
        <p:nvSpPr>
          <p:cNvPr id="16" name="Text 14"/>
          <p:cNvSpPr/>
          <p:nvPr/>
        </p:nvSpPr>
        <p:spPr>
          <a:xfrm>
            <a:off x="502920" y="3474720"/>
            <a:ext cx="3840480" cy="411480"/>
          </a:xfrm>
          <a:prstGeom prst="rect">
            <a:avLst/>
          </a:prstGeom>
          <a:noFill/>
          <a:ln/>
        </p:spPr>
        <p:txBody>
          <a:bodyPr wrap="square" lIns="0" tIns="0" rIns="0" bIns="0" rtlCol="0" anchor="ctr"/>
          <a:lstStyle/>
          <a:p>
            <a:pPr indent="0" marL="0">
              <a:buNone/>
            </a:pPr>
            <a:r>
              <a:rPr lang="en-US" sz="1300" b="1" dirty="0">
                <a:solidFill>
                  <a:srgbClr val="B8860B"/>
                </a:solidFill>
                <a:latin typeface="Calibri" pitchFamily="34" charset="0"/>
                <a:ea typeface="Calibri" pitchFamily="34" charset="-122"/>
                <a:cs typeface="Calibri" pitchFamily="34" charset="-120"/>
              </a:rPr>
              <a:t>-ous / -ly</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Spelling - Spelling</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Shape 2"/>
          <p:cNvSpPr/>
          <p:nvPr/>
        </p:nvSpPr>
        <p:spPr>
          <a:xfrm>
            <a:off x="6492240" y="173736"/>
            <a:ext cx="2286000" cy="502920"/>
          </a:xfrm>
          <a:prstGeom prst="roundRect">
            <a:avLst>
              <a:gd name="adj" fmla="val 21818"/>
            </a:avLst>
          </a:prstGeom>
          <a:solidFill>
            <a:srgbClr val="5CC9A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SORTED</a:t>
            </a:r>
            <a:endParaRPr lang="en-US" sz="1100" dirty="0"/>
          </a:p>
        </p:txBody>
      </p:sp>
      <p:sp>
        <p:nvSpPr>
          <p:cNvPr id="7" name="Shape 5"/>
          <p:cNvSpPr/>
          <p:nvPr/>
        </p:nvSpPr>
        <p:spPr>
          <a:xfrm>
            <a:off x="365760" y="1024128"/>
            <a:ext cx="2651760" cy="1106424"/>
          </a:xfrm>
          <a:prstGeom prst="roundRect">
            <a:avLst>
              <a:gd name="adj" fmla="val 8264"/>
            </a:avLst>
          </a:prstGeom>
          <a:solidFill>
            <a:srgbClr val="E8F8EF"/>
          </a:solidFill>
          <a:ln w="19050">
            <a:solidFill>
              <a:srgbClr val="4A7C2E"/>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02920" y="1097280"/>
            <a:ext cx="2377440" cy="347472"/>
          </a:xfrm>
          <a:prstGeom prst="rect">
            <a:avLst/>
          </a:prstGeom>
          <a:noFill/>
          <a:ln/>
        </p:spPr>
        <p:txBody>
          <a:bodyPr wrap="square" lIns="0" tIns="0" rIns="0" bIns="0" rtlCol="0" anchor="ctr"/>
          <a:lstStyle/>
          <a:p>
            <a:pPr indent="0" marL="0">
              <a:buNone/>
            </a:pPr>
            <a:r>
              <a:rPr lang="en-US" sz="1200" b="1" dirty="0">
                <a:solidFill>
                  <a:srgbClr val="4A7C2E"/>
                </a:solidFill>
                <a:latin typeface="Calibri" pitchFamily="34" charset="0"/>
                <a:ea typeface="Calibri" pitchFamily="34" charset="-122"/>
                <a:cs typeface="Calibri" pitchFamily="34" charset="-120"/>
              </a:rPr>
              <a:t>-tion</a:t>
            </a:r>
            <a:endParaRPr lang="en-US" sz="1200" dirty="0"/>
          </a:p>
        </p:txBody>
      </p:sp>
      <p:sp>
        <p:nvSpPr>
          <p:cNvPr id="9" name="Text 7"/>
          <p:cNvSpPr/>
          <p:nvPr/>
        </p:nvSpPr>
        <p:spPr>
          <a:xfrm>
            <a:off x="594360" y="1463040"/>
            <a:ext cx="228600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education</a:t>
            </a:r>
            <a:endParaRPr lang="en-US" sz="1400" dirty="0"/>
          </a:p>
        </p:txBody>
      </p:sp>
      <p:sp>
        <p:nvSpPr>
          <p:cNvPr id="10" name="Text 8"/>
          <p:cNvSpPr/>
          <p:nvPr/>
        </p:nvSpPr>
        <p:spPr>
          <a:xfrm>
            <a:off x="594360" y="1810512"/>
            <a:ext cx="228600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conversation</a:t>
            </a:r>
            <a:endParaRPr lang="en-US" sz="1400" dirty="0"/>
          </a:p>
        </p:txBody>
      </p:sp>
      <p:sp>
        <p:nvSpPr>
          <p:cNvPr id="11" name="Shape 9"/>
          <p:cNvSpPr/>
          <p:nvPr/>
        </p:nvSpPr>
        <p:spPr>
          <a:xfrm>
            <a:off x="3218688" y="1024128"/>
            <a:ext cx="2651760" cy="1106424"/>
          </a:xfrm>
          <a:prstGeom prst="roundRect">
            <a:avLst>
              <a:gd name="adj" fmla="val 8264"/>
            </a:avLst>
          </a:prstGeom>
          <a:solidFill>
            <a:srgbClr val="F0E8FF"/>
          </a:solidFill>
          <a:ln w="19050">
            <a:solidFill>
              <a:srgbClr val="5C2D91"/>
            </a:solidFill>
            <a:prstDash val="solid"/>
          </a:ln>
          <a:effectLst>
            <a:outerShdw sx="100000" sy="100000" kx="0" ky="0" algn="bl" rotWithShape="0" blurRad="101600" dist="38100" dir="2700000">
              <a:srgbClr val="000000">
                <a:alpha val="12000"/>
              </a:srgbClr>
            </a:outerShdw>
          </a:effectLst>
        </p:spPr>
      </p:sp>
      <p:sp>
        <p:nvSpPr>
          <p:cNvPr id="12" name="Text 10"/>
          <p:cNvSpPr/>
          <p:nvPr/>
        </p:nvSpPr>
        <p:spPr>
          <a:xfrm>
            <a:off x="3355848" y="1097280"/>
            <a:ext cx="2377440" cy="347472"/>
          </a:xfrm>
          <a:prstGeom prst="rect">
            <a:avLst/>
          </a:prstGeom>
          <a:noFill/>
          <a:ln/>
        </p:spPr>
        <p:txBody>
          <a:bodyPr wrap="square" lIns="0" tIns="0" rIns="0" bIns="0" rtlCol="0" anchor="ctr"/>
          <a:lstStyle/>
          <a:p>
            <a:pPr indent="0" marL="0">
              <a:buNone/>
            </a:pPr>
            <a:r>
              <a:rPr lang="en-US" sz="1200" b="1" dirty="0">
                <a:solidFill>
                  <a:srgbClr val="5C2D91"/>
                </a:solidFill>
                <a:latin typeface="Calibri" pitchFamily="34" charset="0"/>
                <a:ea typeface="Calibri" pitchFamily="34" charset="-122"/>
                <a:cs typeface="Calibri" pitchFamily="34" charset="-120"/>
              </a:rPr>
              <a:t>-ful / -ness</a:t>
            </a:r>
            <a:endParaRPr lang="en-US" sz="1200" dirty="0"/>
          </a:p>
        </p:txBody>
      </p:sp>
      <p:sp>
        <p:nvSpPr>
          <p:cNvPr id="13" name="Text 11"/>
          <p:cNvSpPr/>
          <p:nvPr/>
        </p:nvSpPr>
        <p:spPr>
          <a:xfrm>
            <a:off x="3447288" y="1463040"/>
            <a:ext cx="228600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wonderful</a:t>
            </a:r>
            <a:endParaRPr lang="en-US" sz="1400" dirty="0"/>
          </a:p>
        </p:txBody>
      </p:sp>
      <p:sp>
        <p:nvSpPr>
          <p:cNvPr id="14" name="Text 12"/>
          <p:cNvSpPr/>
          <p:nvPr/>
        </p:nvSpPr>
        <p:spPr>
          <a:xfrm>
            <a:off x="3447288" y="1810512"/>
            <a:ext cx="228600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happiness</a:t>
            </a:r>
            <a:endParaRPr lang="en-US" sz="1400" dirty="0"/>
          </a:p>
        </p:txBody>
      </p:sp>
      <p:sp>
        <p:nvSpPr>
          <p:cNvPr id="15" name="Shape 13"/>
          <p:cNvSpPr/>
          <p:nvPr/>
        </p:nvSpPr>
        <p:spPr>
          <a:xfrm>
            <a:off x="6071616" y="1024128"/>
            <a:ext cx="2651760" cy="1106424"/>
          </a:xfrm>
          <a:prstGeom prst="roundRect">
            <a:avLst>
              <a:gd name="adj" fmla="val 8264"/>
            </a:avLst>
          </a:prstGeom>
          <a:solidFill>
            <a:srgbClr val="FEF6E8"/>
          </a:solidFill>
          <a:ln w="19050">
            <a:solidFill>
              <a:srgbClr val="B8860B"/>
            </a:solidFill>
            <a:prstDash val="solid"/>
          </a:ln>
          <a:effectLst>
            <a:outerShdw sx="100000" sy="100000" kx="0" ky="0" algn="bl" rotWithShape="0" blurRad="101600" dist="38100" dir="2700000">
              <a:srgbClr val="000000">
                <a:alpha val="12000"/>
              </a:srgbClr>
            </a:outerShdw>
          </a:effectLst>
        </p:spPr>
      </p:sp>
      <p:sp>
        <p:nvSpPr>
          <p:cNvPr id="16" name="Text 14"/>
          <p:cNvSpPr/>
          <p:nvPr/>
        </p:nvSpPr>
        <p:spPr>
          <a:xfrm>
            <a:off x="6208776" y="1097280"/>
            <a:ext cx="2377440" cy="347472"/>
          </a:xfrm>
          <a:prstGeom prst="rect">
            <a:avLst/>
          </a:prstGeom>
          <a:noFill/>
          <a:ln/>
        </p:spPr>
        <p:txBody>
          <a:bodyPr wrap="square" lIns="0" tIns="0" rIns="0" bIns="0" rtlCol="0" anchor="ctr"/>
          <a:lstStyle/>
          <a:p>
            <a:pPr indent="0" marL="0">
              <a:buNone/>
            </a:pPr>
            <a:r>
              <a:rPr lang="en-US" sz="1200" b="1" dirty="0">
                <a:solidFill>
                  <a:srgbClr val="B8860B"/>
                </a:solidFill>
                <a:latin typeface="Calibri" pitchFamily="34" charset="0"/>
                <a:ea typeface="Calibri" pitchFamily="34" charset="-122"/>
                <a:cs typeface="Calibri" pitchFamily="34" charset="-120"/>
              </a:rPr>
              <a:t>-ous / -ly</a:t>
            </a:r>
            <a:endParaRPr lang="en-US" sz="1200" dirty="0"/>
          </a:p>
        </p:txBody>
      </p:sp>
      <p:sp>
        <p:nvSpPr>
          <p:cNvPr id="17" name="Text 15"/>
          <p:cNvSpPr/>
          <p:nvPr/>
        </p:nvSpPr>
        <p:spPr>
          <a:xfrm>
            <a:off x="6300216" y="1463040"/>
            <a:ext cx="228600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dangerous</a:t>
            </a:r>
            <a:endParaRPr lang="en-US" sz="1400" dirty="0"/>
          </a:p>
        </p:txBody>
      </p:sp>
      <p:sp>
        <p:nvSpPr>
          <p:cNvPr id="18" name="Text 16"/>
          <p:cNvSpPr/>
          <p:nvPr/>
        </p:nvSpPr>
        <p:spPr>
          <a:xfrm>
            <a:off x="6300216" y="1810512"/>
            <a:ext cx="228600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mysterious</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Reading - Chapter 4</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Text 2"/>
          <p:cNvSpPr/>
          <p:nvPr/>
        </p:nvSpPr>
        <p:spPr>
          <a:xfrm>
            <a:off x="457200" y="841248"/>
            <a:ext cx="8229600" cy="502920"/>
          </a:xfrm>
          <a:prstGeom prst="rect">
            <a:avLst/>
          </a:prstGeom>
          <a:noFill/>
          <a:ln/>
        </p:spPr>
        <p:txBody>
          <a:bodyPr wrap="square" lIns="0" tIns="0" rIns="0" bIns="0" rtlCol="0" anchor="ctr"/>
          <a:lstStyle/>
          <a:p>
            <a:pPr indent="0" marL="0">
              <a:buNone/>
            </a:pPr>
            <a:r>
              <a:rPr lang="en-US" sz="1700" b="1" i="1" dirty="0">
                <a:solidFill>
                  <a:srgbClr val="0E1C42"/>
                </a:solidFill>
                <a:latin typeface="Calibri" pitchFamily="34" charset="0"/>
                <a:ea typeface="Calibri" pitchFamily="34" charset="-122"/>
                <a:cs typeface="Calibri" pitchFamily="34" charset="-120"/>
              </a:rPr>
              <a:t>The Dwarf Tells of Prince Caspian</a:t>
            </a:r>
            <a:endParaRPr lang="en-US" sz="1700" dirty="0"/>
          </a:p>
        </p:txBody>
      </p:sp>
      <p:sp>
        <p:nvSpPr>
          <p:cNvPr id="5" name="Text 3"/>
          <p:cNvSpPr/>
          <p:nvPr/>
        </p:nvSpPr>
        <p:spPr>
          <a:xfrm>
            <a:off x="365760" y="146304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PAUSE &amp; THINK</a:t>
            </a:r>
            <a:endParaRPr lang="en-US" sz="1100" dirty="0"/>
          </a:p>
        </p:txBody>
      </p:sp>
      <p:sp>
        <p:nvSpPr>
          <p:cNvPr id="6" name="Shape 4"/>
          <p:cNvSpPr/>
          <p:nvPr/>
        </p:nvSpPr>
        <p:spPr>
          <a:xfrm>
            <a:off x="365760" y="1719072"/>
            <a:ext cx="8412480" cy="82296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810512"/>
            <a:ext cx="786384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1.  Look at the base words and their suffixed forms. Does the base word stay the same, or does something change? What happens to the “e” in “educate”? What happens to the “y” in “happy”?</a:t>
            </a:r>
            <a:endParaRPr lang="en-US" sz="1400" dirty="0"/>
          </a:p>
        </p:txBody>
      </p:sp>
      <p:sp>
        <p:nvSpPr>
          <p:cNvPr id="8" name="Shape 6"/>
          <p:cNvSpPr/>
          <p:nvPr/>
        </p:nvSpPr>
        <p:spPr>
          <a:xfrm>
            <a:off x="365760" y="2651760"/>
            <a:ext cx="8412480" cy="685800"/>
          </a:xfrm>
          <a:prstGeom prst="roundRect">
            <a:avLst>
              <a:gd name="adj" fmla="val 10667"/>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9" name="Text 7"/>
          <p:cNvSpPr/>
          <p:nvPr/>
        </p:nvSpPr>
        <p:spPr>
          <a:xfrm>
            <a:off x="594360" y="2743200"/>
            <a:ext cx="7863840" cy="50292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2.  Miraz forbids Caspian from talking about Old Narnia. Why would a king be afraid of old stories?</a:t>
            </a:r>
            <a:endParaRPr lang="en-US" sz="1400" dirty="0"/>
          </a:p>
        </p:txBody>
      </p:sp>
      <p:sp>
        <p:nvSpPr>
          <p:cNvPr id="10" name="Shape 8"/>
          <p:cNvSpPr/>
          <p:nvPr/>
        </p:nvSpPr>
        <p:spPr>
          <a:xfrm>
            <a:off x="365760" y="3447288"/>
            <a:ext cx="8412480" cy="82296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11" name="Text 9"/>
          <p:cNvSpPr/>
          <p:nvPr/>
        </p:nvSpPr>
        <p:spPr>
          <a:xfrm>
            <a:off x="594360" y="3538728"/>
            <a:ext cx="786384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3.  Doctor Cornelius teaches Caspian the truth at night, in secret, on top of a tower. Why does Lewis set this scene at night? What does the secrecy tell you?</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Writer's Workshop</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WRITING STAGE</a:t>
            </a:r>
            <a:endParaRPr lang="en-US" sz="1100" dirty="0"/>
          </a:p>
        </p:txBody>
      </p:sp>
      <p:sp>
        <p:nvSpPr>
          <p:cNvPr id="5" name="Shape 3"/>
          <p:cNvSpPr/>
          <p:nvPr/>
        </p:nvSpPr>
        <p:spPr>
          <a:xfrm>
            <a:off x="365760" y="1042416"/>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133856"/>
            <a:ext cx="7863840" cy="475488"/>
          </a:xfrm>
          <a:prstGeom prst="rect">
            <a:avLst/>
          </a:prstGeom>
          <a:noFill/>
          <a:ln/>
        </p:spPr>
        <p:txBody>
          <a:bodyPr wrap="square" lIns="0" tIns="0" rIns="0" bIns="0" rtlCol="0" anchor="ctr"/>
          <a:lstStyle/>
          <a:p>
            <a:pPr indent="0" marL="0">
              <a:buNone/>
            </a:pPr>
            <a:r>
              <a:rPr lang="en-US" sz="2200" b="1" dirty="0">
                <a:solidFill>
                  <a:srgbClr val="C7922C"/>
                </a:solidFill>
                <a:latin typeface="Calibri" pitchFamily="34" charset="0"/>
                <a:ea typeface="Calibri" pitchFamily="34" charset="-122"/>
                <a:cs typeface="Calibri" pitchFamily="34" charset="-120"/>
              </a:rPr>
              <a:t>Literary Analysis — Gathering Evidence</a:t>
            </a:r>
            <a:endParaRPr lang="en-US" sz="2200" dirty="0"/>
          </a:p>
        </p:txBody>
      </p:sp>
      <p:sp>
        <p:nvSpPr>
          <p:cNvPr id="7" name="Text 5"/>
          <p:cNvSpPr/>
          <p:nvPr/>
        </p:nvSpPr>
        <p:spPr>
          <a:xfrm>
            <a:off x="365760" y="182880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TODAY'S FOCUS</a:t>
            </a:r>
            <a:endParaRPr lang="en-US" sz="1100" dirty="0"/>
          </a:p>
        </p:txBody>
      </p:sp>
      <p:sp>
        <p:nvSpPr>
          <p:cNvPr id="8" name="Text 6"/>
          <p:cNvSpPr/>
          <p:nvPr/>
        </p:nvSpPr>
        <p:spPr>
          <a:xfrm>
            <a:off x="457200" y="2084832"/>
            <a:ext cx="8229600" cy="59436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Record a detail about Caspian’s character. Add it to your evidence notes if he’s your focus.</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2026-07-11T22:29:48Z</dcterms:created>
  <dcterms:modified xsi:type="dcterms:W3CDTF">2026-07-11T22:29:48Z</dcterms:modified>
</cp:coreProperties>
</file>