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12,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Apply an embedded descriptive phrase (set off by commas) to add emotion without a separate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Apply an embedded descriptive phrase (set off by commas) to add emotion without a separate sentence.. Level-up: ⭐ Use one comma-set-off phrase  ⭐⭐ Place it in the middle of the sentence, not just the start  ⭐⭐⭐ Make sure it describes emotion, not just action  ⭐⭐⭐⭐ Keep the whole sentence grammatically smooth.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plain action sentence. Try inserting a comma-set-off phrase in the middle to add emotion..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sentence with the embedded emotional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Matthew surprised Anne by insisting she get the puffed sleeves she always wanted. Today: Learn about vanity and the consequences of trying to change your looks.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"Marilla saw the green hair and gasped in horror."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sank to the floor and wept she had ruined her hair" Corrected: "Anne sank to the floor and wept. She had ruined her 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"anne sank to the floor and wept she had ruined her hair" Corrected: "Anne sank to the floor and wept. She had ruined her hair."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vanity: Too much pride in how one looks; caring too much about appearance. | epoch: A memorable period of time; a turning point. | implicitly: Without questioning; trusting completely. | diligent: Working hard and carefully; not giving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flat sank in midstream." -&gt; sank | "Gilbert came along in Mr. Andrews’ dory." -&gt; came | "Anne sang ‘Nelly of the Hazel Dell.’" -&gt; sang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"The flat sank in midstream." -&gt; sank | "Gilbert came along in Mr. Andrews’ dory." -&gt; came | "Anne sang ‘Nelly of the Hazel Dell.’" -&gt; sang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driving, baked, smiling | Keep the e: changeable, outrageous, peaceable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Drop the e: driving, baked, smiling | Keep the e: changeable, outrageous, peaceable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27-28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"“Anne, with tears of disappointment in her eyes, got Diana’s hat and went with her as far as the Barry yard fence.”"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Revise &amp; Publish
Focus: Revise for vivid word choice and sensory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12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27-28</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Vanity and Vexation of Spirit</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12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saw the green hair and gasped in horror.</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"Anne, with tears of disappointment in her eyes, got Diana’s hat and went sorrowfully home."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Notice the phrase set off by commas in the middle of this sentence — what does it add without stopping the action?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77824"/>
          </a:xfrm>
          <a:prstGeom prst="roundRect">
            <a:avLst>
              <a:gd name="adj" fmla="val 10417"/>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86384"/>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sentence where your character does something simple (walks, sits, leaves), but insert a comma-set-off phrase in the middle describing their emotional state, the way the mentor sentence does.</a:t>
            </a:r>
            <a:endParaRPr lang="en-US" sz="1200" dirty="0"/>
          </a:p>
        </p:txBody>
      </p:sp>
      <p:sp>
        <p:nvSpPr>
          <p:cNvPr id="6" name="Shape 4"/>
          <p:cNvSpPr/>
          <p:nvPr/>
        </p:nvSpPr>
        <p:spPr>
          <a:xfrm>
            <a:off x="457200" y="2176272"/>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231136"/>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Apply an embedded descriptive phrase (set off by commas) to add emotion without a separate sentence.</a:t>
            </a:r>
            <a:endParaRPr lang="en-US" sz="1300" dirty="0"/>
          </a:p>
        </p:txBody>
      </p:sp>
      <p:sp>
        <p:nvSpPr>
          <p:cNvPr id="8" name="Text 6"/>
          <p:cNvSpPr/>
          <p:nvPr/>
        </p:nvSpPr>
        <p:spPr>
          <a:xfrm>
            <a:off x="548640" y="2923032"/>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Use one comma-set-off phrase  ⭐⭐ Place it in the middle of the sentence, not just the start  ⭐⭐⭐ Make sure it describes emotion, not just action  ⭐⭐⭐⭐ Keep the whole sentence grammatically smooth</a:t>
            </a:r>
            <a:endParaRPr lang="en-US" sz="1150" dirty="0"/>
          </a:p>
        </p:txBody>
      </p:sp>
      <p:sp>
        <p:nvSpPr>
          <p:cNvPr id="9" name="Text 7"/>
          <p:cNvSpPr/>
          <p:nvPr/>
        </p:nvSpPr>
        <p:spPr>
          <a:xfrm>
            <a:off x="548640" y="3620262"/>
            <a:ext cx="8046720" cy="140893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plain action sentence. Try inserting a comma-set-off phrase in the middle to add emotion.</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sentence with the embedded emotional phrase.</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Matthew surprised Anne by insisting she get the puffed sleeves she always wanted.</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Learn about vanity and the consequences of trying to change your looks.</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Marilla saw the green hair and gasped in horror.</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sank to the floor and wept she had ruined her hair</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anne sank to the floor and wept she had ruined her hair</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Anne sank to the floor and wept. She had ruined her hair.</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vanity</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Too much pride in how one looks; caring too much about appearance.</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epoch</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A memorable period of time; a turning point.</a:t>
            </a:r>
            <a:endParaRPr lang="en-US" sz="1100" dirty="0"/>
          </a:p>
        </p:txBody>
      </p:sp>
      <p:sp>
        <p:nvSpPr>
          <p:cNvPr id="11" name="Shape 9"/>
          <p:cNvSpPr/>
          <p:nvPr/>
        </p:nvSpPr>
        <p:spPr>
          <a:xfrm>
            <a:off x="32004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implicitly</a:t>
            </a:r>
            <a:endParaRPr lang="en-US" sz="1400" dirty="0"/>
          </a:p>
        </p:txBody>
      </p:sp>
      <p:sp>
        <p:nvSpPr>
          <p:cNvPr id="13" name="Text 11"/>
          <p:cNvSpPr/>
          <p:nvPr/>
        </p:nvSpPr>
        <p:spPr>
          <a:xfrm>
            <a:off x="45720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Without questioning; trusting completely.</a:t>
            </a:r>
            <a:endParaRPr lang="en-US" sz="1100" dirty="0"/>
          </a:p>
        </p:txBody>
      </p:sp>
      <p:sp>
        <p:nvSpPr>
          <p:cNvPr id="14" name="Shape 12"/>
          <p:cNvSpPr/>
          <p:nvPr/>
        </p:nvSpPr>
        <p:spPr>
          <a:xfrm>
            <a:off x="457200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diligent</a:t>
            </a:r>
            <a:endParaRPr lang="en-US" sz="1400" dirty="0"/>
          </a:p>
        </p:txBody>
      </p:sp>
      <p:sp>
        <p:nvSpPr>
          <p:cNvPr id="16" name="Text 14"/>
          <p:cNvSpPr/>
          <p:nvPr/>
        </p:nvSpPr>
        <p:spPr>
          <a:xfrm>
            <a:off x="470916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Working hard and carefully; not giving up.</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flat sank in midstream.</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came along in Mr. Andrews’ dory.</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sang ‘Nelly of the Hazel Dell.’</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Irregular Past-Tense Verbs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The flat </a:t>
            </a:r>
            <a:pPr indent="0" marL="0">
              <a:buNone/>
            </a:pPr>
            <a:r>
              <a:rPr lang="en-US" sz="1500" b="1" u="sng" dirty="0">
                <a:solidFill>
                  <a:srgbClr val="34B76F"/>
                </a:solidFill>
                <a:latin typeface="Calibri" pitchFamily="34" charset="0"/>
                <a:ea typeface="Calibri" pitchFamily="34" charset="-122"/>
                <a:cs typeface="Calibri" pitchFamily="34" charset="-120"/>
              </a:rPr>
              <a:t>sank</a:t>
            </a:r>
            <a:pPr indent="0" marL="0">
              <a:buNone/>
            </a:pPr>
            <a:r>
              <a:rPr lang="en-US" sz="1500" dirty="0">
                <a:solidFill>
                  <a:srgbClr val="1E293B"/>
                </a:solidFill>
                <a:latin typeface="Calibri" pitchFamily="34" charset="0"/>
                <a:ea typeface="Calibri" pitchFamily="34" charset="-122"/>
                <a:cs typeface="Calibri" pitchFamily="34" charset="-120"/>
              </a:rPr>
              <a:t> in midstream.</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Gilbert </a:t>
            </a:r>
            <a:pPr indent="0" marL="0">
              <a:buNone/>
            </a:pPr>
            <a:r>
              <a:rPr lang="en-US" sz="1500" b="1" u="sng" dirty="0">
                <a:solidFill>
                  <a:srgbClr val="34B76F"/>
                </a:solidFill>
                <a:latin typeface="Calibri" pitchFamily="34" charset="0"/>
                <a:ea typeface="Calibri" pitchFamily="34" charset="-122"/>
                <a:cs typeface="Calibri" pitchFamily="34" charset="-120"/>
              </a:rPr>
              <a:t>came</a:t>
            </a:r>
            <a:pPr indent="0" marL="0">
              <a:buNone/>
            </a:pPr>
            <a:r>
              <a:rPr lang="en-US" sz="1500" dirty="0">
                <a:solidFill>
                  <a:srgbClr val="1E293B"/>
                </a:solidFill>
                <a:latin typeface="Calibri" pitchFamily="34" charset="0"/>
                <a:ea typeface="Calibri" pitchFamily="34" charset="-122"/>
                <a:cs typeface="Calibri" pitchFamily="34" charset="-120"/>
              </a:rPr>
              <a:t> along in Mr. Andrews’ dory.</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a:t>
            </a:r>
            <a:pPr indent="0" marL="0">
              <a:buNone/>
            </a:pPr>
            <a:r>
              <a:rPr lang="en-US" sz="1500" b="1" u="sng" dirty="0">
                <a:solidFill>
                  <a:srgbClr val="34B76F"/>
                </a:solidFill>
                <a:latin typeface="Calibri" pitchFamily="34" charset="0"/>
                <a:ea typeface="Calibri" pitchFamily="34" charset="-122"/>
                <a:cs typeface="Calibri" pitchFamily="34" charset="-120"/>
              </a:rPr>
              <a:t>sang</a:t>
            </a:r>
            <a:pPr indent="0" marL="0">
              <a:buNone/>
            </a:pPr>
            <a:r>
              <a:rPr lang="en-US" sz="1500" dirty="0">
                <a:solidFill>
                  <a:srgbClr val="1E293B"/>
                </a:solidFill>
                <a:latin typeface="Calibri" pitchFamily="34" charset="0"/>
                <a:ea typeface="Calibri" pitchFamily="34" charset="-122"/>
                <a:cs typeface="Calibri" pitchFamily="34" charset="-120"/>
              </a:rPr>
              <a:t> ‘Nelly of the Hazel Dell.’</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driving   -   baked   -   smiling   -   changeable   -   outrageous   -   peaceable</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Drop the e</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Keep the 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Keep e After ce/ge</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Drop the e</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driving</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baked</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smiling</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Keep the e</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changeable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outrageous</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peaceable</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27-28</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Vanity and Vexation of Spirit</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After Anne falls off the leaking flat playing Elaine, she tells Marilla: “The brooch cured me of meddling. The Haunted Wood cured me of letting my imagination run away. The liniment cake cured me of carelessness in cooking. Dyeing my hair cured me of vanity. And today’s mistake is going to cure me of being too romantic.” Anne is growing up not because she stops making mistakes — she is growing up because she can now NAME what each one has taught her.</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dyes her hair green because a peddler promised it would turn raven black. What does this scrape teach Anne about trusting strangers and about vanity?</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810768"/>
          </a:xfrm>
          <a:prstGeom prst="roundRect">
            <a:avLst>
              <a:gd name="adj" fmla="val 11278"/>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582168"/>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“Anne, with tears of disappointment in her eyes, got Diana’s hat and went with her as far as the Barry yard fence.”</a:t>
            </a:r>
            <a:endParaRPr lang="en-US" sz="1600" dirty="0"/>
          </a:p>
        </p:txBody>
      </p:sp>
      <p:sp>
        <p:nvSpPr>
          <p:cNvPr id="7" name="Text 5"/>
          <p:cNvSpPr/>
          <p:nvPr/>
        </p:nvSpPr>
        <p:spPr>
          <a:xfrm>
            <a:off x="365760" y="19812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237232"/>
            <a:ext cx="8412480" cy="731520"/>
          </a:xfrm>
          <a:prstGeom prst="roundRect">
            <a:avLst>
              <a:gd name="adj" fmla="val 12500"/>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301240"/>
            <a:ext cx="2651760" cy="603504"/>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301240"/>
            <a:ext cx="5303520" cy="603504"/>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is happening in this short sentence? Notice how much information Montgomery packs in — what is Anne feeling, what is she DOING, where do the two girls walk to?</a:t>
            </a:r>
            <a:endParaRPr lang="en-US" sz="1200" dirty="0"/>
          </a:p>
        </p:txBody>
      </p:sp>
      <p:sp>
        <p:nvSpPr>
          <p:cNvPr id="11" name="Shape 9"/>
          <p:cNvSpPr/>
          <p:nvPr/>
        </p:nvSpPr>
        <p:spPr>
          <a:xfrm>
            <a:off x="365760" y="3060192"/>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3124200"/>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3124200"/>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this sentence? She picks only the IMPORTANT details: tears, the hat, the yard fence</a:t>
            </a:r>
            <a:endParaRPr lang="en-US" sz="1200" dirty="0"/>
          </a:p>
        </p:txBody>
      </p:sp>
      <p:sp>
        <p:nvSpPr>
          <p:cNvPr id="14" name="Shape 12"/>
          <p:cNvSpPr/>
          <p:nvPr/>
        </p:nvSpPr>
        <p:spPr>
          <a:xfrm>
            <a:off x="365760" y="3681984"/>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74599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74599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Revise &amp; Publish</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Revise for vivid word choice and sensory detail.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