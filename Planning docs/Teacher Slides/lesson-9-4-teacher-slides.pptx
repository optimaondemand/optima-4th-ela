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9,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Explain and justify why a small moment can carry big emotional weight, then revise a reaction for realism.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Explain and justify why a small moment can carry big emotional weight, then revise a reaction for realism.. Level-up: ⭐ Explain the character’s sensitivity  ⭐⭐ Explain why the comment triggered it  ⭐⭐⭐ Compare it to a real feeling readers might recognize  ⭐⭐⭐⭐ Revise your character’s reaction to feel more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your character’s reaction to a small conflict. Make it more specific and 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the revised reaction and what makes it feel more real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confessed to something she did not actually do, just to make the adults stop questioning her. Today: Find out what causes a "tempest" in the schoolroom. Big Q: Anne names ordinary places with extraordinary names — The White Way of Delight, Lake of Shining Waters. What ordinary place in your life might you rename,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"“Carrots! Carrots!” Gilbert whispered to Anne."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"carrots gilbert called out anne grabbed her slate" Corrected: "“Carrots!” Gilbert called out. Anne grabbed her slate."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"carrots gilbert called out anne grabbed her slate" Corrected: "“Carrots!” Gilbert called out. Anne grabbed her slate."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Review-only vocab: solemn, resolute, enraptured, vindictive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schwa sound: Avonlea, kitchen, Diana, ocean | All vowels are clear: trees, brooch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schwa sound: Avonlea, kitchen, Diana, ocean | All vowels are clear: trees, brooch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Friendship Scene (wrap up)
Focus: Finish this section — how do the friends work through the misunderstanding?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9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15</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 Tempest in the Schoolroom</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9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"Carrots! Carrots!" Gilbert whispered to Anne.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a small, silly moment like a nickname become a big deal to a character who is sensitive about their appearance?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Explain why a small comment can hurt a character deeply, even if it was not meant to be cruel. Then revise a line of dialogue in your draft to make a character’s reaction feel more real.</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Explain and justify why a small moment can carry big emotional weight, then revise a reaction for realism.</a:t>
            </a:r>
            <a:endParaRPr lang="en-US" sz="1300" dirty="0"/>
          </a:p>
        </p:txBody>
      </p:sp>
      <p:sp>
        <p:nvSpPr>
          <p:cNvPr id="8" name="Text 6"/>
          <p:cNvSpPr/>
          <p:nvPr/>
        </p:nvSpPr>
        <p:spPr>
          <a:xfrm>
            <a:off x="548640" y="2923032"/>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Explain the character’s sensitivity  ⭐⭐ Explain why the comment triggered it  ⭐⭐⭐ Compare it to a real feeling readers might recognize  ⭐⭐⭐⭐ Revise your character’s reaction to feel more specific</a:t>
            </a:r>
            <a:endParaRPr lang="en-US" sz="1150" dirty="0"/>
          </a:p>
        </p:txBody>
      </p:sp>
      <p:sp>
        <p:nvSpPr>
          <p:cNvPr id="9" name="Text 7"/>
          <p:cNvSpPr/>
          <p:nvPr/>
        </p:nvSpPr>
        <p:spPr>
          <a:xfrm>
            <a:off x="548640" y="3620262"/>
            <a:ext cx="8046720" cy="140893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your character’s reaction to a small conflict. Make it more specific and realistic.</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the revised reaction and what makes it feel more real now.</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confessed to something she did not actually do, just to make the adults stop questioning her.</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Find out what causes a "tempest" in the schoolroom.</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Anne names ordinary places with extraordinary names — The White Way of Delight, Lake of Shining Waters. What ordinary place in your life might you rename, and why?</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back at the end of the week. They notice how the story has changed since the first chapter — what new characters have appeared, what new...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“Carrots! Carrots!” Gilbert whispered to Anne.</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carrots gilbert called out anne grabbed her slate</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carrots gilbert called out anne grabbed her slate</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“Carrots!” Gilbert called out. Anne grabbed her slate.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QUICK REVIEW</a:t>
            </a:r>
            <a:endParaRPr lang="en-US" sz="1100" dirty="0"/>
          </a:p>
        </p:txBody>
      </p:sp>
      <p:sp>
        <p:nvSpPr>
          <p:cNvPr id="5" name="Shape 3"/>
          <p:cNvSpPr/>
          <p:nvPr/>
        </p:nvSpPr>
        <p:spPr>
          <a:xfrm>
            <a:off x="365760" y="1097280"/>
            <a:ext cx="8412480" cy="1005840"/>
          </a:xfrm>
          <a:prstGeom prst="roundRect">
            <a:avLst>
              <a:gd name="adj" fmla="val 9091"/>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88720"/>
            <a:ext cx="7863840" cy="822960"/>
          </a:xfrm>
          <a:prstGeom prst="rect">
            <a:avLst/>
          </a:prstGeom>
          <a:noFill/>
          <a:ln/>
        </p:spPr>
        <p:txBody>
          <a:bodyPr wrap="square" lIns="0" tIns="0" rIns="0" bIns="0" rtlCol="0" anchor="ctr"/>
          <a:lstStyle/>
          <a:p>
            <a:pPr algn="ctr" indent="0" marL="0">
              <a:buNone/>
            </a:pPr>
            <a:r>
              <a:rPr lang="en-US" sz="2000" b="1" dirty="0">
                <a:solidFill>
                  <a:srgbClr val="8B6FC0"/>
                </a:solidFill>
                <a:latin typeface="Calibri" pitchFamily="34" charset="0"/>
                <a:ea typeface="Calibri" pitchFamily="34" charset="-122"/>
                <a:cs typeface="Calibri" pitchFamily="34" charset="-120"/>
              </a:rPr>
              <a:t>solemn   -   resolute   -   enraptured   -   vindictive</a:t>
            </a:r>
            <a:endParaRPr lang="en-US" sz="2000" dirty="0"/>
          </a:p>
        </p:txBody>
      </p:sp>
      <p:sp>
        <p:nvSpPr>
          <p:cNvPr id="7" name="Text 5"/>
          <p:cNvSpPr/>
          <p:nvPr/>
        </p:nvSpPr>
        <p:spPr>
          <a:xfrm>
            <a:off x="457200" y="2331720"/>
            <a:ext cx="822960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Can you use each word in a sentence about the novel?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in Unstressed Syllables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Avonlea   -   kitchen   -   Diana   -   ocean   -   trees   -   brooch</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Has a schwa sound</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All vowels are clear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in Unstressed Syllables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801368"/>
          </a:xfrm>
          <a:prstGeom prst="roundRect">
            <a:avLst>
              <a:gd name="adj" fmla="val 5076"/>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Has a schwa sound</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Avonlea</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kitchen</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Diana</a:t>
            </a:r>
            <a:endParaRPr lang="en-US" sz="1400" dirty="0"/>
          </a:p>
        </p:txBody>
      </p:sp>
      <p:sp>
        <p:nvSpPr>
          <p:cNvPr id="12" name="Text 10"/>
          <p:cNvSpPr/>
          <p:nvPr/>
        </p:nvSpPr>
        <p:spPr>
          <a:xfrm>
            <a:off x="594360" y="2505456"/>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ocean</a:t>
            </a:r>
            <a:endParaRPr lang="en-US" sz="1400" dirty="0"/>
          </a:p>
        </p:txBody>
      </p:sp>
      <p:sp>
        <p:nvSpPr>
          <p:cNvPr id="13" name="Shape 11"/>
          <p:cNvSpPr/>
          <p:nvPr/>
        </p:nvSpPr>
        <p:spPr>
          <a:xfrm>
            <a:off x="4681728" y="1024128"/>
            <a:ext cx="4114800" cy="1106424"/>
          </a:xfrm>
          <a:prstGeom prst="roundRect">
            <a:avLst>
              <a:gd name="adj" fmla="val 8264"/>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All vowels are clear</a:t>
            </a:r>
            <a:endParaRPr lang="en-US" sz="1200" dirty="0"/>
          </a:p>
        </p:txBody>
      </p:sp>
      <p:sp>
        <p:nvSpPr>
          <p:cNvPr id="15" name="Text 13"/>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trees</a:t>
            </a:r>
            <a:endParaRPr lang="en-US" sz="1400" dirty="0"/>
          </a:p>
        </p:txBody>
      </p:sp>
      <p:sp>
        <p:nvSpPr>
          <p:cNvPr id="16" name="Text 14"/>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brooch</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15</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 Tempest in the Schoolroom</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Anne has invented Katie Maurice and Violetta because no one stayed. In Ch. 12, she clasps hands with Diana over an imaginary running stream and they vow to be bosom friends forever. It is half-pretend and entirely real. By the end of Ch. 15, when Anne quits school over the slate-and-Gilbert disaster, the deepest grief is leaving Diana. Friendship isn’t the story’s subplot anymore. It is the story.</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Before you answer today's questions, think back across Ch. 1–5: Who is Anne? What three details show what makes her voice distinctive?</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breaks her slate on Gilbert’s head and refuses to ever go back to school. What did Gilbert do wrong, and what wound of Anne’s did he hit?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Friendship Scene (wrap up)</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Finish this section — how do the friends work through the misunderstanding?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