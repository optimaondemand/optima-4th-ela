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 Day 1.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SCAFFOLDING SLIDE - only shown the first time. Walk students through all six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one strong action or line of dialogue to show a character is worried — instead of just saying "she was worried."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10-minute timer. Craft move: Use one strong action or line of dialogue to show a character is worried — instead of just saying "she was worried.". Level-up: ⭐ Include one piece of dialogue  ⭐⭐ Add a sensory detail about the burrow  ⭐⭐⭐ Replace "said" with a more precise verb  ⭐⭐⭐⭐ Show Mrs. Frisby’s worry through an action, not by naming the feeling.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note back. Replace one weak verb with a stronger, more precise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the line where you showed Mrs. Frisby’s worry through what she does or says — not by just telling us she’s worried."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Today: Meet the Frisby family and find out what’s wrong with Timothy. Big Q: As you read today, watch for the setting, the main character, and the first problem. Where does the family live? Who is Mrs. Frisby? What is the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""Mother," said Teresa, "he’s sick and can’t get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"mother said martin hes hot and wont sit still" Corrected: "“Mother,” said Martin, “he’s hot and won’t sit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"mother said martin hes hot and wont sit still" Corrected: "“Mother,” said Martin, “he’s hot and won’t sit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unwrap — to take the cover off | helper — someone who helps | resting — taking a break right now | kindly — in a kind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Modeled word walkthrough for "delirious". Definition: Delirious means confused and unable to think clearly, usually from a very high fever. Our context clues and word parts got us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pneumonia: A serious sickness in the lungs that makes breathing hard. | abandoned: Left behind and not used anymore. | warily: In a careful way, watching out for danger.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"Mrs. Frisby knocked on his door." -&gt; Frisby | "The crow was sitting on the fence." -&gt; crow | "Timothy could not get out of bed." -&gt; Timothy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"Mrs. Frisby knocked on his door." -&gt; Frisby | "The crow was sitting on the fence." -&gt; crow | "Timothy could not get out of bed." -&gt; Timothy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Closed (ends with consonant): rabbit, garden, winter | Open (ends with vowel): tiger, open, baby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Closed (ends with consonant): rabbit, garden, winter | Open (ends with vowel): tiger, open, baby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Narrative Writing — Getting Started
Focus: Think of a time you or someone you know faced a small problem that grew bigger, like Timothy’s illness. Jot down 2-3 possible story ideas in your writing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FBF7A">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FBF7A"/>
                </a:solidFill>
                <a:latin typeface="Calibri" pitchFamily="34" charset="0"/>
                <a:ea typeface="Calibri" pitchFamily="34" charset="-122"/>
                <a:cs typeface="Calibri" pitchFamily="34" charset="-120"/>
              </a:rPr>
              <a:t>WEEK 1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1–2</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Mrs. Frisby and Timothy</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  ·  Virtue: Ingenuity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Welcome to Writer's Workshop!</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457200" y="914400"/>
            <a:ext cx="8229600" cy="3429000"/>
          </a:xfrm>
          <a:prstGeom prst="roundRect">
            <a:avLst>
              <a:gd name="adj" fmla="val 2667"/>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024128"/>
            <a:ext cx="7772400" cy="3246120"/>
          </a:xfrm>
          <a:prstGeom prst="rect">
            <a:avLst/>
          </a:prstGeom>
          <a:noFill/>
          <a:ln/>
        </p:spPr>
        <p:txBody>
          <a:bodyPr wrap="square" lIns="0" tIns="0" rIns="0" bIns="0" rtlCol="0" anchor="t"/>
          <a:lstStyle/>
          <a:p>
            <a:pPr indent="0" marL="0">
              <a:spcAft>
                <a:spcPts val="200"/>
              </a:spcAft>
              <a:buNone/>
            </a:pPr>
            <a:r>
              <a:rPr lang="en-US" sz="1800" b="1" dirty="0">
                <a:solidFill>
                  <a:srgbClr val="0E1C42"/>
                </a:solidFill>
                <a:latin typeface="Calibri" pitchFamily="34" charset="0"/>
                <a:ea typeface="Calibri" pitchFamily="34" charset="-122"/>
                <a:cs typeface="Calibri" pitchFamily="34" charset="-120"/>
              </a:rPr>
              <a:t>Every day, we start class as writers.
</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Real writers notice the world, talk about what they notice, write with a purpose, revise on purpose, and share their best moves. We do the same thing every single day.
</a:t>
            </a:r>
            <a:pPr indent="0" marL="0">
              <a:spcAft>
                <a:spcPts val="200"/>
              </a:spcAft>
              <a:buNone/>
            </a:pPr>
            <a:r>
              <a:rPr lang="en-US" sz="1500" b="1" dirty="0">
                <a:solidFill>
                  <a:srgbClr val="0E1C42"/>
                </a:solidFill>
                <a:latin typeface="Calibri" pitchFamily="34" charset="0"/>
                <a:ea typeface="Calibri" pitchFamily="34" charset="-122"/>
                <a:cs typeface="Calibri" pitchFamily="34" charset="-120"/>
              </a:rPr>
              <a:t>Here's how it works: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Notice (1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 Look closely at an image, quote, or object.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Discuss (2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 Share what you noticed.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Write (10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 Write for a real purpose, practicing ONE craft move.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Revise (2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 Improve ONE specific thing, not everything.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Share (2-3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 Read your favorite sentence or explain a choice you made.
</a:t>
            </a:r>
            <a:pPr indent="0" marL="0">
              <a:spcAft>
                <a:spcPts val="200"/>
              </a:spcAft>
              <a:buNone/>
            </a:pPr>
            <a:r>
              <a:rPr lang="en-US" sz="1300" b="1" dirty="0">
                <a:solidFill>
                  <a:srgbClr val="C7922C"/>
                </a:solidFill>
                <a:latin typeface="Calibri" pitchFamily="34" charset="0"/>
                <a:ea typeface="Calibri" pitchFamily="34" charset="-122"/>
                <a:cs typeface="Calibri" pitchFamily="34" charset="-120"/>
              </a:rPr>
              <a:t>Reflect (1 min)</a:t>
            </a:r>
            <a:pPr indent="0" marL="0">
              <a:spcAft>
                <a:spcPts val="200"/>
              </a:spcAft>
              <a:buNone/>
            </a:pPr>
            <a:r>
              <a:rPr lang="en-US" sz="1300" dirty="0">
                <a:solidFill>
                  <a:srgbClr val="1E293B"/>
                </a:solidFill>
                <a:latin typeface="Calibri" pitchFamily="34" charset="0"/>
                <a:ea typeface="Calibri" pitchFamily="34" charset="-122"/>
                <a:cs typeface="Calibri" pitchFamily="34" charset="-120"/>
              </a:rPr>
              <a:t> - What did you do today that made your writing stronger?
</a:t>
            </a:r>
            <a:pPr indent="0" marL="0">
              <a:spcAft>
                <a:spcPts val="200"/>
              </a:spcAft>
              <a:buNone/>
            </a:pPr>
            <a:r>
              <a:rPr lang="en-US" sz="1200" i="1" dirty="0">
                <a:solidFill>
                  <a:srgbClr val="64748B"/>
                </a:solidFill>
                <a:latin typeface="Calibri" pitchFamily="34" charset="0"/>
                <a:ea typeface="Calibri" pitchFamily="34" charset="-122"/>
                <a:cs typeface="Calibri" pitchFamily="34" charset="-120"/>
              </a:rPr>
              <a:t>Our writing time grows all year: 10 minutes now, up to 20-25 by spring.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“Mother,” said Teresa, “he’s sick and can’t get up.”</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"“Mother,” said Teresa, “he’s sick and can’t get 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this one line of dialogue tell us about the Frisby family — before the author explains anything else? Turn and talk.</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10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Mrs. Frisby needs to explain Timothy’s illness to Mr. Ages, the mouse who mixes medicine. Write the note she might send him, describing exactly what’s wrong with Timothy and why she needs his help.</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one strong action or line of dialogue to show a character is worried — instead of just saying "she was worried."</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Include one piece of dialogue  ⭐⭐ Add a sensory detail about the burrow  ⭐⭐⭐ Replace "said" with a more precise verb  ⭐⭐⭐⭐ Show Mrs. Frisby’s worry through an action, not by naming the feeling</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note back. Replace one weak verb with a stronger, more precise one.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the line where you showed Mrs. Frisby’s worry through what she does or says — not by just telling us she’s worried.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(No recap - first day of unit)</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8FBF7A"/>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Meet the Frisby family and find out what’s wrong with Timothy.</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main character, and the first problem. Where does the family live? Who is Mrs. Frisby? What is the trouble?</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"Mother," said Teresa, "he’s sick and can’t get up."</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mother said martin hes hot and wont sit still</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mother said martin hes hot and wont sit still</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“Mother,” said Martin, “he’s hot and won’t sit still.”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Parts Review</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Words have parts. A base word stands on its own. A prefix sits at the beginning. A suffix sits at the end. Knowing the parts helps you read new words.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502920"/>
          </a:xfrm>
          <a:prstGeom prst="roundRect">
            <a:avLst>
              <a:gd name="adj" fmla="val 14545"/>
            </a:avLst>
          </a:prstGeom>
          <a:solidFill>
            <a:srgbClr val="F8F4FF"/>
          </a:solidFill>
          <a:ln w="12700">
            <a:solidFill>
              <a:srgbClr val="8B6FC0"/>
            </a:solidFill>
            <a:prstDash val="solid"/>
          </a:ln>
        </p:spPr>
      </p:sp>
      <p:sp>
        <p:nvSpPr>
          <p:cNvPr id="9" name="Text 7"/>
          <p:cNvSpPr/>
          <p:nvPr/>
        </p:nvSpPr>
        <p:spPr>
          <a:xfrm>
            <a:off x="43891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unwrap = un- + wrap</a:t>
            </a:r>
            <a:endParaRPr lang="en-US" sz="1100" dirty="0"/>
          </a:p>
        </p:txBody>
      </p:sp>
      <p:sp>
        <p:nvSpPr>
          <p:cNvPr id="10" name="Shape 8"/>
          <p:cNvSpPr/>
          <p:nvPr/>
        </p:nvSpPr>
        <p:spPr>
          <a:xfrm>
            <a:off x="2468880" y="1847088"/>
            <a:ext cx="2011680" cy="502920"/>
          </a:xfrm>
          <a:prstGeom prst="roundRect">
            <a:avLst>
              <a:gd name="adj" fmla="val 14545"/>
            </a:avLst>
          </a:prstGeom>
          <a:solidFill>
            <a:srgbClr val="F8F4FF"/>
          </a:solidFill>
          <a:ln w="12700">
            <a:solidFill>
              <a:srgbClr val="8B6FC0"/>
            </a:solidFill>
            <a:prstDash val="solid"/>
          </a:ln>
        </p:spPr>
      </p:sp>
      <p:sp>
        <p:nvSpPr>
          <p:cNvPr id="11" name="Text 9"/>
          <p:cNvSpPr/>
          <p:nvPr/>
        </p:nvSpPr>
        <p:spPr>
          <a:xfrm>
            <a:off x="254203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helper = help + -er</a:t>
            </a:r>
            <a:endParaRPr lang="en-US" sz="1100" dirty="0"/>
          </a:p>
        </p:txBody>
      </p:sp>
      <p:sp>
        <p:nvSpPr>
          <p:cNvPr id="12" name="Shape 10"/>
          <p:cNvSpPr/>
          <p:nvPr/>
        </p:nvSpPr>
        <p:spPr>
          <a:xfrm>
            <a:off x="4572000" y="1847088"/>
            <a:ext cx="2011680" cy="502920"/>
          </a:xfrm>
          <a:prstGeom prst="roundRect">
            <a:avLst>
              <a:gd name="adj" fmla="val 14545"/>
            </a:avLst>
          </a:prstGeom>
          <a:solidFill>
            <a:srgbClr val="F8F4FF"/>
          </a:solidFill>
          <a:ln w="12700">
            <a:solidFill>
              <a:srgbClr val="8B6FC0"/>
            </a:solidFill>
            <a:prstDash val="solid"/>
          </a:ln>
        </p:spPr>
      </p:sp>
      <p:sp>
        <p:nvSpPr>
          <p:cNvPr id="13" name="Text 11"/>
          <p:cNvSpPr/>
          <p:nvPr/>
        </p:nvSpPr>
        <p:spPr>
          <a:xfrm>
            <a:off x="464515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unhelpful = un- + help + -ful</a:t>
            </a:r>
            <a:endParaRPr lang="en-US" sz="1100" dirty="0"/>
          </a:p>
        </p:txBody>
      </p:sp>
      <p:sp>
        <p:nvSpPr>
          <p:cNvPr id="14" name="Shape 12"/>
          <p:cNvSpPr/>
          <p:nvPr/>
        </p:nvSpPr>
        <p:spPr>
          <a:xfrm>
            <a:off x="6675120" y="1847088"/>
            <a:ext cx="2011680" cy="502920"/>
          </a:xfrm>
          <a:prstGeom prst="roundRect">
            <a:avLst>
              <a:gd name="adj" fmla="val 14545"/>
            </a:avLst>
          </a:prstGeom>
          <a:solidFill>
            <a:srgbClr val="F8F4FF"/>
          </a:solidFill>
          <a:ln w="12700">
            <a:solidFill>
              <a:srgbClr val="8B6FC0"/>
            </a:solidFill>
            <a:prstDash val="solid"/>
          </a:ln>
        </p:spPr>
      </p:sp>
      <p:sp>
        <p:nvSpPr>
          <p:cNvPr id="15" name="Text 13"/>
          <p:cNvSpPr/>
          <p:nvPr/>
        </p:nvSpPr>
        <p:spPr>
          <a:xfrm>
            <a:off x="6748272" y="1892808"/>
            <a:ext cx="1865376" cy="41148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resting = rest + -ing</a:t>
            </a:r>
            <a:endParaRPr lang="en-US" sz="1100" dirty="0"/>
          </a:p>
        </p:txBody>
      </p:sp>
      <p:sp>
        <p:nvSpPr>
          <p:cNvPr id="16" name="Text 14"/>
          <p:cNvSpPr/>
          <p:nvPr/>
        </p:nvSpPr>
        <p:spPr>
          <a:xfrm>
            <a:off x="365760" y="246888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7249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7706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unwrap — to take the cover off</a:t>
            </a:r>
            <a:endParaRPr lang="en-US" sz="1300" dirty="0"/>
          </a:p>
        </p:txBody>
      </p:sp>
      <p:sp>
        <p:nvSpPr>
          <p:cNvPr id="19" name="Shape 17"/>
          <p:cNvSpPr/>
          <p:nvPr/>
        </p:nvSpPr>
        <p:spPr>
          <a:xfrm>
            <a:off x="365760" y="31821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2278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helper — someone who helps</a:t>
            </a:r>
            <a:endParaRPr lang="en-US" sz="1300" dirty="0"/>
          </a:p>
        </p:txBody>
      </p:sp>
      <p:sp>
        <p:nvSpPr>
          <p:cNvPr id="21" name="Shape 19"/>
          <p:cNvSpPr/>
          <p:nvPr/>
        </p:nvSpPr>
        <p:spPr>
          <a:xfrm>
            <a:off x="365760" y="363931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6850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resting — taking a break right now</a:t>
            </a:r>
            <a:endParaRPr lang="en-US" sz="1300" dirty="0"/>
          </a:p>
        </p:txBody>
      </p:sp>
      <p:sp>
        <p:nvSpPr>
          <p:cNvPr id="23" name="Shape 21"/>
          <p:cNvSpPr/>
          <p:nvPr/>
        </p:nvSpPr>
        <p:spPr>
          <a:xfrm>
            <a:off x="365760" y="409651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14223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kindly — in a kind way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Word Detective: "delirious"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365760" y="841248"/>
            <a:ext cx="8412480" cy="960120"/>
          </a:xfrm>
          <a:prstGeom prst="roundRect">
            <a:avLst>
              <a:gd name="adj" fmla="val 7619"/>
            </a:avLst>
          </a:prstGeom>
          <a:solidFill>
            <a:srgbClr val="E5F7FC"/>
          </a:solidFill>
          <a:ln w="12700">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502920" y="896112"/>
            <a:ext cx="8138160" cy="274320"/>
          </a:xfrm>
          <a:prstGeom prst="rect">
            <a:avLst/>
          </a:prstGeom>
          <a:noFill/>
          <a:ln/>
        </p:spPr>
        <p:txBody>
          <a:bodyPr wrap="square" lIns="0" tIns="0" rIns="0" bIns="0" rtlCol="0" anchor="ctr"/>
          <a:lstStyle/>
          <a:p>
            <a:pPr indent="0" marL="0">
              <a:buNone/>
            </a:pPr>
            <a:r>
              <a:rPr lang="en-US" sz="1300" b="1" dirty="0">
                <a:solidFill>
                  <a:srgbClr val="55C8E8"/>
                </a:solidFill>
                <a:latin typeface="Calibri" pitchFamily="34" charset="0"/>
                <a:ea typeface="Calibri" pitchFamily="34" charset="-122"/>
                <a:cs typeface="Calibri" pitchFamily="34" charset="-120"/>
              </a:rPr>
              <a:t>1. Read the Sentence</a:t>
            </a:r>
            <a:endParaRPr lang="en-US" sz="1300" dirty="0"/>
          </a:p>
        </p:txBody>
      </p:sp>
      <p:sp>
        <p:nvSpPr>
          <p:cNvPr id="6" name="Text 4"/>
          <p:cNvSpPr/>
          <p:nvPr/>
        </p:nvSpPr>
        <p:spPr>
          <a:xfrm>
            <a:off x="594360" y="1170432"/>
            <a:ext cx="7955280" cy="274320"/>
          </a:xfrm>
          <a:prstGeom prst="rect">
            <a:avLst/>
          </a:prstGeom>
          <a:noFill/>
          <a:ln/>
        </p:spPr>
        <p:txBody>
          <a:bodyPr wrap="square" lIns="0" tIns="0" rIns="0" bIns="0" rtlCol="0" anchor="ctr"/>
          <a:lstStyle/>
          <a:p>
            <a:pPr indent="0" marL="0">
              <a:buNone/>
            </a:pPr>
            <a:r>
              <a:rPr lang="en-US" sz="1200" i="1" dirty="0">
                <a:solidFill>
                  <a:srgbClr val="0E1C42"/>
                </a:solidFill>
                <a:latin typeface="Calibri" pitchFamily="34" charset="0"/>
                <a:ea typeface="Calibri" pitchFamily="34" charset="-122"/>
                <a:cs typeface="Calibri" pitchFamily="34" charset="-120"/>
              </a:rPr>
              <a:t>"His fever is so high he has become delirious."</a:t>
            </a:r>
            <a:endParaRPr lang="en-US" sz="1200" dirty="0"/>
          </a:p>
        </p:txBody>
      </p:sp>
      <p:sp>
        <p:nvSpPr>
          <p:cNvPr id="7" name="Text 5"/>
          <p:cNvSpPr/>
          <p:nvPr/>
        </p:nvSpPr>
        <p:spPr>
          <a:xfrm>
            <a:off x="594360" y="1463040"/>
            <a:ext cx="7955280" cy="292608"/>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Find the word in the book. What clues does the sentence give you? Mrs. Frisby is talking about Timothy. His fever is so high that he is delirious. So delirious must describe what a very high fever does to a person.</a:t>
            </a:r>
            <a:endParaRPr lang="en-US" sz="1100" dirty="0"/>
          </a:p>
        </p:txBody>
      </p:sp>
      <p:sp>
        <p:nvSpPr>
          <p:cNvPr id="8" name="Shape 6"/>
          <p:cNvSpPr/>
          <p:nvPr/>
        </p:nvSpPr>
        <p:spPr>
          <a:xfrm>
            <a:off x="365760" y="1892808"/>
            <a:ext cx="8412480" cy="566928"/>
          </a:xfrm>
          <a:prstGeom prst="roundRect">
            <a:avLst>
              <a:gd name="adj" fmla="val 1290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02920" y="1947672"/>
            <a:ext cx="8138160" cy="274320"/>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Look at the Word Parts</a:t>
            </a:r>
            <a:endParaRPr lang="en-US" sz="1300" dirty="0"/>
          </a:p>
        </p:txBody>
      </p:sp>
      <p:sp>
        <p:nvSpPr>
          <p:cNvPr id="10" name="Text 8"/>
          <p:cNvSpPr/>
          <p:nvPr/>
        </p:nvSpPr>
        <p:spPr>
          <a:xfrm>
            <a:off x="594360" y="2221992"/>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Do you see a root, prefix, or suffix you recognize?</a:t>
            </a:r>
            <a:endParaRPr lang="en-US" sz="1100" dirty="0"/>
          </a:p>
        </p:txBody>
      </p:sp>
      <p:sp>
        <p:nvSpPr>
          <p:cNvPr id="11" name="Shape 9"/>
          <p:cNvSpPr/>
          <p:nvPr/>
        </p:nvSpPr>
        <p:spPr>
          <a:xfrm>
            <a:off x="365760" y="2551176"/>
            <a:ext cx="8412480" cy="566928"/>
          </a:xfrm>
          <a:prstGeom prst="roundRect">
            <a:avLst>
              <a:gd name="adj" fmla="val 12903"/>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12" name="Text 10"/>
          <p:cNvSpPr/>
          <p:nvPr/>
        </p:nvSpPr>
        <p:spPr>
          <a:xfrm>
            <a:off x="502920" y="2606040"/>
            <a:ext cx="8138160" cy="27432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3. Confirm</a:t>
            </a:r>
            <a:endParaRPr lang="en-US" sz="1300" dirty="0"/>
          </a:p>
        </p:txBody>
      </p:sp>
      <p:sp>
        <p:nvSpPr>
          <p:cNvPr id="13" name="Text 11"/>
          <p:cNvSpPr/>
          <p:nvPr/>
        </p:nvSpPr>
        <p:spPr>
          <a:xfrm>
            <a:off x="594360" y="2880360"/>
            <a:ext cx="7955280" cy="1920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Were we close?</a:t>
            </a:r>
            <a:endParaRPr lang="en-US" sz="1100" dirty="0"/>
          </a:p>
        </p:txBody>
      </p:sp>
      <p:sp>
        <p:nvSpPr>
          <p:cNvPr id="14" name="Shape 12"/>
          <p:cNvSpPr/>
          <p:nvPr/>
        </p:nvSpPr>
        <p:spPr>
          <a:xfrm>
            <a:off x="365760" y="3209544"/>
            <a:ext cx="8412480" cy="502920"/>
          </a:xfrm>
          <a:prstGeom prst="roundRect">
            <a:avLst>
              <a:gd name="adj" fmla="val 14545"/>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264408"/>
            <a:ext cx="8046720" cy="393192"/>
          </a:xfrm>
          <a:prstGeom prst="rect">
            <a:avLst/>
          </a:prstGeom>
          <a:noFill/>
          <a:ln/>
        </p:spPr>
        <p:txBody>
          <a:bodyPr wrap="square" lIns="0" tIns="0" rIns="0" bIns="0" rtlCol="0" anchor="ctr"/>
          <a:lstStyle/>
          <a:p>
            <a:pPr indent="0" marL="0">
              <a:buNone/>
            </a:pPr>
            <a:r>
              <a:rPr lang="en-US" sz="1200" b="1" dirty="0">
                <a:solidFill>
                  <a:srgbClr val="34B76F"/>
                </a:solidFill>
                <a:latin typeface="Calibri" pitchFamily="34" charset="0"/>
                <a:ea typeface="Calibri" pitchFamily="34" charset="-122"/>
                <a:cs typeface="Calibri" pitchFamily="34" charset="-120"/>
              </a:rPr>
              <a:t>Delirious means confused and unable to think clearly, usually from a very high fever. Our context clues and word parts got us there!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3 WORDS - READ THE SENTENCE, THEN THE MEANING</a:t>
            </a:r>
            <a:endParaRPr lang="en-US" sz="1100" dirty="0"/>
          </a:p>
        </p:txBody>
      </p:sp>
      <p:sp>
        <p:nvSpPr>
          <p:cNvPr id="5" name="Shape 3"/>
          <p:cNvSpPr/>
          <p:nvPr/>
        </p:nvSpPr>
        <p:spPr>
          <a:xfrm>
            <a:off x="320040" y="914400"/>
            <a:ext cx="4069080" cy="1184910"/>
          </a:xfrm>
          <a:prstGeom prst="roundRect">
            <a:avLst>
              <a:gd name="adj" fmla="val 771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176022"/>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“He has pneumonia,” said Mr. Ages.</a:t>
            </a:r>
            <a:endParaRPr lang="en-US" sz="1050" dirty="0"/>
          </a:p>
        </p:txBody>
      </p:sp>
      <p:sp>
        <p:nvSpPr>
          <p:cNvPr id="7" name="Text 5"/>
          <p:cNvSpPr/>
          <p:nvPr/>
        </p:nvSpPr>
        <p:spPr>
          <a:xfrm>
            <a:off x="457200" y="123672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pneumonia</a:t>
            </a:r>
            <a:endParaRPr lang="en-US" sz="1400" dirty="0"/>
          </a:p>
        </p:txBody>
      </p:sp>
      <p:sp>
        <p:nvSpPr>
          <p:cNvPr id="8" name="Text 6"/>
          <p:cNvSpPr/>
          <p:nvPr/>
        </p:nvSpPr>
        <p:spPr>
          <a:xfrm>
            <a:off x="457200" y="1547622"/>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serious sickness in the lungs that makes breathing hard.</a:t>
            </a:r>
            <a:endParaRPr lang="en-US" sz="1100" dirty="0"/>
          </a:p>
        </p:txBody>
      </p:sp>
      <p:sp>
        <p:nvSpPr>
          <p:cNvPr id="9" name="Shape 7"/>
          <p:cNvSpPr/>
          <p:nvPr/>
        </p:nvSpPr>
        <p:spPr>
          <a:xfrm>
            <a:off x="4572000" y="914400"/>
            <a:ext cx="4069080" cy="1184910"/>
          </a:xfrm>
          <a:prstGeom prst="roundRect">
            <a:avLst>
              <a:gd name="adj" fmla="val 7717"/>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“It had somehow been abandoned in the garden during the summer.”</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abandoned</a:t>
            </a:r>
            <a:endParaRPr lang="en-US" sz="1400" dirty="0"/>
          </a:p>
        </p:txBody>
      </p:sp>
      <p:sp>
        <p:nvSpPr>
          <p:cNvPr id="12" name="Text 10"/>
          <p:cNvSpPr/>
          <p:nvPr/>
        </p:nvSpPr>
        <p:spPr>
          <a:xfrm>
            <a:off x="4709160" y="1723644"/>
            <a:ext cx="3794760" cy="320802"/>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Left behind and not used anymore.</a:t>
            </a:r>
            <a:endParaRPr lang="en-US" sz="1100" dirty="0"/>
          </a:p>
        </p:txBody>
      </p:sp>
      <p:sp>
        <p:nvSpPr>
          <p:cNvPr id="13" name="Shape 11"/>
          <p:cNvSpPr/>
          <p:nvPr/>
        </p:nvSpPr>
        <p:spPr>
          <a:xfrm>
            <a:off x="320040" y="2209038"/>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300478"/>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“She climbed up the tunnel, emerging whiskers first, and looked around warily.”</a:t>
            </a:r>
            <a:endParaRPr lang="en-US" sz="1050" dirty="0"/>
          </a:p>
        </p:txBody>
      </p:sp>
      <p:sp>
        <p:nvSpPr>
          <p:cNvPr id="15" name="Text 13"/>
          <p:cNvSpPr/>
          <p:nvPr/>
        </p:nvSpPr>
        <p:spPr>
          <a:xfrm>
            <a:off x="457200" y="2707386"/>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warily</a:t>
            </a:r>
            <a:endParaRPr lang="en-US" sz="1400" dirty="0"/>
          </a:p>
        </p:txBody>
      </p:sp>
      <p:sp>
        <p:nvSpPr>
          <p:cNvPr id="16" name="Text 14"/>
          <p:cNvSpPr/>
          <p:nvPr/>
        </p:nvSpPr>
        <p:spPr>
          <a:xfrm>
            <a:off x="457200" y="3018282"/>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In a careful way, watching out for danger.</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Frisby knocked on his door.</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crow was sitting on the fence.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Timothy could not get out of bed.</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Nouns &amp; Subjects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a:t>
            </a:r>
            <a:pPr indent="0" marL="0">
              <a:buNone/>
            </a:pPr>
            <a:r>
              <a:rPr lang="en-US" sz="1500" b="1" u="sng" dirty="0">
                <a:solidFill>
                  <a:srgbClr val="34B76F"/>
                </a:solidFill>
                <a:latin typeface="Calibri" pitchFamily="34" charset="0"/>
                <a:ea typeface="Calibri" pitchFamily="34" charset="-122"/>
                <a:cs typeface="Calibri" pitchFamily="34" charset="-120"/>
              </a:rPr>
              <a:t>Frisby</a:t>
            </a:r>
            <a:pPr indent="0" marL="0">
              <a:buNone/>
            </a:pPr>
            <a:r>
              <a:rPr lang="en-US" sz="1500" dirty="0">
                <a:solidFill>
                  <a:srgbClr val="1E293B"/>
                </a:solidFill>
                <a:latin typeface="Calibri" pitchFamily="34" charset="0"/>
                <a:ea typeface="Calibri" pitchFamily="34" charset="-122"/>
                <a:cs typeface="Calibri" pitchFamily="34" charset="-120"/>
              </a:rPr>
              <a:t> knocked on his door.</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a:t>
            </a:r>
            <a:pPr indent="0" marL="0">
              <a:buNone/>
            </a:pPr>
            <a:r>
              <a:rPr lang="en-US" sz="1500" b="1" u="sng" dirty="0">
                <a:solidFill>
                  <a:srgbClr val="34B76F"/>
                </a:solidFill>
                <a:latin typeface="Calibri" pitchFamily="34" charset="0"/>
                <a:ea typeface="Calibri" pitchFamily="34" charset="-122"/>
                <a:cs typeface="Calibri" pitchFamily="34" charset="-120"/>
              </a:rPr>
              <a:t>crow</a:t>
            </a:r>
            <a:pPr indent="0" marL="0">
              <a:buNone/>
            </a:pPr>
            <a:r>
              <a:rPr lang="en-US" sz="1500" dirty="0">
                <a:solidFill>
                  <a:srgbClr val="1E293B"/>
                </a:solidFill>
                <a:latin typeface="Calibri" pitchFamily="34" charset="0"/>
                <a:ea typeface="Calibri" pitchFamily="34" charset="-122"/>
                <a:cs typeface="Calibri" pitchFamily="34" charset="-120"/>
              </a:rPr>
              <a:t> was sitting on the fence.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Timothy</a:t>
            </a:r>
            <a:pPr indent="0" marL="0">
              <a:buNone/>
            </a:pPr>
            <a:r>
              <a:rPr lang="en-US" sz="1500" dirty="0">
                <a:solidFill>
                  <a:srgbClr val="1E293B"/>
                </a:solidFill>
                <a:latin typeface="Calibri" pitchFamily="34" charset="0"/>
                <a:ea typeface="Calibri" pitchFamily="34" charset="-122"/>
                <a:cs typeface="Calibri" pitchFamily="34" charset="-120"/>
              </a:rPr>
              <a:t> could not get out of bed.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rabbit   -   garden   -   winter   -   tiger   -   open   -   baby</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Closed (ends with consonant)</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Open (ends with vowel)</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Open &amp; Closed Syllables</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Shape 2"/>
          <p:cNvSpPr/>
          <p:nvPr/>
        </p:nvSpPr>
        <p:spPr>
          <a:xfrm>
            <a:off x="6492240" y="173736"/>
            <a:ext cx="2286000" cy="502920"/>
          </a:xfrm>
          <a:prstGeom prst="roundRect">
            <a:avLst>
              <a:gd name="adj" fmla="val 21818"/>
            </a:avLst>
          </a:prstGeom>
          <a:solidFill>
            <a:srgbClr val="8FBF7A"/>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Closed (ends with consonant)</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rabbit</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garden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winter</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Open (ends with vowel)</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tiger</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open</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baby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1–2</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Mrs. Frisby and Timothy</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In Group A, look at the bold syllable. Does it end with a consonant or a vowel? Say the vowel sound out loud — is it short or long?</a:t>
            </a:r>
            <a:endParaRPr lang="en-US" sz="1400" dirty="0"/>
          </a:p>
        </p:txBody>
      </p:sp>
      <p:sp>
        <p:nvSpPr>
          <p:cNvPr id="8" name="Shape 6"/>
          <p:cNvSpPr/>
          <p:nvPr/>
        </p:nvSpPr>
        <p:spPr>
          <a:xfrm>
            <a:off x="365760" y="265176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74320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In Group B, the bold syllable ends with a vowel. Say the vowel sound out loud. Is it short or long?</a:t>
            </a:r>
            <a:endParaRPr lang="en-US" sz="1400" dirty="0"/>
          </a:p>
        </p:txBody>
      </p:sp>
      <p:sp>
        <p:nvSpPr>
          <p:cNvPr id="10" name="Shape 8"/>
          <p:cNvSpPr/>
          <p:nvPr/>
        </p:nvSpPr>
        <p:spPr>
          <a:xfrm>
            <a:off x="365760" y="3447288"/>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Can you figure out the pattern?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8FBF7A"/>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Narrative Writing — Getting Started</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Think of a time you or someone you know faced a small problem that grew bigger, like Timothy’s illness. Jot down 2-3 possible story ideas in your writing notebook.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2026-07-11T22:13:19Z</dcterms:created>
  <dcterms:modified xsi:type="dcterms:W3CDTF">2026-07-11T22:13:20Z</dcterms:modified>
</cp:coreProperties>
</file>