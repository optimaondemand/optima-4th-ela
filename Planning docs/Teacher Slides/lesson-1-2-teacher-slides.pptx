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Week 1, Day 2. Novel emoji: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1 quiet minute to look/read closely before any talk.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Push toward naming the craft move: Identify and use one vivid verb + physical reaction to show a character’s feeling, instead of naming the feeling.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10-minute timer. Craft move: Identify and use one vivid verb + physical reaction to show a character’s feeling, instead of naming the feeling.. Level-up: ⭐ Add a line of dialogue  ⭐⭐ Compare Jeremy to something else (a simile)  ⭐⭐⭐ Vary how your sentences begin  ⭐⭐⭐⭐ Reveal the feeling through action only — no feeling words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2-minute timer. Today's revision focus: Circle your strongest verb. If it’s "was" or "said," replace it with something more precise..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 on 3-5 students. Keep sharing craft-focused: "Share the physical reaction you wrote — the moment we see the surprise instead of being told about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1-minute 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Yesterday, we met the Frisby family and learned that Timothy is very sick with pneumonia — Mrs. Frisby needs Mr. Ages’s medicine to save him. Today: Find out how Mrs. Frisby helps Jeremy the crow — and what he offers in return. Big Q: Today, watch for how the author introduces Jeremy the crow. What does he say? What does he do? What kind of bird is he?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DOL model: ""You saved my life," said the crow. "I thought the cat would eat 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"you helped me too said the crow i know the cat would catch me" Corrected: "“You helped me too,” said the crow. “I know the cat would catch 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"you helped me too said the crow i know the cat would catch me" Corrected: "“You helped me too,” said the crow. “I know the cat would catch 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 delirious: Confused, unable to think clearly from a high fever. | abandoned: Left behind and not used anymore. | pneumonia: A serious lung sickness that makes breathing hard. | warily: Carefully, watching for danger.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"The crow had string tangled around his leg." -&gt; crow | "Mrs. Frisby hopped over to the fence." -&gt; Frisby | "The cat watched from the porch." -&gt; cat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"The crow had string tangled around his leg." -&gt; crow | "Mrs. Frisby hopped over to the fence." -&gt; Frisby | "The cat watched from the porch." -&gt; cat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Spelling: Open (vowel ending): tiny, music, paper | Closed (consonant ending): rabbit, sister, basket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Spelling: Open (vowel ending): tiny, music, paper | Closed (consonant ending): rabbit, sister, basket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Chapter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RWM: "“The crow looked down and saw her in the grass, and his beak fell open in astonishment.”"
Craft: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Writing: Narrative Writing — Seed Idea
Focus: Choose ONE seed idea from yesterday. Who is in the story? Where does it happen? What is the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E4A2E"/>
        </a:solidFill>
      </p:bgPr>
    </p:bg>
    <p:spTree>
      <p:nvGrpSpPr>
        <p:cNvPr id="1" name=""/>
        <p:cNvGrpSpPr/>
        <p:nvPr/>
      </p:nvGrpSpPr>
      <p:grpSpPr>
        <a:xfrm>
          <a:off x="0" y="0"/>
          <a:ext cx="0" cy="0"/>
          <a:chOff x="0" y="0"/>
          <a:chExt cx="0" cy="0"/>
        </a:xfrm>
      </p:grpSpPr>
      <p:sp>
        <p:nvSpPr>
          <p:cNvPr id="2" name="Shape 0"/>
          <p:cNvSpPr/>
          <p:nvPr/>
        </p:nvSpPr>
        <p:spPr>
          <a:xfrm>
            <a:off x="0" y="4114800"/>
            <a:ext cx="9144000" cy="1028700"/>
          </a:xfrm>
          <a:prstGeom prst="rect">
            <a:avLst/>
          </a:prstGeom>
          <a:solidFill>
            <a:srgbClr val="8FBF7A">
              <a:alpha val="15000"/>
            </a:srgbClr>
          </a:solidFill>
          <a:ln/>
        </p:spPr>
      </p:sp>
      <p:sp>
        <p:nvSpPr>
          <p:cNvPr id="3" name="Text 1"/>
          <p:cNvSpPr/>
          <p:nvPr/>
        </p:nvSpPr>
        <p:spPr>
          <a:xfrm>
            <a:off x="457200" y="640080"/>
            <a:ext cx="8229600" cy="365760"/>
          </a:xfrm>
          <a:prstGeom prst="rect">
            <a:avLst/>
          </a:prstGeom>
          <a:noFill/>
          <a:ln/>
        </p:spPr>
        <p:txBody>
          <a:bodyPr wrap="square" lIns="0" tIns="0" rIns="0" bIns="0" rtlCol="0" anchor="ctr"/>
          <a:lstStyle/>
          <a:p>
            <a:pPr algn="l" indent="0" marL="0">
              <a:buNone/>
            </a:pPr>
            <a:r>
              <a:rPr lang="en-US" sz="1300" b="1" spc="400" kern="0" dirty="0">
                <a:solidFill>
                  <a:srgbClr val="8FBF7A"/>
                </a:solidFill>
                <a:latin typeface="Calibri" pitchFamily="34" charset="0"/>
                <a:ea typeface="Calibri" pitchFamily="34" charset="-122"/>
                <a:cs typeface="Calibri" pitchFamily="34" charset="-120"/>
              </a:rPr>
              <a:t>WEEK 1  ·  DAY 2</a:t>
            </a:r>
            <a:endParaRPr lang="en-US" sz="1300" dirty="0"/>
          </a:p>
        </p:txBody>
      </p:sp>
      <p:sp>
        <p:nvSpPr>
          <p:cNvPr id="4" name="Text 2"/>
          <p:cNvSpPr/>
          <p:nvPr/>
        </p:nvSpPr>
        <p:spPr>
          <a:xfrm>
            <a:off x="457200" y="1097280"/>
            <a:ext cx="8229600" cy="1645920"/>
          </a:xfrm>
          <a:prstGeom prst="rect">
            <a:avLst/>
          </a:prstGeom>
          <a:noFill/>
          <a:ln/>
        </p:spPr>
        <p:txBody>
          <a:bodyPr wrap="square" lIns="0" tIns="0" rIns="0" bIns="0" rtlCol="0" anchor="ctr"/>
          <a:lstStyle/>
          <a:p>
            <a:pPr algn="l" indent="0" marL="0">
              <a:buNone/>
            </a:pPr>
            <a:r>
              <a:rPr lang="en-US" sz="3200" b="1" dirty="0">
                <a:solidFill>
                  <a:srgbClr val="FFFFFF"/>
                </a:solidFill>
                <a:latin typeface="Calibri" pitchFamily="34" charset="0"/>
                <a:ea typeface="Calibri" pitchFamily="34" charset="-122"/>
                <a:cs typeface="Calibri" pitchFamily="34" charset="-120"/>
              </a:rPr>
              <a:t>Chapter 3</a:t>
            </a:r>
            <a:endParaRPr lang="en-US" sz="3200" dirty="0"/>
          </a:p>
          <a:p>
            <a:pPr algn="l" indent="0" marL="0">
              <a:buNone/>
            </a:pPr>
            <a:r>
              <a:rPr lang="en-US" sz="3200" b="1" dirty="0">
                <a:solidFill>
                  <a:srgbClr val="FFFFFF"/>
                </a:solidFill>
                <a:latin typeface="Calibri" pitchFamily="34" charset="0"/>
                <a:ea typeface="Calibri" pitchFamily="34" charset="-122"/>
                <a:cs typeface="Calibri" pitchFamily="34" charset="-120"/>
              </a:rPr>
              <a:t>Jeremy the Crow</a:t>
            </a:r>
            <a:endParaRPr lang="en-US" sz="3200" dirty="0"/>
          </a:p>
        </p:txBody>
      </p:sp>
      <p:sp>
        <p:nvSpPr>
          <p:cNvPr id="5" name="Text 3"/>
          <p:cNvSpPr/>
          <p:nvPr/>
        </p:nvSpPr>
        <p:spPr>
          <a:xfrm>
            <a:off x="457200" y="4434840"/>
            <a:ext cx="8229600" cy="365760"/>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  Week 1  ·  Virtue: Ingenuity</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Notice</a:t>
            </a:r>
            <a:endParaRPr lang="en-US" sz="28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Text 2"/>
          <p:cNvSpPr/>
          <p:nvPr/>
        </p:nvSpPr>
        <p:spPr>
          <a:xfrm>
            <a:off x="457200" y="96012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LOOK CLOSELY - 1 MINUTE</a:t>
            </a:r>
            <a:endParaRPr lang="en-US" sz="1100" dirty="0"/>
          </a:p>
        </p:txBody>
      </p:sp>
      <p:sp>
        <p:nvSpPr>
          <p:cNvPr id="5" name="Shape 3"/>
          <p:cNvSpPr/>
          <p:nvPr/>
        </p:nvSpPr>
        <p:spPr>
          <a:xfrm>
            <a:off x="457200" y="1325880"/>
            <a:ext cx="8229600" cy="1005840"/>
          </a:xfrm>
          <a:prstGeom prst="roundRect">
            <a:avLst>
              <a:gd name="adj" fmla="val 9091"/>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640080" y="1435608"/>
            <a:ext cx="7863840" cy="7772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“The crow looked down and saw her in the grass, and his beak fell open in astonishment.”</a:t>
            </a:r>
            <a:endParaRPr lang="en-US" sz="1600" dirty="0"/>
          </a:p>
        </p:txBody>
      </p:sp>
      <p:sp>
        <p:nvSpPr>
          <p:cNvPr id="7" name="Text 5"/>
          <p:cNvSpPr/>
          <p:nvPr/>
        </p:nvSpPr>
        <p:spPr>
          <a:xfrm>
            <a:off x="548640" y="2496312"/>
            <a:ext cx="8046720" cy="2441448"/>
          </a:xfrm>
          <a:prstGeom prst="rect">
            <a:avLst/>
          </a:prstGeom>
          <a:noFill/>
          <a:ln/>
        </p:spPr>
        <p:txBody>
          <a:bodyPr wrap="square" lIns="0" tIns="0" rIns="0" bIns="0" rtlCol="0" anchor="t"/>
          <a:lstStyle/>
          <a:p>
            <a:pPr indent="0" marL="0">
              <a:buNone/>
            </a:pPr>
            <a:r>
              <a:rPr lang="en-US" sz="1200" b="1" dirty="0">
                <a:solidFill>
                  <a:srgbClr val="8B6FC0"/>
                </a:solidFill>
                <a:latin typeface="Calibri" pitchFamily="34" charset="0"/>
                <a:ea typeface="Calibri" pitchFamily="34" charset="-122"/>
                <a:cs typeface="Calibri" pitchFamily="34" charset="-120"/>
              </a:rPr>
              <a:t>From the novel: </a:t>
            </a:r>
            <a:pPr indent="0" marL="0">
              <a:buNone/>
            </a:pPr>
            <a:r>
              <a:rPr lang="en-US" sz="1200" i="1" dirty="0">
                <a:solidFill>
                  <a:srgbClr val="1E293B"/>
                </a:solidFill>
                <a:latin typeface="Calibri" pitchFamily="34" charset="0"/>
                <a:ea typeface="Calibri" pitchFamily="34" charset="-122"/>
                <a:cs typeface="Calibri" pitchFamily="34" charset="-120"/>
              </a:rPr>
              <a:t>"“The crow looked down and saw her in the grass, and his beak fell open in astonishment.”"</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Discuss</a:t>
            </a:r>
            <a:endParaRPr lang="en-US" sz="2800" dirty="0"/>
          </a:p>
        </p:txBody>
      </p:sp>
      <p:sp>
        <p:nvSpPr>
          <p:cNvPr id="3" name="Shape 1"/>
          <p:cNvSpPr/>
          <p:nvPr/>
        </p:nvSpPr>
        <p:spPr>
          <a:xfrm>
            <a:off x="365760" y="749808"/>
            <a:ext cx="8412480" cy="0"/>
          </a:xfrm>
          <a:prstGeom prst="line">
            <a:avLst/>
          </a:prstGeom>
          <a:noFill/>
          <a:ln w="19050">
            <a:solidFill>
              <a:srgbClr val="8FBF7A"/>
            </a:solidFill>
            <a:prstDash val="solid"/>
          </a:ln>
        </p:spPr>
      </p:sp>
      <p:sp>
        <p:nvSpPr>
          <p:cNvPr id="4" name="Shape 2"/>
          <p:cNvSpPr/>
          <p:nvPr/>
        </p:nvSpPr>
        <p:spPr>
          <a:xfrm>
            <a:off x="6492240" y="173736"/>
            <a:ext cx="2286000" cy="502920"/>
          </a:xfrm>
          <a:prstGeom prst="roundRect">
            <a:avLst>
              <a:gd name="adj" fmla="val 21818"/>
            </a:avLst>
          </a:prstGeom>
          <a:solidFill>
            <a:srgbClr val="8FBF7A"/>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8FBF7A"/>
                </a:solidFill>
                <a:latin typeface="Calibri" pitchFamily="34" charset="0"/>
                <a:ea typeface="Calibri" pitchFamily="34" charset="-122"/>
                <a:cs typeface="Calibri" pitchFamily="34" charset="-120"/>
              </a:rPr>
              <a:t>TALK IT OVER - 2 MINUTES</a:t>
            </a:r>
            <a:endParaRPr lang="en-US" sz="1100" dirty="0"/>
          </a:p>
        </p:txBody>
      </p:sp>
      <p:sp>
        <p:nvSpPr>
          <p:cNvPr id="7" name="Shape 5"/>
          <p:cNvSpPr/>
          <p:nvPr/>
        </p:nvSpPr>
        <p:spPr>
          <a:xfrm>
            <a:off x="365760" y="1097280"/>
            <a:ext cx="8412480" cy="1097280"/>
          </a:xfrm>
          <a:prstGeom prst="roundRect">
            <a:avLst>
              <a:gd name="adj" fmla="val 8333"/>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88720"/>
            <a:ext cx="7863840" cy="914400"/>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What does "his beak fell open in astonishment" show us about Jeremy — without the author ever using the word "surprised"? Turn and talk.</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EF6E8"/>
        </a:solidFill>
      </p:bgPr>
    </p:bg>
    <p:spTree>
      <p:nvGrpSpPr>
        <p:cNvPr id="1" name=""/>
        <p:cNvGrpSpPr/>
        <p:nvPr/>
      </p:nvGrpSpPr>
      <p:grpSpPr>
        <a:xfrm>
          <a:off x="0" y="0"/>
          <a:ext cx="0" cy="0"/>
          <a:chOff x="0" y="0"/>
          <a:chExt cx="0" cy="0"/>
        </a:xfrm>
      </p:grpSpPr>
      <p:sp>
        <p:nvSpPr>
          <p:cNvPr id="2" name="Text 0"/>
          <p:cNvSpPr/>
          <p:nvPr/>
        </p:nvSpPr>
        <p:spPr>
          <a:xfrm>
            <a:off x="457200" y="182880"/>
            <a:ext cx="8229600" cy="594360"/>
          </a:xfrm>
          <a:prstGeom prst="rect">
            <a:avLst/>
          </a:prstGeom>
          <a:noFill/>
          <a:ln/>
        </p:spPr>
        <p:txBody>
          <a:bodyPr wrap="square" lIns="0" tIns="0" rIns="0" bIns="0" rtlCol="0" anchor="ctr"/>
          <a:lstStyle/>
          <a:p>
            <a:pPr algn="ctr" indent="0" marL="0">
              <a:buNone/>
            </a:pPr>
            <a:r>
              <a:rPr lang="en-US" sz="3200" b="1" dirty="0">
                <a:solidFill>
                  <a:srgbClr val="0E1C42"/>
                </a:solidFill>
                <a:latin typeface="Calibri" pitchFamily="34" charset="0"/>
                <a:ea typeface="Calibri" pitchFamily="34" charset="-122"/>
                <a:cs typeface="Calibri" pitchFamily="34" charset="-120"/>
              </a:rPr>
              <a:t>Write</a:t>
            </a:r>
            <a:endParaRPr lang="en-US" sz="3200" dirty="0"/>
          </a:p>
        </p:txBody>
      </p:sp>
      <p:sp>
        <p:nvSpPr>
          <p:cNvPr id="3" name="Text 1"/>
          <p:cNvSpPr/>
          <p:nvPr/>
        </p:nvSpPr>
        <p:spPr>
          <a:xfrm>
            <a:off x="914400" y="749808"/>
            <a:ext cx="7315200" cy="347472"/>
          </a:xfrm>
          <a:prstGeom prst="rect">
            <a:avLst/>
          </a:prstGeom>
          <a:noFill/>
          <a:ln/>
        </p:spPr>
        <p:txBody>
          <a:bodyPr wrap="square" lIns="0" tIns="0" rIns="0" bIns="0" rtlCol="0" anchor="ctr"/>
          <a:lstStyle/>
          <a:p>
            <a:pPr algn="ctr" indent="0" marL="0">
              <a:buNone/>
            </a:pPr>
            <a:r>
              <a:rPr lang="en-US" sz="1500" dirty="0">
                <a:solidFill>
                  <a:srgbClr val="C7922C"/>
                </a:solidFill>
                <a:latin typeface="Calibri" pitchFamily="34" charset="0"/>
                <a:ea typeface="Calibri" pitchFamily="34" charset="-122"/>
                <a:cs typeface="Calibri" pitchFamily="34" charset="-120"/>
              </a:rPr>
              <a:t>10 minutes - keep your pencil moving!</a:t>
            </a:r>
            <a:endParaRPr lang="en-US" sz="1500" dirty="0"/>
          </a:p>
        </p:txBody>
      </p:sp>
      <p:sp>
        <p:nvSpPr>
          <p:cNvPr id="4" name="Shape 2"/>
          <p:cNvSpPr/>
          <p:nvPr/>
        </p:nvSpPr>
        <p:spPr>
          <a:xfrm>
            <a:off x="457200" y="1170432"/>
            <a:ext cx="8229600" cy="822960"/>
          </a:xfrm>
          <a:prstGeom prst="roundRect">
            <a:avLst>
              <a:gd name="adj" fmla="val 11111"/>
            </a:avLst>
          </a:prstGeom>
          <a:solidFill>
            <a:srgbClr val="FFFFFF"/>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640080" y="1225296"/>
            <a:ext cx="7863840" cy="731520"/>
          </a:xfrm>
          <a:prstGeom prst="rect">
            <a:avLst/>
          </a:prstGeom>
          <a:noFill/>
          <a:ln/>
        </p:spPr>
        <p:txBody>
          <a:bodyPr wrap="square" lIns="0" tIns="0" rIns="0" bIns="0" rtlCol="0" anchor="t"/>
          <a:lstStyle/>
          <a:p>
            <a:pPr indent="0" marL="0">
              <a:buNone/>
            </a:pPr>
            <a:r>
              <a:rPr lang="en-US" sz="1200" b="1" dirty="0">
                <a:solidFill>
                  <a:srgbClr val="C7922C"/>
                </a:solidFill>
                <a:latin typeface="Calibri" pitchFamily="34" charset="0"/>
                <a:ea typeface="Calibri" pitchFamily="34" charset="-122"/>
                <a:cs typeface="Calibri" pitchFamily="34" charset="-120"/>
              </a:rPr>
              <a:t>Prompt: </a:t>
            </a:r>
            <a:pPr indent="0" marL="0">
              <a:buNone/>
            </a:pPr>
            <a:r>
              <a:rPr lang="en-US" sz="1200" i="1" dirty="0">
                <a:solidFill>
                  <a:srgbClr val="1E293B"/>
                </a:solidFill>
                <a:latin typeface="Calibri" pitchFamily="34" charset="0"/>
                <a:ea typeface="Calibri" pitchFamily="34" charset="-122"/>
                <a:cs typeface="Calibri" pitchFamily="34" charset="-120"/>
              </a:rPr>
              <a:t>Write the moment Jeremy the crow first realizes Mrs. Frisby saved his life. Show his surprise through what his body does — don’t use the word "surprised."</a:t>
            </a:r>
            <a:endParaRPr lang="en-US" sz="1200" dirty="0"/>
          </a:p>
        </p:txBody>
      </p:sp>
      <p:sp>
        <p:nvSpPr>
          <p:cNvPr id="6" name="Shape 4"/>
          <p:cNvSpPr/>
          <p:nvPr/>
        </p:nvSpPr>
        <p:spPr>
          <a:xfrm>
            <a:off x="457200" y="2121408"/>
            <a:ext cx="8229600" cy="655320"/>
          </a:xfrm>
          <a:prstGeom prst="roundRect">
            <a:avLst>
              <a:gd name="adj" fmla="val 13953"/>
            </a:avLst>
          </a:prstGeom>
          <a:solidFill>
            <a:srgbClr val="FFFFFF"/>
          </a:solidFill>
          <a:ln w="15875">
            <a:solidFill>
              <a:srgbClr val="8B6FC0"/>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640080" y="2176272"/>
            <a:ext cx="7863840" cy="545592"/>
          </a:xfrm>
          <a:prstGeom prst="rect">
            <a:avLst/>
          </a:prstGeom>
          <a:noFill/>
          <a:ln/>
        </p:spPr>
        <p:txBody>
          <a:bodyPr wrap="square" lIns="0" tIns="0" rIns="0" bIns="0" rtlCol="0" anchor="t"/>
          <a:lstStyle/>
          <a:p>
            <a:pPr indent="0" marL="0">
              <a:buNone/>
            </a:pPr>
            <a:r>
              <a:rPr lang="en-US" sz="1300" b="1" dirty="0">
                <a:solidFill>
                  <a:srgbClr val="8B6FC0"/>
                </a:solidFill>
                <a:latin typeface="Calibri" pitchFamily="34" charset="0"/>
                <a:ea typeface="Calibri" pitchFamily="34" charset="-122"/>
                <a:cs typeface="Calibri" pitchFamily="34" charset="-120"/>
              </a:rPr>
              <a:t>Today's craft move: </a:t>
            </a:r>
            <a:pPr indent="0" marL="0">
              <a:buNone/>
            </a:pPr>
            <a:r>
              <a:rPr lang="en-US" sz="1300" dirty="0">
                <a:solidFill>
                  <a:srgbClr val="1E293B"/>
                </a:solidFill>
                <a:latin typeface="Calibri" pitchFamily="34" charset="0"/>
                <a:ea typeface="Calibri" pitchFamily="34" charset="-122"/>
                <a:cs typeface="Calibri" pitchFamily="34" charset="-120"/>
              </a:rPr>
              <a:t>Identify and use one vivid verb + physical reaction to show a character’s feeling, instead of naming the feeling.</a:t>
            </a:r>
            <a:endParaRPr lang="en-US" sz="1300" dirty="0"/>
          </a:p>
        </p:txBody>
      </p:sp>
      <p:sp>
        <p:nvSpPr>
          <p:cNvPr id="8" name="Text 6"/>
          <p:cNvSpPr/>
          <p:nvPr/>
        </p:nvSpPr>
        <p:spPr>
          <a:xfrm>
            <a:off x="548640" y="2868168"/>
            <a:ext cx="8046720" cy="624078"/>
          </a:xfrm>
          <a:prstGeom prst="rect">
            <a:avLst/>
          </a:prstGeom>
          <a:noFill/>
          <a:ln/>
        </p:spPr>
        <p:txBody>
          <a:bodyPr wrap="square" lIns="0" tIns="0" rIns="0" bIns="0" rtlCol="0" anchor="ctr"/>
          <a:lstStyle/>
          <a:p>
            <a:pPr indent="0" marL="0">
              <a:buNone/>
            </a:pPr>
            <a:r>
              <a:rPr lang="en-US" sz="1150" i="1" dirty="0">
                <a:solidFill>
                  <a:srgbClr val="64748B"/>
                </a:solidFill>
                <a:latin typeface="Calibri" pitchFamily="34" charset="0"/>
                <a:ea typeface="Calibri" pitchFamily="34" charset="-122"/>
                <a:cs typeface="Calibri" pitchFamily="34" charset="-120"/>
              </a:rPr>
              <a:t>Level-Up (optional): ⭐ Add a line of dialogue  ⭐⭐ Compare Jeremy to something else (a simile)  ⭐⭐⭐ Vary how your sentences begin  ⭐⭐⭐⭐ Reveal the feeling through action only — no feeling words at all</a:t>
            </a:r>
            <a:endParaRPr lang="en-US" sz="1150" dirty="0"/>
          </a:p>
        </p:txBody>
      </p:sp>
      <p:sp>
        <p:nvSpPr>
          <p:cNvPr id="9" name="Text 7"/>
          <p:cNvSpPr/>
          <p:nvPr/>
        </p:nvSpPr>
        <p:spPr>
          <a:xfrm>
            <a:off x="548640" y="3565398"/>
            <a:ext cx="8046720" cy="1463802"/>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Keep writing the whole time. If you get stuck, reread the prompt or write "I am thinking..." until a new idea comes.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8F8EF"/>
        </a:solidFill>
      </p:bgPr>
    </p:bg>
    <p:spTree>
      <p:nvGrpSpPr>
        <p:cNvPr id="1" name=""/>
        <p:cNvGrpSpPr/>
        <p:nvPr/>
      </p:nvGrpSpPr>
      <p:grpSpPr>
        <a:xfrm>
          <a:off x="0" y="0"/>
          <a:ext cx="0" cy="0"/>
          <a:chOff x="0" y="0"/>
          <a:chExt cx="0" cy="0"/>
        </a:xfrm>
      </p:grpSpPr>
      <p:sp>
        <p:nvSpPr>
          <p:cNvPr id="2" name="Text 0"/>
          <p:cNvSpPr/>
          <p:nvPr/>
        </p:nvSpPr>
        <p:spPr>
          <a:xfrm>
            <a:off x="914400" y="640080"/>
            <a:ext cx="7315200" cy="594360"/>
          </a:xfrm>
          <a:prstGeom prst="rect">
            <a:avLst/>
          </a:prstGeom>
          <a:noFill/>
          <a:ln/>
        </p:spPr>
        <p:txBody>
          <a:bodyPr wrap="square" lIns="0" tIns="0" rIns="0" bIns="0" rtlCol="0" anchor="ctr"/>
          <a:lstStyle/>
          <a:p>
            <a:pPr algn="ctr" indent="0" marL="0">
              <a:buNone/>
            </a:pPr>
            <a:r>
              <a:rPr lang="en-US" sz="3200" b="1" dirty="0">
                <a:solidFill>
                  <a:srgbClr val="0E1C42"/>
                </a:solidFill>
                <a:latin typeface="Calibri" pitchFamily="34" charset="0"/>
                <a:ea typeface="Calibri" pitchFamily="34" charset="-122"/>
                <a:cs typeface="Calibri" pitchFamily="34" charset="-120"/>
              </a:rPr>
              <a:t>Revise</a:t>
            </a:r>
            <a:endParaRPr lang="en-US" sz="3200" dirty="0"/>
          </a:p>
        </p:txBody>
      </p:sp>
      <p:sp>
        <p:nvSpPr>
          <p:cNvPr id="3" name="Text 1"/>
          <p:cNvSpPr/>
          <p:nvPr/>
        </p:nvSpPr>
        <p:spPr>
          <a:xfrm>
            <a:off x="914400" y="1234440"/>
            <a:ext cx="7315200" cy="411480"/>
          </a:xfrm>
          <a:prstGeom prst="rect">
            <a:avLst/>
          </a:prstGeom>
          <a:noFill/>
          <a:ln/>
        </p:spPr>
        <p:txBody>
          <a:bodyPr wrap="square" lIns="0" tIns="0" rIns="0" bIns="0" rtlCol="0" anchor="ctr"/>
          <a:lstStyle/>
          <a:p>
            <a:pPr algn="ctr" indent="0" marL="0">
              <a:buNone/>
            </a:pPr>
            <a:r>
              <a:rPr lang="en-US" sz="1500" dirty="0">
                <a:solidFill>
                  <a:srgbClr val="34B76F"/>
                </a:solidFill>
                <a:latin typeface="Calibri" pitchFamily="34" charset="0"/>
                <a:ea typeface="Calibri" pitchFamily="34" charset="-122"/>
                <a:cs typeface="Calibri" pitchFamily="34" charset="-120"/>
              </a:rPr>
              <a:t>2 minutes - improve ONE specific thing</a:t>
            </a:r>
            <a:endParaRPr lang="en-US" sz="1500" dirty="0"/>
          </a:p>
        </p:txBody>
      </p:sp>
      <p:sp>
        <p:nvSpPr>
          <p:cNvPr id="4" name="Shape 2"/>
          <p:cNvSpPr/>
          <p:nvPr/>
        </p:nvSpPr>
        <p:spPr>
          <a:xfrm>
            <a:off x="1097280" y="1828800"/>
            <a:ext cx="6949440" cy="777240"/>
          </a:xfrm>
          <a:prstGeom prst="roundRect">
            <a:avLst>
              <a:gd name="adj" fmla="val 11765"/>
            </a:avLst>
          </a:prstGeom>
          <a:solidFill>
            <a:srgbClr val="FFFFFF"/>
          </a:solidFill>
          <a:ln w="19050">
            <a:solidFill>
              <a:srgbClr val="34B76F"/>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1280160" y="1901952"/>
            <a:ext cx="6583680" cy="640080"/>
          </a:xfrm>
          <a:prstGeom prst="rect">
            <a:avLst/>
          </a:prstGeom>
          <a:noFill/>
          <a:ln/>
        </p:spPr>
        <p:txBody>
          <a:bodyPr wrap="square" lIns="0" tIns="0" rIns="0" bIns="0" rtlCol="0" anchor="ctr"/>
          <a:lstStyle/>
          <a:p>
            <a:pPr indent="0" marL="0">
              <a:buNone/>
            </a:pPr>
            <a:r>
              <a:rPr lang="en-US" sz="1400" b="1" dirty="0">
                <a:solidFill>
                  <a:srgbClr val="34B76F"/>
                </a:solidFill>
                <a:latin typeface="Calibri" pitchFamily="34" charset="0"/>
                <a:ea typeface="Calibri" pitchFamily="34" charset="-122"/>
                <a:cs typeface="Calibri" pitchFamily="34" charset="-120"/>
              </a:rPr>
              <a:t>Today's revision task: </a:t>
            </a:r>
            <a:pPr indent="0" marL="0">
              <a:buNone/>
            </a:pPr>
            <a:r>
              <a:rPr lang="en-US" sz="1400" dirty="0">
                <a:solidFill>
                  <a:srgbClr val="1E293B"/>
                </a:solidFill>
                <a:latin typeface="Calibri" pitchFamily="34" charset="0"/>
                <a:ea typeface="Calibri" pitchFamily="34" charset="-122"/>
                <a:cs typeface="Calibri" pitchFamily="34" charset="-120"/>
              </a:rPr>
              <a:t>Circle your strongest verb. If it’s "was" or "said," replace it with something more precise.</a:t>
            </a:r>
            <a:endParaRPr lang="en-US" sz="1400" dirty="0"/>
          </a:p>
        </p:txBody>
      </p:sp>
      <p:sp>
        <p:nvSpPr>
          <p:cNvPr id="6" name="Shape 4"/>
          <p:cNvSpPr/>
          <p:nvPr/>
        </p:nvSpPr>
        <p:spPr>
          <a:xfrm>
            <a:off x="1097280" y="2788920"/>
            <a:ext cx="6949440" cy="1554480"/>
          </a:xfrm>
          <a:prstGeom prst="roundRect">
            <a:avLst>
              <a:gd name="adj" fmla="val 5882"/>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1280160" y="2880360"/>
            <a:ext cx="6583680" cy="1463040"/>
          </a:xfrm>
          <a:prstGeom prst="rect">
            <a:avLst/>
          </a:prstGeom>
          <a:noFill/>
          <a:ln/>
        </p:spPr>
        <p:txBody>
          <a:bodyPr wrap="square" lIns="0" tIns="0" rIns="0" bIns="0" rtlCol="0" anchor="t"/>
          <a:lstStyle/>
          <a:p>
            <a:pPr indent="0" marL="0">
              <a:spcAft>
                <a:spcPts val="200"/>
              </a:spcAft>
              <a:buNone/>
            </a:pPr>
            <a:r>
              <a:rPr lang="en-US" sz="1250" b="1" dirty="0">
                <a:solidFill>
                  <a:srgbClr val="0E1C42"/>
                </a:solidFill>
                <a:latin typeface="Calibri" pitchFamily="34" charset="0"/>
                <a:ea typeface="Calibri" pitchFamily="34" charset="-122"/>
                <a:cs typeface="Calibri" pitchFamily="34" charset="-120"/>
              </a:rPr>
              <a:t>Remember - revision is about ideas, not spelling: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Circle your strongest sentence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Replace one weak verb with a precise one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Add one detail, or cut one you do not need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Improve your opening line</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914400" y="731520"/>
            <a:ext cx="7315200" cy="594360"/>
          </a:xfrm>
          <a:prstGeom prst="rect">
            <a:avLst/>
          </a:prstGeom>
          <a:noFill/>
          <a:ln/>
        </p:spPr>
        <p:txBody>
          <a:bodyPr wrap="square" lIns="0" tIns="0" rIns="0" bIns="0" rtlCol="0" anchor="ctr"/>
          <a:lstStyle/>
          <a:p>
            <a:pPr algn="ctr" indent="0" marL="0">
              <a:buNone/>
            </a:pPr>
            <a:r>
              <a:rPr lang="en-US" sz="3200" b="1" dirty="0">
                <a:solidFill>
                  <a:srgbClr val="0E1C42"/>
                </a:solidFill>
                <a:latin typeface="Calibri" pitchFamily="34" charset="0"/>
                <a:ea typeface="Calibri" pitchFamily="34" charset="-122"/>
                <a:cs typeface="Calibri" pitchFamily="34" charset="-120"/>
              </a:rPr>
              <a:t>Share</a:t>
            </a:r>
            <a:endParaRPr lang="en-US" sz="3200" dirty="0"/>
          </a:p>
        </p:txBody>
      </p:sp>
      <p:sp>
        <p:nvSpPr>
          <p:cNvPr id="3" name="Text 1"/>
          <p:cNvSpPr/>
          <p:nvPr/>
        </p:nvSpPr>
        <p:spPr>
          <a:xfrm>
            <a:off x="914400" y="1325880"/>
            <a:ext cx="7315200" cy="411480"/>
          </a:xfrm>
          <a:prstGeom prst="rect">
            <a:avLst/>
          </a:prstGeom>
          <a:noFill/>
          <a:ln/>
        </p:spPr>
        <p:txBody>
          <a:bodyPr wrap="square" lIns="0" tIns="0" rIns="0" bIns="0" rtlCol="0" anchor="ctr"/>
          <a:lstStyle/>
          <a:p>
            <a:pPr algn="ctr" indent="0" marL="0">
              <a:buNone/>
            </a:pPr>
            <a:r>
              <a:rPr lang="en-US" sz="1500" dirty="0">
                <a:solidFill>
                  <a:srgbClr val="55C8E8"/>
                </a:solidFill>
                <a:latin typeface="Calibri" pitchFamily="34" charset="0"/>
                <a:ea typeface="Calibri" pitchFamily="34" charset="-122"/>
                <a:cs typeface="Calibri" pitchFamily="34" charset="-120"/>
              </a:rPr>
              <a:t>2-3 minutes - celebrate a craft move</a:t>
            </a:r>
            <a:endParaRPr lang="en-US" sz="1500" dirty="0"/>
          </a:p>
        </p:txBody>
      </p:sp>
      <p:sp>
        <p:nvSpPr>
          <p:cNvPr id="4" name="Shape 2"/>
          <p:cNvSpPr/>
          <p:nvPr/>
        </p:nvSpPr>
        <p:spPr>
          <a:xfrm>
            <a:off x="1371600" y="1965960"/>
            <a:ext cx="6400800" cy="914400"/>
          </a:xfrm>
          <a:prstGeom prst="roundRect">
            <a:avLst>
              <a:gd name="adj" fmla="val 12000"/>
            </a:avLst>
          </a:prstGeom>
          <a:solidFill>
            <a:srgbClr val="FFFFFF"/>
          </a:solidFill>
          <a:ln w="15875">
            <a:solidFill>
              <a:srgbClr val="55C8E8"/>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1554480" y="2029968"/>
            <a:ext cx="6035040" cy="786384"/>
          </a:xfrm>
          <a:prstGeom prst="rect">
            <a:avLst/>
          </a:prstGeom>
          <a:noFill/>
          <a:ln/>
        </p:spPr>
        <p:txBody>
          <a:bodyPr wrap="square" lIns="0" tIns="0" rIns="0" bIns="0" rtlCol="0" anchor="ctr"/>
          <a:lstStyle/>
          <a:p>
            <a:pPr indent="0" marL="0">
              <a:buNone/>
            </a:pPr>
            <a:r>
              <a:rPr lang="en-US" sz="1400" b="1" dirty="0">
                <a:solidFill>
                  <a:srgbClr val="0E1C42"/>
                </a:solidFill>
                <a:latin typeface="Calibri" pitchFamily="34" charset="0"/>
                <a:ea typeface="Calibri" pitchFamily="34" charset="-122"/>
                <a:cs typeface="Calibri" pitchFamily="34" charset="-120"/>
              </a:rPr>
              <a:t>Share the physical reaction you wrote — the moment we see the surprise instead of being told about it.</a:t>
            </a:r>
            <a:endParaRPr lang="en-US" sz="1400" dirty="0"/>
          </a:p>
        </p:txBody>
      </p:sp>
      <p:sp>
        <p:nvSpPr>
          <p:cNvPr id="6" name="Shape 4"/>
          <p:cNvSpPr/>
          <p:nvPr/>
        </p:nvSpPr>
        <p:spPr>
          <a:xfrm>
            <a:off x="1371600" y="3017520"/>
            <a:ext cx="6400800" cy="914400"/>
          </a:xfrm>
          <a:prstGeom prst="roundRect">
            <a:avLst>
              <a:gd name="adj" fmla="val 12000"/>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1554480" y="3090672"/>
            <a:ext cx="6035040" cy="777240"/>
          </a:xfrm>
          <a:prstGeom prst="rect">
            <a:avLst/>
          </a:prstGeom>
          <a:noFill/>
          <a:ln/>
        </p:spPr>
        <p:txBody>
          <a:bodyPr wrap="square" lIns="0" tIns="0" rIns="0" bIns="0" rtlCol="0" anchor="t"/>
          <a:lstStyle/>
          <a:p>
            <a:pPr indent="0" marL="0">
              <a:spcAft>
                <a:spcPts val="200"/>
              </a:spcAft>
              <a:buNone/>
            </a:pPr>
            <a:r>
              <a:rPr lang="en-US" sz="1250" dirty="0">
                <a:solidFill>
                  <a:srgbClr val="1E293B"/>
                </a:solidFill>
                <a:latin typeface="Calibri" pitchFamily="34" charset="0"/>
                <a:ea typeface="Calibri" pitchFamily="34" charset="-122"/>
                <a:cs typeface="Calibri" pitchFamily="34" charset="-120"/>
              </a:rPr>
              <a:t>Raise your hand, or paste it in the chat.
</a:t>
            </a:r>
            <a:pPr indent="0" marL="0">
              <a:spcAft>
                <a:spcPts val="200"/>
              </a:spcAft>
              <a:buNone/>
            </a:pPr>
            <a:r>
              <a:rPr lang="en-US" sz="1150" i="1" dirty="0">
                <a:solidFill>
                  <a:srgbClr val="64748B"/>
                </a:solidFill>
                <a:latin typeface="Calibri" pitchFamily="34" charset="0"/>
                <a:ea typeface="Calibri" pitchFamily="34" charset="-122"/>
                <a:cs typeface="Calibri" pitchFamily="34" charset="-120"/>
              </a:rPr>
              <a:t>Every writer's craft move counts - there are no wrong answers.</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Reflect</a:t>
            </a:r>
            <a:endParaRPr lang="en-US" sz="28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Shape 2"/>
          <p:cNvSpPr/>
          <p:nvPr/>
        </p:nvSpPr>
        <p:spPr>
          <a:xfrm>
            <a:off x="457200" y="1005840"/>
            <a:ext cx="8229600" cy="1280160"/>
          </a:xfrm>
          <a:prstGeom prst="roundRect">
            <a:avLst>
              <a:gd name="adj" fmla="val 7143"/>
            </a:avLst>
          </a:prstGeom>
          <a:solidFill>
            <a:srgbClr val="E8F8EF"/>
          </a:solidFill>
          <a:ln/>
          <a:effectLst>
            <a:outerShdw sx="100000" sy="100000" kx="0" ky="0" algn="bl" rotWithShape="0" blurRad="101600" dist="38100" dir="2700000">
              <a:srgbClr val="000000">
                <a:alpha val="12000"/>
              </a:srgbClr>
            </a:outerShdw>
          </a:effectLst>
        </p:spPr>
      </p:sp>
      <p:sp>
        <p:nvSpPr>
          <p:cNvPr id="5" name="Text 3"/>
          <p:cNvSpPr/>
          <p:nvPr/>
        </p:nvSpPr>
        <p:spPr>
          <a:xfrm>
            <a:off x="685800" y="1143000"/>
            <a:ext cx="7772400" cy="1005840"/>
          </a:xfrm>
          <a:prstGeom prst="rect">
            <a:avLst/>
          </a:prstGeom>
          <a:noFill/>
          <a:ln/>
        </p:spPr>
        <p:txBody>
          <a:bodyPr wrap="square" lIns="0" tIns="0" rIns="0" bIns="0" rtlCol="0" anchor="ctr"/>
          <a:lstStyle/>
          <a:p>
            <a:pPr indent="0" marL="0">
              <a:buNone/>
            </a:pPr>
            <a:r>
              <a:rPr lang="en-US" sz="1900" b="1" dirty="0">
                <a:solidFill>
                  <a:srgbClr val="0E1C42"/>
                </a:solidFill>
                <a:latin typeface="Calibri" pitchFamily="34" charset="0"/>
                <a:ea typeface="Calibri" pitchFamily="34" charset="-122"/>
                <a:cs typeface="Calibri" pitchFamily="34" charset="-120"/>
              </a:rPr>
              <a:t>What did you do today that made your writing stronger?</a:t>
            </a:r>
            <a:endParaRPr lang="en-US" sz="1900" dirty="0"/>
          </a:p>
        </p:txBody>
      </p:sp>
      <p:sp>
        <p:nvSpPr>
          <p:cNvPr id="6" name="Text 4"/>
          <p:cNvSpPr/>
          <p:nvPr/>
        </p:nvSpPr>
        <p:spPr>
          <a:xfrm>
            <a:off x="548640" y="2468880"/>
            <a:ext cx="8046720" cy="457200"/>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Turn and tell a partner, or jot one sentence in your writing notebook.</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Recap + Today's Focus</a:t>
            </a:r>
            <a:endParaRPr lang="en-US" sz="2800" dirty="0"/>
          </a:p>
        </p:txBody>
      </p:sp>
      <p:sp>
        <p:nvSpPr>
          <p:cNvPr id="3" name="Shape 1"/>
          <p:cNvSpPr/>
          <p:nvPr/>
        </p:nvSpPr>
        <p:spPr>
          <a:xfrm>
            <a:off x="365760" y="749808"/>
            <a:ext cx="8412480" cy="0"/>
          </a:xfrm>
          <a:prstGeom prst="line">
            <a:avLst/>
          </a:prstGeom>
          <a:noFill/>
          <a:ln w="19050">
            <a:solidFill>
              <a:srgbClr val="8FBF7A"/>
            </a:solidFill>
            <a:prstDash val="solid"/>
          </a:ln>
        </p:spPr>
      </p:sp>
      <p:sp>
        <p:nvSpPr>
          <p:cNvPr id="4" name="Shape 2"/>
          <p:cNvSpPr/>
          <p:nvPr/>
        </p:nvSpPr>
        <p:spPr>
          <a:xfrm>
            <a:off x="6492240" y="173736"/>
            <a:ext cx="2286000" cy="502920"/>
          </a:xfrm>
          <a:prstGeom prst="roundRect">
            <a:avLst>
              <a:gd name="adj" fmla="val 21818"/>
            </a:avLst>
          </a:prstGeom>
          <a:solidFill>
            <a:srgbClr val="8FBF7A"/>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YESTERDAY</a:t>
            </a:r>
            <a:endParaRPr lang="en-US" sz="1100" dirty="0"/>
          </a:p>
        </p:txBody>
      </p:sp>
      <p:sp>
        <p:nvSpPr>
          <p:cNvPr id="7" name="Shape 5"/>
          <p:cNvSpPr/>
          <p:nvPr/>
        </p:nvSpPr>
        <p:spPr>
          <a:xfrm>
            <a:off x="365760" y="1078992"/>
            <a:ext cx="8412480" cy="749808"/>
          </a:xfrm>
          <a:prstGeom prst="roundRect">
            <a:avLst>
              <a:gd name="adj" fmla="val 12195"/>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863840" cy="566928"/>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Yesterday, we met the Frisby family and learned that Timothy is very sick with pneumonia — Mrs. Frisby needs Mr. Ages’s medicine to save him.</a:t>
            </a:r>
            <a:endParaRPr lang="en-US" sz="1400" dirty="0"/>
          </a:p>
        </p:txBody>
      </p:sp>
      <p:sp>
        <p:nvSpPr>
          <p:cNvPr id="9" name="Text 7"/>
          <p:cNvSpPr/>
          <p:nvPr/>
        </p:nvSpPr>
        <p:spPr>
          <a:xfrm>
            <a:off x="365760" y="1938528"/>
            <a:ext cx="8046720" cy="292608"/>
          </a:xfrm>
          <a:prstGeom prst="rect">
            <a:avLst/>
          </a:prstGeom>
          <a:noFill/>
          <a:ln/>
        </p:spPr>
        <p:txBody>
          <a:bodyPr wrap="square" lIns="0" tIns="0" rIns="0" bIns="0" rtlCol="0" anchor="ctr"/>
          <a:lstStyle/>
          <a:p>
            <a:pPr indent="0" marL="0">
              <a:buNone/>
            </a:pPr>
            <a:r>
              <a:rPr lang="en-US" sz="1100" b="1" spc="200" kern="0" dirty="0">
                <a:solidFill>
                  <a:srgbClr val="8FBF7A"/>
                </a:solidFill>
                <a:latin typeface="Calibri" pitchFamily="34" charset="0"/>
                <a:ea typeface="Calibri" pitchFamily="34" charset="-122"/>
                <a:cs typeface="Calibri" pitchFamily="34" charset="-120"/>
              </a:rPr>
              <a:t>TODAY</a:t>
            </a:r>
            <a:endParaRPr lang="en-US" sz="1100" dirty="0"/>
          </a:p>
        </p:txBody>
      </p:sp>
      <p:sp>
        <p:nvSpPr>
          <p:cNvPr id="10" name="Shape 8"/>
          <p:cNvSpPr/>
          <p:nvPr/>
        </p:nvSpPr>
        <p:spPr>
          <a:xfrm>
            <a:off x="365760" y="2194560"/>
            <a:ext cx="8412480" cy="713232"/>
          </a:xfrm>
          <a:prstGeom prst="roundRect">
            <a:avLst>
              <a:gd name="adj" fmla="val 12821"/>
            </a:avLst>
          </a:prstGeom>
          <a:solidFill>
            <a:srgbClr val="FEF6E8"/>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286000"/>
            <a:ext cx="7863840" cy="530352"/>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Find out how Mrs. Frisby helps Jeremy the crow — and what he offers in return.</a:t>
            </a:r>
            <a:endParaRPr lang="en-US" sz="1400" dirty="0"/>
          </a:p>
        </p:txBody>
      </p:sp>
      <p:sp>
        <p:nvSpPr>
          <p:cNvPr id="12" name="Text 10"/>
          <p:cNvSpPr/>
          <p:nvPr/>
        </p:nvSpPr>
        <p:spPr>
          <a:xfrm>
            <a:off x="365760" y="3035808"/>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BIG QUESTION</a:t>
            </a:r>
            <a:endParaRPr lang="en-US" sz="1100" dirty="0"/>
          </a:p>
        </p:txBody>
      </p:sp>
      <p:sp>
        <p:nvSpPr>
          <p:cNvPr id="13" name="Shape 11"/>
          <p:cNvSpPr/>
          <p:nvPr/>
        </p:nvSpPr>
        <p:spPr>
          <a:xfrm>
            <a:off x="365760" y="3291840"/>
            <a:ext cx="8412480" cy="749808"/>
          </a:xfrm>
          <a:prstGeom prst="roundRect">
            <a:avLst>
              <a:gd name="adj" fmla="val 12195"/>
            </a:avLst>
          </a:prstGeom>
          <a:solidFill>
            <a:srgbClr val="F0E8FF"/>
          </a:solidFill>
          <a:ln/>
          <a:effectLst>
            <a:outerShdw sx="100000" sy="100000" kx="0" ky="0" algn="bl" rotWithShape="0" blurRad="101600" dist="38100" dir="2700000">
              <a:srgbClr val="000000">
                <a:alpha val="12000"/>
              </a:srgbClr>
            </a:outerShdw>
          </a:effectLst>
        </p:spPr>
      </p:sp>
      <p:sp>
        <p:nvSpPr>
          <p:cNvPr id="14" name="Text 12"/>
          <p:cNvSpPr/>
          <p:nvPr/>
        </p:nvSpPr>
        <p:spPr>
          <a:xfrm>
            <a:off x="594360" y="3383280"/>
            <a:ext cx="7863840" cy="566928"/>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Today, watch for how the author introduces Jeremy the crow. What does he say? What does he do? What kind of bird is he?</a:t>
            </a:r>
            <a:endParaRPr lang="en-US" sz="1300" dirty="0"/>
          </a:p>
        </p:txBody>
      </p:sp>
      <p:sp>
        <p:nvSpPr>
          <p:cNvPr id="15" name="Text 13"/>
          <p:cNvSpPr/>
          <p:nvPr/>
        </p:nvSpPr>
        <p:spPr>
          <a:xfrm>
            <a:off x="365760" y="4169664"/>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READING LENS</a:t>
            </a:r>
            <a:endParaRPr lang="en-US" sz="1100" dirty="0"/>
          </a:p>
        </p:txBody>
      </p:sp>
      <p:sp>
        <p:nvSpPr>
          <p:cNvPr id="16" name="Text 14"/>
          <p:cNvSpPr/>
          <p:nvPr/>
        </p:nvSpPr>
        <p:spPr>
          <a:xfrm>
            <a:off x="457200" y="4407408"/>
            <a:ext cx="8229600" cy="45720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Good readers keep noticing new characters as a story grows. Authors don't always tell you who a character is — they let the character's words and actions show...</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Daily Oral Language - Study What's Right</a:t>
            </a:r>
            <a:endParaRPr lang="en-US" sz="2800" dirty="0"/>
          </a:p>
        </p:txBody>
      </p:sp>
      <p:sp>
        <p:nvSpPr>
          <p:cNvPr id="3" name="Shape 1"/>
          <p:cNvSpPr/>
          <p:nvPr/>
        </p:nvSpPr>
        <p:spPr>
          <a:xfrm>
            <a:off x="365760" y="749808"/>
            <a:ext cx="8412480" cy="0"/>
          </a:xfrm>
          <a:prstGeom prst="line">
            <a:avLst/>
          </a:prstGeom>
          <a:noFill/>
          <a:ln w="19050">
            <a:solidFill>
              <a:srgbClr val="8FBF7A"/>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CORRECT MODEL - FROM THE TEXT</a:t>
            </a:r>
            <a:endParaRPr lang="en-US" sz="1100" dirty="0"/>
          </a:p>
        </p:txBody>
      </p:sp>
      <p:sp>
        <p:nvSpPr>
          <p:cNvPr id="5" name="Shape 3"/>
          <p:cNvSpPr/>
          <p:nvPr/>
        </p:nvSpPr>
        <p:spPr>
          <a:xfrm>
            <a:off x="365760" y="1078992"/>
            <a:ext cx="8412480" cy="777240"/>
          </a:xfrm>
          <a:prstGeom prst="roundRect">
            <a:avLst>
              <a:gd name="adj" fmla="val 11765"/>
            </a:avLst>
          </a:prstGeom>
          <a:solidFill>
            <a:srgbClr val="E8F8EF"/>
          </a:solidFill>
          <a:ln w="1270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48640" y="1188720"/>
            <a:ext cx="8046720" cy="5486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"You saved my life," said the crow. "I thought the cat would eat me."</a:t>
            </a:r>
            <a:endParaRPr lang="en-US" sz="1600" dirty="0"/>
          </a:p>
        </p:txBody>
      </p:sp>
      <p:sp>
        <p:nvSpPr>
          <p:cNvPr id="7" name="Text 5"/>
          <p:cNvSpPr/>
          <p:nvPr/>
        </p:nvSpPr>
        <p:spPr>
          <a:xfrm>
            <a:off x="457200" y="2002536"/>
            <a:ext cx="8229600" cy="384048"/>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Circle: capitals, quotation marks, punctuation, proper nouns</a:t>
            </a:r>
            <a:endParaRPr lang="en-US" sz="1400" dirty="0"/>
          </a:p>
        </p:txBody>
      </p:sp>
      <p:sp>
        <p:nvSpPr>
          <p:cNvPr id="8" name="Text 6"/>
          <p:cNvSpPr/>
          <p:nvPr/>
        </p:nvSpPr>
        <p:spPr>
          <a:xfrm>
            <a:off x="457200" y="2459736"/>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Copy this sentence in your journal. Circle one thing you notice.</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Daily Oral Language - Fix It</a:t>
            </a:r>
            <a:endParaRPr lang="en-US" sz="2800" dirty="0"/>
          </a:p>
        </p:txBody>
      </p:sp>
      <p:sp>
        <p:nvSpPr>
          <p:cNvPr id="3" name="Shape 1"/>
          <p:cNvSpPr/>
          <p:nvPr/>
        </p:nvSpPr>
        <p:spPr>
          <a:xfrm>
            <a:off x="365760" y="749808"/>
            <a:ext cx="8412480" cy="0"/>
          </a:xfrm>
          <a:prstGeom prst="line">
            <a:avLst/>
          </a:prstGeom>
          <a:noFill/>
          <a:ln w="19050">
            <a:solidFill>
              <a:srgbClr val="8FBF7A"/>
            </a:solidFill>
            <a:prstDash val="solid"/>
          </a:ln>
        </p:spPr>
      </p:sp>
      <p:sp>
        <p:nvSpPr>
          <p:cNvPr id="4" name="Shape 2"/>
          <p:cNvSpPr/>
          <p:nvPr/>
        </p:nvSpPr>
        <p:spPr>
          <a:xfrm>
            <a:off x="6492240" y="173736"/>
            <a:ext cx="2286000" cy="502920"/>
          </a:xfrm>
          <a:prstGeom prst="roundRect">
            <a:avLst>
              <a:gd name="adj" fmla="val 21818"/>
            </a:avLst>
          </a:prstGeom>
          <a:solidFill>
            <a:srgbClr val="8FBF7A"/>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685800"/>
          </a:xfrm>
          <a:prstGeom prst="roundRect">
            <a:avLst>
              <a:gd name="adj" fmla="val 13333"/>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45720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you helped me too said the crow i know the cat would catch me</a:t>
            </a:r>
            <a:endParaRPr lang="en-US" sz="1600" dirty="0"/>
          </a:p>
        </p:txBody>
      </p:sp>
      <p:sp>
        <p:nvSpPr>
          <p:cNvPr id="9" name="Text 7"/>
          <p:cNvSpPr/>
          <p:nvPr/>
        </p:nvSpPr>
        <p:spPr>
          <a:xfrm>
            <a:off x="457200" y="1911096"/>
            <a:ext cx="8229600" cy="365760"/>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Daily Oral Language - Fix It</a:t>
            </a:r>
            <a:endParaRPr lang="en-US" sz="2800" dirty="0"/>
          </a:p>
        </p:txBody>
      </p:sp>
      <p:sp>
        <p:nvSpPr>
          <p:cNvPr id="3" name="Shape 1"/>
          <p:cNvSpPr/>
          <p:nvPr/>
        </p:nvSpPr>
        <p:spPr>
          <a:xfrm>
            <a:off x="365760" y="749808"/>
            <a:ext cx="8412480" cy="0"/>
          </a:xfrm>
          <a:prstGeom prst="line">
            <a:avLst/>
          </a:prstGeom>
          <a:noFill/>
          <a:ln w="19050">
            <a:solidFill>
              <a:srgbClr val="8FBF7A"/>
            </a:solidFill>
            <a:prstDash val="solid"/>
          </a:ln>
        </p:spPr>
      </p:sp>
      <p:sp>
        <p:nvSpPr>
          <p:cNvPr id="4" name="Shape 2"/>
          <p:cNvSpPr/>
          <p:nvPr/>
        </p:nvSpPr>
        <p:spPr>
          <a:xfrm>
            <a:off x="6492240" y="173736"/>
            <a:ext cx="2286000" cy="502920"/>
          </a:xfrm>
          <a:prstGeom prst="roundRect">
            <a:avLst>
              <a:gd name="adj" fmla="val 21818"/>
            </a:avLst>
          </a:prstGeom>
          <a:solidFill>
            <a:srgbClr val="8FBF7A"/>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685800"/>
          </a:xfrm>
          <a:prstGeom prst="roundRect">
            <a:avLst>
              <a:gd name="adj" fmla="val 13333"/>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45720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you helped me too said the crow i know the cat would catch me</a:t>
            </a:r>
            <a:endParaRPr lang="en-US" sz="1600" dirty="0"/>
          </a:p>
        </p:txBody>
      </p:sp>
      <p:sp>
        <p:nvSpPr>
          <p:cNvPr id="9" name="Text 7"/>
          <p:cNvSpPr/>
          <p:nvPr/>
        </p:nvSpPr>
        <p:spPr>
          <a:xfrm>
            <a:off x="457200" y="1911096"/>
            <a:ext cx="8229600" cy="365760"/>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
        <p:nvSpPr>
          <p:cNvPr id="10" name="Shape 8"/>
          <p:cNvSpPr/>
          <p:nvPr/>
        </p:nvSpPr>
        <p:spPr>
          <a:xfrm>
            <a:off x="365760" y="2350008"/>
            <a:ext cx="8412480" cy="708660"/>
          </a:xfrm>
          <a:prstGeom prst="roundRect">
            <a:avLst>
              <a:gd name="adj" fmla="val 12903"/>
            </a:avLst>
          </a:prstGeom>
          <a:solidFill>
            <a:srgbClr val="E8F8EF"/>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404872"/>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CORRECTED</a:t>
            </a:r>
            <a:endParaRPr lang="en-US" sz="1100" dirty="0"/>
          </a:p>
        </p:txBody>
      </p:sp>
      <p:sp>
        <p:nvSpPr>
          <p:cNvPr id="12" name="Text 10"/>
          <p:cNvSpPr/>
          <p:nvPr/>
        </p:nvSpPr>
        <p:spPr>
          <a:xfrm>
            <a:off x="594360" y="2697480"/>
            <a:ext cx="7863840" cy="324612"/>
          </a:xfrm>
          <a:prstGeom prst="rect">
            <a:avLst/>
          </a:prstGeom>
          <a:noFill/>
          <a:ln/>
        </p:spPr>
        <p:txBody>
          <a:bodyPr wrap="square" lIns="0" tIns="0" rIns="0" bIns="0" rtlCol="0" anchor="ctr"/>
          <a:lstStyle/>
          <a:p>
            <a:pPr indent="0" marL="0">
              <a:buNone/>
            </a:pPr>
            <a:r>
              <a:rPr lang="en-US" sz="1500" i="1" dirty="0">
                <a:solidFill>
                  <a:srgbClr val="1E293B"/>
                </a:solidFill>
                <a:latin typeface="Calibri" pitchFamily="34" charset="0"/>
                <a:ea typeface="Calibri" pitchFamily="34" charset="-122"/>
                <a:cs typeface="Calibri" pitchFamily="34" charset="-120"/>
              </a:rPr>
              <a:t>“You helped me too,” said the crow. “I know the cat would catch me.”</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Vocabulary</a:t>
            </a:r>
            <a:endParaRPr lang="en-US" sz="2800" dirty="0"/>
          </a:p>
        </p:txBody>
      </p:sp>
      <p:sp>
        <p:nvSpPr>
          <p:cNvPr id="3" name="Shape 1"/>
          <p:cNvSpPr/>
          <p:nvPr/>
        </p:nvSpPr>
        <p:spPr>
          <a:xfrm>
            <a:off x="365760" y="749808"/>
            <a:ext cx="8412480" cy="0"/>
          </a:xfrm>
          <a:prstGeom prst="line">
            <a:avLst/>
          </a:prstGeom>
          <a:noFill/>
          <a:ln w="19050">
            <a:solidFill>
              <a:srgbClr val="8FBF7A"/>
            </a:solidFill>
            <a:prstDash val="solid"/>
          </a:ln>
        </p:spPr>
      </p:sp>
      <p:sp>
        <p:nvSpPr>
          <p:cNvPr id="4" name="Text 2"/>
          <p:cNvSpPr/>
          <p:nvPr/>
        </p:nvSpPr>
        <p:spPr>
          <a:xfrm>
            <a:off x="365760" y="786384"/>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4 WORDS - READ THE SENTENCE, THEN THE MEANING</a:t>
            </a:r>
            <a:endParaRPr lang="en-US" sz="1100" dirty="0"/>
          </a:p>
        </p:txBody>
      </p:sp>
      <p:sp>
        <p:nvSpPr>
          <p:cNvPr id="5" name="Shape 3"/>
          <p:cNvSpPr/>
          <p:nvPr/>
        </p:nvSpPr>
        <p:spPr>
          <a:xfrm>
            <a:off x="320040" y="914400"/>
            <a:ext cx="4069080" cy="954024"/>
          </a:xfrm>
          <a:prstGeom prst="roundRect">
            <a:avLst>
              <a:gd name="adj" fmla="val 9585"/>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457200" y="1005840"/>
            <a:ext cx="3794760" cy="292608"/>
          </a:xfrm>
          <a:prstGeom prst="rect">
            <a:avLst/>
          </a:prstGeom>
          <a:noFill/>
          <a:ln/>
        </p:spPr>
        <p:txBody>
          <a:bodyPr wrap="square" lIns="0" tIns="0" rIns="0" bIns="0" rtlCol="0" anchor="ctr"/>
          <a:lstStyle/>
          <a:p>
            <a:pPr indent="0" marL="0">
              <a:buNone/>
            </a:pPr>
            <a:r>
              <a:rPr lang="en-US" sz="1400" b="1" dirty="0">
                <a:solidFill>
                  <a:srgbClr val="8B6FC0"/>
                </a:solidFill>
                <a:latin typeface="Calibri" pitchFamily="34" charset="0"/>
                <a:ea typeface="Calibri" pitchFamily="34" charset="-122"/>
                <a:cs typeface="Calibri" pitchFamily="34" charset="-120"/>
              </a:rPr>
              <a:t>delirious</a:t>
            </a:r>
            <a:endParaRPr lang="en-US" sz="1400" dirty="0"/>
          </a:p>
        </p:txBody>
      </p:sp>
      <p:sp>
        <p:nvSpPr>
          <p:cNvPr id="7" name="Text 5"/>
          <p:cNvSpPr/>
          <p:nvPr/>
        </p:nvSpPr>
        <p:spPr>
          <a:xfrm>
            <a:off x="457200" y="1316736"/>
            <a:ext cx="3794760" cy="496824"/>
          </a:xfrm>
          <a:prstGeom prst="rect">
            <a:avLst/>
          </a:prstGeom>
          <a:noFill/>
          <a:ln/>
        </p:spPr>
        <p:txBody>
          <a:bodyPr wrap="square" lIns="0" tIns="0" rIns="0" bIns="0" rtlCol="0" anchor="ctr"/>
          <a:lstStyle/>
          <a:p>
            <a:pPr indent="0" marL="0">
              <a:buNone/>
            </a:pPr>
            <a:r>
              <a:rPr lang="en-US" sz="1100" i="1" dirty="0">
                <a:solidFill>
                  <a:srgbClr val="1E293B"/>
                </a:solidFill>
                <a:latin typeface="Calibri" pitchFamily="34" charset="0"/>
                <a:ea typeface="Calibri" pitchFamily="34" charset="-122"/>
                <a:cs typeface="Calibri" pitchFamily="34" charset="-120"/>
              </a:rPr>
              <a:t>Confused, unable to think clearly from a high fever.</a:t>
            </a:r>
            <a:endParaRPr lang="en-US" sz="1100" dirty="0"/>
          </a:p>
        </p:txBody>
      </p:sp>
      <p:sp>
        <p:nvSpPr>
          <p:cNvPr id="8" name="Shape 6"/>
          <p:cNvSpPr/>
          <p:nvPr/>
        </p:nvSpPr>
        <p:spPr>
          <a:xfrm>
            <a:off x="4572000" y="914400"/>
            <a:ext cx="4069080" cy="954024"/>
          </a:xfrm>
          <a:prstGeom prst="roundRect">
            <a:avLst>
              <a:gd name="adj" fmla="val 9585"/>
            </a:avLst>
          </a:prstGeom>
          <a:solidFill>
            <a:srgbClr val="F0E8FF"/>
          </a:solidFill>
          <a:ln/>
          <a:effectLst>
            <a:outerShdw sx="100000" sy="100000" kx="0" ky="0" algn="bl" rotWithShape="0" blurRad="101600" dist="38100" dir="2700000">
              <a:srgbClr val="000000">
                <a:alpha val="12000"/>
              </a:srgbClr>
            </a:outerShdw>
          </a:effectLst>
        </p:spPr>
      </p:sp>
      <p:sp>
        <p:nvSpPr>
          <p:cNvPr id="9" name="Text 7"/>
          <p:cNvSpPr/>
          <p:nvPr/>
        </p:nvSpPr>
        <p:spPr>
          <a:xfrm>
            <a:off x="4709160" y="1005840"/>
            <a:ext cx="3794760" cy="292608"/>
          </a:xfrm>
          <a:prstGeom prst="rect">
            <a:avLst/>
          </a:prstGeom>
          <a:noFill/>
          <a:ln/>
        </p:spPr>
        <p:txBody>
          <a:bodyPr wrap="square" lIns="0" tIns="0" rIns="0" bIns="0" rtlCol="0" anchor="ctr"/>
          <a:lstStyle/>
          <a:p>
            <a:pPr indent="0" marL="0">
              <a:buNone/>
            </a:pPr>
            <a:r>
              <a:rPr lang="en-US" sz="1400" b="1" dirty="0">
                <a:solidFill>
                  <a:srgbClr val="8B6FC0"/>
                </a:solidFill>
                <a:latin typeface="Calibri" pitchFamily="34" charset="0"/>
                <a:ea typeface="Calibri" pitchFamily="34" charset="-122"/>
                <a:cs typeface="Calibri" pitchFamily="34" charset="-120"/>
              </a:rPr>
              <a:t>abandoned</a:t>
            </a:r>
            <a:endParaRPr lang="en-US" sz="1400" dirty="0"/>
          </a:p>
        </p:txBody>
      </p:sp>
      <p:sp>
        <p:nvSpPr>
          <p:cNvPr id="10" name="Text 8"/>
          <p:cNvSpPr/>
          <p:nvPr/>
        </p:nvSpPr>
        <p:spPr>
          <a:xfrm>
            <a:off x="4709160" y="1316736"/>
            <a:ext cx="3794760" cy="496824"/>
          </a:xfrm>
          <a:prstGeom prst="rect">
            <a:avLst/>
          </a:prstGeom>
          <a:noFill/>
          <a:ln/>
        </p:spPr>
        <p:txBody>
          <a:bodyPr wrap="square" lIns="0" tIns="0" rIns="0" bIns="0" rtlCol="0" anchor="ctr"/>
          <a:lstStyle/>
          <a:p>
            <a:pPr indent="0" marL="0">
              <a:buNone/>
            </a:pPr>
            <a:r>
              <a:rPr lang="en-US" sz="1100" i="1" dirty="0">
                <a:solidFill>
                  <a:srgbClr val="1E293B"/>
                </a:solidFill>
                <a:latin typeface="Calibri" pitchFamily="34" charset="0"/>
                <a:ea typeface="Calibri" pitchFamily="34" charset="-122"/>
                <a:cs typeface="Calibri" pitchFamily="34" charset="-120"/>
              </a:rPr>
              <a:t>Left behind and not used anymore.</a:t>
            </a:r>
            <a:endParaRPr lang="en-US" sz="1100" dirty="0"/>
          </a:p>
        </p:txBody>
      </p:sp>
      <p:sp>
        <p:nvSpPr>
          <p:cNvPr id="11" name="Shape 9"/>
          <p:cNvSpPr/>
          <p:nvPr/>
        </p:nvSpPr>
        <p:spPr>
          <a:xfrm>
            <a:off x="320040" y="1978152"/>
            <a:ext cx="4069080" cy="954024"/>
          </a:xfrm>
          <a:prstGeom prst="roundRect">
            <a:avLst>
              <a:gd name="adj" fmla="val 9585"/>
            </a:avLst>
          </a:prstGeom>
          <a:solidFill>
            <a:srgbClr val="F0E8FF"/>
          </a:solidFill>
          <a:ln/>
          <a:effectLst>
            <a:outerShdw sx="100000" sy="100000" kx="0" ky="0" algn="bl" rotWithShape="0" blurRad="101600" dist="38100" dir="2700000">
              <a:srgbClr val="000000">
                <a:alpha val="12000"/>
              </a:srgbClr>
            </a:outerShdw>
          </a:effectLst>
        </p:spPr>
      </p:sp>
      <p:sp>
        <p:nvSpPr>
          <p:cNvPr id="12" name="Text 10"/>
          <p:cNvSpPr/>
          <p:nvPr/>
        </p:nvSpPr>
        <p:spPr>
          <a:xfrm>
            <a:off x="457200" y="2069592"/>
            <a:ext cx="3794760" cy="292608"/>
          </a:xfrm>
          <a:prstGeom prst="rect">
            <a:avLst/>
          </a:prstGeom>
          <a:noFill/>
          <a:ln/>
        </p:spPr>
        <p:txBody>
          <a:bodyPr wrap="square" lIns="0" tIns="0" rIns="0" bIns="0" rtlCol="0" anchor="ctr"/>
          <a:lstStyle/>
          <a:p>
            <a:pPr indent="0" marL="0">
              <a:buNone/>
            </a:pPr>
            <a:r>
              <a:rPr lang="en-US" sz="1400" b="1" dirty="0">
                <a:solidFill>
                  <a:srgbClr val="8B6FC0"/>
                </a:solidFill>
                <a:latin typeface="Calibri" pitchFamily="34" charset="0"/>
                <a:ea typeface="Calibri" pitchFamily="34" charset="-122"/>
                <a:cs typeface="Calibri" pitchFamily="34" charset="-120"/>
              </a:rPr>
              <a:t>pneumonia</a:t>
            </a:r>
            <a:endParaRPr lang="en-US" sz="1400" dirty="0"/>
          </a:p>
        </p:txBody>
      </p:sp>
      <p:sp>
        <p:nvSpPr>
          <p:cNvPr id="13" name="Text 11"/>
          <p:cNvSpPr/>
          <p:nvPr/>
        </p:nvSpPr>
        <p:spPr>
          <a:xfrm>
            <a:off x="457200" y="2380488"/>
            <a:ext cx="3794760" cy="496824"/>
          </a:xfrm>
          <a:prstGeom prst="rect">
            <a:avLst/>
          </a:prstGeom>
          <a:noFill/>
          <a:ln/>
        </p:spPr>
        <p:txBody>
          <a:bodyPr wrap="square" lIns="0" tIns="0" rIns="0" bIns="0" rtlCol="0" anchor="ctr"/>
          <a:lstStyle/>
          <a:p>
            <a:pPr indent="0" marL="0">
              <a:buNone/>
            </a:pPr>
            <a:r>
              <a:rPr lang="en-US" sz="1100" i="1" dirty="0">
                <a:solidFill>
                  <a:srgbClr val="1E293B"/>
                </a:solidFill>
                <a:latin typeface="Calibri" pitchFamily="34" charset="0"/>
                <a:ea typeface="Calibri" pitchFamily="34" charset="-122"/>
                <a:cs typeface="Calibri" pitchFamily="34" charset="-120"/>
              </a:rPr>
              <a:t>A serious lung sickness that makes breathing hard.</a:t>
            </a:r>
            <a:endParaRPr lang="en-US" sz="1100" dirty="0"/>
          </a:p>
        </p:txBody>
      </p:sp>
      <p:sp>
        <p:nvSpPr>
          <p:cNvPr id="14" name="Shape 12"/>
          <p:cNvSpPr/>
          <p:nvPr/>
        </p:nvSpPr>
        <p:spPr>
          <a:xfrm>
            <a:off x="4572000" y="1978152"/>
            <a:ext cx="4069080" cy="954024"/>
          </a:xfrm>
          <a:prstGeom prst="roundRect">
            <a:avLst>
              <a:gd name="adj" fmla="val 9585"/>
            </a:avLst>
          </a:prstGeom>
          <a:solidFill>
            <a:srgbClr val="F0E8FF"/>
          </a:solidFill>
          <a:ln/>
          <a:effectLst>
            <a:outerShdw sx="100000" sy="100000" kx="0" ky="0" algn="bl" rotWithShape="0" blurRad="101600" dist="38100" dir="2700000">
              <a:srgbClr val="000000">
                <a:alpha val="12000"/>
              </a:srgbClr>
            </a:outerShdw>
          </a:effectLst>
        </p:spPr>
      </p:sp>
      <p:sp>
        <p:nvSpPr>
          <p:cNvPr id="15" name="Text 13"/>
          <p:cNvSpPr/>
          <p:nvPr/>
        </p:nvSpPr>
        <p:spPr>
          <a:xfrm>
            <a:off x="4709160" y="2069592"/>
            <a:ext cx="3794760" cy="292608"/>
          </a:xfrm>
          <a:prstGeom prst="rect">
            <a:avLst/>
          </a:prstGeom>
          <a:noFill/>
          <a:ln/>
        </p:spPr>
        <p:txBody>
          <a:bodyPr wrap="square" lIns="0" tIns="0" rIns="0" bIns="0" rtlCol="0" anchor="ctr"/>
          <a:lstStyle/>
          <a:p>
            <a:pPr indent="0" marL="0">
              <a:buNone/>
            </a:pPr>
            <a:r>
              <a:rPr lang="en-US" sz="1400" b="1" dirty="0">
                <a:solidFill>
                  <a:srgbClr val="8B6FC0"/>
                </a:solidFill>
                <a:latin typeface="Calibri" pitchFamily="34" charset="0"/>
                <a:ea typeface="Calibri" pitchFamily="34" charset="-122"/>
                <a:cs typeface="Calibri" pitchFamily="34" charset="-120"/>
              </a:rPr>
              <a:t>warily</a:t>
            </a:r>
            <a:endParaRPr lang="en-US" sz="1400" dirty="0"/>
          </a:p>
        </p:txBody>
      </p:sp>
      <p:sp>
        <p:nvSpPr>
          <p:cNvPr id="16" name="Text 14"/>
          <p:cNvSpPr/>
          <p:nvPr/>
        </p:nvSpPr>
        <p:spPr>
          <a:xfrm>
            <a:off x="4709160" y="2380488"/>
            <a:ext cx="3794760" cy="496824"/>
          </a:xfrm>
          <a:prstGeom prst="rect">
            <a:avLst/>
          </a:prstGeom>
          <a:noFill/>
          <a:ln/>
        </p:spPr>
        <p:txBody>
          <a:bodyPr wrap="square" lIns="0" tIns="0" rIns="0" bIns="0" rtlCol="0" anchor="ctr"/>
          <a:lstStyle/>
          <a:p>
            <a:pPr indent="0" marL="0">
              <a:buNone/>
            </a:pPr>
            <a:r>
              <a:rPr lang="en-US" sz="1100" i="1" dirty="0">
                <a:solidFill>
                  <a:srgbClr val="1E293B"/>
                </a:solidFill>
                <a:latin typeface="Calibri" pitchFamily="34" charset="0"/>
                <a:ea typeface="Calibri" pitchFamily="34" charset="-122"/>
                <a:cs typeface="Calibri" pitchFamily="34" charset="-120"/>
              </a:rPr>
              <a:t>Carefully, watching for danger.</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Grammar - Grammar: Nouns &amp; Subjects</a:t>
            </a:r>
            <a:endParaRPr lang="en-US" sz="2800" dirty="0"/>
          </a:p>
        </p:txBody>
      </p:sp>
      <p:sp>
        <p:nvSpPr>
          <p:cNvPr id="3" name="Shape 1"/>
          <p:cNvSpPr/>
          <p:nvPr/>
        </p:nvSpPr>
        <p:spPr>
          <a:xfrm>
            <a:off x="365760" y="749808"/>
            <a:ext cx="8412480" cy="0"/>
          </a:xfrm>
          <a:prstGeom prst="line">
            <a:avLst/>
          </a:prstGeom>
          <a:noFill/>
          <a:ln w="19050">
            <a:solidFill>
              <a:srgbClr val="8FBF7A"/>
            </a:solidFill>
            <a:prstDash val="solid"/>
          </a:ln>
        </p:spPr>
      </p:sp>
      <p:sp>
        <p:nvSpPr>
          <p:cNvPr id="4" name="Shape 2"/>
          <p:cNvSpPr/>
          <p:nvPr/>
        </p:nvSpPr>
        <p:spPr>
          <a:xfrm>
            <a:off x="6492240" y="173736"/>
            <a:ext cx="2286000" cy="502920"/>
          </a:xfrm>
          <a:prstGeom prst="roundRect">
            <a:avLst>
              <a:gd name="adj" fmla="val 21818"/>
            </a:avLst>
          </a:prstGeom>
          <a:solidFill>
            <a:srgbClr val="8FBF7A"/>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SPOT THE TARGET WORD</a:t>
            </a:r>
            <a:endParaRPr lang="en-US" sz="1100" dirty="0"/>
          </a:p>
        </p:txBody>
      </p:sp>
      <p:sp>
        <p:nvSpPr>
          <p:cNvPr id="7" name="Shape 5"/>
          <p:cNvSpPr/>
          <p:nvPr/>
        </p:nvSpPr>
        <p:spPr>
          <a:xfrm>
            <a:off x="365760" y="1078992"/>
            <a:ext cx="8412480" cy="749808"/>
          </a:xfrm>
          <a:prstGeom prst="roundRect">
            <a:avLst>
              <a:gd name="adj" fmla="val 9756"/>
            </a:avLst>
          </a:prstGeom>
          <a:solidFill>
            <a:srgbClr val="FEF6E8"/>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The crow had string tangled around his leg.</a:t>
            </a:r>
            <a:endParaRPr lang="en-US" sz="1500" dirty="0"/>
          </a:p>
        </p:txBody>
      </p:sp>
      <p:sp>
        <p:nvSpPr>
          <p:cNvPr id="9" name="Shape 7"/>
          <p:cNvSpPr/>
          <p:nvPr/>
        </p:nvSpPr>
        <p:spPr>
          <a:xfrm>
            <a:off x="365760" y="1920240"/>
            <a:ext cx="8412480" cy="749808"/>
          </a:xfrm>
          <a:prstGeom prst="roundRect">
            <a:avLst>
              <a:gd name="adj" fmla="val 9756"/>
            </a:avLst>
          </a:prstGeom>
          <a:solidFill>
            <a:srgbClr val="FEF6E8"/>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2011680"/>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Mrs. Frisby hopped over to the fence.</a:t>
            </a:r>
            <a:endParaRPr lang="en-US" sz="1500" dirty="0"/>
          </a:p>
        </p:txBody>
      </p:sp>
      <p:sp>
        <p:nvSpPr>
          <p:cNvPr id="11" name="Shape 9"/>
          <p:cNvSpPr/>
          <p:nvPr/>
        </p:nvSpPr>
        <p:spPr>
          <a:xfrm>
            <a:off x="365760" y="2761488"/>
            <a:ext cx="8412480" cy="749808"/>
          </a:xfrm>
          <a:prstGeom prst="roundRect">
            <a:avLst>
              <a:gd name="adj" fmla="val 9756"/>
            </a:avLst>
          </a:prstGeom>
          <a:solidFill>
            <a:srgbClr val="FEF6E8"/>
          </a:solidFill>
          <a:ln/>
          <a:effectLst>
            <a:outerShdw sx="100000" sy="100000" kx="0" ky="0" algn="bl" rotWithShape="0" blurRad="101600" dist="38100" dir="2700000">
              <a:srgbClr val="000000">
                <a:alpha val="12000"/>
              </a:srgbClr>
            </a:outerShdw>
          </a:effectLst>
        </p:spPr>
      </p:sp>
      <p:sp>
        <p:nvSpPr>
          <p:cNvPr id="12" name="Text 10"/>
          <p:cNvSpPr/>
          <p:nvPr/>
        </p:nvSpPr>
        <p:spPr>
          <a:xfrm>
            <a:off x="594360" y="2852928"/>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The cat watched from the porch.</a:t>
            </a:r>
            <a:endParaRPr lang="en-US" sz="1500" dirty="0"/>
          </a:p>
        </p:txBody>
      </p:sp>
      <p:sp>
        <p:nvSpPr>
          <p:cNvPr id="13" name="Text 11"/>
          <p:cNvSpPr/>
          <p:nvPr/>
        </p:nvSpPr>
        <p:spPr>
          <a:xfrm>
            <a:off x="457200" y="3648456"/>
            <a:ext cx="8229600" cy="347472"/>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Find the target word. Write it in your notebook.</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Grammar - Grammar: Nouns &amp; Subjects</a:t>
            </a:r>
            <a:endParaRPr lang="en-US" sz="2800" dirty="0"/>
          </a:p>
        </p:txBody>
      </p:sp>
      <p:sp>
        <p:nvSpPr>
          <p:cNvPr id="3" name="Shape 1"/>
          <p:cNvSpPr/>
          <p:nvPr/>
        </p:nvSpPr>
        <p:spPr>
          <a:xfrm>
            <a:off x="365760" y="749808"/>
            <a:ext cx="8412480" cy="0"/>
          </a:xfrm>
          <a:prstGeom prst="line">
            <a:avLst/>
          </a:prstGeom>
          <a:noFill/>
          <a:ln w="19050">
            <a:solidFill>
              <a:srgbClr val="8FBF7A"/>
            </a:solidFill>
            <a:prstDash val="solid"/>
          </a:ln>
        </p:spPr>
      </p:sp>
      <p:sp>
        <p:nvSpPr>
          <p:cNvPr id="4" name="Shape 2"/>
          <p:cNvSpPr/>
          <p:nvPr/>
        </p:nvSpPr>
        <p:spPr>
          <a:xfrm>
            <a:off x="6492240" y="173736"/>
            <a:ext cx="2286000" cy="502920"/>
          </a:xfrm>
          <a:prstGeom prst="roundRect">
            <a:avLst>
              <a:gd name="adj" fmla="val 21818"/>
            </a:avLst>
          </a:prstGeom>
          <a:solidFill>
            <a:srgbClr val="8FBF7A"/>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ANSWERS REVEALED</a:t>
            </a:r>
            <a:endParaRPr lang="en-US" sz="1100" dirty="0"/>
          </a:p>
        </p:txBody>
      </p:sp>
      <p:sp>
        <p:nvSpPr>
          <p:cNvPr id="7" name="Shape 5"/>
          <p:cNvSpPr/>
          <p:nvPr/>
        </p:nvSpPr>
        <p:spPr>
          <a:xfrm>
            <a:off x="365760" y="1078992"/>
            <a:ext cx="8412480" cy="749808"/>
          </a:xfrm>
          <a:prstGeom prst="roundRect">
            <a:avLst>
              <a:gd name="adj" fmla="val 9756"/>
            </a:avLst>
          </a:prstGeom>
          <a:solidFill>
            <a:srgbClr val="E8F8EF"/>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The </a:t>
            </a:r>
            <a:pPr indent="0" marL="0">
              <a:buNone/>
            </a:pPr>
            <a:r>
              <a:rPr lang="en-US" sz="1500" b="1" u="sng" dirty="0">
                <a:solidFill>
                  <a:srgbClr val="34B76F"/>
                </a:solidFill>
                <a:latin typeface="Calibri" pitchFamily="34" charset="0"/>
                <a:ea typeface="Calibri" pitchFamily="34" charset="-122"/>
                <a:cs typeface="Calibri" pitchFamily="34" charset="-120"/>
              </a:rPr>
              <a:t>crow</a:t>
            </a:r>
            <a:pPr indent="0" marL="0">
              <a:buNone/>
            </a:pPr>
            <a:r>
              <a:rPr lang="en-US" sz="1500" dirty="0">
                <a:solidFill>
                  <a:srgbClr val="1E293B"/>
                </a:solidFill>
                <a:latin typeface="Calibri" pitchFamily="34" charset="0"/>
                <a:ea typeface="Calibri" pitchFamily="34" charset="-122"/>
                <a:cs typeface="Calibri" pitchFamily="34" charset="-120"/>
              </a:rPr>
              <a:t> had string tangled around his leg.</a:t>
            </a:r>
            <a:endParaRPr lang="en-US" sz="1500" dirty="0"/>
          </a:p>
        </p:txBody>
      </p:sp>
      <p:sp>
        <p:nvSpPr>
          <p:cNvPr id="9" name="Shape 7"/>
          <p:cNvSpPr/>
          <p:nvPr/>
        </p:nvSpPr>
        <p:spPr>
          <a:xfrm>
            <a:off x="365760" y="1920240"/>
            <a:ext cx="8412480" cy="749808"/>
          </a:xfrm>
          <a:prstGeom prst="roundRect">
            <a:avLst>
              <a:gd name="adj" fmla="val 9756"/>
            </a:avLst>
          </a:prstGeom>
          <a:solidFill>
            <a:srgbClr val="E8F8EF"/>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2011680"/>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Mrs. </a:t>
            </a:r>
            <a:pPr indent="0" marL="0">
              <a:buNone/>
            </a:pPr>
            <a:r>
              <a:rPr lang="en-US" sz="1500" b="1" u="sng" dirty="0">
                <a:solidFill>
                  <a:srgbClr val="34B76F"/>
                </a:solidFill>
                <a:latin typeface="Calibri" pitchFamily="34" charset="0"/>
                <a:ea typeface="Calibri" pitchFamily="34" charset="-122"/>
                <a:cs typeface="Calibri" pitchFamily="34" charset="-120"/>
              </a:rPr>
              <a:t>Frisby</a:t>
            </a:r>
            <a:pPr indent="0" marL="0">
              <a:buNone/>
            </a:pPr>
            <a:r>
              <a:rPr lang="en-US" sz="1500" dirty="0">
                <a:solidFill>
                  <a:srgbClr val="1E293B"/>
                </a:solidFill>
                <a:latin typeface="Calibri" pitchFamily="34" charset="0"/>
                <a:ea typeface="Calibri" pitchFamily="34" charset="-122"/>
                <a:cs typeface="Calibri" pitchFamily="34" charset="-120"/>
              </a:rPr>
              <a:t> hopped over to the fence.</a:t>
            </a:r>
            <a:endParaRPr lang="en-US" sz="1500" dirty="0"/>
          </a:p>
        </p:txBody>
      </p:sp>
      <p:sp>
        <p:nvSpPr>
          <p:cNvPr id="11" name="Shape 9"/>
          <p:cNvSpPr/>
          <p:nvPr/>
        </p:nvSpPr>
        <p:spPr>
          <a:xfrm>
            <a:off x="365760" y="2761488"/>
            <a:ext cx="8412480" cy="749808"/>
          </a:xfrm>
          <a:prstGeom prst="roundRect">
            <a:avLst>
              <a:gd name="adj" fmla="val 9756"/>
            </a:avLst>
          </a:prstGeom>
          <a:solidFill>
            <a:srgbClr val="E8F8EF"/>
          </a:solidFill>
          <a:ln/>
          <a:effectLst>
            <a:outerShdw sx="100000" sy="100000" kx="0" ky="0" algn="bl" rotWithShape="0" blurRad="101600" dist="38100" dir="2700000">
              <a:srgbClr val="000000">
                <a:alpha val="12000"/>
              </a:srgbClr>
            </a:outerShdw>
          </a:effectLst>
        </p:spPr>
      </p:sp>
      <p:sp>
        <p:nvSpPr>
          <p:cNvPr id="12" name="Text 10"/>
          <p:cNvSpPr/>
          <p:nvPr/>
        </p:nvSpPr>
        <p:spPr>
          <a:xfrm>
            <a:off x="594360" y="2852928"/>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The </a:t>
            </a:r>
            <a:pPr indent="0" marL="0">
              <a:buNone/>
            </a:pPr>
            <a:r>
              <a:rPr lang="en-US" sz="1500" b="1" u="sng" dirty="0">
                <a:solidFill>
                  <a:srgbClr val="34B76F"/>
                </a:solidFill>
                <a:latin typeface="Calibri" pitchFamily="34" charset="0"/>
                <a:ea typeface="Calibri" pitchFamily="34" charset="-122"/>
                <a:cs typeface="Calibri" pitchFamily="34" charset="-120"/>
              </a:rPr>
              <a:t>cat</a:t>
            </a:r>
            <a:pPr indent="0" marL="0">
              <a:buNone/>
            </a:pPr>
            <a:r>
              <a:rPr lang="en-US" sz="1500" dirty="0">
                <a:solidFill>
                  <a:srgbClr val="1E293B"/>
                </a:solidFill>
                <a:latin typeface="Calibri" pitchFamily="34" charset="0"/>
                <a:ea typeface="Calibri" pitchFamily="34" charset="-122"/>
                <a:cs typeface="Calibri" pitchFamily="34" charset="-120"/>
              </a:rPr>
              <a:t> watched from the porch.</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Spelling - Spelling: Open &amp; Closed Syllables</a:t>
            </a:r>
            <a:endParaRPr lang="en-US" sz="2800" dirty="0"/>
          </a:p>
        </p:txBody>
      </p:sp>
      <p:sp>
        <p:nvSpPr>
          <p:cNvPr id="3" name="Shape 1"/>
          <p:cNvSpPr/>
          <p:nvPr/>
        </p:nvSpPr>
        <p:spPr>
          <a:xfrm>
            <a:off x="365760" y="749808"/>
            <a:ext cx="8412480" cy="0"/>
          </a:xfrm>
          <a:prstGeom prst="line">
            <a:avLst/>
          </a:prstGeom>
          <a:noFill/>
          <a:ln w="19050">
            <a:solidFill>
              <a:srgbClr val="8FBF7A"/>
            </a:solidFill>
            <a:prstDash val="solid"/>
          </a:ln>
        </p:spPr>
      </p:sp>
      <p:sp>
        <p:nvSpPr>
          <p:cNvPr id="4" name="Shape 2"/>
          <p:cNvSpPr/>
          <p:nvPr/>
        </p:nvSpPr>
        <p:spPr>
          <a:xfrm>
            <a:off x="6492240" y="173736"/>
            <a:ext cx="2286000" cy="502920"/>
          </a:xfrm>
          <a:prstGeom prst="roundRect">
            <a:avLst>
              <a:gd name="adj" fmla="val 21818"/>
            </a:avLst>
          </a:prstGeom>
          <a:solidFill>
            <a:srgbClr val="8FBF7A"/>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SORT THE WORDS</a:t>
            </a:r>
            <a:endParaRPr lang="en-US" sz="1100" dirty="0"/>
          </a:p>
        </p:txBody>
      </p:sp>
      <p:sp>
        <p:nvSpPr>
          <p:cNvPr id="7" name="Shape 5"/>
          <p:cNvSpPr/>
          <p:nvPr/>
        </p:nvSpPr>
        <p:spPr>
          <a:xfrm>
            <a:off x="365760" y="1024128"/>
            <a:ext cx="8412480" cy="685800"/>
          </a:xfrm>
          <a:prstGeom prst="roundRect">
            <a:avLst>
              <a:gd name="adj" fmla="val 13333"/>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078992"/>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WORD BANK</a:t>
            </a:r>
            <a:endParaRPr lang="en-US" sz="1100" dirty="0"/>
          </a:p>
        </p:txBody>
      </p:sp>
      <p:sp>
        <p:nvSpPr>
          <p:cNvPr id="9" name="Text 7"/>
          <p:cNvSpPr/>
          <p:nvPr/>
        </p:nvSpPr>
        <p:spPr>
          <a:xfrm>
            <a:off x="594360" y="1325880"/>
            <a:ext cx="7863840" cy="320040"/>
          </a:xfrm>
          <a:prstGeom prst="rect">
            <a:avLst/>
          </a:prstGeom>
          <a:noFill/>
          <a:ln/>
        </p:spPr>
        <p:txBody>
          <a:bodyPr wrap="square" lIns="0" tIns="0" rIns="0" bIns="0" rtlCol="0" anchor="ctr"/>
          <a:lstStyle/>
          <a:p>
            <a:pPr indent="0" marL="0">
              <a:buNone/>
            </a:pPr>
            <a:r>
              <a:rPr lang="en-US" sz="1600" b="1" dirty="0">
                <a:solidFill>
                  <a:srgbClr val="0E1C42"/>
                </a:solidFill>
                <a:latin typeface="Calibri" pitchFamily="34" charset="0"/>
                <a:ea typeface="Calibri" pitchFamily="34" charset="-122"/>
                <a:cs typeface="Calibri" pitchFamily="34" charset="-120"/>
              </a:rPr>
              <a:t>tiny   -   music   -   paper   -   rabbit   -   sister   -   basket</a:t>
            </a:r>
            <a:endParaRPr lang="en-US" sz="1600" dirty="0"/>
          </a:p>
        </p:txBody>
      </p:sp>
      <p:sp>
        <p:nvSpPr>
          <p:cNvPr id="10" name="Text 8"/>
          <p:cNvSpPr/>
          <p:nvPr/>
        </p:nvSpPr>
        <p:spPr>
          <a:xfrm>
            <a:off x="365760" y="187452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SORT INTO GROUPS</a:t>
            </a:r>
            <a:endParaRPr lang="en-US" sz="1100" dirty="0"/>
          </a:p>
        </p:txBody>
      </p:sp>
      <p:sp>
        <p:nvSpPr>
          <p:cNvPr id="11" name="Shape 9"/>
          <p:cNvSpPr/>
          <p:nvPr/>
        </p:nvSpPr>
        <p:spPr>
          <a:xfrm>
            <a:off x="365760" y="2176272"/>
            <a:ext cx="4114800" cy="1051560"/>
          </a:xfrm>
          <a:prstGeom prst="roundRect">
            <a:avLst>
              <a:gd name="adj" fmla="val 8696"/>
            </a:avLst>
          </a:prstGeom>
          <a:solidFill>
            <a:srgbClr val="E8F8EF"/>
          </a:solidFill>
          <a:ln w="19050">
            <a:solidFill>
              <a:srgbClr val="4A7C2E"/>
            </a:solidFill>
            <a:prstDash val="solid"/>
          </a:ln>
        </p:spPr>
      </p:sp>
      <p:sp>
        <p:nvSpPr>
          <p:cNvPr id="12" name="Text 10"/>
          <p:cNvSpPr/>
          <p:nvPr/>
        </p:nvSpPr>
        <p:spPr>
          <a:xfrm>
            <a:off x="502920" y="2286000"/>
            <a:ext cx="3840480" cy="411480"/>
          </a:xfrm>
          <a:prstGeom prst="rect">
            <a:avLst/>
          </a:prstGeom>
          <a:noFill/>
          <a:ln/>
        </p:spPr>
        <p:txBody>
          <a:bodyPr wrap="square" lIns="0" tIns="0" rIns="0" bIns="0" rtlCol="0" anchor="ctr"/>
          <a:lstStyle/>
          <a:p>
            <a:pPr indent="0" marL="0">
              <a:buNone/>
            </a:pPr>
            <a:r>
              <a:rPr lang="en-US" sz="1300" b="1" dirty="0">
                <a:solidFill>
                  <a:srgbClr val="4A7C2E"/>
                </a:solidFill>
                <a:latin typeface="Calibri" pitchFamily="34" charset="0"/>
                <a:ea typeface="Calibri" pitchFamily="34" charset="-122"/>
                <a:cs typeface="Calibri" pitchFamily="34" charset="-120"/>
              </a:rPr>
              <a:t>Open (vowel ending)</a:t>
            </a:r>
            <a:endParaRPr lang="en-US" sz="1300" dirty="0"/>
          </a:p>
        </p:txBody>
      </p:sp>
      <p:sp>
        <p:nvSpPr>
          <p:cNvPr id="13" name="Shape 11"/>
          <p:cNvSpPr/>
          <p:nvPr/>
        </p:nvSpPr>
        <p:spPr>
          <a:xfrm>
            <a:off x="4800600" y="2176272"/>
            <a:ext cx="4114800" cy="1051560"/>
          </a:xfrm>
          <a:prstGeom prst="roundRect">
            <a:avLst>
              <a:gd name="adj" fmla="val 8696"/>
            </a:avLst>
          </a:prstGeom>
          <a:solidFill>
            <a:srgbClr val="F0E8FF"/>
          </a:solidFill>
          <a:ln w="19050">
            <a:solidFill>
              <a:srgbClr val="5C2D91"/>
            </a:solidFill>
            <a:prstDash val="solid"/>
          </a:ln>
        </p:spPr>
      </p:sp>
      <p:sp>
        <p:nvSpPr>
          <p:cNvPr id="14" name="Text 12"/>
          <p:cNvSpPr/>
          <p:nvPr/>
        </p:nvSpPr>
        <p:spPr>
          <a:xfrm>
            <a:off x="4937760" y="2286000"/>
            <a:ext cx="3840480" cy="411480"/>
          </a:xfrm>
          <a:prstGeom prst="rect">
            <a:avLst/>
          </a:prstGeom>
          <a:noFill/>
          <a:ln/>
        </p:spPr>
        <p:txBody>
          <a:bodyPr wrap="square" lIns="0" tIns="0" rIns="0" bIns="0" rtlCol="0" anchor="ctr"/>
          <a:lstStyle/>
          <a:p>
            <a:pPr indent="0" marL="0">
              <a:buNone/>
            </a:pPr>
            <a:r>
              <a:rPr lang="en-US" sz="1300" b="1" dirty="0">
                <a:solidFill>
                  <a:srgbClr val="5C2D91"/>
                </a:solidFill>
                <a:latin typeface="Calibri" pitchFamily="34" charset="0"/>
                <a:ea typeface="Calibri" pitchFamily="34" charset="-122"/>
                <a:cs typeface="Calibri" pitchFamily="34" charset="-120"/>
              </a:rPr>
              <a:t>Closed (consonant ending)</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Spelling - Spelling: Open &amp; Closed Syllables</a:t>
            </a:r>
            <a:endParaRPr lang="en-US" sz="2800" dirty="0"/>
          </a:p>
        </p:txBody>
      </p:sp>
      <p:sp>
        <p:nvSpPr>
          <p:cNvPr id="3" name="Shape 1"/>
          <p:cNvSpPr/>
          <p:nvPr/>
        </p:nvSpPr>
        <p:spPr>
          <a:xfrm>
            <a:off x="365760" y="749808"/>
            <a:ext cx="8412480" cy="0"/>
          </a:xfrm>
          <a:prstGeom prst="line">
            <a:avLst/>
          </a:prstGeom>
          <a:noFill/>
          <a:ln w="19050">
            <a:solidFill>
              <a:srgbClr val="8FBF7A"/>
            </a:solidFill>
            <a:prstDash val="solid"/>
          </a:ln>
        </p:spPr>
      </p:sp>
      <p:sp>
        <p:nvSpPr>
          <p:cNvPr id="4" name="Shape 2"/>
          <p:cNvSpPr/>
          <p:nvPr/>
        </p:nvSpPr>
        <p:spPr>
          <a:xfrm>
            <a:off x="6492240" y="173736"/>
            <a:ext cx="2286000" cy="502920"/>
          </a:xfrm>
          <a:prstGeom prst="roundRect">
            <a:avLst>
              <a:gd name="adj" fmla="val 21818"/>
            </a:avLst>
          </a:prstGeom>
          <a:solidFill>
            <a:srgbClr val="8FBF7A"/>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SORTED</a:t>
            </a:r>
            <a:endParaRPr lang="en-US" sz="1100" dirty="0"/>
          </a:p>
        </p:txBody>
      </p:sp>
      <p:sp>
        <p:nvSpPr>
          <p:cNvPr id="7" name="Shape 5"/>
          <p:cNvSpPr/>
          <p:nvPr/>
        </p:nvSpPr>
        <p:spPr>
          <a:xfrm>
            <a:off x="365760" y="1024128"/>
            <a:ext cx="4114800" cy="1453896"/>
          </a:xfrm>
          <a:prstGeom prst="roundRect">
            <a:avLst>
              <a:gd name="adj" fmla="val 6289"/>
            </a:avLst>
          </a:prstGeom>
          <a:solidFill>
            <a:srgbClr val="E8F8EF"/>
          </a:solidFill>
          <a:ln w="19050">
            <a:solidFill>
              <a:srgbClr val="4A7C2E"/>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02920" y="1097280"/>
            <a:ext cx="3840480" cy="347472"/>
          </a:xfrm>
          <a:prstGeom prst="rect">
            <a:avLst/>
          </a:prstGeom>
          <a:noFill/>
          <a:ln/>
        </p:spPr>
        <p:txBody>
          <a:bodyPr wrap="square" lIns="0" tIns="0" rIns="0" bIns="0" rtlCol="0" anchor="ctr"/>
          <a:lstStyle/>
          <a:p>
            <a:pPr indent="0" marL="0">
              <a:buNone/>
            </a:pPr>
            <a:r>
              <a:rPr lang="en-US" sz="1200" b="1" dirty="0">
                <a:solidFill>
                  <a:srgbClr val="4A7C2E"/>
                </a:solidFill>
                <a:latin typeface="Calibri" pitchFamily="34" charset="0"/>
                <a:ea typeface="Calibri" pitchFamily="34" charset="-122"/>
                <a:cs typeface="Calibri" pitchFamily="34" charset="-120"/>
              </a:rPr>
              <a:t>Open (vowel ending)</a:t>
            </a:r>
            <a:endParaRPr lang="en-US" sz="1200" dirty="0"/>
          </a:p>
        </p:txBody>
      </p:sp>
      <p:sp>
        <p:nvSpPr>
          <p:cNvPr id="9" name="Text 7"/>
          <p:cNvSpPr/>
          <p:nvPr/>
        </p:nvSpPr>
        <p:spPr>
          <a:xfrm>
            <a:off x="594360" y="1463040"/>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tiny</a:t>
            </a:r>
            <a:endParaRPr lang="en-US" sz="1400" dirty="0"/>
          </a:p>
        </p:txBody>
      </p:sp>
      <p:sp>
        <p:nvSpPr>
          <p:cNvPr id="10" name="Text 8"/>
          <p:cNvSpPr/>
          <p:nvPr/>
        </p:nvSpPr>
        <p:spPr>
          <a:xfrm>
            <a:off x="594360" y="1810512"/>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music</a:t>
            </a:r>
            <a:endParaRPr lang="en-US" sz="1400" dirty="0"/>
          </a:p>
        </p:txBody>
      </p:sp>
      <p:sp>
        <p:nvSpPr>
          <p:cNvPr id="11" name="Text 9"/>
          <p:cNvSpPr/>
          <p:nvPr/>
        </p:nvSpPr>
        <p:spPr>
          <a:xfrm>
            <a:off x="594360" y="2157984"/>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paper</a:t>
            </a:r>
            <a:endParaRPr lang="en-US" sz="1400" dirty="0"/>
          </a:p>
        </p:txBody>
      </p:sp>
      <p:sp>
        <p:nvSpPr>
          <p:cNvPr id="12" name="Shape 10"/>
          <p:cNvSpPr/>
          <p:nvPr/>
        </p:nvSpPr>
        <p:spPr>
          <a:xfrm>
            <a:off x="4681728" y="1024128"/>
            <a:ext cx="4114800" cy="1453896"/>
          </a:xfrm>
          <a:prstGeom prst="roundRect">
            <a:avLst>
              <a:gd name="adj" fmla="val 6289"/>
            </a:avLst>
          </a:prstGeom>
          <a:solidFill>
            <a:srgbClr val="F0E8FF"/>
          </a:solidFill>
          <a:ln w="19050">
            <a:solidFill>
              <a:srgbClr val="5C2D91"/>
            </a:solidFill>
            <a:prstDash val="solid"/>
          </a:ln>
          <a:effectLst>
            <a:outerShdw sx="100000" sy="100000" kx="0" ky="0" algn="bl" rotWithShape="0" blurRad="101600" dist="38100" dir="2700000">
              <a:srgbClr val="000000">
                <a:alpha val="12000"/>
              </a:srgbClr>
            </a:outerShdw>
          </a:effectLst>
        </p:spPr>
      </p:sp>
      <p:sp>
        <p:nvSpPr>
          <p:cNvPr id="13" name="Text 11"/>
          <p:cNvSpPr/>
          <p:nvPr/>
        </p:nvSpPr>
        <p:spPr>
          <a:xfrm>
            <a:off x="4818888" y="1097280"/>
            <a:ext cx="3840480" cy="347472"/>
          </a:xfrm>
          <a:prstGeom prst="rect">
            <a:avLst/>
          </a:prstGeom>
          <a:noFill/>
          <a:ln/>
        </p:spPr>
        <p:txBody>
          <a:bodyPr wrap="square" lIns="0" tIns="0" rIns="0" bIns="0" rtlCol="0" anchor="ctr"/>
          <a:lstStyle/>
          <a:p>
            <a:pPr indent="0" marL="0">
              <a:buNone/>
            </a:pPr>
            <a:r>
              <a:rPr lang="en-US" sz="1200" b="1" dirty="0">
                <a:solidFill>
                  <a:srgbClr val="5C2D91"/>
                </a:solidFill>
                <a:latin typeface="Calibri" pitchFamily="34" charset="0"/>
                <a:ea typeface="Calibri" pitchFamily="34" charset="-122"/>
                <a:cs typeface="Calibri" pitchFamily="34" charset="-120"/>
              </a:rPr>
              <a:t>Closed (consonant ending)</a:t>
            </a:r>
            <a:endParaRPr lang="en-US" sz="1200" dirty="0"/>
          </a:p>
        </p:txBody>
      </p:sp>
      <p:sp>
        <p:nvSpPr>
          <p:cNvPr id="14" name="Text 12"/>
          <p:cNvSpPr/>
          <p:nvPr/>
        </p:nvSpPr>
        <p:spPr>
          <a:xfrm>
            <a:off x="4910328" y="1463040"/>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rabbit</a:t>
            </a:r>
            <a:endParaRPr lang="en-US" sz="1400" dirty="0"/>
          </a:p>
        </p:txBody>
      </p:sp>
      <p:sp>
        <p:nvSpPr>
          <p:cNvPr id="15" name="Text 13"/>
          <p:cNvSpPr/>
          <p:nvPr/>
        </p:nvSpPr>
        <p:spPr>
          <a:xfrm>
            <a:off x="4910328" y="1810512"/>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sister</a:t>
            </a:r>
            <a:endParaRPr lang="en-US" sz="1400" dirty="0"/>
          </a:p>
        </p:txBody>
      </p:sp>
      <p:sp>
        <p:nvSpPr>
          <p:cNvPr id="16" name="Text 14"/>
          <p:cNvSpPr/>
          <p:nvPr/>
        </p:nvSpPr>
        <p:spPr>
          <a:xfrm>
            <a:off x="4910328" y="2157984"/>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basket</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Reading - Chapter 3</a:t>
            </a:r>
            <a:endParaRPr lang="en-US" sz="2800" dirty="0"/>
          </a:p>
        </p:txBody>
      </p:sp>
      <p:sp>
        <p:nvSpPr>
          <p:cNvPr id="3" name="Shape 1"/>
          <p:cNvSpPr/>
          <p:nvPr/>
        </p:nvSpPr>
        <p:spPr>
          <a:xfrm>
            <a:off x="365760" y="749808"/>
            <a:ext cx="8412480" cy="0"/>
          </a:xfrm>
          <a:prstGeom prst="line">
            <a:avLst/>
          </a:prstGeom>
          <a:noFill/>
          <a:ln w="19050">
            <a:solidFill>
              <a:srgbClr val="8FBF7A"/>
            </a:solidFill>
            <a:prstDash val="solid"/>
          </a:ln>
        </p:spPr>
      </p:sp>
      <p:sp>
        <p:nvSpPr>
          <p:cNvPr id="4" name="Text 2"/>
          <p:cNvSpPr/>
          <p:nvPr/>
        </p:nvSpPr>
        <p:spPr>
          <a:xfrm>
            <a:off x="457200" y="841248"/>
            <a:ext cx="8229600" cy="502920"/>
          </a:xfrm>
          <a:prstGeom prst="rect">
            <a:avLst/>
          </a:prstGeom>
          <a:noFill/>
          <a:ln/>
        </p:spPr>
        <p:txBody>
          <a:bodyPr wrap="square" lIns="0" tIns="0" rIns="0" bIns="0" rtlCol="0" anchor="ctr"/>
          <a:lstStyle/>
          <a:p>
            <a:pPr indent="0" marL="0">
              <a:buNone/>
            </a:pPr>
            <a:r>
              <a:rPr lang="en-US" sz="1700" b="1" i="1" dirty="0">
                <a:solidFill>
                  <a:srgbClr val="0E1C42"/>
                </a:solidFill>
                <a:latin typeface="Calibri" pitchFamily="34" charset="0"/>
                <a:ea typeface="Calibri" pitchFamily="34" charset="-122"/>
                <a:cs typeface="Calibri" pitchFamily="34" charset="-120"/>
              </a:rPr>
              <a:t>Jeremy the Crow</a:t>
            </a:r>
            <a:endParaRPr lang="en-US" sz="1700" dirty="0"/>
          </a:p>
        </p:txBody>
      </p:sp>
      <p:sp>
        <p:nvSpPr>
          <p:cNvPr id="5" name="Text 3"/>
          <p:cNvSpPr/>
          <p:nvPr/>
        </p:nvSpPr>
        <p:spPr>
          <a:xfrm>
            <a:off x="365760" y="146304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PAUSE &amp; THINK</a:t>
            </a:r>
            <a:endParaRPr lang="en-US" sz="1100" dirty="0"/>
          </a:p>
        </p:txBody>
      </p:sp>
      <p:sp>
        <p:nvSpPr>
          <p:cNvPr id="6" name="Shape 4"/>
          <p:cNvSpPr/>
          <p:nvPr/>
        </p:nvSpPr>
        <p:spPr>
          <a:xfrm>
            <a:off x="365760" y="1719072"/>
            <a:ext cx="8412480" cy="685800"/>
          </a:xfrm>
          <a:prstGeom prst="roundRect">
            <a:avLst>
              <a:gd name="adj" fmla="val 10667"/>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594360" y="1810512"/>
            <a:ext cx="7863840" cy="50292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1.  What feeling does the poet have for the mouse? Find one line that shows it.</a:t>
            </a:r>
            <a:endParaRPr lang="en-US" sz="1400" dirty="0"/>
          </a:p>
        </p:txBody>
      </p:sp>
      <p:sp>
        <p:nvSpPr>
          <p:cNvPr id="8" name="Shape 6"/>
          <p:cNvSpPr/>
          <p:nvPr/>
        </p:nvSpPr>
        <p:spPr>
          <a:xfrm>
            <a:off x="365760" y="2514600"/>
            <a:ext cx="8412480" cy="822960"/>
          </a:xfrm>
          <a:prstGeom prst="roundRect">
            <a:avLst>
              <a:gd name="adj" fmla="val 8889"/>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9" name="Text 7"/>
          <p:cNvSpPr/>
          <p:nvPr/>
        </p:nvSpPr>
        <p:spPr>
          <a:xfrm>
            <a:off x="594360" y="2606040"/>
            <a:ext cx="7863840" cy="64008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2.  Mrs. Frisby is a tiny field mouse, but she walks across the farm to see Mr. Ages because Timothy needs medicine. Later, she climbs onto Jeremy the crow and flies to the great owl. She is afraid. She goes anyway.</a:t>
            </a:r>
            <a:endParaRPr lang="en-US" sz="1400" dirty="0"/>
          </a:p>
        </p:txBody>
      </p:sp>
      <p:sp>
        <p:nvSpPr>
          <p:cNvPr id="10" name="Shape 8"/>
          <p:cNvSpPr/>
          <p:nvPr/>
        </p:nvSpPr>
        <p:spPr>
          <a:xfrm>
            <a:off x="365760" y="3447288"/>
            <a:ext cx="8412480" cy="685800"/>
          </a:xfrm>
          <a:prstGeom prst="roundRect">
            <a:avLst>
              <a:gd name="adj" fmla="val 10667"/>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11" name="Text 9"/>
          <p:cNvSpPr/>
          <p:nvPr/>
        </p:nvSpPr>
        <p:spPr>
          <a:xfrm>
            <a:off x="594360" y="3538728"/>
            <a:ext cx="7863840" cy="50292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3.  Mrs. Frisby could have run away. Why does she stay and help the crow even when the cat is coming?</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Read like a Reader, Writer, Mimic</a:t>
            </a:r>
            <a:endParaRPr lang="en-US" sz="2800" dirty="0"/>
          </a:p>
        </p:txBody>
      </p:sp>
      <p:sp>
        <p:nvSpPr>
          <p:cNvPr id="3" name="Shape 1"/>
          <p:cNvSpPr/>
          <p:nvPr/>
        </p:nvSpPr>
        <p:spPr>
          <a:xfrm>
            <a:off x="365760" y="749808"/>
            <a:ext cx="8412480" cy="0"/>
          </a:xfrm>
          <a:prstGeom prst="line">
            <a:avLst/>
          </a:prstGeom>
          <a:noFill/>
          <a:ln w="19050">
            <a:solidFill>
              <a:srgbClr val="8FBF7A"/>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MENTOR SENTENCE</a:t>
            </a:r>
            <a:endParaRPr lang="en-US" sz="1100" dirty="0"/>
          </a:p>
        </p:txBody>
      </p:sp>
      <p:sp>
        <p:nvSpPr>
          <p:cNvPr id="5" name="Shape 3"/>
          <p:cNvSpPr/>
          <p:nvPr/>
        </p:nvSpPr>
        <p:spPr>
          <a:xfrm>
            <a:off x="365760" y="1042416"/>
            <a:ext cx="8412480" cy="810768"/>
          </a:xfrm>
          <a:prstGeom prst="roundRect">
            <a:avLst>
              <a:gd name="adj" fmla="val 11278"/>
            </a:avLst>
          </a:prstGeom>
          <a:solidFill>
            <a:srgbClr val="F0E8FF"/>
          </a:solidFill>
          <a:ln w="12700">
            <a:solidFill>
              <a:srgbClr val="8B6FC0"/>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48640" y="1152144"/>
            <a:ext cx="8046720" cy="582168"/>
          </a:xfrm>
          <a:prstGeom prst="rect">
            <a:avLst/>
          </a:prstGeom>
          <a:noFill/>
          <a:ln/>
        </p:spPr>
        <p:txBody>
          <a:bodyPr wrap="square" lIns="0" tIns="0" rIns="0" bIns="0" rtlCol="0" anchor="ctr"/>
          <a:lstStyle/>
          <a:p>
            <a:pPr indent="0" marL="0">
              <a:buNone/>
            </a:pPr>
            <a:r>
              <a:rPr lang="en-US" sz="1600" i="1" dirty="0">
                <a:solidFill>
                  <a:srgbClr val="0E1C42"/>
                </a:solidFill>
                <a:latin typeface="Calibri" pitchFamily="34" charset="0"/>
                <a:ea typeface="Calibri" pitchFamily="34" charset="-122"/>
                <a:cs typeface="Calibri" pitchFamily="34" charset="-120"/>
              </a:rPr>
              <a:t>“The crow looked down and saw her in the grass, and his beak fell open in astonishment.”</a:t>
            </a:r>
            <a:endParaRPr lang="en-US" sz="1600" dirty="0"/>
          </a:p>
        </p:txBody>
      </p:sp>
      <p:sp>
        <p:nvSpPr>
          <p:cNvPr id="7" name="Text 5"/>
          <p:cNvSpPr/>
          <p:nvPr/>
        </p:nvSpPr>
        <p:spPr>
          <a:xfrm>
            <a:off x="365760" y="1981200"/>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YOUR THREE JOBS</a:t>
            </a:r>
            <a:endParaRPr lang="en-US" sz="1100" dirty="0"/>
          </a:p>
        </p:txBody>
      </p:sp>
      <p:sp>
        <p:nvSpPr>
          <p:cNvPr id="8" name="Shape 6"/>
          <p:cNvSpPr/>
          <p:nvPr/>
        </p:nvSpPr>
        <p:spPr>
          <a:xfrm>
            <a:off x="365760" y="2237232"/>
            <a:ext cx="8412480" cy="530352"/>
          </a:xfrm>
          <a:prstGeom prst="roundRect">
            <a:avLst>
              <a:gd name="adj" fmla="val 17241"/>
            </a:avLst>
          </a:prstGeom>
          <a:solidFill>
            <a:srgbClr val="E5F7FC"/>
          </a:solidFill>
          <a:ln/>
          <a:effectLst>
            <a:outerShdw sx="100000" sy="100000" kx="0" ky="0" algn="bl" rotWithShape="0" blurRad="101600" dist="38100" dir="2700000">
              <a:srgbClr val="000000">
                <a:alpha val="12000"/>
              </a:srgbClr>
            </a:outerShdw>
          </a:effectLst>
        </p:spPr>
      </p:sp>
      <p:sp>
        <p:nvSpPr>
          <p:cNvPr id="9" name="Text 7"/>
          <p:cNvSpPr/>
          <p:nvPr/>
        </p:nvSpPr>
        <p:spPr>
          <a:xfrm>
            <a:off x="594360" y="2301240"/>
            <a:ext cx="2651760" cy="402336"/>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 Read like a Reader</a:t>
            </a:r>
            <a:endParaRPr lang="en-US" sz="1300" dirty="0"/>
          </a:p>
        </p:txBody>
      </p:sp>
      <p:sp>
        <p:nvSpPr>
          <p:cNvPr id="10" name="Text 8"/>
          <p:cNvSpPr/>
          <p:nvPr/>
        </p:nvSpPr>
        <p:spPr>
          <a:xfrm>
            <a:off x="3337560" y="2301240"/>
            <a:ext cx="5303520" cy="402336"/>
          </a:xfrm>
          <a:prstGeom prst="rect">
            <a:avLst/>
          </a:prstGeom>
          <a:noFill/>
          <a:ln/>
        </p:spPr>
        <p:txBody>
          <a:bodyPr wrap="square" lIns="0" tIns="0" rIns="0" bIns="0" rtlCol="0" anchor="t"/>
          <a:lstStyle/>
          <a:p>
            <a:pPr indent="0" marL="0">
              <a:buNone/>
            </a:pPr>
            <a:r>
              <a:rPr lang="en-US" sz="1200" dirty="0">
                <a:solidFill>
                  <a:srgbClr val="1E293B"/>
                </a:solidFill>
                <a:latin typeface="Calibri" pitchFamily="34" charset="0"/>
                <a:ea typeface="Calibri" pitchFamily="34" charset="-122"/>
                <a:cs typeface="Calibri" pitchFamily="34" charset="-120"/>
              </a:rPr>
              <a:t>What is happening in this moment? What does the sentence show about the crow?</a:t>
            </a:r>
            <a:endParaRPr lang="en-US" sz="1200" dirty="0"/>
          </a:p>
        </p:txBody>
      </p:sp>
      <p:sp>
        <p:nvSpPr>
          <p:cNvPr id="11" name="Shape 9"/>
          <p:cNvSpPr/>
          <p:nvPr/>
        </p:nvSpPr>
        <p:spPr>
          <a:xfrm>
            <a:off x="365760" y="2859024"/>
            <a:ext cx="8412480" cy="530352"/>
          </a:xfrm>
          <a:prstGeom prst="roundRect">
            <a:avLst>
              <a:gd name="adj" fmla="val 17241"/>
            </a:avLst>
          </a:prstGeom>
          <a:solidFill>
            <a:srgbClr val="F0E8FF"/>
          </a:solidFill>
          <a:ln/>
          <a:effectLst>
            <a:outerShdw sx="100000" sy="100000" kx="0" ky="0" algn="bl" rotWithShape="0" blurRad="101600" dist="38100" dir="2700000">
              <a:srgbClr val="000000">
                <a:alpha val="12000"/>
              </a:srgbClr>
            </a:outerShdw>
          </a:effectLst>
        </p:spPr>
      </p:sp>
      <p:sp>
        <p:nvSpPr>
          <p:cNvPr id="12" name="Text 10"/>
          <p:cNvSpPr/>
          <p:nvPr/>
        </p:nvSpPr>
        <p:spPr>
          <a:xfrm>
            <a:off x="594360" y="2923032"/>
            <a:ext cx="2651760" cy="402336"/>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 Read like a Writer</a:t>
            </a:r>
            <a:endParaRPr lang="en-US" sz="1300" dirty="0"/>
          </a:p>
        </p:txBody>
      </p:sp>
      <p:sp>
        <p:nvSpPr>
          <p:cNvPr id="13" name="Text 11"/>
          <p:cNvSpPr/>
          <p:nvPr/>
        </p:nvSpPr>
        <p:spPr>
          <a:xfrm>
            <a:off x="3337560" y="2923032"/>
            <a:ext cx="5303520" cy="402336"/>
          </a:xfrm>
          <a:prstGeom prst="rect">
            <a:avLst/>
          </a:prstGeom>
          <a:noFill/>
          <a:ln/>
        </p:spPr>
        <p:txBody>
          <a:bodyPr wrap="square" lIns="0" tIns="0" rIns="0" bIns="0" rtlCol="0" anchor="t"/>
          <a:lstStyle/>
          <a:p>
            <a:pPr indent="0" marL="0">
              <a:buNone/>
            </a:pPr>
            <a:r>
              <a:rPr lang="en-US" sz="1200" dirty="0">
                <a:solidFill>
                  <a:srgbClr val="1E293B"/>
                </a:solidFill>
                <a:latin typeface="Calibri" pitchFamily="34" charset="0"/>
                <a:ea typeface="Calibri" pitchFamily="34" charset="-122"/>
                <a:cs typeface="Calibri" pitchFamily="34" charset="-120"/>
              </a:rPr>
              <a:t>How did the author build this sentence? Notice the two action verbs</a:t>
            </a:r>
            <a:endParaRPr lang="en-US" sz="1200" dirty="0"/>
          </a:p>
        </p:txBody>
      </p:sp>
      <p:sp>
        <p:nvSpPr>
          <p:cNvPr id="14" name="Shape 12"/>
          <p:cNvSpPr/>
          <p:nvPr/>
        </p:nvSpPr>
        <p:spPr>
          <a:xfrm>
            <a:off x="365760" y="3480816"/>
            <a:ext cx="8412480" cy="530352"/>
          </a:xfrm>
          <a:prstGeom prst="roundRect">
            <a:avLst>
              <a:gd name="adj" fmla="val 17241"/>
            </a:avLst>
          </a:prstGeom>
          <a:solidFill>
            <a:srgbClr val="E8F8EF"/>
          </a:solidFill>
          <a:ln/>
          <a:effectLst>
            <a:outerShdw sx="100000" sy="100000" kx="0" ky="0" algn="bl" rotWithShape="0" blurRad="101600" dist="38100" dir="2700000">
              <a:srgbClr val="000000">
                <a:alpha val="12000"/>
              </a:srgbClr>
            </a:outerShdw>
          </a:effectLst>
        </p:spPr>
      </p:sp>
      <p:sp>
        <p:nvSpPr>
          <p:cNvPr id="15" name="Text 13"/>
          <p:cNvSpPr/>
          <p:nvPr/>
        </p:nvSpPr>
        <p:spPr>
          <a:xfrm>
            <a:off x="594360" y="3544824"/>
            <a:ext cx="2651760" cy="402336"/>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 Mimic</a:t>
            </a:r>
            <a:endParaRPr lang="en-US" sz="1300" dirty="0"/>
          </a:p>
        </p:txBody>
      </p:sp>
      <p:sp>
        <p:nvSpPr>
          <p:cNvPr id="16" name="Text 14"/>
          <p:cNvSpPr/>
          <p:nvPr/>
        </p:nvSpPr>
        <p:spPr>
          <a:xfrm>
            <a:off x="3337560" y="3544824"/>
            <a:ext cx="5303520" cy="402336"/>
          </a:xfrm>
          <a:prstGeom prst="rect">
            <a:avLst/>
          </a:prstGeom>
          <a:noFill/>
          <a:ln/>
        </p:spPr>
        <p:txBody>
          <a:bodyPr wrap="square" lIns="0" tIns="0" rIns="0" bIns="0" rtlCol="0" anchor="t"/>
          <a:lstStyle/>
          <a:p>
            <a:pPr indent="0" marL="0">
              <a:buNone/>
            </a:pPr>
            <a:r>
              <a:rPr lang="en-US" sz="1200" dirty="0">
                <a:solidFill>
                  <a:srgbClr val="1E293B"/>
                </a:solidFill>
                <a:latin typeface="Calibri" pitchFamily="34" charset="0"/>
                <a:ea typeface="Calibri" pitchFamily="34" charset="-122"/>
                <a:cs typeface="Calibri" pitchFamily="34" charset="-120"/>
              </a:rPr>
              <a:t>Write your own sentence using the same pattern in your notebook.</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Writer's Workshop</a:t>
            </a:r>
            <a:endParaRPr lang="en-US" sz="2800" dirty="0"/>
          </a:p>
        </p:txBody>
      </p:sp>
      <p:sp>
        <p:nvSpPr>
          <p:cNvPr id="3" name="Shape 1"/>
          <p:cNvSpPr/>
          <p:nvPr/>
        </p:nvSpPr>
        <p:spPr>
          <a:xfrm>
            <a:off x="365760" y="749808"/>
            <a:ext cx="8412480" cy="0"/>
          </a:xfrm>
          <a:prstGeom prst="line">
            <a:avLst/>
          </a:prstGeom>
          <a:noFill/>
          <a:ln w="19050">
            <a:solidFill>
              <a:srgbClr val="8FBF7A"/>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WRITING STAGE</a:t>
            </a:r>
            <a:endParaRPr lang="en-US" sz="1100" dirty="0"/>
          </a:p>
        </p:txBody>
      </p:sp>
      <p:sp>
        <p:nvSpPr>
          <p:cNvPr id="5" name="Shape 3"/>
          <p:cNvSpPr/>
          <p:nvPr/>
        </p:nvSpPr>
        <p:spPr>
          <a:xfrm>
            <a:off x="365760" y="1042416"/>
            <a:ext cx="8412480" cy="658368"/>
          </a:xfrm>
          <a:prstGeom prst="roundRect">
            <a:avLst>
              <a:gd name="adj" fmla="val 13889"/>
            </a:avLst>
          </a:prstGeom>
          <a:solidFill>
            <a:srgbClr val="FEF6E8"/>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133856"/>
            <a:ext cx="7863840" cy="475488"/>
          </a:xfrm>
          <a:prstGeom prst="rect">
            <a:avLst/>
          </a:prstGeom>
          <a:noFill/>
          <a:ln/>
        </p:spPr>
        <p:txBody>
          <a:bodyPr wrap="square" lIns="0" tIns="0" rIns="0" bIns="0" rtlCol="0" anchor="ctr"/>
          <a:lstStyle/>
          <a:p>
            <a:pPr indent="0" marL="0">
              <a:buNone/>
            </a:pPr>
            <a:r>
              <a:rPr lang="en-US" sz="2200" b="1" dirty="0">
                <a:solidFill>
                  <a:srgbClr val="C7922C"/>
                </a:solidFill>
                <a:latin typeface="Calibri" pitchFamily="34" charset="0"/>
                <a:ea typeface="Calibri" pitchFamily="34" charset="-122"/>
                <a:cs typeface="Calibri" pitchFamily="34" charset="-120"/>
              </a:rPr>
              <a:t>Narrative Writing — Seed Idea</a:t>
            </a:r>
            <a:endParaRPr lang="en-US" sz="2200" dirty="0"/>
          </a:p>
        </p:txBody>
      </p:sp>
      <p:sp>
        <p:nvSpPr>
          <p:cNvPr id="7" name="Text 5"/>
          <p:cNvSpPr/>
          <p:nvPr/>
        </p:nvSpPr>
        <p:spPr>
          <a:xfrm>
            <a:off x="365760" y="1828800"/>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TODAY'S FOCUS</a:t>
            </a:r>
            <a:endParaRPr lang="en-US" sz="1100" dirty="0"/>
          </a:p>
        </p:txBody>
      </p:sp>
      <p:sp>
        <p:nvSpPr>
          <p:cNvPr id="8" name="Text 6"/>
          <p:cNvSpPr/>
          <p:nvPr/>
        </p:nvSpPr>
        <p:spPr>
          <a:xfrm>
            <a:off x="457200" y="2084832"/>
            <a:ext cx="8229600" cy="594360"/>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Choose ONE seed idea from yesterday. Who is in the story? Where does it happen? What is the problem?</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2026-07-11T22:13:20Z</dcterms:created>
  <dcterms:modified xsi:type="dcterms:W3CDTF">2026-07-11T22:13:20Z</dcterms:modified>
</cp:coreProperties>
</file>