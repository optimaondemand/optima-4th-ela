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Praise a character with a specific, memorable phrase instead of a generic compliment.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20-minute timer. Craft move: Praise a character with a specific, memorable phrase instead of a generic compliment.. Level-up: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Would your specific phrase be memorable enough to quote back later? Try to make it more vivid..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specific-praise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Peter fought Miraz in single combat while the whole camp watched in tension. Today: See Aslan praise Reepicheep’s great heart and courage. Big Q: Aslan tells Caspian that feeling “not sufficient” is actually proof he IS ready. What does Aslan mean? Why is doubt a sign of good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"Aslan looked at the brave Mouse and said , “ You have great hearts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knelt and kissed the lions paw and said i dont think i am sufficient sir" Corrected: "Nikabrik wanted to call up the White Witch, but Trufflehunter the badger said, “We don’t change, we hold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"caspian knelt and kissed the lions paw and said i dont think i am sufficient sir" Corrected: "Nikabrik wanted to call up the White Witch, but Trufflehunter the badger said, “We don’t change, we hold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sufficient: enough; adequate for the purpose. | coronation: the ceremony of crowning a king or queen. | lineage: ancestry; the line of people you come from. | proclamation: an official public announcement. | revellers: people celebrating wildly and joyfully. | woebegone: looking sad and miserable.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(text): A complex sentence joins an independent clause with a dependent clause using a subordinating conjunction: because, although, when, even though, if, after, before.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SWYK: Choose 5 words from today’s list. For each word: (1) write the root or pattern it contains, (2) write what the whole word means, and (3) use TWO of the words in sentences about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"“You come of the Lord Adam and the Lady Eve. And that is both honour enough to erect the head of the poorest beggar, and shame enough to bow the shoulders of the greatest emperor on earth.”"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Literary Analysis — Revising &amp; Publishing
Focus: Revise your full essay: check that every paragraph supports your original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C9A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C9A0"/>
                </a:solidFill>
                <a:latin typeface="Calibri" pitchFamily="34" charset="0"/>
                <a:ea typeface="Calibri" pitchFamily="34" charset="-122"/>
                <a:cs typeface="Calibri" pitchFamily="34" charset="-120"/>
              </a:rPr>
              <a:t>WEEK 30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Aslan Makes a Door in the Air</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Virtue: Loyalty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Aslan calls out a specific quality — "great hearts" — instead of just praising Reepicheep generally. Why is a specific compliment more powerful than a general one?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20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where one character praises another using a specific, memorable phrase (not just "good job").</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Praise a character with a specific, memorable phrase instead of a generic compliment.</a:t>
            </a:r>
            <a:endParaRPr lang="en-US" sz="1300" dirty="0"/>
          </a:p>
        </p:txBody>
      </p:sp>
      <p:sp>
        <p:nvSpPr>
          <p:cNvPr id="8" name="Text 6"/>
          <p:cNvSpPr/>
          <p:nvPr/>
        </p:nvSpPr>
        <p:spPr>
          <a:xfrm>
            <a:off x="548640" y="2868168"/>
            <a:ext cx="8046720" cy="2161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Would your specific phrase be memorable enough to quote back later? Try to make it more vivid.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specific-praise sentence.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Peter fought Miraz in single combat while the whole camp watched in tension.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5CC9A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See Aslan praise Reepicheep’s great heart and courage.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Aslan tells Caspian that feeling “not sufficient” is actually proof he IS ready. What does Aslan mean? Why is doubt a sign of good leadership?</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think about endings. The last chapter of a book is not just the last chapter &amp;mdash; it is where the author resolves what matters and asks us to...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Aslan looked at the brave Mouse and said , “ You have great hearts . ”</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knelt and kissed the lions paw and said i dont think i am sufficient sir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caspian knelt and kissed the lions paw and said i dont think i am sufficient sir</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Nikabrik wanted to call up the White Witch, but Trufflehunter the badger said, “We don’t change, we hold 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6 WORDS - READ THE SENTENCE, THEN THE MEANING</a:t>
            </a:r>
            <a:endParaRPr lang="en-US" sz="1100" dirty="0"/>
          </a:p>
        </p:txBody>
      </p:sp>
      <p:sp>
        <p:nvSpPr>
          <p:cNvPr id="5" name="Shape 3"/>
          <p:cNvSpPr/>
          <p:nvPr/>
        </p:nvSpPr>
        <p:spPr>
          <a:xfrm>
            <a:off x="32004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sufficient</a:t>
            </a:r>
            <a:endParaRPr lang="en-US" sz="1400" dirty="0"/>
          </a:p>
        </p:txBody>
      </p:sp>
      <p:sp>
        <p:nvSpPr>
          <p:cNvPr id="7" name="Text 5"/>
          <p:cNvSpPr/>
          <p:nvPr/>
        </p:nvSpPr>
        <p:spPr>
          <a:xfrm>
            <a:off x="45720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enough; adequate for the purpose.</a:t>
            </a:r>
            <a:endParaRPr lang="en-US" sz="1100" dirty="0"/>
          </a:p>
        </p:txBody>
      </p:sp>
      <p:sp>
        <p:nvSpPr>
          <p:cNvPr id="8" name="Shape 6"/>
          <p:cNvSpPr/>
          <p:nvPr/>
        </p:nvSpPr>
        <p:spPr>
          <a:xfrm>
            <a:off x="4572000" y="914400"/>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coronation</a:t>
            </a:r>
            <a:endParaRPr lang="en-US" sz="1400" dirty="0"/>
          </a:p>
        </p:txBody>
      </p:sp>
      <p:sp>
        <p:nvSpPr>
          <p:cNvPr id="10" name="Text 8"/>
          <p:cNvSpPr/>
          <p:nvPr/>
        </p:nvSpPr>
        <p:spPr>
          <a:xfrm>
            <a:off x="4709160" y="1316736"/>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the ceremony of crowning a king or queen.</a:t>
            </a:r>
            <a:endParaRPr lang="en-US" sz="1100" dirty="0"/>
          </a:p>
        </p:txBody>
      </p:sp>
      <p:sp>
        <p:nvSpPr>
          <p:cNvPr id="11" name="Shape 9"/>
          <p:cNvSpPr/>
          <p:nvPr/>
        </p:nvSpPr>
        <p:spPr>
          <a:xfrm>
            <a:off x="32004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lineage</a:t>
            </a:r>
            <a:endParaRPr lang="en-US" sz="1400" dirty="0"/>
          </a:p>
        </p:txBody>
      </p:sp>
      <p:sp>
        <p:nvSpPr>
          <p:cNvPr id="13" name="Text 11"/>
          <p:cNvSpPr/>
          <p:nvPr/>
        </p:nvSpPr>
        <p:spPr>
          <a:xfrm>
            <a:off x="45720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ancestry; the line of people you come from.</a:t>
            </a:r>
            <a:endParaRPr lang="en-US" sz="1100" dirty="0"/>
          </a:p>
        </p:txBody>
      </p:sp>
      <p:sp>
        <p:nvSpPr>
          <p:cNvPr id="14" name="Shape 12"/>
          <p:cNvSpPr/>
          <p:nvPr/>
        </p:nvSpPr>
        <p:spPr>
          <a:xfrm>
            <a:off x="4572000" y="1938528"/>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2996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proclamation</a:t>
            </a:r>
            <a:endParaRPr lang="en-US" sz="1400" dirty="0"/>
          </a:p>
        </p:txBody>
      </p:sp>
      <p:sp>
        <p:nvSpPr>
          <p:cNvPr id="16" name="Text 14"/>
          <p:cNvSpPr/>
          <p:nvPr/>
        </p:nvSpPr>
        <p:spPr>
          <a:xfrm>
            <a:off x="4709160" y="2340864"/>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official public announcement.</a:t>
            </a:r>
            <a:endParaRPr lang="en-US" sz="1100" dirty="0"/>
          </a:p>
        </p:txBody>
      </p:sp>
      <p:sp>
        <p:nvSpPr>
          <p:cNvPr id="17" name="Shape 15"/>
          <p:cNvSpPr/>
          <p:nvPr/>
        </p:nvSpPr>
        <p:spPr>
          <a:xfrm>
            <a:off x="32004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5720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revellers</a:t>
            </a:r>
            <a:endParaRPr lang="en-US" sz="1400" dirty="0"/>
          </a:p>
        </p:txBody>
      </p:sp>
      <p:sp>
        <p:nvSpPr>
          <p:cNvPr id="19" name="Text 17"/>
          <p:cNvSpPr/>
          <p:nvPr/>
        </p:nvSpPr>
        <p:spPr>
          <a:xfrm>
            <a:off x="45720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people celebrating wildly and joyfully.</a:t>
            </a:r>
            <a:endParaRPr lang="en-US" sz="1100" dirty="0"/>
          </a:p>
        </p:txBody>
      </p:sp>
      <p:sp>
        <p:nvSpPr>
          <p:cNvPr id="20" name="Shape 18"/>
          <p:cNvSpPr/>
          <p:nvPr/>
        </p:nvSpPr>
        <p:spPr>
          <a:xfrm>
            <a:off x="4572000" y="2962656"/>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21" name="Text 19"/>
          <p:cNvSpPr/>
          <p:nvPr/>
        </p:nvSpPr>
        <p:spPr>
          <a:xfrm>
            <a:off x="4709160" y="305409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woebegone</a:t>
            </a:r>
            <a:endParaRPr lang="en-US" sz="1400" dirty="0"/>
          </a:p>
        </p:txBody>
      </p:sp>
      <p:sp>
        <p:nvSpPr>
          <p:cNvPr id="22" name="Text 20"/>
          <p:cNvSpPr/>
          <p:nvPr/>
        </p:nvSpPr>
        <p:spPr>
          <a:xfrm>
            <a:off x="4709160" y="3364992"/>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looking sad and miserable.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Write Your Own — Use</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THE RULE</a:t>
            </a:r>
            <a:endParaRPr lang="en-US" sz="1100" dirty="0"/>
          </a:p>
        </p:txBody>
      </p:sp>
      <p:sp>
        <p:nvSpPr>
          <p:cNvPr id="7" name="Shape 5"/>
          <p:cNvSpPr/>
          <p:nvPr/>
        </p:nvSpPr>
        <p:spPr>
          <a:xfrm>
            <a:off x="365760" y="1060704"/>
            <a:ext cx="8412480" cy="102870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800100"/>
          </a:xfrm>
          <a:prstGeom prst="rect">
            <a:avLst/>
          </a:prstGeom>
          <a:noFill/>
          <a:ln/>
        </p:spPr>
        <p:txBody>
          <a:bodyPr wrap="square" lIns="0" tIns="0" rIns="0" bIns="0" rtlCol="0" anchor="ctr"/>
          <a:lstStyle/>
          <a:p>
            <a:pPr indent="0" marL="0">
              <a:buNone/>
            </a:pPr>
            <a:r>
              <a:rPr lang="en-US" sz="1500" i="1" dirty="0">
                <a:solidFill>
                  <a:srgbClr val="0E1C42"/>
                </a:solidFill>
                <a:latin typeface="Calibri" pitchFamily="34" charset="0"/>
                <a:ea typeface="Calibri" pitchFamily="34" charset="-122"/>
                <a:cs typeface="Calibri" pitchFamily="34" charset="-120"/>
              </a:rPr>
              <a:t>A complex sentence joins an independent clause with a dependent clause using a subordinating conjunction: because, although, when, even though, if, after, before.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Apply — Cumulative Review Test</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Shape 2"/>
          <p:cNvSpPr/>
          <p:nvPr/>
        </p:nvSpPr>
        <p:spPr>
          <a:xfrm>
            <a:off x="6492240" y="173736"/>
            <a:ext cx="2286000" cy="502920"/>
          </a:xfrm>
          <a:prstGeom prst="roundRect">
            <a:avLst>
              <a:gd name="adj" fmla="val 21818"/>
            </a:avLst>
          </a:prstGeom>
          <a:solidFill>
            <a:srgbClr val="5CC9A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WORD REFERENCE</a:t>
            </a:r>
            <a:endParaRPr lang="en-US" sz="1100" dirty="0"/>
          </a:p>
        </p:txBody>
      </p:sp>
      <p:sp>
        <p:nvSpPr>
          <p:cNvPr id="7" name="Text 5"/>
          <p:cNvSpPr/>
          <p:nvPr/>
        </p:nvSpPr>
        <p:spPr>
          <a:xfrm>
            <a:off x="365760" y="22037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SHOW WHAT YOU KNOW</a:t>
            </a:r>
            <a:endParaRPr lang="en-US" sz="1100" dirty="0"/>
          </a:p>
        </p:txBody>
      </p:sp>
      <p:sp>
        <p:nvSpPr>
          <p:cNvPr id="8" name="Shape 6"/>
          <p:cNvSpPr/>
          <p:nvPr/>
        </p:nvSpPr>
        <p:spPr>
          <a:xfrm>
            <a:off x="365760" y="2459736"/>
            <a:ext cx="8412480" cy="978408"/>
          </a:xfrm>
          <a:prstGeom prst="roundRect">
            <a:avLst>
              <a:gd name="adj" fmla="val 9346"/>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8640" y="2569464"/>
            <a:ext cx="8046720" cy="749808"/>
          </a:xfrm>
          <a:prstGeom prst="rect">
            <a:avLst/>
          </a:prstGeom>
          <a:noFill/>
          <a:ln/>
        </p:spPr>
        <p:txBody>
          <a:bodyPr wrap="square" lIns="0" tIns="0" rIns="0" bIns="0" rtlCol="0" anchor="ctr"/>
          <a:lstStyle/>
          <a:p>
            <a:pPr indent="0" marL="0">
              <a:buNone/>
            </a:pPr>
            <a:r>
              <a:rPr lang="en-US" sz="1400" i="1" dirty="0">
                <a:solidFill>
                  <a:srgbClr val="0E1C42"/>
                </a:solidFill>
                <a:latin typeface="Calibri" pitchFamily="34" charset="0"/>
                <a:ea typeface="Calibri" pitchFamily="34" charset="-122"/>
                <a:cs typeface="Calibri" pitchFamily="34" charset="-120"/>
              </a:rPr>
              <a:t>Choose 5 words from today’s list. For each word: (1) write the root or pattern it contains, (2) write what the whole word means, and (3) use TWO of the words in sentences about Chapter 15.</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15</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Aslan Makes a Door in the Air</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The mice all offer to cut off their tails if Reepicheep cannot have his. Aslan says, “You have conquered me.” What conquers Aslan — and what does this tell us about what he values most?</a:t>
            </a:r>
            <a:endParaRPr lang="en-US" sz="1400" dirty="0"/>
          </a:p>
        </p:txBody>
      </p:sp>
      <p:sp>
        <p:nvSpPr>
          <p:cNvPr id="8" name="Shape 6"/>
          <p:cNvSpPr/>
          <p:nvPr/>
        </p:nvSpPr>
        <p:spPr>
          <a:xfrm>
            <a:off x="365760" y="265176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Peter and Susan learn they will never return to Narnia. How does the ending make you feel? What do you think C. S. Lewis wants you to carry away?</a:t>
            </a:r>
            <a:endParaRPr lang="en-US" sz="1400" dirty="0"/>
          </a:p>
        </p:txBody>
      </p:sp>
      <p:sp>
        <p:nvSpPr>
          <p:cNvPr id="10" name="Shape 8"/>
          <p:cNvSpPr/>
          <p:nvPr/>
        </p:nvSpPr>
        <p:spPr>
          <a:xfrm>
            <a:off x="365760" y="358444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67588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Aslan asks Caspian if he feels “sufficient” to be king. Caspian says he doesn’t. Aslan says that is proof he IS ready. What does Aslan mean? Why would a king who feels ready be more dangerous than one who feels unready?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1078992"/>
          </a:xfrm>
          <a:prstGeom prst="roundRect">
            <a:avLst>
              <a:gd name="adj" fmla="val 8475"/>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50392"/>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“You come of the Lord Adam and the Lady Eve. And that is both honour enough to erect the head of the poorest beggar, and shame enough to bow the shoulders of the greatest emperor on earth.”</a:t>
            </a:r>
            <a:endParaRPr lang="en-US" sz="1600" dirty="0"/>
          </a:p>
        </p:txBody>
      </p:sp>
      <p:sp>
        <p:nvSpPr>
          <p:cNvPr id="7" name="Text 5"/>
          <p:cNvSpPr/>
          <p:nvPr/>
        </p:nvSpPr>
        <p:spPr>
          <a:xfrm>
            <a:off x="365760" y="224942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505456"/>
            <a:ext cx="8412480" cy="1536192"/>
          </a:xfrm>
          <a:prstGeom prst="roundRect">
            <a:avLst>
              <a:gd name="adj" fmla="val 5952"/>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569464"/>
            <a:ext cx="2651760" cy="140817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569464"/>
            <a:ext cx="5303520" cy="140817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Aslan says this to Caspian as he is about to be crowned king. Caspian has just wished he came from a more honourable lineage. Aslan’s answer is breathtaking: every human being carries both great honour and great shame simply by being human — a son of Adam or daughter of Eve. What is Aslan telling Caspian? Why is this the right thing to say at this moment?</a:t>
            </a:r>
            <a:endParaRPr lang="en-US" sz="1200" dirty="0"/>
          </a:p>
        </p:txBody>
      </p:sp>
      <p:sp>
        <p:nvSpPr>
          <p:cNvPr id="11" name="Shape 9"/>
          <p:cNvSpPr/>
          <p:nvPr/>
        </p:nvSpPr>
        <p:spPr>
          <a:xfrm>
            <a:off x="365760" y="4133088"/>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4197096"/>
            <a:ext cx="2651760" cy="32918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4197096"/>
            <a:ext cx="5303520" cy="32918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Notice the balanced parallel structure</a:t>
            </a:r>
            <a:endParaRPr lang="en-US" sz="1200" dirty="0"/>
          </a:p>
        </p:txBody>
      </p:sp>
      <p:sp>
        <p:nvSpPr>
          <p:cNvPr id="14" name="Shape 12"/>
          <p:cNvSpPr/>
          <p:nvPr/>
        </p:nvSpPr>
        <p:spPr>
          <a:xfrm>
            <a:off x="365760" y="4681728"/>
            <a:ext cx="8412480" cy="932688"/>
          </a:xfrm>
          <a:prstGeom prst="roundRect">
            <a:avLst>
              <a:gd name="adj" fmla="val 9804"/>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4745736"/>
            <a:ext cx="2651760" cy="804672"/>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4745736"/>
            <a:ext cx="5303520" cy="804672"/>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“both ___ enough to ___, and ___ enough to ___” balanced structure. Think of two opposite qualities — strength and weakness, joy and sorrow, courage and fear — and set them side by side.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5CC9A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Literary Analysis — Revising &amp; Publishing</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Revise your full essay: check that every paragraph supports your original claim.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2026-07-11T22:29:48Z</dcterms:created>
  <dcterms:modified xsi:type="dcterms:W3CDTF">2026-07-11T22:29:48Z</dcterms:modified>
</cp:coreProperties>
</file>