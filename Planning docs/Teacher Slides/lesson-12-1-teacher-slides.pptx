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12, Day 1.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Define voice: writing deliberately dramatic or exaggerated for a specific audience and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12-minute timer. Craft move: Define voice: writing deliberately dramatic or exaggerated for a specific audience and purpose.. Level-up: ⭐ Make it dramatic on purpose  ⭐⭐ Keep sentences grammatically clear despite the drama  ⭐⭐⭐ Add one moment of humor  ⭐⭐⭐⭐ End on a cliffhanger.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Reread your dramatic opening. Make sure it is dramatic ON PURPOSE, not just confusing..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"Read your most dramatic sentence and tell us what effect you were going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Last week, Miss Stacy and her students began planning a concert. Today: See how Anne and her friends form their own story club. Big Q: As you read today, watch for the setting, the characters, and the first surprise. What kind of place is Avonlea? Who is Mrs. Rachel Lynde? What does she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"Anne wrote a sad story for the club."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"diana read annes story and cried during the saddest part" Corrected: "Diana read Anne’s story and cried during the saddest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"diana read annes story and cried during the saddest part" Corrected: "Diana read Anne’s story and cried during the saddest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transport — — to carry across (a truck transports goods) | export — — to carry out (sell to another country) | attract — — to draw toward; pull in | distract — — to draw apart (lose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vanity: Too much pride in how one looks; caring too much about appearance. | implicitly: Without questioning; trusting completely. | epoch: A memorable period of time; a turning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 wrote a story for Diana." -&gt; wrote | "Marilla saw the green hair and gasped." -&gt; saw | "Anne ran upstairs to hide the color." -&gt;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 wrote a story for Diana." -&gt; wrote | "Marilla saw the green hair and gasped." -&gt; saw | "Anne ran upstairs to hide the color." -&gt;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Drop the e: saving, hoping, liked | Keep the e (after ce/ge): courageous, noticeable, manageable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Drop the e: saving, hoping, liked | Keep the e (after ce/ge): courageous, noticeable, manageable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Realistic Fiction — Revise &amp; Publish
Focus: Reread your whole draft. Revise for stronger, more precise verbs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8BB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8BB0"/>
                </a:solidFill>
                <a:latin typeface="Calibri" pitchFamily="34" charset="0"/>
                <a:ea typeface="Calibri" pitchFamily="34" charset="-122"/>
                <a:cs typeface="Calibri" pitchFamily="34" charset="-120"/>
              </a:rPr>
              <a:t>WEEK 12  ·  DAY 1</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26</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The Story Club Is Formed</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12  ·  Virtue: Imagination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wrote a sad story for the club.</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"Anne wrote a sad story for the club."</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Why might a group of friends starting a story club push each other to write more, and more dramatically?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12 minutes - keep your pencil moving!</a:t>
            </a:r>
            <a:endParaRPr lang="en-US" sz="1500" dirty="0"/>
          </a:p>
        </p:txBody>
      </p:sp>
      <p:sp>
        <p:nvSpPr>
          <p:cNvPr id="4" name="Shape 2"/>
          <p:cNvSpPr/>
          <p:nvPr/>
        </p:nvSpPr>
        <p:spPr>
          <a:xfrm>
            <a:off x="457200" y="1170432"/>
            <a:ext cx="8229600" cy="877824"/>
          </a:xfrm>
          <a:prstGeom prst="roundRect">
            <a:avLst>
              <a:gd name="adj" fmla="val 10417"/>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86384"/>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the start of a very dramatic, over-the-top short story, the way Anne’s story club members might write for each other. Have fun with it — but keep sentences clear and controlled.</a:t>
            </a:r>
            <a:endParaRPr lang="en-US" sz="1200" dirty="0"/>
          </a:p>
        </p:txBody>
      </p:sp>
      <p:sp>
        <p:nvSpPr>
          <p:cNvPr id="6" name="Shape 4"/>
          <p:cNvSpPr/>
          <p:nvPr/>
        </p:nvSpPr>
        <p:spPr>
          <a:xfrm>
            <a:off x="457200" y="2176272"/>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231136"/>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Define voice: writing deliberately dramatic or exaggerated for a specific audience and purpose.</a:t>
            </a:r>
            <a:endParaRPr lang="en-US" sz="1300" dirty="0"/>
          </a:p>
        </p:txBody>
      </p:sp>
      <p:sp>
        <p:nvSpPr>
          <p:cNvPr id="8" name="Text 6"/>
          <p:cNvSpPr/>
          <p:nvPr/>
        </p:nvSpPr>
        <p:spPr>
          <a:xfrm>
            <a:off x="548640" y="2923032"/>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Make it dramatic on purpose  ⭐⭐ Keep sentences grammatically clear despite the drama  ⭐⭐⭐ Add one moment of humor  ⭐⭐⭐⭐ End on a cliffhanger</a:t>
            </a:r>
            <a:endParaRPr lang="en-US" sz="1150" dirty="0"/>
          </a:p>
        </p:txBody>
      </p:sp>
      <p:sp>
        <p:nvSpPr>
          <p:cNvPr id="9" name="Text 7"/>
          <p:cNvSpPr/>
          <p:nvPr/>
        </p:nvSpPr>
        <p:spPr>
          <a:xfrm>
            <a:off x="548640" y="3427476"/>
            <a:ext cx="8046720" cy="1601724"/>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Reread your dramatic opening. Make sure it is dramatic ON PURPOSE, not just confusing.</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Read your most dramatic sentence and tell us what effect you were going for.</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Last week, Miss Stacy and her students began planning a concert.</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See how Anne and her friends form their own story club.</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As you read today, watch for the setting, the characters, and the first surprise. What kind of place is Avonlea? Who is Mrs. Rachel Lynde? What does she notice?</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slow down at the start of a book. The first chapters tell you who the characters are, where they live, and what trouble is about to begin.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wrote a sad story for the club.</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diana read annes story and cried during the saddest part</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diana read annes story and cried during the saddest part</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Diana read Anne’s story and cried during the saddest part.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Word Bases: port, tract</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This week’s word bases are both Latin roots that show ACTION. port means to carry. You can find it in words about moving things from one place to another. tract means to pull or draw. You can find it in words about pulling things together or apart.</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502920"/>
          </a:xfrm>
          <a:prstGeom prst="roundRect">
            <a:avLst>
              <a:gd name="adj" fmla="val 14545"/>
            </a:avLst>
          </a:prstGeom>
          <a:solidFill>
            <a:srgbClr val="F8F4FF"/>
          </a:solidFill>
          <a:ln w="12700">
            <a:solidFill>
              <a:srgbClr val="8B6FC0"/>
            </a:solidFill>
            <a:prstDash val="solid"/>
          </a:ln>
        </p:spPr>
      </p:sp>
      <p:sp>
        <p:nvSpPr>
          <p:cNvPr id="9" name="Text 7"/>
          <p:cNvSpPr/>
          <p:nvPr/>
        </p:nvSpPr>
        <p:spPr>
          <a:xfrm>
            <a:off x="43891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transport = trans- + port (to carry across)</a:t>
            </a:r>
            <a:endParaRPr lang="en-US" sz="1100" dirty="0"/>
          </a:p>
        </p:txBody>
      </p:sp>
      <p:sp>
        <p:nvSpPr>
          <p:cNvPr id="10" name="Shape 8"/>
          <p:cNvSpPr/>
          <p:nvPr/>
        </p:nvSpPr>
        <p:spPr>
          <a:xfrm>
            <a:off x="2468880" y="1847088"/>
            <a:ext cx="2011680" cy="502920"/>
          </a:xfrm>
          <a:prstGeom prst="roundRect">
            <a:avLst>
              <a:gd name="adj" fmla="val 14545"/>
            </a:avLst>
          </a:prstGeom>
          <a:solidFill>
            <a:srgbClr val="F8F4FF"/>
          </a:solidFill>
          <a:ln w="12700">
            <a:solidFill>
              <a:srgbClr val="8B6FC0"/>
            </a:solidFill>
            <a:prstDash val="solid"/>
          </a:ln>
        </p:spPr>
      </p:sp>
      <p:sp>
        <p:nvSpPr>
          <p:cNvPr id="11" name="Text 9"/>
          <p:cNvSpPr/>
          <p:nvPr/>
        </p:nvSpPr>
        <p:spPr>
          <a:xfrm>
            <a:off x="254203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portable = port + able (able to be carried)</a:t>
            </a:r>
            <a:endParaRPr lang="en-US" sz="1100" dirty="0"/>
          </a:p>
        </p:txBody>
      </p:sp>
      <p:sp>
        <p:nvSpPr>
          <p:cNvPr id="12" name="Shape 10"/>
          <p:cNvSpPr/>
          <p:nvPr/>
        </p:nvSpPr>
        <p:spPr>
          <a:xfrm>
            <a:off x="4572000" y="1847088"/>
            <a:ext cx="2011680" cy="502920"/>
          </a:xfrm>
          <a:prstGeom prst="roundRect">
            <a:avLst>
              <a:gd name="adj" fmla="val 14545"/>
            </a:avLst>
          </a:prstGeom>
          <a:solidFill>
            <a:srgbClr val="F8F4FF"/>
          </a:solidFill>
          <a:ln w="12700">
            <a:solidFill>
              <a:srgbClr val="8B6FC0"/>
            </a:solidFill>
            <a:prstDash val="solid"/>
          </a:ln>
        </p:spPr>
      </p:sp>
      <p:sp>
        <p:nvSpPr>
          <p:cNvPr id="13" name="Text 11"/>
          <p:cNvSpPr/>
          <p:nvPr/>
        </p:nvSpPr>
        <p:spPr>
          <a:xfrm>
            <a:off x="464515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attract = at- + tract (to draw toward)</a:t>
            </a:r>
            <a:endParaRPr lang="en-US" sz="1100" dirty="0"/>
          </a:p>
        </p:txBody>
      </p:sp>
      <p:sp>
        <p:nvSpPr>
          <p:cNvPr id="14" name="Shape 12"/>
          <p:cNvSpPr/>
          <p:nvPr/>
        </p:nvSpPr>
        <p:spPr>
          <a:xfrm>
            <a:off x="6675120" y="1847088"/>
            <a:ext cx="2011680" cy="502920"/>
          </a:xfrm>
          <a:prstGeom prst="roundRect">
            <a:avLst>
              <a:gd name="adj" fmla="val 14545"/>
            </a:avLst>
          </a:prstGeom>
          <a:solidFill>
            <a:srgbClr val="F8F4FF"/>
          </a:solidFill>
          <a:ln w="12700">
            <a:solidFill>
              <a:srgbClr val="8B6FC0"/>
            </a:solidFill>
            <a:prstDash val="solid"/>
          </a:ln>
        </p:spPr>
      </p:sp>
      <p:sp>
        <p:nvSpPr>
          <p:cNvPr id="15" name="Text 13"/>
          <p:cNvSpPr/>
          <p:nvPr/>
        </p:nvSpPr>
        <p:spPr>
          <a:xfrm>
            <a:off x="674827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distract = dis- + tract (to draw apart)</a:t>
            </a:r>
            <a:endParaRPr lang="en-US" sz="1100" dirty="0"/>
          </a:p>
        </p:txBody>
      </p:sp>
      <p:sp>
        <p:nvSpPr>
          <p:cNvPr id="16" name="Text 14"/>
          <p:cNvSpPr/>
          <p:nvPr/>
        </p:nvSpPr>
        <p:spPr>
          <a:xfrm>
            <a:off x="365760" y="246888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272491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27706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transport — — to carry across (a truck transports goods)</a:t>
            </a:r>
            <a:endParaRPr lang="en-US" sz="1300" dirty="0"/>
          </a:p>
        </p:txBody>
      </p:sp>
      <p:sp>
        <p:nvSpPr>
          <p:cNvPr id="19" name="Shape 17"/>
          <p:cNvSpPr/>
          <p:nvPr/>
        </p:nvSpPr>
        <p:spPr>
          <a:xfrm>
            <a:off x="365760" y="318211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2278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export — — to carry out (sell to another country)</a:t>
            </a:r>
            <a:endParaRPr lang="en-US" sz="1300" dirty="0"/>
          </a:p>
        </p:txBody>
      </p:sp>
      <p:sp>
        <p:nvSpPr>
          <p:cNvPr id="21" name="Shape 19"/>
          <p:cNvSpPr/>
          <p:nvPr/>
        </p:nvSpPr>
        <p:spPr>
          <a:xfrm>
            <a:off x="365760" y="363931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36850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attract — — to draw toward; pull in</a:t>
            </a:r>
            <a:endParaRPr lang="en-US" sz="1300" dirty="0"/>
          </a:p>
        </p:txBody>
      </p:sp>
      <p:sp>
        <p:nvSpPr>
          <p:cNvPr id="23" name="Shape 21"/>
          <p:cNvSpPr/>
          <p:nvPr/>
        </p:nvSpPr>
        <p:spPr>
          <a:xfrm>
            <a:off x="365760" y="409651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1422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distract — — to draw apart (lose focus)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3 WORDS - READ THE SENTENCE, THEN THE MEANING</a:t>
            </a:r>
            <a:endParaRPr lang="en-US" sz="1100" dirty="0"/>
          </a:p>
        </p:txBody>
      </p:sp>
      <p:sp>
        <p:nvSpPr>
          <p:cNvPr id="5" name="Shape 3"/>
          <p:cNvSpPr/>
          <p:nvPr/>
        </p:nvSpPr>
        <p:spPr>
          <a:xfrm>
            <a:off x="320040" y="91440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“Marilla said Anne’s vanity had led her to dye her hair.”</a:t>
            </a:r>
            <a:endParaRPr lang="en-US" sz="1050" dirty="0"/>
          </a:p>
        </p:txBody>
      </p:sp>
      <p:sp>
        <p:nvSpPr>
          <p:cNvPr id="7" name="Text 5"/>
          <p:cNvSpPr/>
          <p:nvPr/>
        </p:nvSpPr>
        <p:spPr>
          <a:xfrm>
            <a:off x="45720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vanity</a:t>
            </a:r>
            <a:endParaRPr lang="en-US" sz="1400" dirty="0"/>
          </a:p>
        </p:txBody>
      </p:sp>
      <p:sp>
        <p:nvSpPr>
          <p:cNvPr id="8" name="Text 6"/>
          <p:cNvSpPr/>
          <p:nvPr/>
        </p:nvSpPr>
        <p:spPr>
          <a:xfrm>
            <a:off x="457200" y="172364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Too much pride in how one looks; caring too much about appearance.</a:t>
            </a:r>
            <a:endParaRPr lang="en-US" sz="1100" dirty="0"/>
          </a:p>
        </p:txBody>
      </p:sp>
      <p:sp>
        <p:nvSpPr>
          <p:cNvPr id="9" name="Shape 7"/>
          <p:cNvSpPr/>
          <p:nvPr/>
        </p:nvSpPr>
        <p:spPr>
          <a:xfrm>
            <a:off x="4572000" y="91440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“Anne believed every word the peddler said implicitly — until her hair turned green.”</a:t>
            </a:r>
            <a:endParaRPr lang="en-US" sz="1050" dirty="0"/>
          </a:p>
        </p:txBody>
      </p:sp>
      <p:sp>
        <p:nvSpPr>
          <p:cNvPr id="11" name="Text 9"/>
          <p:cNvSpPr/>
          <p:nvPr/>
        </p:nvSpPr>
        <p:spPr>
          <a:xfrm>
            <a:off x="470916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implicitly</a:t>
            </a:r>
            <a:endParaRPr lang="en-US" sz="1400" dirty="0"/>
          </a:p>
        </p:txBody>
      </p:sp>
      <p:sp>
        <p:nvSpPr>
          <p:cNvPr id="12" name="Text 10"/>
          <p:cNvSpPr/>
          <p:nvPr/>
        </p:nvSpPr>
        <p:spPr>
          <a:xfrm>
            <a:off x="4709160" y="172364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Without questioning; trusting completely.</a:t>
            </a:r>
            <a:endParaRPr lang="en-US" sz="1100" dirty="0"/>
          </a:p>
        </p:txBody>
      </p:sp>
      <p:sp>
        <p:nvSpPr>
          <p:cNvPr id="13" name="Shape 11"/>
          <p:cNvSpPr/>
          <p:nvPr/>
        </p:nvSpPr>
        <p:spPr>
          <a:xfrm>
            <a:off x="320040" y="2385060"/>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457200" y="247650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“Anne said the trip to Charlottetown marked an epoch in her life.”</a:t>
            </a:r>
            <a:endParaRPr lang="en-US" sz="1050" dirty="0"/>
          </a:p>
        </p:txBody>
      </p:sp>
      <p:sp>
        <p:nvSpPr>
          <p:cNvPr id="15" name="Text 13"/>
          <p:cNvSpPr/>
          <p:nvPr/>
        </p:nvSpPr>
        <p:spPr>
          <a:xfrm>
            <a:off x="457200" y="288340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epoch</a:t>
            </a:r>
            <a:endParaRPr lang="en-US" sz="1400" dirty="0"/>
          </a:p>
        </p:txBody>
      </p:sp>
      <p:sp>
        <p:nvSpPr>
          <p:cNvPr id="16" name="Text 14"/>
          <p:cNvSpPr/>
          <p:nvPr/>
        </p:nvSpPr>
        <p:spPr>
          <a:xfrm>
            <a:off x="457200" y="3194304"/>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memorable period of time; a turning point.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Irregular Past-Tense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wrote a story for Diana.</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Marilla saw the green hair and gasped.</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ran upstairs to hide the color.</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Irregular Past-Tense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a:t>
            </a:r>
            <a:pPr indent="0" marL="0">
              <a:buNone/>
            </a:pPr>
            <a:r>
              <a:rPr lang="en-US" sz="1500" b="1" u="sng" dirty="0">
                <a:solidFill>
                  <a:srgbClr val="34B76F"/>
                </a:solidFill>
                <a:latin typeface="Calibri" pitchFamily="34" charset="0"/>
                <a:ea typeface="Calibri" pitchFamily="34" charset="-122"/>
                <a:cs typeface="Calibri" pitchFamily="34" charset="-120"/>
              </a:rPr>
              <a:t>wrote</a:t>
            </a:r>
            <a:pPr indent="0" marL="0">
              <a:buNone/>
            </a:pPr>
            <a:r>
              <a:rPr lang="en-US" sz="1500" dirty="0">
                <a:solidFill>
                  <a:srgbClr val="1E293B"/>
                </a:solidFill>
                <a:latin typeface="Calibri" pitchFamily="34" charset="0"/>
                <a:ea typeface="Calibri" pitchFamily="34" charset="-122"/>
                <a:cs typeface="Calibri" pitchFamily="34" charset="-120"/>
              </a:rPr>
              <a:t> a story for Diana.</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Marilla </a:t>
            </a:r>
            <a:pPr indent="0" marL="0">
              <a:buNone/>
            </a:pPr>
            <a:r>
              <a:rPr lang="en-US" sz="1500" b="1" u="sng" dirty="0">
                <a:solidFill>
                  <a:srgbClr val="34B76F"/>
                </a:solidFill>
                <a:latin typeface="Calibri" pitchFamily="34" charset="0"/>
                <a:ea typeface="Calibri" pitchFamily="34" charset="-122"/>
                <a:cs typeface="Calibri" pitchFamily="34" charset="-120"/>
              </a:rPr>
              <a:t>saw</a:t>
            </a:r>
            <a:pPr indent="0" marL="0">
              <a:buNone/>
            </a:pPr>
            <a:r>
              <a:rPr lang="en-US" sz="1500" dirty="0">
                <a:solidFill>
                  <a:srgbClr val="1E293B"/>
                </a:solidFill>
                <a:latin typeface="Calibri" pitchFamily="34" charset="0"/>
                <a:ea typeface="Calibri" pitchFamily="34" charset="-122"/>
                <a:cs typeface="Calibri" pitchFamily="34" charset="-120"/>
              </a:rPr>
              <a:t> the green hair and gasped.</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a:t>
            </a:r>
            <a:pPr indent="0" marL="0">
              <a:buNone/>
            </a:pPr>
            <a:r>
              <a:rPr lang="en-US" sz="1500" b="1" u="sng" dirty="0">
                <a:solidFill>
                  <a:srgbClr val="34B76F"/>
                </a:solidFill>
                <a:latin typeface="Calibri" pitchFamily="34" charset="0"/>
                <a:ea typeface="Calibri" pitchFamily="34" charset="-122"/>
                <a:cs typeface="Calibri" pitchFamily="34" charset="-120"/>
              </a:rPr>
              <a:t>ran</a:t>
            </a:r>
            <a:pPr indent="0" marL="0">
              <a:buNone/>
            </a:pPr>
            <a:r>
              <a:rPr lang="en-US" sz="1500" dirty="0">
                <a:solidFill>
                  <a:srgbClr val="1E293B"/>
                </a:solidFill>
                <a:latin typeface="Calibri" pitchFamily="34" charset="0"/>
                <a:ea typeface="Calibri" pitchFamily="34" charset="-122"/>
                <a:cs typeface="Calibri" pitchFamily="34" charset="-120"/>
              </a:rPr>
              <a:t> upstairs to hide the color.</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Keep e After ce/ge</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saving   -   hoping   -   liked   -   courageous   -   noticeable   -   manageable</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Drop the e</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Keep the e (after ce/ge)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Keep e After ce/ge</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Drop the e</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saving</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hoping</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liked</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Keep the e (after ce/ge)</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courageous</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noticeable</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manageable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26</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The Story Club Is Formed</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Group A: look at save → saving. What happened to the silent e? Why does the e drop here?</a:t>
            </a:r>
            <a:endParaRPr lang="en-US" sz="1400" dirty="0"/>
          </a:p>
        </p:txBody>
      </p:sp>
      <p:sp>
        <p:nvSpPr>
          <p:cNvPr id="8" name="Shape 6"/>
          <p:cNvSpPr/>
          <p:nvPr/>
        </p:nvSpPr>
        <p:spPr>
          <a:xfrm>
            <a:off x="365760" y="251460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Group B: look at courage → courageous. The e STAYS this time. Listen to the g in “courage” — is it hard (/g/) or soft (/j/)?</a:t>
            </a:r>
            <a:endParaRPr lang="en-US" sz="1400" dirty="0"/>
          </a:p>
        </p:txBody>
      </p:sp>
      <p:sp>
        <p:nvSpPr>
          <p:cNvPr id="10" name="Shape 8"/>
          <p:cNvSpPr/>
          <p:nvPr/>
        </p:nvSpPr>
        <p:spPr>
          <a:xfrm>
            <a:off x="365760" y="344728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53872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Now think: if you DROPPED the e in courageous, you would get couragous. Say it out loud. What happens to the g sound?</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Realistic Fiction — Revise &amp; Publish</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Reread your whole draft. Revise for stronger, more precise verbs throughout.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