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17,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and justify an opinion about communication, then revise for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Explain and justify an opinion about communication, then revise for precision.. Level-up: ⭐ State your opinion  ⭐⭐ Give one reason  ⭐⭐⭐ Consider a counterargument  ⭐⭐⭐⭐ Revise your strongest sentence from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Reread your opinion writing from this week. Circle your strongest sentence and make it even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opinion on how hard news should be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arrived at Uncle Henrik's house by the sea. Today: Learn the news Henrik has to share.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"Henrik says there has been a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"annemarie does not know who great aunt birte is the name is unfamiliar to her" Corrected: "Annemarie does not know who Great-Aunt Birte is. The name is unfamiliar to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"annemarie does not know who great aunt birte is the name is unfamiliar to her" Corrected: "Annemarie does not know who Great-Aunt Birte is. The name is unfamiliar to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interrupt — — to break in between | erupt — — to break out (volcano, news) | conduct — — to lead together; how a person behaves | introduce — — to lead someone or something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interrupt: To stop something while it is happening. | conduct: How someone behaves or acts — or, to lead or guide. | relocate: To move someone or something to a new place — sometimes by force. | suspicion: A feeling that something is wrong, even if you don’t have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"Henrik tells Annemarie the story." -&gt; tells | "The cousins arrive from Copenhagen." -&gt; arrive | "Mama says Great-Aunt Birte has died." -&gt;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"Henrik tells Annemarie the story." -&gt; tells | "The cousins arrive from Copenhagen." -&gt; arrive | "Mama says Great-Aunt Birte has died." -&gt;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incredible, extend, preview | Academic word (schwa): breathless, careless, kindness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incredible, extend, preview | Academic word (schwa): breathless, careless, kindness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Writing — Practicing Evidence (wrap up)
Focus: Practice revising a sentence for more precise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17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Death in the Family</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17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Henrik says there has been a death.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adults sometimes use careful, indirect language when delivering hard news to children?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your opinion on how difficult news should be shared with someone. Then revise your strongest sentence from this week for precision.</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and justify an opinion about communication, then revise for precision.</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opinion  ⭐⭐ Give one reason  ⭐⭐⭐ Consider a counterargument  ⭐⭐⭐⭐ Revise your strongest sentence from this week</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Reread your opinion writing from this week. Circle your strongest sentence and make it even stronger.</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opinion on how hard news should be shared.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arrived at Uncle Henrik's house by the sea.</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Learn the news Henrik has to share.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Henrik says there has been a death.</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does not know who great aunt birte is the name is unfamiliar to her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does not know who great aunt birte is the name is unfamiliar to her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Annemarie does not know who Great-Aunt Birte is. The name is unfamiliar to her.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cred + tend</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cred is a Latin root meaning to believe. tend means to stretch or to reach. Both roots build a lot of words you’ll see in this week’s reading.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847344"/>
          </a:xfrm>
          <a:prstGeom prst="roundRect">
            <a:avLst>
              <a:gd name="adj" fmla="val 8633"/>
            </a:avLst>
          </a:prstGeom>
          <a:solidFill>
            <a:srgbClr val="F8F4FF"/>
          </a:solidFill>
          <a:ln w="12700">
            <a:solidFill>
              <a:srgbClr val="8B6FC0"/>
            </a:solidFill>
            <a:prstDash val="solid"/>
          </a:ln>
        </p:spPr>
      </p:sp>
      <p:sp>
        <p:nvSpPr>
          <p:cNvPr id="9" name="Text 7"/>
          <p:cNvSpPr/>
          <p:nvPr/>
        </p:nvSpPr>
        <p:spPr>
          <a:xfrm>
            <a:off x="43891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credible = cred + -ible (able to be believed)</a:t>
            </a:r>
            <a:endParaRPr lang="en-US" sz="1100" dirty="0"/>
          </a:p>
        </p:txBody>
      </p:sp>
      <p:sp>
        <p:nvSpPr>
          <p:cNvPr id="10" name="Shape 8"/>
          <p:cNvSpPr/>
          <p:nvPr/>
        </p:nvSpPr>
        <p:spPr>
          <a:xfrm>
            <a:off x="2468880" y="1847088"/>
            <a:ext cx="2011680" cy="847344"/>
          </a:xfrm>
          <a:prstGeom prst="roundRect">
            <a:avLst>
              <a:gd name="adj" fmla="val 8633"/>
            </a:avLst>
          </a:prstGeom>
          <a:solidFill>
            <a:srgbClr val="F8F4FF"/>
          </a:solidFill>
          <a:ln w="12700">
            <a:solidFill>
              <a:srgbClr val="8B6FC0"/>
            </a:solidFill>
            <a:prstDash val="solid"/>
          </a:ln>
        </p:spPr>
      </p:sp>
      <p:sp>
        <p:nvSpPr>
          <p:cNvPr id="11" name="Text 9"/>
          <p:cNvSpPr/>
          <p:nvPr/>
        </p:nvSpPr>
        <p:spPr>
          <a:xfrm>
            <a:off x="254203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credit = cred + -it (something you believe in someone’s ability to pay)</a:t>
            </a:r>
            <a:endParaRPr lang="en-US" sz="1100" dirty="0"/>
          </a:p>
        </p:txBody>
      </p:sp>
      <p:sp>
        <p:nvSpPr>
          <p:cNvPr id="12" name="Shape 10"/>
          <p:cNvSpPr/>
          <p:nvPr/>
        </p:nvSpPr>
        <p:spPr>
          <a:xfrm>
            <a:off x="4572000" y="1847088"/>
            <a:ext cx="2011680" cy="847344"/>
          </a:xfrm>
          <a:prstGeom prst="roundRect">
            <a:avLst>
              <a:gd name="adj" fmla="val 8633"/>
            </a:avLst>
          </a:prstGeom>
          <a:solidFill>
            <a:srgbClr val="F8F4FF"/>
          </a:solidFill>
          <a:ln w="12700">
            <a:solidFill>
              <a:srgbClr val="8B6FC0"/>
            </a:solidFill>
            <a:prstDash val="solid"/>
          </a:ln>
        </p:spPr>
      </p:sp>
      <p:sp>
        <p:nvSpPr>
          <p:cNvPr id="13" name="Text 11"/>
          <p:cNvSpPr/>
          <p:nvPr/>
        </p:nvSpPr>
        <p:spPr>
          <a:xfrm>
            <a:off x="464515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intend = in- + tend (stretch your mind toward)</a:t>
            </a:r>
            <a:endParaRPr lang="en-US" sz="1100" dirty="0"/>
          </a:p>
        </p:txBody>
      </p:sp>
      <p:sp>
        <p:nvSpPr>
          <p:cNvPr id="14" name="Shape 12"/>
          <p:cNvSpPr/>
          <p:nvPr/>
        </p:nvSpPr>
        <p:spPr>
          <a:xfrm>
            <a:off x="6675120" y="1847088"/>
            <a:ext cx="2011680" cy="847344"/>
          </a:xfrm>
          <a:prstGeom prst="roundRect">
            <a:avLst>
              <a:gd name="adj" fmla="val 8633"/>
            </a:avLst>
          </a:prstGeom>
          <a:solidFill>
            <a:srgbClr val="F8F4FF"/>
          </a:solidFill>
          <a:ln w="12700">
            <a:solidFill>
              <a:srgbClr val="8B6FC0"/>
            </a:solidFill>
            <a:prstDash val="solid"/>
          </a:ln>
        </p:spPr>
      </p:sp>
      <p:sp>
        <p:nvSpPr>
          <p:cNvPr id="15" name="Text 13"/>
          <p:cNvSpPr/>
          <p:nvPr/>
        </p:nvSpPr>
        <p:spPr>
          <a:xfrm>
            <a:off x="674827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extend = ex- + tend (stretch out)</a:t>
            </a:r>
            <a:endParaRPr lang="en-US" sz="1100" dirty="0"/>
          </a:p>
        </p:txBody>
      </p:sp>
      <p:sp>
        <p:nvSpPr>
          <p:cNvPr id="16" name="Text 14"/>
          <p:cNvSpPr/>
          <p:nvPr/>
        </p:nvSpPr>
        <p:spPr>
          <a:xfrm>
            <a:off x="365760" y="28133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30693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31150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interrupt — — to break in between</a:t>
            </a:r>
            <a:endParaRPr lang="en-US" sz="1300" dirty="0"/>
          </a:p>
        </p:txBody>
      </p:sp>
      <p:sp>
        <p:nvSpPr>
          <p:cNvPr id="19" name="Shape 17"/>
          <p:cNvSpPr/>
          <p:nvPr/>
        </p:nvSpPr>
        <p:spPr>
          <a:xfrm>
            <a:off x="365760" y="35265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5722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erupt — — to break out (volcano, news)</a:t>
            </a:r>
            <a:endParaRPr lang="en-US" sz="1300" dirty="0"/>
          </a:p>
        </p:txBody>
      </p:sp>
      <p:sp>
        <p:nvSpPr>
          <p:cNvPr id="21" name="Shape 19"/>
          <p:cNvSpPr/>
          <p:nvPr/>
        </p:nvSpPr>
        <p:spPr>
          <a:xfrm>
            <a:off x="365760" y="39837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40294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conduct — — to lead together; how a person behaves</a:t>
            </a:r>
            <a:endParaRPr lang="en-US" sz="1300" dirty="0"/>
          </a:p>
        </p:txBody>
      </p:sp>
      <p:sp>
        <p:nvSpPr>
          <p:cNvPr id="23" name="Shape 21"/>
          <p:cNvSpPr/>
          <p:nvPr/>
        </p:nvSpPr>
        <p:spPr>
          <a:xfrm>
            <a:off x="365760" y="44409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4866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introduce — — to lead someone or something 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shout interrupted the girls’ race home.”</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interrupt</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stop something while it is happening.</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conduct stayed calm when the soldiers came near the apartment.”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conduct</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How someone behaves or acts — or, to lead or guide.</a:t>
            </a:r>
            <a:endParaRPr lang="en-US" sz="1100" dirty="0"/>
          </a:p>
        </p:txBody>
      </p:sp>
      <p:sp>
        <p:nvSpPr>
          <p:cNvPr id="13" name="Shape 11"/>
          <p:cNvSpPr/>
          <p:nvPr/>
        </p:nvSpPr>
        <p:spPr>
          <a:xfrm>
            <a:off x="32004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 said the Germans planned to ‘relocate’ the Jews — but Annemarie knew what he really meant.”</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relocate</a:t>
            </a:r>
            <a:endParaRPr lang="en-US" sz="1400" dirty="0"/>
          </a:p>
        </p:txBody>
      </p:sp>
      <p:sp>
        <p:nvSpPr>
          <p:cNvPr id="16" name="Text 14"/>
          <p:cNvSpPr/>
          <p:nvPr/>
        </p:nvSpPr>
        <p:spPr>
          <a:xfrm>
            <a:off x="45720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someone or something to a new place — sometimes by force.</a:t>
            </a:r>
            <a:endParaRPr lang="en-US" sz="1100" dirty="0"/>
          </a:p>
        </p:txBody>
      </p:sp>
      <p:sp>
        <p:nvSpPr>
          <p:cNvPr id="17" name="Shape 15"/>
          <p:cNvSpPr/>
          <p:nvPr/>
        </p:nvSpPr>
        <p:spPr>
          <a:xfrm>
            <a:off x="457200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padlock on Mrs. Hirsch’s shop filled Annemarie with suspicion.”</a:t>
            </a:r>
            <a:endParaRPr lang="en-US" sz="1050" dirty="0"/>
          </a:p>
        </p:txBody>
      </p:sp>
      <p:sp>
        <p:nvSpPr>
          <p:cNvPr id="19" name="Text 17"/>
          <p:cNvSpPr/>
          <p:nvPr/>
        </p:nvSpPr>
        <p:spPr>
          <a:xfrm>
            <a:off x="470916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suspicion</a:t>
            </a:r>
            <a:endParaRPr lang="en-US" sz="1400" dirty="0"/>
          </a:p>
        </p:txBody>
      </p:sp>
      <p:sp>
        <p:nvSpPr>
          <p:cNvPr id="20" name="Text 18"/>
          <p:cNvSpPr/>
          <p:nvPr/>
        </p:nvSpPr>
        <p:spPr>
          <a:xfrm>
            <a:off x="470916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feeling that something is wrong, even if you don’t have proof.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Henrik tells Annemarie the story.</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cousins arrive from Copenhagen.</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says Great-Aunt Birte has died.</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Henrik </a:t>
            </a:r>
            <a:pPr indent="0" marL="0">
              <a:buNone/>
            </a:pPr>
            <a:r>
              <a:rPr lang="en-US" sz="1500" b="1" u="sng" dirty="0">
                <a:solidFill>
                  <a:srgbClr val="34B76F"/>
                </a:solidFill>
                <a:latin typeface="Calibri" pitchFamily="34" charset="0"/>
                <a:ea typeface="Calibri" pitchFamily="34" charset="-122"/>
                <a:cs typeface="Calibri" pitchFamily="34" charset="-120"/>
              </a:rPr>
              <a:t>tells</a:t>
            </a:r>
            <a:pPr indent="0" marL="0">
              <a:buNone/>
            </a:pPr>
            <a:r>
              <a:rPr lang="en-US" sz="1500" dirty="0">
                <a:solidFill>
                  <a:srgbClr val="1E293B"/>
                </a:solidFill>
                <a:latin typeface="Calibri" pitchFamily="34" charset="0"/>
                <a:ea typeface="Calibri" pitchFamily="34" charset="-122"/>
                <a:cs typeface="Calibri" pitchFamily="34" charset="-120"/>
              </a:rPr>
              <a:t> Annemarie the story.</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cousins </a:t>
            </a:r>
            <a:pPr indent="0" marL="0">
              <a:buNone/>
            </a:pPr>
            <a:r>
              <a:rPr lang="en-US" sz="1500" b="1" u="sng" dirty="0">
                <a:solidFill>
                  <a:srgbClr val="34B76F"/>
                </a:solidFill>
                <a:latin typeface="Calibri" pitchFamily="34" charset="0"/>
                <a:ea typeface="Calibri" pitchFamily="34" charset="-122"/>
                <a:cs typeface="Calibri" pitchFamily="34" charset="-120"/>
              </a:rPr>
              <a:t>arrive</a:t>
            </a:r>
            <a:pPr indent="0" marL="0">
              <a:buNone/>
            </a:pPr>
            <a:r>
              <a:rPr lang="en-US" sz="1500" dirty="0">
                <a:solidFill>
                  <a:srgbClr val="1E293B"/>
                </a:solidFill>
                <a:latin typeface="Calibri" pitchFamily="34" charset="0"/>
                <a:ea typeface="Calibri" pitchFamily="34" charset="-122"/>
                <a:cs typeface="Calibri" pitchFamily="34" charset="-120"/>
              </a:rPr>
              <a:t> from Copenhagen.</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a:t>
            </a:r>
            <a:pPr indent="0" marL="0">
              <a:buNone/>
            </a:pPr>
            <a:r>
              <a:rPr lang="en-US" sz="1500" b="1" u="sng" dirty="0">
                <a:solidFill>
                  <a:srgbClr val="34B76F"/>
                </a:solidFill>
                <a:latin typeface="Calibri" pitchFamily="34" charset="0"/>
                <a:ea typeface="Calibri" pitchFamily="34" charset="-122"/>
                <a:cs typeface="Calibri" pitchFamily="34" charset="-120"/>
              </a:rPr>
              <a:t>says</a:t>
            </a:r>
            <a:pPr indent="0" marL="0">
              <a:buNone/>
            </a:pPr>
            <a:r>
              <a:rPr lang="en-US" sz="1500" dirty="0">
                <a:solidFill>
                  <a:srgbClr val="1E293B"/>
                </a:solidFill>
                <a:latin typeface="Calibri" pitchFamily="34" charset="0"/>
                <a:ea typeface="Calibri" pitchFamily="34" charset="-122"/>
                <a:cs typeface="Calibri" pitchFamily="34" charset="-120"/>
              </a:rPr>
              <a:t> Great-Aunt Birte has died.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incredible   -   extend   -   preview   -   breathless   -   careless   -   kindness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Everyday word (schwa)</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Academic word (schwa)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Everyday word (schwa)</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incredible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extend</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preview</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Academic word (schwa)</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breathless</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careless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kindness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8</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Death in the Family</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banana. The middle a sounds like ‘uh.’ That’s the schwa.</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Now say occupation. Listen for the ‘uh’ in oc-cu-PA-tion. Where is it?</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Schwa shows up in unstressed syllables of bigger words. Knowing this helps you SPELL the syllable even when you can’t hear it clearly.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Writing — Practicing Evidence (wrap up)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Practice revising a sentence for more precise language.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