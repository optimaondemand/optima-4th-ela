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30,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Choose your strongest craft move from this unit and use it deliberately in one final, polished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Choose your strongest craft move from this unit and use it deliberately in one final, polished sentence..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Read your final sentence aloud. Does it sound like your best writing from this whole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final sentence and the craft move you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Aslan told the small Mouse Reepicheep that he had "a very great heart." Today: Discuss what it means to cross a threshold with courage, as the final poem describes. Big Q: A “bar” is a sandbar — a crossing point, a threshold. Tennyson writes about going through it without sadness or struggle. How does this connect to Peter and Susan’s farewell at the end of Prince Caspian? What does it mean to leave something behind without mourning it? Is that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"Trumpkin stared at Aslan in amazement and stammered , “ I see that you are no common beast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"caspian looked at nikabrik sadly and said he had gone sour inside from long suffering and hateing" Corrected: "Caspian looked at Nikabrik sadly and said, “He had gone sour inside from long suffering and hating.”"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"caspian looked at nikabrik sadly and said he had gone sour inside from long suffering and hateing" Corrected: "Caspian looked at Nikabrik sadly and said, “He had gone sour inside from long suffering and hating.”"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Precipice: the edge of a steep cliff | Bivouac: a temporary camp with little shelter | Luminous: glowing with light | Sentient: able to feel and experience things | Revelry: lively, noisy celebration | Sentinel: a guard or lookout | Sorcery: the use of dark or evil magic | Allegiance: loyalty to a person, group, or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(text): Chapters 13–15 are full of dialogue — challenges, proclamations, and farewells. Punctuating dialogue correctly is how a writer shows the reader exactly who is speaking and when.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spotter: "coronation proclamation treachery" -&gt; treachery | "coronation allegiance proclamation" -&gt; allegiance | "treason treachery lineage" -&gt;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spotter: "coronation proclamation treachery" -&gt; treachery | "coronation allegiance proclamation" -&gt; allegiance | "treason treachery lineage" -&gt;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15 -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Publish Week
Focus: Finish revising and publish your literary analysis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30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15 - Discussion</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Crossing the Bar</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30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is the final Writer’s Workshop day of the unit. Looking back across this whole book, which craft move have you used most, and why did it work for this story?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your final sentence for this unit, reflecting on a character crossing a threshold or ending a journey, using one craft move you practiced this month.</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Choose your strongest craft move from this unit and use it deliberately in one final, polished sentence.</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Read your final sentence aloud. Does it sound like your best writing from this whole unit?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final sentence and the craft move you chose.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Aslan told the small Mouse Reepicheep that he had "a very great heart."</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Discuss what it means to cross a threshold with courage, as the final poem describes.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 “bar” is a sandbar — a crossing point, a threshold. Tennyson writes about going through it without sadness or struggle. How does this connect to Peter and Susan’s farewell at the end of Prince Caspian? What does it mean to leave something behind without mourning it? Is that possible?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the whole story. As you look back across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Trumpkin stared at Aslan in amazement and stammered , “ I see that you are no common beast .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looked at nikabrik sadly and said he had gone sour inside from long suffering and hateing</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looked at nikabrik sadly and said he had gone sour inside from long suffering and hateing</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Caspian looked at Nikabrik sadly and said, “He had gone sour inside from long suffering and hating.”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8 WORDS - READ THE SENTENCE, THEN THE MEANING</a:t>
            </a:r>
            <a:endParaRPr lang="en-US" sz="1100" dirty="0"/>
          </a:p>
        </p:txBody>
      </p:sp>
      <p:sp>
        <p:nvSpPr>
          <p:cNvPr id="5" name="Shape 3"/>
          <p:cNvSpPr/>
          <p:nvPr/>
        </p:nvSpPr>
        <p:spPr>
          <a:xfrm>
            <a:off x="32004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Precipice</a:t>
            </a:r>
            <a:endParaRPr lang="en-US" sz="1400" dirty="0"/>
          </a:p>
        </p:txBody>
      </p:sp>
      <p:sp>
        <p:nvSpPr>
          <p:cNvPr id="7" name="Text 5"/>
          <p:cNvSpPr/>
          <p:nvPr/>
        </p:nvSpPr>
        <p:spPr>
          <a:xfrm>
            <a:off x="457200" y="1316736"/>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the edge of a steep cliff</a:t>
            </a:r>
            <a:endParaRPr lang="en-US" sz="1100" dirty="0"/>
          </a:p>
        </p:txBody>
      </p:sp>
      <p:sp>
        <p:nvSpPr>
          <p:cNvPr id="8" name="Shape 6"/>
          <p:cNvSpPr/>
          <p:nvPr/>
        </p:nvSpPr>
        <p:spPr>
          <a:xfrm>
            <a:off x="457200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Bivouac</a:t>
            </a:r>
            <a:endParaRPr lang="en-US" sz="1400" dirty="0"/>
          </a:p>
        </p:txBody>
      </p:sp>
      <p:sp>
        <p:nvSpPr>
          <p:cNvPr id="10" name="Text 8"/>
          <p:cNvSpPr/>
          <p:nvPr/>
        </p:nvSpPr>
        <p:spPr>
          <a:xfrm>
            <a:off x="4709160" y="1316736"/>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temporary camp with little shelter</a:t>
            </a:r>
            <a:endParaRPr lang="en-US" sz="1100" dirty="0"/>
          </a:p>
        </p:txBody>
      </p:sp>
      <p:sp>
        <p:nvSpPr>
          <p:cNvPr id="11" name="Shape 9"/>
          <p:cNvSpPr/>
          <p:nvPr/>
        </p:nvSpPr>
        <p:spPr>
          <a:xfrm>
            <a:off x="320040" y="1938528"/>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2996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Luminous</a:t>
            </a:r>
            <a:endParaRPr lang="en-US" sz="1400" dirty="0"/>
          </a:p>
        </p:txBody>
      </p:sp>
      <p:sp>
        <p:nvSpPr>
          <p:cNvPr id="13" name="Text 11"/>
          <p:cNvSpPr/>
          <p:nvPr/>
        </p:nvSpPr>
        <p:spPr>
          <a:xfrm>
            <a:off x="457200" y="2340864"/>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glowing with light</a:t>
            </a:r>
            <a:endParaRPr lang="en-US" sz="1100" dirty="0"/>
          </a:p>
        </p:txBody>
      </p:sp>
      <p:sp>
        <p:nvSpPr>
          <p:cNvPr id="14" name="Shape 12"/>
          <p:cNvSpPr/>
          <p:nvPr/>
        </p:nvSpPr>
        <p:spPr>
          <a:xfrm>
            <a:off x="4572000" y="1938528"/>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2996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Sentient</a:t>
            </a:r>
            <a:endParaRPr lang="en-US" sz="1400" dirty="0"/>
          </a:p>
        </p:txBody>
      </p:sp>
      <p:sp>
        <p:nvSpPr>
          <p:cNvPr id="16" name="Text 14"/>
          <p:cNvSpPr/>
          <p:nvPr/>
        </p:nvSpPr>
        <p:spPr>
          <a:xfrm>
            <a:off x="4709160" y="2340864"/>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able to feel and experience things</a:t>
            </a:r>
            <a:endParaRPr lang="en-US" sz="1100" dirty="0"/>
          </a:p>
        </p:txBody>
      </p:sp>
      <p:sp>
        <p:nvSpPr>
          <p:cNvPr id="17" name="Shape 15"/>
          <p:cNvSpPr/>
          <p:nvPr/>
        </p:nvSpPr>
        <p:spPr>
          <a:xfrm>
            <a:off x="320040" y="2962656"/>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57200" y="30540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Revelry</a:t>
            </a:r>
            <a:endParaRPr lang="en-US" sz="1400" dirty="0"/>
          </a:p>
        </p:txBody>
      </p:sp>
      <p:sp>
        <p:nvSpPr>
          <p:cNvPr id="19" name="Text 17"/>
          <p:cNvSpPr/>
          <p:nvPr/>
        </p:nvSpPr>
        <p:spPr>
          <a:xfrm>
            <a:off x="457200" y="3364992"/>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lively, noisy celebration</a:t>
            </a:r>
            <a:endParaRPr lang="en-US" sz="1100" dirty="0"/>
          </a:p>
        </p:txBody>
      </p:sp>
      <p:sp>
        <p:nvSpPr>
          <p:cNvPr id="20" name="Shape 18"/>
          <p:cNvSpPr/>
          <p:nvPr/>
        </p:nvSpPr>
        <p:spPr>
          <a:xfrm>
            <a:off x="4572000" y="2962656"/>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21" name="Text 19"/>
          <p:cNvSpPr/>
          <p:nvPr/>
        </p:nvSpPr>
        <p:spPr>
          <a:xfrm>
            <a:off x="4709160" y="30540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Sentinel</a:t>
            </a:r>
            <a:endParaRPr lang="en-US" sz="1400" dirty="0"/>
          </a:p>
        </p:txBody>
      </p:sp>
      <p:sp>
        <p:nvSpPr>
          <p:cNvPr id="22" name="Text 20"/>
          <p:cNvSpPr/>
          <p:nvPr/>
        </p:nvSpPr>
        <p:spPr>
          <a:xfrm>
            <a:off x="4709160" y="3364992"/>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guard or lookout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Dialogue Punctuation Wrap-Up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THE RULE</a:t>
            </a:r>
            <a:endParaRPr lang="en-US" sz="1100" dirty="0"/>
          </a:p>
        </p:txBody>
      </p:sp>
      <p:sp>
        <p:nvSpPr>
          <p:cNvPr id="7" name="Shape 5"/>
          <p:cNvSpPr/>
          <p:nvPr/>
        </p:nvSpPr>
        <p:spPr>
          <a:xfrm>
            <a:off x="365760" y="1060704"/>
            <a:ext cx="8412480" cy="102870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80010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Chapters 13–15 are full of dialogue — challenges, proclamations, and farewells. Punctuating dialogue correctly is how a writer shows the reader exactly who is speaking and when.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&amp; Word Study: Unit Wrap-Up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ERROR</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coronation proclamation treachery</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coronation allegiance proclamation</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treason treachery lineage</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word that is WRONG. Write the correct spelling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&amp; Word Study: Unit Wrap-Up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coronation proclamation </a:t>
            </a:r>
            <a:pPr indent="0" marL="0">
              <a:buNone/>
            </a:pPr>
            <a:r>
              <a:rPr lang="en-US" sz="1500" b="1" u="sng" dirty="0">
                <a:solidFill>
                  <a:srgbClr val="34B76F"/>
                </a:solidFill>
                <a:latin typeface="Calibri" pitchFamily="34" charset="0"/>
                <a:ea typeface="Calibri" pitchFamily="34" charset="-122"/>
                <a:cs typeface="Calibri" pitchFamily="34" charset="-120"/>
              </a:rPr>
              <a:t>treachery</a:t>
            </a:r>
            <a:pPr indent="0" marL="0">
              <a:buNone/>
            </a:pP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coronation </a:t>
            </a:r>
            <a:pPr indent="0" marL="0">
              <a:buNone/>
            </a:pPr>
            <a:r>
              <a:rPr lang="en-US" sz="1500" b="1" u="sng" dirty="0">
                <a:solidFill>
                  <a:srgbClr val="34B76F"/>
                </a:solidFill>
                <a:latin typeface="Calibri" pitchFamily="34" charset="0"/>
                <a:ea typeface="Calibri" pitchFamily="34" charset="-122"/>
                <a:cs typeface="Calibri" pitchFamily="34" charset="-120"/>
              </a:rPr>
              <a:t>allegiance</a:t>
            </a:r>
            <a:pPr indent="0" marL="0">
              <a:buNone/>
            </a:pPr>
            <a:r>
              <a:rPr lang="en-US" sz="1500" dirty="0">
                <a:solidFill>
                  <a:srgbClr val="1E293B"/>
                </a:solidFill>
                <a:latin typeface="Calibri" pitchFamily="34" charset="0"/>
                <a:ea typeface="Calibri" pitchFamily="34" charset="-122"/>
                <a:cs typeface="Calibri" pitchFamily="34" charset="-120"/>
              </a:rPr>
              <a:t> proclamation</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treason treachery </a:t>
            </a:r>
            <a:pPr indent="0" marL="0">
              <a:buNone/>
            </a:pPr>
            <a:r>
              <a:rPr lang="en-US" sz="1500" b="1" u="sng" dirty="0">
                <a:solidFill>
                  <a:srgbClr val="34B76F"/>
                </a:solidFill>
                <a:latin typeface="Calibri" pitchFamily="34" charset="0"/>
                <a:ea typeface="Calibri" pitchFamily="34" charset="-122"/>
                <a:cs typeface="Calibri" pitchFamily="34" charset="-120"/>
              </a:rPr>
              <a:t>lineage</a:t>
            </a:r>
            <a:pPr indent="0" marL="0">
              <a:buNone/>
            </a:pP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15 - Discussion</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Crossing the Bar</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These final chapters bring everything together: Peter’s honor in combat, the treachery of Glozelle and Sopespian, Aslan’s justice, Caspian’s crowning, Reepicheep’s loyalty, and Peter and Susan’s farewell. What has this story been about?</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Lucy finally finds Aslan. He says he is not bigger — but she is older. What does that mean? What does their reunion say about trust?</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How do Lucy, Susan, and Nikabrik each respond when they realize they were wrong? What’s the difference between their choices?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Publish Week</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Finish revising and publish your literary analysis essay.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