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3, Day 4.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Justify a craft choice in writing, then revise your own story by adding a suspense-building line before its biggest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10-minute timer. Craft move: Justify a craft choice in writing, then revise your own story by adding a suspense-building line before its biggest moment.. Level-up: ⭐ Write two different warning lines and pick the stronger one  ⭐⭐ Explain why your line builds suspense  ⭐⭐⭐ Place it exactly one sentence before your big reveal  ⭐⭐⭐⭐ Make the line sound like your character’s own voice.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Find your story’s biggest moment. Add one suspense-building line right before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"Read your suspense-building line and the big moment that follows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Nicodemus explained how learning to read helped the rats plan their escape. Today: Brace yourself — Justin has a surprise for everyone. Big Q: Lear's owl is silly and tender. Mrs. Frisby's owl is wise and a little frightening. How does each writer make us feel about their owl?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""Now brace yourself for a surprise," Justin said."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"now follow me down the hall justin called" Corrected: "“Now follow me down the hall,” Justin called."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"now follow me down the hall justin called" Corrected: "“Now follow me down the hall,” Justin called."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Review-only vocab: snared, experimenting, recognition, futile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You hear both consonants: butter, kitten, pepper | One consonant is silent: happy, rabbit, jolly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You hear both consonants: butter, kitten, pepper | One consonant is silent: happy, rabbit, jolly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Narrative Writing — Add Dialogue (wrap up) Focus: Finish adding dialogue throughout your draft — read it aloud to check it sounds natural.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4A2E"/>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8FBF7A">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8FBF7A"/>
                </a:solidFill>
                <a:latin typeface="Calibri" pitchFamily="34" charset="0"/>
                <a:ea typeface="Calibri" pitchFamily="34" charset="-122"/>
                <a:cs typeface="Calibri" pitchFamily="34" charset="-120"/>
              </a:rPr>
              <a:t>WEEK 3  ·  DAY 4</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18</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Brace for a Surprise</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3  ·  Virtue: Ingenuity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“Now brace yourself for a surprise,” Justin said.</a:t>
            </a:r>
            <a:endParaRPr lang="en-US" sz="1600" dirty="0"/>
          </a:p>
        </p:txBody>
      </p:sp>
      <p:sp>
        <p:nvSpPr>
          <p:cNvPr id="7" name="Text 5"/>
          <p:cNvSpPr/>
          <p:nvPr/>
        </p:nvSpPr>
        <p:spPr>
          <a:xfrm>
            <a:off x="548640" y="2496312"/>
            <a:ext cx="8046720" cy="2441448"/>
          </a:xfrm>
          <a:prstGeom prst="rect">
            <a:avLst/>
          </a:prstGeom>
          <a:noFill/>
          <a:ln/>
        </p:spPr>
        <p:txBody>
          <a:bodyPr wrap="square" lIns="0" tIns="0" rIns="0" bIns="0" rtlCol="0" anchor="t"/>
          <a:lstStyle/>
          <a:p>
            <a:pPr indent="0" marL="0">
              <a:buNone/>
            </a:pPr>
            <a:r>
              <a:rPr lang="en-US" sz="1200" b="1" dirty="0">
                <a:solidFill>
                  <a:srgbClr val="8B6FC0"/>
                </a:solidFill>
                <a:latin typeface="Calibri" pitchFamily="34" charset="0"/>
                <a:ea typeface="Calibri" pitchFamily="34" charset="-122"/>
                <a:cs typeface="Calibri" pitchFamily="34" charset="-120"/>
              </a:rPr>
              <a:t>From the novel: </a:t>
            </a:r>
            <a:pPr indent="0" marL="0">
              <a:buNone/>
            </a:pPr>
            <a:r>
              <a:rPr lang="en-US" sz="1200" i="1" dirty="0">
                <a:solidFill>
                  <a:srgbClr val="1E293B"/>
                </a:solidFill>
                <a:latin typeface="Calibri" pitchFamily="34" charset="0"/>
                <a:ea typeface="Calibri" pitchFamily="34" charset="-122"/>
                <a:cs typeface="Calibri" pitchFamily="34" charset="-120"/>
              </a:rPr>
              <a:t>"“Now brace yourself for a surprise,” Justin said."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FBF7A"/>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Why would an author have a character warn the reader before a big reveal?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10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Explain why authors sometimes build suspense with a warning line like "brace yourself" before a big reveal.</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Justify a craft choice in writing, then revise your own story by adding a suspense-building line before its biggest moment.</a:t>
            </a:r>
            <a:endParaRPr lang="en-US" sz="1300" dirty="0"/>
          </a:p>
        </p:txBody>
      </p:sp>
      <p:sp>
        <p:nvSpPr>
          <p:cNvPr id="8" name="Text 6"/>
          <p:cNvSpPr/>
          <p:nvPr/>
        </p:nvSpPr>
        <p:spPr>
          <a:xfrm>
            <a:off x="548640" y="2868168"/>
            <a:ext cx="8046720" cy="624078"/>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Write two different warning lines and pick the stronger one  ⭐⭐ Explain why your line builds suspense  ⭐⭐⭐ Place it exactly one sentence before your big reveal  ⭐⭐⭐⭐ Make the line sound like your character’s own voice</a:t>
            </a:r>
            <a:endParaRPr lang="en-US" sz="1150" dirty="0"/>
          </a:p>
        </p:txBody>
      </p:sp>
      <p:sp>
        <p:nvSpPr>
          <p:cNvPr id="9" name="Text 7"/>
          <p:cNvSpPr/>
          <p:nvPr/>
        </p:nvSpPr>
        <p:spPr>
          <a:xfrm>
            <a:off x="548640" y="3565398"/>
            <a:ext cx="8046720" cy="1463802"/>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Find your story’s biggest moment. Add one suspense-building line right before it.</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Read your suspense-building line and the big moment that follows it.</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Nicodemus explained how learning to read helped the rats plan their escape.</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8FBF7A"/>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Brace yourself — Justin has a surprise for everyone.</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Lear's owl is silly and tender. Mrs. Frisby's owl is wise and a little frightening. How does each writer make us feel about their owl?</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think back at the end of the week. They notice how the story has changed since the first chapter — what new character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"Now brace yourself for a surprise," Justin said.</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now follow me down the hall justin called</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now follow me down the hall justin called</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350008"/>
            <a:ext cx="8412480" cy="708660"/>
          </a:xfrm>
          <a:prstGeom prst="roundRect">
            <a:avLst>
              <a:gd name="adj" fmla="val 1290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404872"/>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697480"/>
            <a:ext cx="7863840" cy="32461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“Now follow me down the hall,” Justin called.</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4 WORDS - QUICK REVIEW</a:t>
            </a:r>
            <a:endParaRPr lang="en-US" sz="1100" dirty="0"/>
          </a:p>
        </p:txBody>
      </p:sp>
      <p:sp>
        <p:nvSpPr>
          <p:cNvPr id="5" name="Shape 3"/>
          <p:cNvSpPr/>
          <p:nvPr/>
        </p:nvSpPr>
        <p:spPr>
          <a:xfrm>
            <a:off x="365760" y="1097280"/>
            <a:ext cx="8412480" cy="1005840"/>
          </a:xfrm>
          <a:prstGeom prst="roundRect">
            <a:avLst>
              <a:gd name="adj" fmla="val 9091"/>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88720"/>
            <a:ext cx="7863840" cy="822960"/>
          </a:xfrm>
          <a:prstGeom prst="rect">
            <a:avLst/>
          </a:prstGeom>
          <a:noFill/>
          <a:ln/>
        </p:spPr>
        <p:txBody>
          <a:bodyPr wrap="square" lIns="0" tIns="0" rIns="0" bIns="0" rtlCol="0" anchor="ctr"/>
          <a:lstStyle/>
          <a:p>
            <a:pPr algn="ctr" indent="0" marL="0">
              <a:buNone/>
            </a:pPr>
            <a:r>
              <a:rPr lang="en-US" sz="2000" b="1" dirty="0">
                <a:solidFill>
                  <a:srgbClr val="8B6FC0"/>
                </a:solidFill>
                <a:latin typeface="Calibri" pitchFamily="34" charset="0"/>
                <a:ea typeface="Calibri" pitchFamily="34" charset="-122"/>
                <a:cs typeface="Calibri" pitchFamily="34" charset="-120"/>
              </a:rPr>
              <a:t>snared   -   experimenting   -   recognition   -   futile</a:t>
            </a:r>
            <a:endParaRPr lang="en-US" sz="2000" dirty="0"/>
          </a:p>
        </p:txBody>
      </p:sp>
      <p:sp>
        <p:nvSpPr>
          <p:cNvPr id="7" name="Text 5"/>
          <p:cNvSpPr/>
          <p:nvPr/>
        </p:nvSpPr>
        <p:spPr>
          <a:xfrm>
            <a:off x="457200" y="2331720"/>
            <a:ext cx="8229600" cy="54864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Can you use each word in a sentence about the novel?</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Double-Consonant Division</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butter   -   kitten   -   pepper   -   happy   -   rabbit   -   jolly</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You hear both consonants</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One consonant is silent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Double-Consonant Division</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4114800" cy="1453896"/>
          </a:xfrm>
          <a:prstGeom prst="roundRect">
            <a:avLst>
              <a:gd name="adj" fmla="val 6289"/>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384048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You hear both consonants</a:t>
            </a:r>
            <a:endParaRPr lang="en-US" sz="1200" dirty="0"/>
          </a:p>
        </p:txBody>
      </p:sp>
      <p:sp>
        <p:nvSpPr>
          <p:cNvPr id="9" name="Text 7"/>
          <p:cNvSpPr/>
          <p:nvPr/>
        </p:nvSpPr>
        <p:spPr>
          <a:xfrm>
            <a:off x="594360"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butter</a:t>
            </a:r>
            <a:endParaRPr lang="en-US" sz="1400" dirty="0"/>
          </a:p>
        </p:txBody>
      </p:sp>
      <p:sp>
        <p:nvSpPr>
          <p:cNvPr id="10" name="Text 8"/>
          <p:cNvSpPr/>
          <p:nvPr/>
        </p:nvSpPr>
        <p:spPr>
          <a:xfrm>
            <a:off x="594360"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kitten</a:t>
            </a:r>
            <a:endParaRPr lang="en-US" sz="1400" dirty="0"/>
          </a:p>
        </p:txBody>
      </p:sp>
      <p:sp>
        <p:nvSpPr>
          <p:cNvPr id="11" name="Text 9"/>
          <p:cNvSpPr/>
          <p:nvPr/>
        </p:nvSpPr>
        <p:spPr>
          <a:xfrm>
            <a:off x="594360"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pepper</a:t>
            </a:r>
            <a:endParaRPr lang="en-US" sz="1400" dirty="0"/>
          </a:p>
        </p:txBody>
      </p:sp>
      <p:sp>
        <p:nvSpPr>
          <p:cNvPr id="12" name="Shape 10"/>
          <p:cNvSpPr/>
          <p:nvPr/>
        </p:nvSpPr>
        <p:spPr>
          <a:xfrm>
            <a:off x="4681728" y="1024128"/>
            <a:ext cx="4114800" cy="1453896"/>
          </a:xfrm>
          <a:prstGeom prst="roundRect">
            <a:avLst>
              <a:gd name="adj" fmla="val 6289"/>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818888" y="1097280"/>
            <a:ext cx="384048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One consonant is silent</a:t>
            </a:r>
            <a:endParaRPr lang="en-US" sz="1200" dirty="0"/>
          </a:p>
        </p:txBody>
      </p:sp>
      <p:sp>
        <p:nvSpPr>
          <p:cNvPr id="14" name="Text 12"/>
          <p:cNvSpPr/>
          <p:nvPr/>
        </p:nvSpPr>
        <p:spPr>
          <a:xfrm>
            <a:off x="4910328"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happy</a:t>
            </a:r>
            <a:endParaRPr lang="en-US" sz="1400" dirty="0"/>
          </a:p>
        </p:txBody>
      </p:sp>
      <p:sp>
        <p:nvSpPr>
          <p:cNvPr id="15" name="Text 13"/>
          <p:cNvSpPr/>
          <p:nvPr/>
        </p:nvSpPr>
        <p:spPr>
          <a:xfrm>
            <a:off x="4910328"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rabbit</a:t>
            </a:r>
            <a:endParaRPr lang="en-US" sz="1400" dirty="0"/>
          </a:p>
        </p:txBody>
      </p:sp>
      <p:sp>
        <p:nvSpPr>
          <p:cNvPr id="16" name="Text 14"/>
          <p:cNvSpPr/>
          <p:nvPr/>
        </p:nvSpPr>
        <p:spPr>
          <a:xfrm>
            <a:off x="4910328"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jolly</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18</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Brace for a Surprise</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The rats' escape from NIMH didn't happen in a day. They were caged, tested, and trained for years. They had to learn to read before they could plan. Mrs. Frisby climbs in the dark to reach the owl when she has no other answer. Neither quits when it gets hard.</a:t>
            </a:r>
            <a:endParaRPr lang="en-US" sz="1400" dirty="0"/>
          </a:p>
        </p:txBody>
      </p:sp>
      <p:sp>
        <p:nvSpPr>
          <p:cNvPr id="8" name="Shape 6"/>
          <p:cNvSpPr/>
          <p:nvPr/>
        </p:nvSpPr>
        <p:spPr>
          <a:xfrm>
            <a:off x="365760" y="2651760"/>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743200"/>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Before you answer today's questions, think back: Where was Mrs. Frisby on the first page of Chapter 1? Where is she now? What has changed?</a:t>
            </a:r>
            <a:endParaRPr lang="en-US" sz="1400" dirty="0"/>
          </a:p>
        </p:txBody>
      </p:sp>
      <p:sp>
        <p:nvSpPr>
          <p:cNvPr id="10" name="Shape 8"/>
          <p:cNvSpPr/>
          <p:nvPr/>
        </p:nvSpPr>
        <p:spPr>
          <a:xfrm>
            <a:off x="365760" y="358444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67588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The rats are working hard at the Main Hall — building something. Why are they working so hard? What are they preparing for?</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Narrative Writing — Add Dialogue (wrap up)</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Finish adding dialogue throughout your draft — read it aloud to check it sounds natural.</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2026-07-11T21:52:57Z</dcterms:created>
  <dcterms:modified xsi:type="dcterms:W3CDTF">2026-07-11T21:52:57Z</dcterms:modified>
</cp:coreProperties>
</file>