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28, Day 1.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Use "Although" at the start and "because" later in the same sentence to show inner conflict resolved by loyalty.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20-minute timer. Craft move: Use "Although" at the start and "because" later in the same sentence to show inner conflict resolved by loyalty..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Check your comma after the "Although" clause — is it placed correctly before the main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"Although...because..."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reflected on what kind of loyalty is more powerful than Miraz’s raw power. Today: See how the Old Narnians disagree about whether to trust the magic Horn. Big Q: Why do they disagree? What does each group care about most? How does Caspian handle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"Although Trumpkin did not believe in the Horn , he volunteered to carry the message because he was loyal to his King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"although trumpkin did not believe in the horn he volunteered to carry the message because he was loyal to his king" Corrected: "Although Trumpkin did not believe in the Horn, he volunteered to carry the message because he was loyal to his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"although trumpkin did not believe in the horn he volunteered to carry the message because he was loyal to his king" Corrected: "Although Trumpkin did not believe in the Horn, he volunteered to carry the message because he was loyal to his 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Modeled word walkthrough for "council". Definition: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seneschal: A steward or chief servant who manages a lord’s household or estate | entrenchments: Defensive ditches or fortifications dug into the ground for protection | consorts: Companions or partners; associates who keep company with a person of 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(text): A complex sentence has two parts working together: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Schwa-a: about, afraid | Schwa-e: problem, open | Schwa-i: animal, family | Schwa-o: person, lemon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Schwa-a: about, afraid | Schwa-e: problem, open | Schwa-i: animal, family | Schwa-o: person, lemon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Literary Analysis — Organizing Evidence
Focus: Note a moment of disagreement or doubt involving your character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C9A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C9A0"/>
                </a:solidFill>
                <a:latin typeface="Calibri" pitchFamily="34" charset="0"/>
                <a:ea typeface="Calibri" pitchFamily="34" charset="-122"/>
                <a:cs typeface="Calibri" pitchFamily="34" charset="-120"/>
              </a:rPr>
              <a:t>WEEK 28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7</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Old Narnia in Danger</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28  ·  Virtue: Loyalty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This sentence uses both "Although" and "because" — two different reasons in one sentence. What does this complex structure reveal about Trumpkin’s character?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complex sentence using "Although" and "because" to show a character doing something despite their doubts, out of loyalty or duty.</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Use "Although" at the start and "because" later in the same sentence to show inner conflict resolved by loyalty.</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Check your comma after the "Although" clause — is it placed correctly before the main clause?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"Although...because..."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reflected on what kind of loyalty is more powerful than Miraz’s raw power.</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See how the Old Narnians disagree about whether to trust the magic Horn.</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Why do they disagree? What does each group care about most? How does Caspian handle it?</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pay attention to what different characters want &amp;mdash; and why they disagree. A council scene isn&amp;rsquo;t just a meeting. It reveals what each...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810768"/>
          </a:xfrm>
          <a:prstGeom prst="roundRect">
            <a:avLst>
              <a:gd name="adj" fmla="val 11278"/>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Although Trumpkin did not believe in the Horn , he volunteered to carry the message because he was loyal to his King .</a:t>
            </a:r>
            <a:endParaRPr lang="en-US" sz="1600" dirty="0"/>
          </a:p>
        </p:txBody>
      </p:sp>
      <p:sp>
        <p:nvSpPr>
          <p:cNvPr id="7" name="Text 5"/>
          <p:cNvSpPr/>
          <p:nvPr/>
        </p:nvSpPr>
        <p:spPr>
          <a:xfrm>
            <a:off x="457200" y="2036064"/>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93264"/>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although trumpkin did not believe in the horn he volunteered to carry the message because he was loyal to his king</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although trumpkin did not believe in the horn he volunteered to carry the message because he was loyal to his king</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Although Trumpkin did not believe in the Horn, he volunteered to carry the message because he was loyal to his King.</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Word Detective: "council"</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365760" y="841248"/>
            <a:ext cx="8412480" cy="566928"/>
          </a:xfrm>
          <a:prstGeom prst="roundRect">
            <a:avLst>
              <a:gd name="adj" fmla="val 12903"/>
            </a:avLst>
          </a:prstGeom>
          <a:solidFill>
            <a:srgbClr val="E5F7FC"/>
          </a:solidFill>
          <a:ln w="12700">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896112"/>
            <a:ext cx="8138160" cy="274320"/>
          </a:xfrm>
          <a:prstGeom prst="rect">
            <a:avLst/>
          </a:prstGeom>
          <a:noFill/>
          <a:ln/>
        </p:spPr>
        <p:txBody>
          <a:bodyPr wrap="square" lIns="0" tIns="0" rIns="0" bIns="0" rtlCol="0" anchor="ctr"/>
          <a:lstStyle/>
          <a:p>
            <a:pPr indent="0" marL="0">
              <a:buNone/>
            </a:pPr>
            <a:r>
              <a:rPr lang="en-US" sz="1300" b="1" dirty="0">
                <a:solidFill>
                  <a:srgbClr val="55C8E8"/>
                </a:solidFill>
                <a:latin typeface="Calibri" pitchFamily="34" charset="0"/>
                <a:ea typeface="Calibri" pitchFamily="34" charset="-122"/>
                <a:cs typeface="Calibri" pitchFamily="34" charset="-120"/>
              </a:rPr>
              <a:t>1. Step 1 — Context:</a:t>
            </a:r>
            <a:endParaRPr lang="en-US" sz="1300" dirty="0"/>
          </a:p>
        </p:txBody>
      </p:sp>
      <p:sp>
        <p:nvSpPr>
          <p:cNvPr id="6" name="Text 4"/>
          <p:cNvSpPr/>
          <p:nvPr/>
        </p:nvSpPr>
        <p:spPr>
          <a:xfrm>
            <a:off x="594360" y="1170432"/>
            <a:ext cx="7955280" cy="1920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“And so a great council was held, and the beasts and creatures of Old Narnia debated what they should do.” What clues does the sentence give you?</a:t>
            </a:r>
            <a:endParaRPr lang="en-US" sz="1100" dirty="0"/>
          </a:p>
        </p:txBody>
      </p:sp>
      <p:sp>
        <p:nvSpPr>
          <p:cNvPr id="7" name="Shape 5"/>
          <p:cNvSpPr/>
          <p:nvPr/>
        </p:nvSpPr>
        <p:spPr>
          <a:xfrm>
            <a:off x="365760" y="1499616"/>
            <a:ext cx="8412480" cy="566928"/>
          </a:xfrm>
          <a:prstGeom prst="roundRect">
            <a:avLst>
              <a:gd name="adj" fmla="val 12903"/>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554480"/>
            <a:ext cx="8138160" cy="274320"/>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Step 2 — Word Parts:</a:t>
            </a:r>
            <a:endParaRPr lang="en-US" sz="1300" dirty="0"/>
          </a:p>
        </p:txBody>
      </p:sp>
      <p:sp>
        <p:nvSpPr>
          <p:cNvPr id="9" name="Text 7"/>
          <p:cNvSpPr/>
          <p:nvPr/>
        </p:nvSpPr>
        <p:spPr>
          <a:xfrm>
            <a:off x="594360" y="1828800"/>
            <a:ext cx="7955280" cy="1920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council comes from Latin concilium — con (together) + calare (to call). A council is a group called together.</a:t>
            </a:r>
            <a:endParaRPr lang="en-US" sz="1100" dirty="0"/>
          </a:p>
        </p:txBody>
      </p:sp>
      <p:sp>
        <p:nvSpPr>
          <p:cNvPr id="10" name="Shape 8"/>
          <p:cNvSpPr/>
          <p:nvPr/>
        </p:nvSpPr>
        <p:spPr>
          <a:xfrm>
            <a:off x="365760" y="2157984"/>
            <a:ext cx="8412480" cy="566928"/>
          </a:xfrm>
          <a:prstGeom prst="roundRect">
            <a:avLst>
              <a:gd name="adj" fmla="val 1290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02920" y="2212848"/>
            <a:ext cx="8138160" cy="27432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3. Step 3 — Confirm:</a:t>
            </a:r>
            <a:endParaRPr lang="en-US" sz="1300" dirty="0"/>
          </a:p>
        </p:txBody>
      </p:sp>
      <p:sp>
        <p:nvSpPr>
          <p:cNvPr id="12" name="Text 10"/>
          <p:cNvSpPr/>
          <p:nvPr/>
        </p:nvSpPr>
        <p:spPr>
          <a:xfrm>
            <a:off x="594360" y="2487168"/>
            <a:ext cx="7955280" cy="1920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council = a formal meeting or group gathered to discuss and make decisions.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seneschal</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steward or chief servant who manages a lord’s household or estate</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entrenchments</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Defensive ditches or fortifications dug into the ground for protection</a:t>
            </a:r>
            <a:endParaRPr lang="en-US" sz="1100" dirty="0"/>
          </a:p>
        </p:txBody>
      </p:sp>
      <p:sp>
        <p:nvSpPr>
          <p:cNvPr id="11" name="Shape 9"/>
          <p:cNvSpPr/>
          <p:nvPr/>
        </p:nvSpPr>
        <p:spPr>
          <a:xfrm>
            <a:off x="32004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consorts</a:t>
            </a:r>
            <a:endParaRPr lang="en-US" sz="1400" dirty="0"/>
          </a:p>
        </p:txBody>
      </p:sp>
      <p:sp>
        <p:nvSpPr>
          <p:cNvPr id="13" name="Text 11"/>
          <p:cNvSpPr/>
          <p:nvPr/>
        </p:nvSpPr>
        <p:spPr>
          <a:xfrm>
            <a:off x="45720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Companions or partners; associates who keep company with a person of rank</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Complex Sentences — Define</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THE RULE</a:t>
            </a:r>
            <a:endParaRPr lang="en-US" sz="1100" dirty="0"/>
          </a:p>
        </p:txBody>
      </p:sp>
      <p:sp>
        <p:nvSpPr>
          <p:cNvPr id="7" name="Shape 5"/>
          <p:cNvSpPr/>
          <p:nvPr/>
        </p:nvSpPr>
        <p:spPr>
          <a:xfrm>
            <a:off x="365760" y="1060704"/>
            <a:ext cx="8412480" cy="640080"/>
          </a:xfrm>
          <a:prstGeom prst="roundRect">
            <a:avLst>
              <a:gd name="adj" fmla="val 1428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411480"/>
          </a:xfrm>
          <a:prstGeom prst="rect">
            <a:avLst/>
          </a:prstGeom>
          <a:noFill/>
          <a:ln/>
        </p:spPr>
        <p:txBody>
          <a:bodyPr wrap="square" lIns="0" tIns="0" rIns="0" bIns="0" rtlCol="0" anchor="ctr"/>
          <a:lstStyle/>
          <a:p>
            <a:pPr indent="0" marL="0">
              <a:buNone/>
            </a:pPr>
            <a:r>
              <a:rPr lang="en-US" sz="1500" i="1" dirty="0">
                <a:solidFill>
                  <a:srgbClr val="0E1C42"/>
                </a:solidFill>
                <a:latin typeface="Calibri" pitchFamily="34" charset="0"/>
                <a:ea typeface="Calibri" pitchFamily="34" charset="-122"/>
                <a:cs typeface="Calibri" pitchFamily="34" charset="-120"/>
              </a:rPr>
              <a:t>A complex sentence has two parts working together: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Schwa Sound — Discover</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about   -   afraid   -   problem   -   open   -   animal   -   family   -   person   -   lemon</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Schwa-a</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Schwa-e</a:t>
            </a:r>
            <a:endParaRPr lang="en-US" sz="1300" dirty="0"/>
          </a:p>
        </p:txBody>
      </p:sp>
      <p:sp>
        <p:nvSpPr>
          <p:cNvPr id="15" name="Shape 13"/>
          <p:cNvSpPr/>
          <p:nvPr/>
        </p:nvSpPr>
        <p:spPr>
          <a:xfrm>
            <a:off x="365760" y="3364992"/>
            <a:ext cx="4114800" cy="1051560"/>
          </a:xfrm>
          <a:prstGeom prst="roundRect">
            <a:avLst>
              <a:gd name="adj" fmla="val 8696"/>
            </a:avLst>
          </a:prstGeom>
          <a:solidFill>
            <a:srgbClr val="FEF6E8"/>
          </a:solidFill>
          <a:ln w="19050">
            <a:solidFill>
              <a:srgbClr val="B8860B"/>
            </a:solidFill>
            <a:prstDash val="solid"/>
          </a:ln>
        </p:spPr>
      </p:sp>
      <p:sp>
        <p:nvSpPr>
          <p:cNvPr id="16" name="Text 14"/>
          <p:cNvSpPr/>
          <p:nvPr/>
        </p:nvSpPr>
        <p:spPr>
          <a:xfrm>
            <a:off x="502920" y="3474720"/>
            <a:ext cx="3840480" cy="411480"/>
          </a:xfrm>
          <a:prstGeom prst="rect">
            <a:avLst/>
          </a:prstGeom>
          <a:noFill/>
          <a:ln/>
        </p:spPr>
        <p:txBody>
          <a:bodyPr wrap="square" lIns="0" tIns="0" rIns="0" bIns="0"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Schwa-i</a:t>
            </a:r>
            <a:endParaRPr lang="en-US" sz="1300" dirty="0"/>
          </a:p>
        </p:txBody>
      </p:sp>
      <p:sp>
        <p:nvSpPr>
          <p:cNvPr id="17" name="Shape 15"/>
          <p:cNvSpPr/>
          <p:nvPr/>
        </p:nvSpPr>
        <p:spPr>
          <a:xfrm>
            <a:off x="4800600" y="3364992"/>
            <a:ext cx="4114800" cy="1051560"/>
          </a:xfrm>
          <a:prstGeom prst="roundRect">
            <a:avLst>
              <a:gd name="adj" fmla="val 8696"/>
            </a:avLst>
          </a:prstGeom>
          <a:solidFill>
            <a:srgbClr val="E5F7FC"/>
          </a:solidFill>
          <a:ln w="19050">
            <a:solidFill>
              <a:srgbClr val="2A6496"/>
            </a:solidFill>
            <a:prstDash val="solid"/>
          </a:ln>
        </p:spPr>
      </p:sp>
      <p:sp>
        <p:nvSpPr>
          <p:cNvPr id="18" name="Text 16"/>
          <p:cNvSpPr/>
          <p:nvPr/>
        </p:nvSpPr>
        <p:spPr>
          <a:xfrm>
            <a:off x="4937760" y="3474720"/>
            <a:ext cx="3840480" cy="411480"/>
          </a:xfrm>
          <a:prstGeom prst="rect">
            <a:avLst/>
          </a:prstGeom>
          <a:noFill/>
          <a:ln/>
        </p:spPr>
        <p:txBody>
          <a:bodyPr wrap="square" lIns="0" tIns="0" rIns="0" bIns="0" rtlCol="0" anchor="ctr"/>
          <a:lstStyle/>
          <a:p>
            <a:pPr indent="0" marL="0">
              <a:buNone/>
            </a:pPr>
            <a:r>
              <a:rPr lang="en-US" sz="1300" b="1" dirty="0">
                <a:solidFill>
                  <a:srgbClr val="2A6496"/>
                </a:solidFill>
                <a:latin typeface="Calibri" pitchFamily="34" charset="0"/>
                <a:ea typeface="Calibri" pitchFamily="34" charset="-122"/>
                <a:cs typeface="Calibri" pitchFamily="34" charset="-120"/>
              </a:rPr>
              <a:t>Schwa-o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Schwa Sound — Discover</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1920240" cy="1106424"/>
          </a:xfrm>
          <a:prstGeom prst="roundRect">
            <a:avLst>
              <a:gd name="adj" fmla="val 8264"/>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164592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Schwa-a</a:t>
            </a:r>
            <a:endParaRPr lang="en-US" sz="1200" dirty="0"/>
          </a:p>
        </p:txBody>
      </p:sp>
      <p:sp>
        <p:nvSpPr>
          <p:cNvPr id="9" name="Text 7"/>
          <p:cNvSpPr/>
          <p:nvPr/>
        </p:nvSpPr>
        <p:spPr>
          <a:xfrm>
            <a:off x="594360" y="1463040"/>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about</a:t>
            </a:r>
            <a:endParaRPr lang="en-US" sz="1400" dirty="0"/>
          </a:p>
        </p:txBody>
      </p:sp>
      <p:sp>
        <p:nvSpPr>
          <p:cNvPr id="10" name="Text 8"/>
          <p:cNvSpPr/>
          <p:nvPr/>
        </p:nvSpPr>
        <p:spPr>
          <a:xfrm>
            <a:off x="594360" y="1810512"/>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afraid</a:t>
            </a:r>
            <a:endParaRPr lang="en-US" sz="1400" dirty="0"/>
          </a:p>
        </p:txBody>
      </p:sp>
      <p:sp>
        <p:nvSpPr>
          <p:cNvPr id="11" name="Shape 9"/>
          <p:cNvSpPr/>
          <p:nvPr/>
        </p:nvSpPr>
        <p:spPr>
          <a:xfrm>
            <a:off x="2487168" y="1024128"/>
            <a:ext cx="1920240" cy="1106424"/>
          </a:xfrm>
          <a:prstGeom prst="roundRect">
            <a:avLst>
              <a:gd name="adj" fmla="val 8264"/>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2624328" y="1097280"/>
            <a:ext cx="164592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Schwa-e</a:t>
            </a:r>
            <a:endParaRPr lang="en-US" sz="1200" dirty="0"/>
          </a:p>
        </p:txBody>
      </p:sp>
      <p:sp>
        <p:nvSpPr>
          <p:cNvPr id="13" name="Text 11"/>
          <p:cNvSpPr/>
          <p:nvPr/>
        </p:nvSpPr>
        <p:spPr>
          <a:xfrm>
            <a:off x="2715768" y="1463040"/>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problem</a:t>
            </a:r>
            <a:endParaRPr lang="en-US" sz="1400" dirty="0"/>
          </a:p>
        </p:txBody>
      </p:sp>
      <p:sp>
        <p:nvSpPr>
          <p:cNvPr id="14" name="Text 12"/>
          <p:cNvSpPr/>
          <p:nvPr/>
        </p:nvSpPr>
        <p:spPr>
          <a:xfrm>
            <a:off x="2715768" y="1810512"/>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open</a:t>
            </a:r>
            <a:endParaRPr lang="en-US" sz="1400" dirty="0"/>
          </a:p>
        </p:txBody>
      </p:sp>
      <p:sp>
        <p:nvSpPr>
          <p:cNvPr id="15" name="Shape 13"/>
          <p:cNvSpPr/>
          <p:nvPr/>
        </p:nvSpPr>
        <p:spPr>
          <a:xfrm>
            <a:off x="4608576" y="1024128"/>
            <a:ext cx="1920240" cy="1106424"/>
          </a:xfrm>
          <a:prstGeom prst="roundRect">
            <a:avLst>
              <a:gd name="adj" fmla="val 8264"/>
            </a:avLst>
          </a:prstGeom>
          <a:solidFill>
            <a:srgbClr val="FEF6E8"/>
          </a:solidFill>
          <a:ln w="19050">
            <a:solidFill>
              <a:srgbClr val="B8860B"/>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4745736" y="1097280"/>
            <a:ext cx="1645920" cy="347472"/>
          </a:xfrm>
          <a:prstGeom prst="rect">
            <a:avLst/>
          </a:prstGeom>
          <a:noFill/>
          <a:ln/>
        </p:spPr>
        <p:txBody>
          <a:bodyPr wrap="square" lIns="0" tIns="0" rIns="0" bIns="0"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Schwa-i</a:t>
            </a:r>
            <a:endParaRPr lang="en-US" sz="1200" dirty="0"/>
          </a:p>
        </p:txBody>
      </p:sp>
      <p:sp>
        <p:nvSpPr>
          <p:cNvPr id="17" name="Text 15"/>
          <p:cNvSpPr/>
          <p:nvPr/>
        </p:nvSpPr>
        <p:spPr>
          <a:xfrm>
            <a:off x="4837176" y="1463040"/>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animal</a:t>
            </a:r>
            <a:endParaRPr lang="en-US" sz="1400" dirty="0"/>
          </a:p>
        </p:txBody>
      </p:sp>
      <p:sp>
        <p:nvSpPr>
          <p:cNvPr id="18" name="Text 16"/>
          <p:cNvSpPr/>
          <p:nvPr/>
        </p:nvSpPr>
        <p:spPr>
          <a:xfrm>
            <a:off x="4837176" y="1810512"/>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family</a:t>
            </a:r>
            <a:endParaRPr lang="en-US" sz="1400" dirty="0"/>
          </a:p>
        </p:txBody>
      </p:sp>
      <p:sp>
        <p:nvSpPr>
          <p:cNvPr id="19" name="Shape 17"/>
          <p:cNvSpPr/>
          <p:nvPr/>
        </p:nvSpPr>
        <p:spPr>
          <a:xfrm>
            <a:off x="6729984" y="1024128"/>
            <a:ext cx="1920240" cy="1106424"/>
          </a:xfrm>
          <a:prstGeom prst="roundRect">
            <a:avLst>
              <a:gd name="adj" fmla="val 8264"/>
            </a:avLst>
          </a:prstGeom>
          <a:solidFill>
            <a:srgbClr val="E5F7FC"/>
          </a:solidFill>
          <a:ln w="19050">
            <a:solidFill>
              <a:srgbClr val="2A6496"/>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6867144" y="1097280"/>
            <a:ext cx="1645920" cy="347472"/>
          </a:xfrm>
          <a:prstGeom prst="rect">
            <a:avLst/>
          </a:prstGeom>
          <a:noFill/>
          <a:ln/>
        </p:spPr>
        <p:txBody>
          <a:bodyPr wrap="square" lIns="0" tIns="0" rIns="0" bIns="0" rtlCol="0" anchor="ctr"/>
          <a:lstStyle/>
          <a:p>
            <a:pPr indent="0" marL="0">
              <a:buNone/>
            </a:pPr>
            <a:r>
              <a:rPr lang="en-US" sz="1200" b="1" dirty="0">
                <a:solidFill>
                  <a:srgbClr val="2A6496"/>
                </a:solidFill>
                <a:latin typeface="Calibri" pitchFamily="34" charset="0"/>
                <a:ea typeface="Calibri" pitchFamily="34" charset="-122"/>
                <a:cs typeface="Calibri" pitchFamily="34" charset="-120"/>
              </a:rPr>
              <a:t>Schwa-o</a:t>
            </a:r>
            <a:endParaRPr lang="en-US" sz="1200" dirty="0"/>
          </a:p>
        </p:txBody>
      </p:sp>
      <p:sp>
        <p:nvSpPr>
          <p:cNvPr id="21" name="Text 19"/>
          <p:cNvSpPr/>
          <p:nvPr/>
        </p:nvSpPr>
        <p:spPr>
          <a:xfrm>
            <a:off x="6958584" y="1463040"/>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person</a:t>
            </a:r>
            <a:endParaRPr lang="en-US" sz="1400" dirty="0"/>
          </a:p>
        </p:txBody>
      </p:sp>
      <p:sp>
        <p:nvSpPr>
          <p:cNvPr id="22" name="Text 20"/>
          <p:cNvSpPr/>
          <p:nvPr/>
        </p:nvSpPr>
        <p:spPr>
          <a:xfrm>
            <a:off x="6958584" y="1810512"/>
            <a:ext cx="155448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lemon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7</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Old Narnia in Danger</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Say each word out loud. Does the bolded vowel make its regular sound, or does it make a softer “uh” sound instead? Do you notice this same “uh” in both groups, even though different vowels are bolded?</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The council has Bulgy Bears who want a feast, Reepicheep who wants to storm Miraz now, Moles who want to dig entrenchments, and Fauns who want to dance. Why do you think each group argues for something so different? What does each suggestion reveal about that group?</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Trumpkin says: “I know the difference between giving advice and taking orders.” What does he mean? Why is this an important thing for someone to understand?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Literary Analysis — Organizing Evidence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Note a moment of disagreement or doubt involving your character today.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2026-07-11T22:29:48Z</dcterms:created>
  <dcterms:modified xsi:type="dcterms:W3CDTF">2026-07-11T22:29:48Z</dcterms:modified>
</cp:coreProperties>
</file>