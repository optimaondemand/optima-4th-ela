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13,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State a clear claim — one sentence that says what you believe about how a character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State a clear claim — one sentence that says what you believe about how a character changed.. Level-up: ⭐ State your claim in one sentence  ⭐⭐ Use the word "because"  ⭐⭐⭐ Name Anne specifically  ⭐⭐⭐⭐ Preview two reasons you will use to support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claim sentence aloud. Does it state a real change, not just a summary of events? Revise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claim sentence about how Anne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Anne experienced an important turning point in her life. Today: Notice how much Anne has grown and changed. Big Q: As you read today, watch for the setting, the characters, and the first surprise. What kind of place is Avonlea? Who is Mrs. Rachel Lynde? What does she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was taller than Marilla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grew two inches her dresses seemed too short by autumn" Corrected: "Anne grew two inches. Her dresses seemed too short by autumn."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grew two inches her dresses seemed too short by autumn" Corrected: "Anne grew two inches. Her dresses seemed too short by autumn."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inspect — — to look closely at something | respect — — to think well of; to look back at with regard | construct — — to build together | instruct — — to teach (build knowledge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ambition: A strong desire to achieve something important. | broadminded: Open to new ideas; willing to consider different points of view. | tactful: Careful not to hurt other people’s feelings; thoughtful in dealing with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was taller than Marilla." -&gt; was | "The summer seemed perfect to Anne." -&gt; seemed | "Diana is Anne’s bosom friend." -&gt;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was taller than Marilla." -&gt; was | "The summer seemed perfect to Anne." -&gt; seemed | "Diana is Anne’s bosom friend." -&gt;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Add -er / -est: taller, happiest, smaller | Use more / most: more beautiful, most thoughtful, more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Add -er / -est: taller, happiest, smaller | Use more / most: more beautiful, most thoughtful, more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Claim
Focus: Write your claim: how has your own story’s main character changed from beginning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13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31</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Where the Brook and River Meet</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13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was taller than Marilla now.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Think back across the whole book: what is the biggest way Anne has changed since Chapter 1?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claim: what is the biggest way Anne has changed from the beginning of the book to now, and why does it matter? This starts your character growth essay.</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State a clear claim — one sentence that says what you believe about how a character changed.</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claim in one sentence  ⭐⭐ Use the word "because"  ⭐⭐⭐ Name Anne specifically  ⭐⭐⭐⭐ Preview two reasons you will use to support your claim</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claim sentence aloud. Does it state a real change, not just a summary of events? Revise if needed.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claim sentence about how Anne has changed.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Anne experienced an important turning point in her life.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Notice how much Anne has grown and changed.</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first surprise. What kind of place is Avonlea? Who is Mrs. Rachel Lynde? What does she notice?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was taller than Marilla now.</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grew two inches her dresses seemed too short by autumn</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grew two inches her dresses seemed too short by autumn</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grew two inches. Her dresses seemed too short by autumn.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spect, struct</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word bases come from Latin and show ACTIONS. spect means to look. You find it in words about seeing or examining. struct means to build. You find it in words about putting things together or taking them apart.</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inspect = in- + spect (to look INTO)</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respect = re- + spect (to look BACK at; to value)</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construct = con- + struct (to build TOGETHER)</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instruct = in- + struct (to build IN; to teach)</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inspect — — to look closely at something</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respect — — to think well of; to look back at with regard</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construct — — to build together</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instruct — — to teach (build knowledge into)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went to bed with a heart full of ambition once more.”</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ambition</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strong desire to achieve something important.</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“Miss Stacy’s broadminded teaching led her class to think and explore.”</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broadminded</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Open to new ideas; willing to consider different points of view.</a:t>
            </a:r>
            <a:endParaRPr lang="en-US" sz="1100" dirty="0"/>
          </a:p>
        </p:txBody>
      </p:sp>
      <p:sp>
        <p:nvSpPr>
          <p:cNvPr id="13" name="Shape 11"/>
          <p:cNvSpPr/>
          <p:nvPr/>
        </p:nvSpPr>
        <p:spPr>
          <a:xfrm>
            <a:off x="320040" y="2385060"/>
            <a:ext cx="4069080" cy="1184910"/>
          </a:xfrm>
          <a:prstGeom prst="roundRect">
            <a:avLst>
              <a:gd name="adj" fmla="val 7717"/>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“Miss Stacy’s tactful guidance helped Anne grow.”</a:t>
            </a:r>
            <a:endParaRPr lang="en-US" sz="1050" dirty="0"/>
          </a:p>
        </p:txBody>
      </p:sp>
      <p:sp>
        <p:nvSpPr>
          <p:cNvPr id="15" name="Text 13"/>
          <p:cNvSpPr/>
          <p:nvPr/>
        </p:nvSpPr>
        <p:spPr>
          <a:xfrm>
            <a:off x="457200" y="270738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tactful</a:t>
            </a:r>
            <a:endParaRPr lang="en-US" sz="1400" dirty="0"/>
          </a:p>
        </p:txBody>
      </p:sp>
      <p:sp>
        <p:nvSpPr>
          <p:cNvPr id="16" name="Text 14"/>
          <p:cNvSpPr/>
          <p:nvPr/>
        </p:nvSpPr>
        <p:spPr>
          <a:xfrm>
            <a:off x="457200" y="301828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Careful not to hurt other people’s feelings; thoughtful in dealing with people.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Linking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was taller than Marilla.</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summer seemed perfect to Anne.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is Anne’s bosom friend.</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Linking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was</a:t>
            </a:r>
            <a:pPr indent="0" marL="0">
              <a:buNone/>
            </a:pPr>
            <a:r>
              <a:rPr lang="en-US" sz="1500" dirty="0">
                <a:solidFill>
                  <a:srgbClr val="1E293B"/>
                </a:solidFill>
                <a:latin typeface="Calibri" pitchFamily="34" charset="0"/>
                <a:ea typeface="Calibri" pitchFamily="34" charset="-122"/>
                <a:cs typeface="Calibri" pitchFamily="34" charset="-120"/>
              </a:rPr>
              <a:t> taller than Marilla.</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summer </a:t>
            </a:r>
            <a:pPr indent="0" marL="0">
              <a:buNone/>
            </a:pPr>
            <a:r>
              <a:rPr lang="en-US" sz="1500" b="1" u="sng" dirty="0">
                <a:solidFill>
                  <a:srgbClr val="34B76F"/>
                </a:solidFill>
                <a:latin typeface="Calibri" pitchFamily="34" charset="0"/>
                <a:ea typeface="Calibri" pitchFamily="34" charset="-122"/>
                <a:cs typeface="Calibri" pitchFamily="34" charset="-120"/>
              </a:rPr>
              <a:t>seemed</a:t>
            </a:r>
            <a:pPr indent="0" marL="0">
              <a:buNone/>
            </a:pPr>
            <a:r>
              <a:rPr lang="en-US" sz="1500" dirty="0">
                <a:solidFill>
                  <a:srgbClr val="1E293B"/>
                </a:solidFill>
                <a:latin typeface="Calibri" pitchFamily="34" charset="0"/>
                <a:ea typeface="Calibri" pitchFamily="34" charset="-122"/>
                <a:cs typeface="Calibri" pitchFamily="34" charset="-120"/>
              </a:rPr>
              <a:t> perfect to Anne.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a:t>
            </a:r>
            <a:pPr indent="0" marL="0">
              <a:buNone/>
            </a:pPr>
            <a:r>
              <a:rPr lang="en-US" sz="1500" b="1" u="sng" dirty="0">
                <a:solidFill>
                  <a:srgbClr val="34B76F"/>
                </a:solidFill>
                <a:latin typeface="Calibri" pitchFamily="34" charset="0"/>
                <a:ea typeface="Calibri" pitchFamily="34" charset="-122"/>
                <a:cs typeface="Calibri" pitchFamily="34" charset="-120"/>
              </a:rPr>
              <a:t>is</a:t>
            </a:r>
            <a:pPr indent="0" marL="0">
              <a:buNone/>
            </a:pPr>
            <a:r>
              <a:rPr lang="en-US" sz="1500" dirty="0">
                <a:solidFill>
                  <a:srgbClr val="1E293B"/>
                </a:solidFill>
                <a:latin typeface="Calibri" pitchFamily="34" charset="0"/>
                <a:ea typeface="Calibri" pitchFamily="34" charset="-122"/>
                <a:cs typeface="Calibri" pitchFamily="34" charset="-120"/>
              </a:rPr>
              <a:t> Anne’s bosom friend.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Comparative &amp; Superlative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taller   -   happiest   -   smaller   -   more beautiful   -   most thoughtful   -   more careful</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Add -er / -est</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Use more / most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Comparative &amp; Superlative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Add -er / -est</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taller</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happiest</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smaller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Use more / most</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more beautiful</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most thoughtful</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more careful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31</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Where the Brook and River Meet</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Group A: say tall, taller, tallest. How does the word change? How many syllables in each?</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Group B: say beautiful, more beautiful, most beautiful. Why don’t we just say “beautifuller”? Try it out loud. Does it work?</a:t>
            </a:r>
            <a:endParaRPr lang="en-US" sz="1400" dirty="0"/>
          </a:p>
        </p:txBody>
      </p:sp>
      <p:sp>
        <p:nvSpPr>
          <p:cNvPr id="10" name="Shape 8"/>
          <p:cNvSpPr/>
          <p:nvPr/>
        </p:nvSpPr>
        <p:spPr>
          <a:xfrm>
            <a:off x="365760" y="344728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Compare the two groups. What is different about the LENGTH of the words in Group A vs. Group B?</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Claim</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your claim: how has your own story’s main character changed from beginning to end?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