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10,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Apply a figurative phrase followed by a plain restatement, so readers get both the flair and the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Apply a figurative phrase followed by a plain restatement, so readers get both the flair and the clarity.. Level-up: ⭐ Use one figurative phrase  ⭐⭐ Restate it plainly right after  ⭐⭐⭐ Make the figurative phrase original, not a cliche  ⭐⭐⭐⭐ Match the phrase to your character’s personality.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plain action in your draft ("she knocked on the door"). Try adding a figurative phrase before it, then a plain restatement..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figurative phrase and the plain restatement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found a new interest that changed things at Green Gables. Today: Learn about a concert, a catastrophe, and a confession. Big Q: In Ch. 18, Anne runs through the dark and snow to save Diana’s baby sister from croup. Young Mary Joe is frozen. Diana is crying. Anne — the orphan girl whose past everyone calls hard — is the only one who knows what to do, because she helped raise three sets of twins. Her hard past becomes her gift. The doctor says she saved the baby’s life. Anne’s courage isn’t loud. It is what she does when she has training and everyone else has fear.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knocks on the door, then she walks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enters the sitting room aunt josephine watches her closely" Corrected: "Anne enters the sitting room. Aunt Josephine watches her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enters the sitting room aunt josephine watches her closely" Corrected: "Anne enters the sitting room. Aunt Josephine watches her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im — patient — not patient; not willing to wait | ir — responsible — not responsible | in — visible — not visible; unable to be seen | il — logical — not logical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cordial: Mrs. Barry was warm and _____ before the misunderstanding. | incapable: Mary Joe was so frightened she was _____ of thinking. | inexorable: Marilla was _____ — Anne would walk through the woods no matter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races through the Birch Path." -&gt; races | "Diana waves from the window." -&gt; waves | "Marilla sighs at Anne’s excitement." -&gt; sighs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races through the Birch Path." -&gt; races | "Diana waves from the window." -&gt; waves | "Marilla sighs at Anne’s excitement." -&gt; sighs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"“Anne bearded the lion in its den — that is to say, walked resolutely up to the sitting-room door and knocked faintly.”"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Facing a Mistake
Focus: Write how your character faces the people affected by their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10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19</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 Concert and a Confession</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10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knocks on the door, then she walks inside.</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"Anne bearded the lion in its den — that is to say, walked resolutely over and knocked."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the phrase "bearded the lion in its den" mean, and why explain it right after with "that is to say"?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moment where your character bravely faces something scary. Use a bold, figurative phrase to describe their courage, then explain plainly what it means — the way the mentor sentence does.</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Apply a figurative phrase followed by a plain restatement, so readers get both the flair and the clarity.</a:t>
            </a:r>
            <a:endParaRPr lang="en-US" sz="1300" dirty="0"/>
          </a:p>
        </p:txBody>
      </p:sp>
      <p:sp>
        <p:nvSpPr>
          <p:cNvPr id="8" name="Text 6"/>
          <p:cNvSpPr/>
          <p:nvPr/>
        </p:nvSpPr>
        <p:spPr>
          <a:xfrm>
            <a:off x="548640" y="2923032"/>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Use one figurative phrase  ⭐⭐ Restate it plainly right after  ⭐⭐⭐ Make the figurative phrase original, not a cliche  ⭐⭐⭐⭐ Match the phrase to your character’s personality</a:t>
            </a:r>
            <a:endParaRPr lang="en-US" sz="1150" dirty="0"/>
          </a:p>
        </p:txBody>
      </p:sp>
      <p:sp>
        <p:nvSpPr>
          <p:cNvPr id="9" name="Text 7"/>
          <p:cNvSpPr/>
          <p:nvPr/>
        </p:nvSpPr>
        <p:spPr>
          <a:xfrm>
            <a:off x="548640" y="3427476"/>
            <a:ext cx="8046720" cy="1601724"/>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plain action in your draft ("she knocked on the door"). Try adding a figurative phrase before it, then a plain restatement.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figurative phrase and the plain restatement that follows it.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found a new interest that changed things at Green Gables.</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Learn about a concert, a catastrophe, and a confession.</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In Ch. 18, Anne runs through the dark and snow to save Diana’s baby sister from croup. Young Mary Joe is frozen. Diana is crying. Anne — the orphan girl whose past everyone calls hard — is the only one who knows what to do, because she helped raise three sets of twins. Her hard past becomes her gift. The doctor says she saved the baby’s life. Anne’s courage isn’t loud. It is what she does when she has training and everyone else has fear.</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how problems grow. The first problem in a book is rarely the only one — new trouble appears as the story moves.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knocks on the door, then she walks inside.</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enters the sitting room aunt josephine watches her closely</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enters the sitting room aunt josephine watches her closely</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enters the sitting room. Aunt Josephine watches her closely.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Prefixes: il-, ir-, im-, in-</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This week’s four prefixes all mean the SAME thing: not. Which one to use depends on the letter that starts the root word. il- goes before l (illegal). ir- goes before r (irregular). im- goes before b, m, or p (impossible). in- goes before most other letters (incorrect).</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502920"/>
          </a:xfrm>
          <a:prstGeom prst="roundRect">
            <a:avLst>
              <a:gd name="adj" fmla="val 14545"/>
            </a:avLst>
          </a:prstGeom>
          <a:solidFill>
            <a:srgbClr val="F8F4FF"/>
          </a:solidFill>
          <a:ln w="12700">
            <a:solidFill>
              <a:srgbClr val="8B6FC0"/>
            </a:solidFill>
            <a:prstDash val="solid"/>
          </a:ln>
        </p:spPr>
      </p:sp>
      <p:sp>
        <p:nvSpPr>
          <p:cNvPr id="9" name="Text 7"/>
          <p:cNvSpPr/>
          <p:nvPr/>
        </p:nvSpPr>
        <p:spPr>
          <a:xfrm>
            <a:off x="43891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illegal = il- + legal (not legal)</a:t>
            </a:r>
            <a:endParaRPr lang="en-US" sz="1100" dirty="0"/>
          </a:p>
        </p:txBody>
      </p:sp>
      <p:sp>
        <p:nvSpPr>
          <p:cNvPr id="10" name="Shape 8"/>
          <p:cNvSpPr/>
          <p:nvPr/>
        </p:nvSpPr>
        <p:spPr>
          <a:xfrm>
            <a:off x="2468880" y="1847088"/>
            <a:ext cx="2011680" cy="502920"/>
          </a:xfrm>
          <a:prstGeom prst="roundRect">
            <a:avLst>
              <a:gd name="adj" fmla="val 14545"/>
            </a:avLst>
          </a:prstGeom>
          <a:solidFill>
            <a:srgbClr val="F8F4FF"/>
          </a:solidFill>
          <a:ln w="12700">
            <a:solidFill>
              <a:srgbClr val="8B6FC0"/>
            </a:solidFill>
            <a:prstDash val="solid"/>
          </a:ln>
        </p:spPr>
      </p:sp>
      <p:sp>
        <p:nvSpPr>
          <p:cNvPr id="11" name="Text 9"/>
          <p:cNvSpPr/>
          <p:nvPr/>
        </p:nvSpPr>
        <p:spPr>
          <a:xfrm>
            <a:off x="254203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irregular = ir- + regular (not regular)</a:t>
            </a:r>
            <a:endParaRPr lang="en-US" sz="1100" dirty="0"/>
          </a:p>
        </p:txBody>
      </p:sp>
      <p:sp>
        <p:nvSpPr>
          <p:cNvPr id="12" name="Shape 10"/>
          <p:cNvSpPr/>
          <p:nvPr/>
        </p:nvSpPr>
        <p:spPr>
          <a:xfrm>
            <a:off x="4572000" y="1847088"/>
            <a:ext cx="2011680" cy="502920"/>
          </a:xfrm>
          <a:prstGeom prst="roundRect">
            <a:avLst>
              <a:gd name="adj" fmla="val 14545"/>
            </a:avLst>
          </a:prstGeom>
          <a:solidFill>
            <a:srgbClr val="F8F4FF"/>
          </a:solidFill>
          <a:ln w="12700">
            <a:solidFill>
              <a:srgbClr val="8B6FC0"/>
            </a:solidFill>
            <a:prstDash val="solid"/>
          </a:ln>
        </p:spPr>
      </p:sp>
      <p:sp>
        <p:nvSpPr>
          <p:cNvPr id="13" name="Text 11"/>
          <p:cNvSpPr/>
          <p:nvPr/>
        </p:nvSpPr>
        <p:spPr>
          <a:xfrm>
            <a:off x="464515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impossible = im- + possible (not possible)</a:t>
            </a:r>
            <a:endParaRPr lang="en-US" sz="1100" dirty="0"/>
          </a:p>
        </p:txBody>
      </p:sp>
      <p:sp>
        <p:nvSpPr>
          <p:cNvPr id="14" name="Shape 12"/>
          <p:cNvSpPr/>
          <p:nvPr/>
        </p:nvSpPr>
        <p:spPr>
          <a:xfrm>
            <a:off x="6675120" y="1847088"/>
            <a:ext cx="2011680" cy="502920"/>
          </a:xfrm>
          <a:prstGeom prst="roundRect">
            <a:avLst>
              <a:gd name="adj" fmla="val 14545"/>
            </a:avLst>
          </a:prstGeom>
          <a:solidFill>
            <a:srgbClr val="F8F4FF"/>
          </a:solidFill>
          <a:ln w="12700">
            <a:solidFill>
              <a:srgbClr val="8B6FC0"/>
            </a:solidFill>
            <a:prstDash val="solid"/>
          </a:ln>
        </p:spPr>
      </p:sp>
      <p:sp>
        <p:nvSpPr>
          <p:cNvPr id="15" name="Text 13"/>
          <p:cNvSpPr/>
          <p:nvPr/>
        </p:nvSpPr>
        <p:spPr>
          <a:xfrm>
            <a:off x="674827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incorrect = in- + correct (not correct)</a:t>
            </a:r>
            <a:endParaRPr lang="en-US" sz="1100" dirty="0"/>
          </a:p>
        </p:txBody>
      </p:sp>
      <p:sp>
        <p:nvSpPr>
          <p:cNvPr id="16" name="Text 14"/>
          <p:cNvSpPr/>
          <p:nvPr/>
        </p:nvSpPr>
        <p:spPr>
          <a:xfrm>
            <a:off x="365760" y="246888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7249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7706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im — patient — not patient; not willing to wait</a:t>
            </a:r>
            <a:endParaRPr lang="en-US" sz="1300" dirty="0"/>
          </a:p>
        </p:txBody>
      </p:sp>
      <p:sp>
        <p:nvSpPr>
          <p:cNvPr id="19" name="Shape 17"/>
          <p:cNvSpPr/>
          <p:nvPr/>
        </p:nvSpPr>
        <p:spPr>
          <a:xfrm>
            <a:off x="365760" y="31821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2278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ir — responsible — not responsible</a:t>
            </a:r>
            <a:endParaRPr lang="en-US" sz="1300" dirty="0"/>
          </a:p>
        </p:txBody>
      </p:sp>
      <p:sp>
        <p:nvSpPr>
          <p:cNvPr id="21" name="Shape 19"/>
          <p:cNvSpPr/>
          <p:nvPr/>
        </p:nvSpPr>
        <p:spPr>
          <a:xfrm>
            <a:off x="365760" y="36393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6850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 — visible — not visible; unable to be seen</a:t>
            </a:r>
            <a:endParaRPr lang="en-US" sz="1300" dirty="0"/>
          </a:p>
        </p:txBody>
      </p:sp>
      <p:sp>
        <p:nvSpPr>
          <p:cNvPr id="23" name="Shape 21"/>
          <p:cNvSpPr/>
          <p:nvPr/>
        </p:nvSpPr>
        <p:spPr>
          <a:xfrm>
            <a:off x="365760" y="40965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1422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il — logical — not logical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Mrs. Barry was warm and _____ before the misunderstanding.</a:t>
            </a:r>
            <a:endParaRPr lang="en-US" sz="1050" dirty="0"/>
          </a:p>
        </p:txBody>
      </p:sp>
      <p:sp>
        <p:nvSpPr>
          <p:cNvPr id="7" name="Text 5"/>
          <p:cNvSpPr/>
          <p:nvPr/>
        </p:nvSpPr>
        <p:spPr>
          <a:xfrm>
            <a:off x="45720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cordial</a:t>
            </a:r>
            <a:endParaRPr lang="en-US" sz="1300" dirty="0"/>
          </a:p>
        </p:txBody>
      </p:sp>
      <p:sp>
        <p:nvSpPr>
          <p:cNvPr id="8" name="Shape 6"/>
          <p:cNvSpPr/>
          <p:nvPr/>
        </p:nvSpPr>
        <p:spPr>
          <a:xfrm>
            <a:off x="457200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Mary Joe was so frightened she was _____ of thinking.</a:t>
            </a:r>
            <a:endParaRPr lang="en-US" sz="1050" dirty="0"/>
          </a:p>
        </p:txBody>
      </p:sp>
      <p:sp>
        <p:nvSpPr>
          <p:cNvPr id="10" name="Text 8"/>
          <p:cNvSpPr/>
          <p:nvPr/>
        </p:nvSpPr>
        <p:spPr>
          <a:xfrm>
            <a:off x="470916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incapable</a:t>
            </a:r>
            <a:endParaRPr lang="en-US" sz="1300" dirty="0"/>
          </a:p>
        </p:txBody>
      </p:sp>
      <p:sp>
        <p:nvSpPr>
          <p:cNvPr id="11" name="Shape 9"/>
          <p:cNvSpPr/>
          <p:nvPr/>
        </p:nvSpPr>
        <p:spPr>
          <a:xfrm>
            <a:off x="320040" y="19431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345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Marilla was _____ — Anne would walk through the woods no matter what.</a:t>
            </a:r>
            <a:endParaRPr lang="en-US" sz="1050" dirty="0"/>
          </a:p>
        </p:txBody>
      </p:sp>
      <p:sp>
        <p:nvSpPr>
          <p:cNvPr id="13" name="Text 11"/>
          <p:cNvSpPr/>
          <p:nvPr/>
        </p:nvSpPr>
        <p:spPr>
          <a:xfrm>
            <a:off x="457200" y="24414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inexorable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Present-Tense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races through the Birch Path.</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Diana waves from the window.</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Marilla sighs at Anne’s excitement.</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Present-Tense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races</a:t>
            </a:r>
            <a:pPr indent="0" marL="0">
              <a:buNone/>
            </a:pPr>
            <a:r>
              <a:rPr lang="en-US" sz="1500" dirty="0">
                <a:solidFill>
                  <a:srgbClr val="1E293B"/>
                </a:solidFill>
                <a:latin typeface="Calibri" pitchFamily="34" charset="0"/>
                <a:ea typeface="Calibri" pitchFamily="34" charset="-122"/>
                <a:cs typeface="Calibri" pitchFamily="34" charset="-120"/>
              </a:rPr>
              <a:t> through the Birch Path.</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Diana </a:t>
            </a:r>
            <a:pPr indent="0" marL="0">
              <a:buNone/>
            </a:pPr>
            <a:r>
              <a:rPr lang="en-US" sz="1500" b="1" u="sng" dirty="0">
                <a:solidFill>
                  <a:srgbClr val="34B76F"/>
                </a:solidFill>
                <a:latin typeface="Calibri" pitchFamily="34" charset="0"/>
                <a:ea typeface="Calibri" pitchFamily="34" charset="-122"/>
                <a:cs typeface="Calibri" pitchFamily="34" charset="-120"/>
              </a:rPr>
              <a:t>waves</a:t>
            </a:r>
            <a:pPr indent="0" marL="0">
              <a:buNone/>
            </a:pPr>
            <a:r>
              <a:rPr lang="en-US" sz="1500" dirty="0">
                <a:solidFill>
                  <a:srgbClr val="1E293B"/>
                </a:solidFill>
                <a:latin typeface="Calibri" pitchFamily="34" charset="0"/>
                <a:ea typeface="Calibri" pitchFamily="34" charset="-122"/>
                <a:cs typeface="Calibri" pitchFamily="34" charset="-120"/>
              </a:rPr>
              <a:t> from the window.</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Marilla </a:t>
            </a:r>
            <a:pPr indent="0" marL="0">
              <a:buNone/>
            </a:pPr>
            <a:r>
              <a:rPr lang="en-US" sz="1500" b="1" u="sng" dirty="0">
                <a:solidFill>
                  <a:srgbClr val="34B76F"/>
                </a:solidFill>
                <a:latin typeface="Calibri" pitchFamily="34" charset="0"/>
                <a:ea typeface="Calibri" pitchFamily="34" charset="-122"/>
                <a:cs typeface="Calibri" pitchFamily="34" charset="-120"/>
              </a:rPr>
              <a:t>sighs</a:t>
            </a:r>
            <a:pPr indent="0" marL="0">
              <a:buNone/>
            </a:pPr>
            <a:r>
              <a:rPr lang="en-US" sz="1500" dirty="0">
                <a:solidFill>
                  <a:srgbClr val="1E293B"/>
                </a:solidFill>
                <a:latin typeface="Calibri" pitchFamily="34" charset="0"/>
                <a:ea typeface="Calibri" pitchFamily="34" charset="-122"/>
                <a:cs typeface="Calibri" pitchFamily="34" charset="-120"/>
              </a:rPr>
              <a:t> at Anne’s excitement.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19</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 Concert and a Confession</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As you read today, ask yourself: What new problem appears in these chapters? How does it connect to the first problem (Timothy's sickness)?</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Anne walks into Aunt Josephine’s room to confess. What does Anne’s decision to walk in alone show about how she has changed since she came to Green Gables?</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wakes up and looks out the window. How does her view of Green Gables make YOU see the place differently?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“Anne bearded the lion in its den — that is to say, walked resolutely up to the sitting-room door and knocked faintly.”</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731520"/>
          </a:xfrm>
          <a:prstGeom prst="roundRect">
            <a:avLst>
              <a:gd name="adj" fmla="val 12500"/>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happening in this sentence? Why does Montgomery say “bearded the lion in its den” AND then say plainly “walked up and knocked”?</a:t>
            </a:r>
            <a:endParaRPr lang="en-US" sz="1200" dirty="0"/>
          </a:p>
        </p:txBody>
      </p:sp>
      <p:sp>
        <p:nvSpPr>
          <p:cNvPr id="11" name="Shape 9"/>
          <p:cNvSpPr/>
          <p:nvPr/>
        </p:nvSpPr>
        <p:spPr>
          <a:xfrm>
            <a:off x="365760" y="3060192"/>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124200"/>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124200"/>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Notice the idiom (a famous expression) plus a plain version of the same idea</a:t>
            </a:r>
            <a:endParaRPr lang="en-US" sz="1200" dirty="0"/>
          </a:p>
        </p:txBody>
      </p:sp>
      <p:sp>
        <p:nvSpPr>
          <p:cNvPr id="14" name="Shape 12"/>
          <p:cNvSpPr/>
          <p:nvPr/>
        </p:nvSpPr>
        <p:spPr>
          <a:xfrm>
            <a:off x="365760" y="3681984"/>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74599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74599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Facing a Mistake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how your character faces the people affected by their mistake.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