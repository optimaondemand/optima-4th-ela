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Apply a cause-and-effect sentence structure ("By doing X, ... Y") to connect an action to its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10-minute timer. Craft move: Apply a cause-and-effect sentence structure ("By doing X, ... Y") to connect an action to its result.. Level-up: ⭐ Use the exact structure once  ⭐⭐ Use it twice with different results  ⭐⭐⭐ Explain why the cause led to that effect  ⭐⭐⭐⭐ Use it as your closing sentence for extra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a place where you explain a cause and effect. Try rewriting it using the "By doing X, Y"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"By doing X..." sentence and explain the connection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we learned about the science experiments that changed the rats forever. Today: Discover how learning to read changed everything for the rats. Big Q: The rats' escape from NIMH didn't happen in a day. They were caged, tested, and trained for years. They had to learn to read before they could plan. Mrs. Frisby climbs in the dark to reach the owl when she has no other answer. Neither quits when it gets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""Nicodemus? Come on out. I’ll show you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"justin where are you ill help you climb up" Corrected: "“Justin? Where are you? I’ll help you climb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"justin where are you ill help you climb up" Corrected: "“Justin? Where are you? I’ll help you climb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mis — spell — to spell wrongly | non — stop — without stopping | in — visible — not visible | im — polite — not polite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snared: Nicodemus was _____ in a net at the marketplace. | experimenting: Dr Schultz was _____ on the rats to see if they could learn. | futile: Justin's search for the lost mice was _____ — he never found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"Justin climbed the cage." -&gt; cage. | "Can you hold on?" -&gt; on? | "Hurry!" -&gt; Hurry!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"Justin climbed the cage." -&gt; cage. | "Can you hold on?" -&gt; on? | "Hurry!" -&gt; Hurry!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Chapters 16–17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"“By teaching us to read, they had taught us how to get away.”"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Narrative Writing — Add Dialogue Focus: Add dialogue to your story’s most tense or exciting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FBF7A">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FBF7A"/>
                </a:solidFill>
                <a:latin typeface="Calibri" pitchFamily="34" charset="0"/>
                <a:ea typeface="Calibri" pitchFamily="34" charset="-122"/>
                <a:cs typeface="Calibri" pitchFamily="34" charset="-120"/>
              </a:rPr>
              <a:t>WEEK 3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Chapters 16–17</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Learning to Read</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  ·  Virtue: Ingenuity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“By teaching us to read, they had taught us how to get away.”</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"“By teaching us to read, they had taught us how to get away.”"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Notice the "By doing X, it caused Y" pattern in this sentence. Why is that structure powerful here?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10 minutes - keep your pencil moving!</a:t>
            </a:r>
            <a:endParaRPr lang="en-US" sz="1500" dirty="0"/>
          </a:p>
        </p:txBody>
      </p:sp>
      <p:sp>
        <p:nvSpPr>
          <p:cNvPr id="4" name="Shape 2"/>
          <p:cNvSpPr/>
          <p:nvPr/>
        </p:nvSpPr>
        <p:spPr>
          <a:xfrm>
            <a:off x="457200" y="1170432"/>
            <a:ext cx="8229600" cy="877824"/>
          </a:xfrm>
          <a:prstGeom prst="roundRect">
            <a:avLst>
              <a:gd name="adj" fmla="val 10417"/>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86384"/>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about a skill that helped a character (in this book or another story) solve a problem or escape trouble, using a "By doing ___, it taught/helped ___" sentence structure.</a:t>
            </a:r>
            <a:endParaRPr lang="en-US" sz="1200" dirty="0"/>
          </a:p>
        </p:txBody>
      </p:sp>
      <p:sp>
        <p:nvSpPr>
          <p:cNvPr id="6" name="Shape 4"/>
          <p:cNvSpPr/>
          <p:nvPr/>
        </p:nvSpPr>
        <p:spPr>
          <a:xfrm>
            <a:off x="457200" y="2176272"/>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231136"/>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Apply a cause-and-effect sentence structure ("By doing X, ... Y") to connect an action to its result.</a:t>
            </a:r>
            <a:endParaRPr lang="en-US" sz="1300" dirty="0"/>
          </a:p>
        </p:txBody>
      </p:sp>
      <p:sp>
        <p:nvSpPr>
          <p:cNvPr id="8" name="Text 6"/>
          <p:cNvSpPr/>
          <p:nvPr/>
        </p:nvSpPr>
        <p:spPr>
          <a:xfrm>
            <a:off x="548640" y="2923032"/>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Use the exact structure once  ⭐⭐ Use it twice with different results  ⭐⭐⭐ Explain why the cause led to that effect  ⭐⭐⭐⭐ Use it as your closing sentence for extra power</a:t>
            </a:r>
            <a:endParaRPr lang="en-US" sz="1150" dirty="0"/>
          </a:p>
        </p:txBody>
      </p:sp>
      <p:sp>
        <p:nvSpPr>
          <p:cNvPr id="9" name="Text 7"/>
          <p:cNvSpPr/>
          <p:nvPr/>
        </p:nvSpPr>
        <p:spPr>
          <a:xfrm>
            <a:off x="548640" y="3427476"/>
            <a:ext cx="8046720" cy="1601724"/>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a place where you explain a cause and effect. Try rewriting it using the "By doing X, Y" pattern.</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"By doing X..." sentence and explain the connection it shows.</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we learned about the science experiments that changed the rats forever.</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Discover how learning to read changed everything for the rats.</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The rats' escape from NIMH didn't happen in a day. They were caged, tested, and trained for years. They had to learn to read before they could plan. Mrs. Frisby climbs in the dark to reach the owl when she has no other answer. Neither quits when it gets hard.</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about how problems grow. The first problem in a book is rarely the only one — new trouble appears as the story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"Nicodemus? Come on out. I’ll show you how."</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justin where are you ill help you climb up</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justin where are you ill help you climb up</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“Justin? Where are you? I’ll help you climb up.”</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Prefixes Review</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This week's prefixes all mean not or wrongly. mis- (wrongly), non- (not), in- (not), im- (not). Knowing them helps you figure out long words by stripping the prefix off the front.</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502920"/>
          </a:xfrm>
          <a:prstGeom prst="roundRect">
            <a:avLst>
              <a:gd name="adj" fmla="val 14545"/>
            </a:avLst>
          </a:prstGeom>
          <a:solidFill>
            <a:srgbClr val="F8F4FF"/>
          </a:solidFill>
          <a:ln w="12700">
            <a:solidFill>
              <a:srgbClr val="8B6FC0"/>
            </a:solidFill>
            <a:prstDash val="solid"/>
          </a:ln>
        </p:spPr>
      </p:sp>
      <p:sp>
        <p:nvSpPr>
          <p:cNvPr id="9" name="Text 7"/>
          <p:cNvSpPr/>
          <p:nvPr/>
        </p:nvSpPr>
        <p:spPr>
          <a:xfrm>
            <a:off x="43891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misread = mis- + read (read wrongly)</a:t>
            </a:r>
            <a:endParaRPr lang="en-US" sz="1100" dirty="0"/>
          </a:p>
        </p:txBody>
      </p:sp>
      <p:sp>
        <p:nvSpPr>
          <p:cNvPr id="10" name="Shape 8"/>
          <p:cNvSpPr/>
          <p:nvPr/>
        </p:nvSpPr>
        <p:spPr>
          <a:xfrm>
            <a:off x="2468880" y="1847088"/>
            <a:ext cx="2011680" cy="502920"/>
          </a:xfrm>
          <a:prstGeom prst="roundRect">
            <a:avLst>
              <a:gd name="adj" fmla="val 14545"/>
            </a:avLst>
          </a:prstGeom>
          <a:solidFill>
            <a:srgbClr val="F8F4FF"/>
          </a:solidFill>
          <a:ln w="12700">
            <a:solidFill>
              <a:srgbClr val="8B6FC0"/>
            </a:solidFill>
            <a:prstDash val="solid"/>
          </a:ln>
        </p:spPr>
      </p:sp>
      <p:sp>
        <p:nvSpPr>
          <p:cNvPr id="11" name="Text 9"/>
          <p:cNvSpPr/>
          <p:nvPr/>
        </p:nvSpPr>
        <p:spPr>
          <a:xfrm>
            <a:off x="254203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nonfiction = non- + fiction (not fiction)</a:t>
            </a:r>
            <a:endParaRPr lang="en-US" sz="1100" dirty="0"/>
          </a:p>
        </p:txBody>
      </p:sp>
      <p:sp>
        <p:nvSpPr>
          <p:cNvPr id="12" name="Shape 10"/>
          <p:cNvSpPr/>
          <p:nvPr/>
        </p:nvSpPr>
        <p:spPr>
          <a:xfrm>
            <a:off x="4572000" y="1847088"/>
            <a:ext cx="2011680" cy="502920"/>
          </a:xfrm>
          <a:prstGeom prst="roundRect">
            <a:avLst>
              <a:gd name="adj" fmla="val 14545"/>
            </a:avLst>
          </a:prstGeom>
          <a:solidFill>
            <a:srgbClr val="F8F4FF"/>
          </a:solidFill>
          <a:ln w="12700">
            <a:solidFill>
              <a:srgbClr val="8B6FC0"/>
            </a:solidFill>
            <a:prstDash val="solid"/>
          </a:ln>
        </p:spPr>
      </p:sp>
      <p:sp>
        <p:nvSpPr>
          <p:cNvPr id="13" name="Text 11"/>
          <p:cNvSpPr/>
          <p:nvPr/>
        </p:nvSpPr>
        <p:spPr>
          <a:xfrm>
            <a:off x="464515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incorrect = in- + correct (not correct)</a:t>
            </a:r>
            <a:endParaRPr lang="en-US" sz="1100" dirty="0"/>
          </a:p>
        </p:txBody>
      </p:sp>
      <p:sp>
        <p:nvSpPr>
          <p:cNvPr id="14" name="Shape 12"/>
          <p:cNvSpPr/>
          <p:nvPr/>
        </p:nvSpPr>
        <p:spPr>
          <a:xfrm>
            <a:off x="6675120" y="1847088"/>
            <a:ext cx="2011680" cy="502920"/>
          </a:xfrm>
          <a:prstGeom prst="roundRect">
            <a:avLst>
              <a:gd name="adj" fmla="val 14545"/>
            </a:avLst>
          </a:prstGeom>
          <a:solidFill>
            <a:srgbClr val="F8F4FF"/>
          </a:solidFill>
          <a:ln w="12700">
            <a:solidFill>
              <a:srgbClr val="8B6FC0"/>
            </a:solidFill>
            <a:prstDash val="solid"/>
          </a:ln>
        </p:spPr>
      </p:sp>
      <p:sp>
        <p:nvSpPr>
          <p:cNvPr id="15" name="Text 13"/>
          <p:cNvSpPr/>
          <p:nvPr/>
        </p:nvSpPr>
        <p:spPr>
          <a:xfrm>
            <a:off x="674827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impossible = im- + possible (not possible)</a:t>
            </a:r>
            <a:endParaRPr lang="en-US" sz="1100" dirty="0"/>
          </a:p>
        </p:txBody>
      </p:sp>
      <p:sp>
        <p:nvSpPr>
          <p:cNvPr id="16" name="Text 14"/>
          <p:cNvSpPr/>
          <p:nvPr/>
        </p:nvSpPr>
        <p:spPr>
          <a:xfrm>
            <a:off x="365760" y="246888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7249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7706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 — spell — to spell wrongly</a:t>
            </a:r>
            <a:endParaRPr lang="en-US" sz="1300" dirty="0"/>
          </a:p>
        </p:txBody>
      </p:sp>
      <p:sp>
        <p:nvSpPr>
          <p:cNvPr id="19" name="Shape 17"/>
          <p:cNvSpPr/>
          <p:nvPr/>
        </p:nvSpPr>
        <p:spPr>
          <a:xfrm>
            <a:off x="365760" y="31821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2278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non — stop — without stopping</a:t>
            </a:r>
            <a:endParaRPr lang="en-US" sz="1300" dirty="0"/>
          </a:p>
        </p:txBody>
      </p:sp>
      <p:sp>
        <p:nvSpPr>
          <p:cNvPr id="21" name="Shape 19"/>
          <p:cNvSpPr/>
          <p:nvPr/>
        </p:nvSpPr>
        <p:spPr>
          <a:xfrm>
            <a:off x="365760" y="36393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6850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 — visible — not visible</a:t>
            </a:r>
            <a:endParaRPr lang="en-US" sz="1300" dirty="0"/>
          </a:p>
        </p:txBody>
      </p:sp>
      <p:sp>
        <p:nvSpPr>
          <p:cNvPr id="23" name="Shape 21"/>
          <p:cNvSpPr/>
          <p:nvPr/>
        </p:nvSpPr>
        <p:spPr>
          <a:xfrm>
            <a:off x="365760" y="40965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1422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im — polite — not polite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176022"/>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Nicodemus was _____ in a net at the marketplace.</a:t>
            </a:r>
            <a:endParaRPr lang="en-US" sz="1050" dirty="0"/>
          </a:p>
        </p:txBody>
      </p:sp>
      <p:sp>
        <p:nvSpPr>
          <p:cNvPr id="7" name="Text 5"/>
          <p:cNvSpPr/>
          <p:nvPr/>
        </p:nvSpPr>
        <p:spPr>
          <a:xfrm>
            <a:off x="457200" y="1236726"/>
            <a:ext cx="3794760" cy="541782"/>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snared</a:t>
            </a:r>
            <a:endParaRPr lang="en-US" sz="1300" dirty="0"/>
          </a:p>
        </p:txBody>
      </p:sp>
      <p:sp>
        <p:nvSpPr>
          <p:cNvPr id="8" name="Shape 6"/>
          <p:cNvSpPr/>
          <p:nvPr/>
        </p:nvSpPr>
        <p:spPr>
          <a:xfrm>
            <a:off x="457200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Dr Schultz was _____ on the rats to see if they could learn.</a:t>
            </a:r>
            <a:endParaRPr lang="en-US" sz="1050" dirty="0"/>
          </a:p>
        </p:txBody>
      </p:sp>
      <p:sp>
        <p:nvSpPr>
          <p:cNvPr id="10" name="Text 8"/>
          <p:cNvSpPr/>
          <p:nvPr/>
        </p:nvSpPr>
        <p:spPr>
          <a:xfrm>
            <a:off x="4709160" y="14127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experimenting</a:t>
            </a:r>
            <a:endParaRPr lang="en-US" sz="1300" dirty="0"/>
          </a:p>
        </p:txBody>
      </p:sp>
      <p:sp>
        <p:nvSpPr>
          <p:cNvPr id="11" name="Shape 9"/>
          <p:cNvSpPr/>
          <p:nvPr/>
        </p:nvSpPr>
        <p:spPr>
          <a:xfrm>
            <a:off x="320040" y="19431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345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Justin's search for the lost mice was _____ — he never found them.</a:t>
            </a:r>
            <a:endParaRPr lang="en-US" sz="1050" dirty="0"/>
          </a:p>
        </p:txBody>
      </p:sp>
      <p:sp>
        <p:nvSpPr>
          <p:cNvPr id="13" name="Text 11"/>
          <p:cNvSpPr/>
          <p:nvPr/>
        </p:nvSpPr>
        <p:spPr>
          <a:xfrm>
            <a:off x="457200" y="24414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futile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Sentence Types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Justin climbed the cage.</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Can you hold on?</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Hurry!</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Sentence Types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Justin climbed the cage.</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Can you hold on?</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Hurry!</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Chapters 16–17</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Learning to Read</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As you read today, ask yourself: What new problem appears in these chapters? How does it connect to the first problem (Timothy's sickness)?</a:t>
            </a:r>
            <a:endParaRPr lang="en-US" sz="1400" dirty="0"/>
          </a:p>
        </p:txBody>
      </p:sp>
      <p:sp>
        <p:nvSpPr>
          <p:cNvPr id="8" name="Shape 6"/>
          <p:cNvSpPr/>
          <p:nvPr/>
        </p:nvSpPr>
        <p:spPr>
          <a:xfrm>
            <a:off x="365760" y="265176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Justin is the one who finds the way out. What does that tell you about Justin?</a:t>
            </a:r>
            <a:endParaRPr lang="en-US" sz="1400" dirty="0"/>
          </a:p>
        </p:txBody>
      </p:sp>
      <p:sp>
        <p:nvSpPr>
          <p:cNvPr id="10" name="Shape 8"/>
          <p:cNvSpPr/>
          <p:nvPr/>
        </p:nvSpPr>
        <p:spPr>
          <a:xfrm>
            <a:off x="365760" y="344728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The rats break into an empty mansion and stay all winter. What does the room of books mean for them? How might it change what they want?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685800"/>
          </a:xfrm>
          <a:prstGeom prst="roundRect">
            <a:avLst>
              <a:gd name="adj" fmla="val 13333"/>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“By teaching us to read, they had taught us how to get away.”</a:t>
            </a:r>
            <a:endParaRPr lang="en-US" sz="1600" dirty="0"/>
          </a:p>
        </p:txBody>
      </p:sp>
      <p:sp>
        <p:nvSpPr>
          <p:cNvPr id="7" name="Text 5"/>
          <p:cNvSpPr/>
          <p:nvPr/>
        </p:nvSpPr>
        <p:spPr>
          <a:xfrm>
            <a:off x="365760" y="1856232"/>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093976"/>
            <a:ext cx="8412480" cy="531876"/>
          </a:xfrm>
          <a:prstGeom prst="roundRect">
            <a:avLst>
              <a:gd name="adj" fmla="val 17192"/>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157984"/>
            <a:ext cx="2651760" cy="403860"/>
          </a:xfrm>
          <a:prstGeom prst="rect">
            <a:avLst/>
          </a:prstGeom>
          <a:noFill/>
          <a:ln/>
        </p:spPr>
        <p:txBody>
          <a:bodyPr wrap="square" lIns="0" tIns="0" rIns="0" bIns="0" rtlCol="0" anchor="t"/>
          <a:lstStyle/>
          <a:p>
            <a:pPr indent="0" marL="0">
              <a:buNone/>
            </a:pPr>
            <a:r>
              <a:rPr lang="en-US" sz="1250" b="1" dirty="0">
                <a:solidFill>
                  <a:srgbClr val="0E1C42"/>
                </a:solidFill>
                <a:latin typeface="Calibri" pitchFamily="34" charset="0"/>
                <a:ea typeface="Calibri" pitchFamily="34" charset="-122"/>
                <a:cs typeface="Calibri" pitchFamily="34" charset="-120"/>
              </a:rPr>
              <a:t>Read like a Reader</a:t>
            </a:r>
            <a:endParaRPr lang="en-US" sz="1250" dirty="0"/>
          </a:p>
        </p:txBody>
      </p:sp>
      <p:sp>
        <p:nvSpPr>
          <p:cNvPr id="10" name="Text 8"/>
          <p:cNvSpPr/>
          <p:nvPr/>
        </p:nvSpPr>
        <p:spPr>
          <a:xfrm>
            <a:off x="3337560" y="2157984"/>
            <a:ext cx="5303520" cy="40386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What does Nicodemus realize about Dr Schultz and the training? Is this what Dr Schultz meant to do?</a:t>
            </a:r>
            <a:endParaRPr lang="en-US" sz="1150" dirty="0"/>
          </a:p>
        </p:txBody>
      </p:sp>
      <p:sp>
        <p:nvSpPr>
          <p:cNvPr id="11" name="Shape 9"/>
          <p:cNvSpPr/>
          <p:nvPr/>
        </p:nvSpPr>
        <p:spPr>
          <a:xfrm>
            <a:off x="365760" y="2699004"/>
            <a:ext cx="8412480" cy="531876"/>
          </a:xfrm>
          <a:prstGeom prst="roundRect">
            <a:avLst>
              <a:gd name="adj" fmla="val 17192"/>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763012"/>
            <a:ext cx="2651760" cy="403860"/>
          </a:xfrm>
          <a:prstGeom prst="rect">
            <a:avLst/>
          </a:prstGeom>
          <a:noFill/>
          <a:ln/>
        </p:spPr>
        <p:txBody>
          <a:bodyPr wrap="square" lIns="0" tIns="0" rIns="0" bIns="0" rtlCol="0" anchor="t"/>
          <a:lstStyle/>
          <a:p>
            <a:pPr indent="0" marL="0">
              <a:buNone/>
            </a:pPr>
            <a:r>
              <a:rPr lang="en-US" sz="1250" b="1" dirty="0">
                <a:solidFill>
                  <a:srgbClr val="0E1C42"/>
                </a:solidFill>
                <a:latin typeface="Calibri" pitchFamily="34" charset="0"/>
                <a:ea typeface="Calibri" pitchFamily="34" charset="-122"/>
                <a:cs typeface="Calibri" pitchFamily="34" charset="-120"/>
              </a:rPr>
              <a:t>Read like a Writer</a:t>
            </a:r>
            <a:endParaRPr lang="en-US" sz="1250" dirty="0"/>
          </a:p>
        </p:txBody>
      </p:sp>
      <p:sp>
        <p:nvSpPr>
          <p:cNvPr id="13" name="Text 11"/>
          <p:cNvSpPr/>
          <p:nvPr/>
        </p:nvSpPr>
        <p:spPr>
          <a:xfrm>
            <a:off x="3337560" y="2763012"/>
            <a:ext cx="5303520" cy="40386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How did O'Brien build this sentence? Notice the structure “By [doing X], they had [unintended Y]”</a:t>
            </a:r>
            <a:endParaRPr lang="en-US" sz="1150" dirty="0"/>
          </a:p>
        </p:txBody>
      </p:sp>
      <p:sp>
        <p:nvSpPr>
          <p:cNvPr id="14" name="Shape 12"/>
          <p:cNvSpPr/>
          <p:nvPr/>
        </p:nvSpPr>
        <p:spPr>
          <a:xfrm>
            <a:off x="365760" y="3304032"/>
            <a:ext cx="8412480" cy="457200"/>
          </a:xfrm>
          <a:prstGeom prst="roundRect">
            <a:avLst>
              <a:gd name="adj" fmla="val 20000"/>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368040"/>
            <a:ext cx="2651760" cy="329184"/>
          </a:xfrm>
          <a:prstGeom prst="rect">
            <a:avLst/>
          </a:prstGeom>
          <a:noFill/>
          <a:ln/>
        </p:spPr>
        <p:txBody>
          <a:bodyPr wrap="square" lIns="0" tIns="0" rIns="0" bIns="0" rtlCol="0" anchor="t"/>
          <a:lstStyle/>
          <a:p>
            <a:pPr indent="0" marL="0">
              <a:buNone/>
            </a:pPr>
            <a:r>
              <a:rPr lang="en-US" sz="1250" b="1" dirty="0">
                <a:solidFill>
                  <a:srgbClr val="0E1C42"/>
                </a:solidFill>
                <a:latin typeface="Calibri" pitchFamily="34" charset="0"/>
                <a:ea typeface="Calibri" pitchFamily="34" charset="-122"/>
                <a:cs typeface="Calibri" pitchFamily="34" charset="-120"/>
              </a:rPr>
              <a:t>Mimic</a:t>
            </a:r>
            <a:endParaRPr lang="en-US" sz="1250" dirty="0"/>
          </a:p>
        </p:txBody>
      </p:sp>
      <p:sp>
        <p:nvSpPr>
          <p:cNvPr id="16" name="Text 14"/>
          <p:cNvSpPr/>
          <p:nvPr/>
        </p:nvSpPr>
        <p:spPr>
          <a:xfrm>
            <a:off x="3337560" y="3368040"/>
            <a:ext cx="5303520" cy="329184"/>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Narrative Writing — Add Dialogue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Add dialogue to your story’s most tense or exciting moment.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2026-07-11T21:52:57Z</dcterms:created>
  <dcterms:modified xsi:type="dcterms:W3CDTF">2026-07-11T21:52:57Z</dcterms:modified>
</cp:coreProperties>
</file>