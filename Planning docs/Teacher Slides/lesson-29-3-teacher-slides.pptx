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29,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Pair a quiet physical action with sudden urgent dialogue to build a moment of tension and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Pair a quiet physical action with sudden urgent dialogue to build a moment of tension and surprise..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Does your shouted dialogue feel like a natural, urgent reaction to the action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quiet-action-then-shout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Susan and Edmund began to see Aslan too, and admitted they should have believed Lucy. Today: Witness the tense, dangerous meeting with Nikabrik in the dark. Big Q: What has Nikabrik been feeling and thinking throughout this book? What has pushed him to this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"Peter drew his sword in the darkness , and Edmund shouted , “ It’s sorcery ! Stop them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"nikabrik wanted to call up the white witch but trufflehunter the badger said we dont change we hold on" Corrected: "Nikabrik wanted to call up the White Witch, but Trufflehunter the badger said, “We don’t change, we hold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"nikabrik wanted to call up the white witch but trufflehunter the badger said we dont change we hold on" Corrected: "Nikabrik wanted to call up the White Witch, but Trufflehunter the badger said, “We don’t change, we hold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sorcery: the use of dark magic or evil spells. | allegiance: loyalty sworn to a ruler or cause. | treason: the crime of betraying one’s king or country. | hag: an ugly old woman who practices dark magic. | werewolf: a creature that is part human, part wolf. | vengeance: punishment or revenge for a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A complex sentence joins an independent clause with a dependent clause using a subordinating conjunction: because, although, when, even though, if, after, before.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SWYK: Choose 5 spelling words from this week’s list. For each word, write the root it contains (rupt, duct/duce, or form) and what the whole word means. Then use TWO of the words in sentences about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"“I’m a beast and we don’t change. I’m a badger, what’s more, and we hold on.”"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Building the Claim
Focus: Add a third piece of evidence, ideally from a tense or dramatic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29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12</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Sorcery and Sudden Vengeance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29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sentence combines a quiet action (drawing a sword) with a loud, urgent shout. Why pair a quiet action with sudden loud dialogue?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pairing a quiet, tense action with a sudden, urgent shout of dialogue.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Pair a quiet physical action with sudden urgent dialogue to build a moment of tension and surprise.</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Does your shouted dialogue feel like a natural, urgent reaction to the action before it?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quiet-action-then-shout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Susan and Edmund began to see Aslan too, and admitted they should have believed Lucy.</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Witness the tense, dangerous meeting with Nikabrik in the dark.</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What has Nikabrik been feeling and thinking throughout this book? What has pushed him to this moment?</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right and wrong. As you read, notice the choices characters make &amp;mdash; especially Nikabrik. What drives someone to make a terrible...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Peter drew his sword in the darkness , and Edmund shouted , “ It’s sorcery ! Stop them !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nikabrik wanted to call up the white witch but trufflehunter the badger said we dont change we hold on</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nikabrik wanted to call up the white witch but trufflehunter the badger said we dont change we hold on</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Nikabrik wanted to call up the White Witch, but Trufflehunter the badger said, “We don’t change, we hold 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6 WORDS - READ THE SENTENCE, THEN THE MEANING</a:t>
            </a:r>
            <a:endParaRPr lang="en-US" sz="1100" dirty="0"/>
          </a:p>
        </p:txBody>
      </p:sp>
      <p:sp>
        <p:nvSpPr>
          <p:cNvPr id="5" name="Shape 3"/>
          <p:cNvSpPr/>
          <p:nvPr/>
        </p:nvSpPr>
        <p:spPr>
          <a:xfrm>
            <a:off x="32004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sorcery</a:t>
            </a:r>
            <a:endParaRPr lang="en-US" sz="1400" dirty="0"/>
          </a:p>
        </p:txBody>
      </p:sp>
      <p:sp>
        <p:nvSpPr>
          <p:cNvPr id="7" name="Text 5"/>
          <p:cNvSpPr/>
          <p:nvPr/>
        </p:nvSpPr>
        <p:spPr>
          <a:xfrm>
            <a:off x="45720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the use of dark magic or evil spells.</a:t>
            </a:r>
            <a:endParaRPr lang="en-US" sz="1100" dirty="0"/>
          </a:p>
        </p:txBody>
      </p:sp>
      <p:sp>
        <p:nvSpPr>
          <p:cNvPr id="8" name="Shape 6"/>
          <p:cNvSpPr/>
          <p:nvPr/>
        </p:nvSpPr>
        <p:spPr>
          <a:xfrm>
            <a:off x="457200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allegiance</a:t>
            </a:r>
            <a:endParaRPr lang="en-US" sz="1400" dirty="0"/>
          </a:p>
        </p:txBody>
      </p:sp>
      <p:sp>
        <p:nvSpPr>
          <p:cNvPr id="10" name="Text 8"/>
          <p:cNvSpPr/>
          <p:nvPr/>
        </p:nvSpPr>
        <p:spPr>
          <a:xfrm>
            <a:off x="470916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loyalty sworn to a ruler or cause.</a:t>
            </a:r>
            <a:endParaRPr lang="en-US" sz="1100" dirty="0"/>
          </a:p>
        </p:txBody>
      </p:sp>
      <p:sp>
        <p:nvSpPr>
          <p:cNvPr id="11" name="Shape 9"/>
          <p:cNvSpPr/>
          <p:nvPr/>
        </p:nvSpPr>
        <p:spPr>
          <a:xfrm>
            <a:off x="32004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treason</a:t>
            </a:r>
            <a:endParaRPr lang="en-US" sz="1400" dirty="0"/>
          </a:p>
        </p:txBody>
      </p:sp>
      <p:sp>
        <p:nvSpPr>
          <p:cNvPr id="13" name="Text 11"/>
          <p:cNvSpPr/>
          <p:nvPr/>
        </p:nvSpPr>
        <p:spPr>
          <a:xfrm>
            <a:off x="45720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the crime of betraying one’s king or country.</a:t>
            </a:r>
            <a:endParaRPr lang="en-US" sz="1100" dirty="0"/>
          </a:p>
        </p:txBody>
      </p:sp>
      <p:sp>
        <p:nvSpPr>
          <p:cNvPr id="14" name="Shape 12"/>
          <p:cNvSpPr/>
          <p:nvPr/>
        </p:nvSpPr>
        <p:spPr>
          <a:xfrm>
            <a:off x="457200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hag</a:t>
            </a:r>
            <a:endParaRPr lang="en-US" sz="1400" dirty="0"/>
          </a:p>
        </p:txBody>
      </p:sp>
      <p:sp>
        <p:nvSpPr>
          <p:cNvPr id="16" name="Text 14"/>
          <p:cNvSpPr/>
          <p:nvPr/>
        </p:nvSpPr>
        <p:spPr>
          <a:xfrm>
            <a:off x="470916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an ugly old woman who practices dark magic.</a:t>
            </a:r>
            <a:endParaRPr lang="en-US" sz="1100" dirty="0"/>
          </a:p>
        </p:txBody>
      </p:sp>
      <p:sp>
        <p:nvSpPr>
          <p:cNvPr id="17" name="Shape 15"/>
          <p:cNvSpPr/>
          <p:nvPr/>
        </p:nvSpPr>
        <p:spPr>
          <a:xfrm>
            <a:off x="320040" y="2962656"/>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57200" y="30540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werewolf</a:t>
            </a:r>
            <a:endParaRPr lang="en-US" sz="1400" dirty="0"/>
          </a:p>
        </p:txBody>
      </p:sp>
      <p:sp>
        <p:nvSpPr>
          <p:cNvPr id="19" name="Text 17"/>
          <p:cNvSpPr/>
          <p:nvPr/>
        </p:nvSpPr>
        <p:spPr>
          <a:xfrm>
            <a:off x="457200" y="3364992"/>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creature that is part human, part wolf.</a:t>
            </a:r>
            <a:endParaRPr lang="en-US" sz="1100" dirty="0"/>
          </a:p>
        </p:txBody>
      </p:sp>
      <p:sp>
        <p:nvSpPr>
          <p:cNvPr id="20" name="Shape 18"/>
          <p:cNvSpPr/>
          <p:nvPr/>
        </p:nvSpPr>
        <p:spPr>
          <a:xfrm>
            <a:off x="4572000" y="2962656"/>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21" name="Text 19"/>
          <p:cNvSpPr/>
          <p:nvPr/>
        </p:nvSpPr>
        <p:spPr>
          <a:xfrm>
            <a:off x="4709160" y="30540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vengeance</a:t>
            </a:r>
            <a:endParaRPr lang="en-US" sz="1400" dirty="0"/>
          </a:p>
        </p:txBody>
      </p:sp>
      <p:sp>
        <p:nvSpPr>
          <p:cNvPr id="22" name="Text 20"/>
          <p:cNvSpPr/>
          <p:nvPr/>
        </p:nvSpPr>
        <p:spPr>
          <a:xfrm>
            <a:off x="4709160" y="3364992"/>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punishment or revenge for a wrong.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Write Your Own — Use</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102870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8001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A complex sentence joins an independent clause with a dependent clause using a subordinating conjunction: because, although, when, even though, if, after, before.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Apply — Spelling Test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WORD REFERENCE</a:t>
            </a:r>
            <a:endParaRPr lang="en-US" sz="1100" dirty="0"/>
          </a:p>
        </p:txBody>
      </p:sp>
      <p:sp>
        <p:nvSpPr>
          <p:cNvPr id="7" name="Text 5"/>
          <p:cNvSpPr/>
          <p:nvPr/>
        </p:nvSpPr>
        <p:spPr>
          <a:xfrm>
            <a:off x="365760" y="22037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SHOW WHAT YOU KNOW</a:t>
            </a:r>
            <a:endParaRPr lang="en-US" sz="1100" dirty="0"/>
          </a:p>
        </p:txBody>
      </p:sp>
      <p:sp>
        <p:nvSpPr>
          <p:cNvPr id="8" name="Shape 6"/>
          <p:cNvSpPr/>
          <p:nvPr/>
        </p:nvSpPr>
        <p:spPr>
          <a:xfrm>
            <a:off x="365760" y="2459736"/>
            <a:ext cx="8412480" cy="978408"/>
          </a:xfrm>
          <a:prstGeom prst="roundRect">
            <a:avLst>
              <a:gd name="adj" fmla="val 9346"/>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48640" y="2569464"/>
            <a:ext cx="8046720" cy="749808"/>
          </a:xfrm>
          <a:prstGeom prst="rect">
            <a:avLst/>
          </a:prstGeom>
          <a:noFill/>
          <a:ln/>
        </p:spPr>
        <p:txBody>
          <a:bodyPr wrap="square" lIns="0" tIns="0" rIns="0" bIns="0"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Choose 5 spelling words from this week’s list. For each word, write the root it contains (rupt, duct/duce, or form) and what the whole word means. Then use TWO of the words in sentences about Chapter 12.</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12</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Sorcery and Sudden Vengeance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Peter tells Caspian, “I haven’t come to take your place, but to put you into it.” What does this tell you about Peter?</a:t>
            </a:r>
            <a:endParaRPr lang="en-US" sz="1400" dirty="0"/>
          </a:p>
        </p:txBody>
      </p:sp>
      <p:sp>
        <p:nvSpPr>
          <p:cNvPr id="8" name="Shape 6"/>
          <p:cNvSpPr/>
          <p:nvPr/>
        </p:nvSpPr>
        <p:spPr>
          <a:xfrm>
            <a:off x="365760" y="265176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Caspian says Nikabrik “had gone sour inside.” Can suffering turn someone bad? What do you think?</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Nikabrik wants to call up the White Witch. He says any power that will help them win is worth using. Why is Nikabrik willing to go this far? What has his life been like? What has made him so desperate?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“I’m a beast and we don’t change. I’m a badger, what’s more, and we hold on.”</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1335024"/>
          </a:xfrm>
          <a:prstGeom prst="roundRect">
            <a:avLst>
              <a:gd name="adj" fmla="val 6849"/>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1207008"/>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1207008"/>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Who says this? Trufflehunter the badger, pushing back against Nikabrik’s dark plan. What does he mean by “we don’t change”? He is saying that beasts are loyal — they stay true. And “we hold on” means they keep going even when things are hard. How does this contrast with what Nikabrik wants to do?</a:t>
            </a:r>
            <a:endParaRPr lang="en-US" sz="1200" dirty="0"/>
          </a:p>
        </p:txBody>
      </p:sp>
      <p:sp>
        <p:nvSpPr>
          <p:cNvPr id="11" name="Shape 9"/>
          <p:cNvSpPr/>
          <p:nvPr/>
        </p:nvSpPr>
        <p:spPr>
          <a:xfrm>
            <a:off x="365760" y="3663696"/>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727704"/>
            <a:ext cx="2651760" cy="32918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727704"/>
            <a:ext cx="5303520" cy="32918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Notice the parallel structure</a:t>
            </a:r>
            <a:endParaRPr lang="en-US" sz="1200" dirty="0"/>
          </a:p>
        </p:txBody>
      </p:sp>
      <p:sp>
        <p:nvSpPr>
          <p:cNvPr id="14" name="Shape 12"/>
          <p:cNvSpPr/>
          <p:nvPr/>
        </p:nvSpPr>
        <p:spPr>
          <a:xfrm>
            <a:off x="365760" y="4212336"/>
            <a:ext cx="8412480" cy="932688"/>
          </a:xfrm>
          <a:prstGeom prst="roundRect">
            <a:avLst>
              <a:gd name="adj" fmla="val 9804"/>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4276344"/>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4276344"/>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version using the same parallel pattern. Imagine a character (from any book or from your imagination) declaring who they are and what they do. Use the frame below.</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Building the Claim</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Add a third piece of evidence, ideally from a tense or dramatic moment.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