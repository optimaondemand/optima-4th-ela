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13, Day 2. Novel emoji: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1 quiet minute to look/read closely before any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Push toward naming the craft move: Use evidence + explanation: state the evidence, then explain in your own words why it proves your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12-minute timer. Craft move: Use evidence + explanation: state the evidence, then explain in your own words why it proves your claim.. Level-up: ⭐ Include one direct detail from the book  ⭐⭐ Use the phrase "This shows..."  ⭐⭐⭐ Explain why the evidence matters, not just what it is  ⭐⭐⭐⭐ Connect the evidence back to your exact claim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2-minute timer. Today's revision focus: Reread your evidence paragraph. Add one sentence that explains WHY the evidence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3-5 students. Keep sharing craft-focused: "Share your evidence sentence and the explanation that follows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1-minute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Yesterday, Anne officially joined the Queen’s class alongside Gilbert. Today: Find out how Anne and Gilbert perform on the Queen’s entrance exam. Big Q: Today, watch for how the author introduces Anne. What does she say? What does she do? How does her voice make her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DOL model: "Anne and Gilbert were tied for first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"matthew was proud of anne his eyes were filled with joy" Corrected: "Matthew was proud of Anne. His eyes were filled with joy."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"matthew was proud of anne his eyes were filled with joy" Corrected: "Matthew was proud of Anne. His eyes were filled with joy."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 ambition: A strong desire to achieve something important. | broadminded: Open to new ideas; willing to consider different points of view. | composure: Calmness; the ability to stay steady, especially under pressure. | tactful: Careful not to hurt other people’s feelings; thoughtful in dealing with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"Anne and Gilbert were tied for first." -&gt; were | "Matthew felt proud of Anne." -&gt; felt | "The geometry exam was hard." -&gt; was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"Anne and Gilbert were tied for first." -&gt; were | "Matthew felt proud of Anne." -&gt; felt | "The geometry exam was hard." -&gt; was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-er / -est: kinder, biggest, brighter | more / most: more careful, most cheerful, more romantic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-er / -est: kinder, biggest, brighter | more / most: more careful, most cheerful, more romantic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Chapter 32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RWM: "“She wanted to ‘pass high’ for the sake of Matthew and Marilla — especially Matthew.”"
Craft: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Character Growth Essay — Evidence #1
Focus: Write your first evidence paragraph, using a specific moment from your own narrative.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6B2E4A"/>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D98BB0">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D98BB0"/>
                </a:solidFill>
                <a:latin typeface="Calibri" pitchFamily="34" charset="0"/>
                <a:ea typeface="Calibri" pitchFamily="34" charset="-122"/>
                <a:cs typeface="Calibri" pitchFamily="34" charset="-120"/>
              </a:rPr>
              <a:t>WEEK 13  ·  DAY 2</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Chapter 32</a:t>
            </a:r>
            <a:endParaRPr lang="en-US" sz="3200" dirty="0"/>
          </a:p>
          <a:p>
            <a:pPr algn="l" indent="0" marL="0">
              <a:buNone/>
            </a:pPr>
            <a:r>
              <a:rPr lang="en-US" sz="3200" b="1" dirty="0">
                <a:solidFill>
                  <a:srgbClr val="FFFFFF"/>
                </a:solidFill>
                <a:latin typeface="Calibri" pitchFamily="34" charset="0"/>
                <a:ea typeface="Calibri" pitchFamily="34" charset="-122"/>
                <a:cs typeface="Calibri" pitchFamily="34" charset="-120"/>
              </a:rPr>
              <a:t>The Pass List Is Out</a:t>
            </a:r>
            <a:endParaRPr lang="en-US" sz="32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13  ·  Virtue: Imagination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Notice</a:t>
            </a:r>
            <a:endParaRPr lang="en-US" sz="28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457200" y="96012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LOOK CLOSELY - 1 MINUTE</a:t>
            </a:r>
            <a:endParaRPr lang="en-US" sz="1100" dirty="0"/>
          </a:p>
        </p:txBody>
      </p:sp>
      <p:sp>
        <p:nvSpPr>
          <p:cNvPr id="5" name="Shape 3"/>
          <p:cNvSpPr/>
          <p:nvPr/>
        </p:nvSpPr>
        <p:spPr>
          <a:xfrm>
            <a:off x="457200" y="1325880"/>
            <a:ext cx="8229600" cy="1005840"/>
          </a:xfrm>
          <a:prstGeom prst="roundRect">
            <a:avLst>
              <a:gd name="adj" fmla="val 9091"/>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640080" y="1435608"/>
            <a:ext cx="7863840" cy="7772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Anne and Gilbert were tied for first place.</a:t>
            </a:r>
            <a:endParaRPr lang="en-US" sz="1600" dirty="0"/>
          </a:p>
        </p:txBody>
      </p:sp>
      <p:sp>
        <p:nvSpPr>
          <p:cNvPr id="7" name="Text 5"/>
          <p:cNvSpPr/>
          <p:nvPr/>
        </p:nvSpPr>
        <p:spPr>
          <a:xfrm>
            <a:off x="548640" y="2496312"/>
            <a:ext cx="8046720" cy="2441448"/>
          </a:xfrm>
          <a:prstGeom prst="rect">
            <a:avLst/>
          </a:prstGeom>
          <a:noFill/>
          <a:ln/>
        </p:spPr>
        <p:txBody>
          <a:bodyPr wrap="square" lIns="0" tIns="0" rIns="0" bIns="0" rtlCol="0" anchor="t"/>
          <a:lstStyle/>
          <a:p>
            <a:pPr indent="0" marL="0">
              <a:buNone/>
            </a:pPr>
            <a:r>
              <a:rPr lang="en-US" sz="1200" b="1" dirty="0">
                <a:solidFill>
                  <a:srgbClr val="8B6FC0"/>
                </a:solidFill>
                <a:latin typeface="Calibri" pitchFamily="34" charset="0"/>
                <a:ea typeface="Calibri" pitchFamily="34" charset="-122"/>
                <a:cs typeface="Calibri" pitchFamily="34" charset="-120"/>
              </a:rPr>
              <a:t>From the novel: </a:t>
            </a:r>
            <a:pPr indent="0" marL="0">
              <a:buNone/>
            </a:pPr>
            <a:r>
              <a:rPr lang="en-US" sz="1200" i="1" dirty="0">
                <a:solidFill>
                  <a:srgbClr val="1E293B"/>
                </a:solidFill>
                <a:latin typeface="Calibri" pitchFamily="34" charset="0"/>
                <a:ea typeface="Calibri" pitchFamily="34" charset="-122"/>
                <a:cs typeface="Calibri" pitchFamily="34" charset="-120"/>
              </a:rPr>
              <a:t>"She wanted to ‘pass high’ for the sake of Matthew and Marilla — especially Matthew."</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Discuss</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D98BB0"/>
                </a:solidFill>
                <a:latin typeface="Calibri" pitchFamily="34" charset="0"/>
                <a:ea typeface="Calibri" pitchFamily="34" charset="-122"/>
                <a:cs typeface="Calibri" pitchFamily="34" charset="-120"/>
              </a:rPr>
              <a:t>TALK IT OVER - 2 MINUTES</a:t>
            </a:r>
            <a:endParaRPr lang="en-US" sz="1100" dirty="0"/>
          </a:p>
        </p:txBody>
      </p:sp>
      <p:sp>
        <p:nvSpPr>
          <p:cNvPr id="7" name="Shape 5"/>
          <p:cNvSpPr/>
          <p:nvPr/>
        </p:nvSpPr>
        <p:spPr>
          <a:xfrm>
            <a:off x="365760" y="1097280"/>
            <a:ext cx="8412480" cy="1097280"/>
          </a:xfrm>
          <a:prstGeom prst="roundRect">
            <a:avLst>
              <a:gd name="adj" fmla="val 8333"/>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88720"/>
            <a:ext cx="7863840" cy="914400"/>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What does this sentence show about WHY Anne wants to succeed — for herself, or for someone else? Turn and talk.</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182880"/>
            <a:ext cx="82296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Write</a:t>
            </a:r>
            <a:endParaRPr lang="en-US" sz="3200" dirty="0"/>
          </a:p>
        </p:txBody>
      </p:sp>
      <p:sp>
        <p:nvSpPr>
          <p:cNvPr id="3" name="Text 1"/>
          <p:cNvSpPr/>
          <p:nvPr/>
        </p:nvSpPr>
        <p:spPr>
          <a:xfrm>
            <a:off x="914400" y="749808"/>
            <a:ext cx="7315200" cy="347472"/>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12 minutes - keep your pencil moving!</a:t>
            </a:r>
            <a:endParaRPr lang="en-US" sz="1500" dirty="0"/>
          </a:p>
        </p:txBody>
      </p:sp>
      <p:sp>
        <p:nvSpPr>
          <p:cNvPr id="4" name="Shape 2"/>
          <p:cNvSpPr/>
          <p:nvPr/>
        </p:nvSpPr>
        <p:spPr>
          <a:xfrm>
            <a:off x="457200" y="1170432"/>
            <a:ext cx="8229600" cy="822960"/>
          </a:xfrm>
          <a:prstGeom prst="roundRect">
            <a:avLst>
              <a:gd name="adj" fmla="val 11111"/>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225296"/>
            <a:ext cx="7863840" cy="731520"/>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Prompt: </a:t>
            </a:r>
            <a:pPr indent="0" marL="0">
              <a:buNone/>
            </a:pPr>
            <a:r>
              <a:rPr lang="en-US" sz="1200" i="1" dirty="0">
                <a:solidFill>
                  <a:srgbClr val="1E293B"/>
                </a:solidFill>
                <a:latin typeface="Calibri" pitchFamily="34" charset="0"/>
                <a:ea typeface="Calibri" pitchFamily="34" charset="-122"/>
                <a:cs typeface="Calibri" pitchFamily="34" charset="-120"/>
              </a:rPr>
              <a:t>Choose one piece of evidence from the book that supports your claim about how Anne changed. Write a paragraph explaining that evidence and why it matters.</a:t>
            </a:r>
            <a:endParaRPr lang="en-US" sz="1200" dirty="0"/>
          </a:p>
        </p:txBody>
      </p:sp>
      <p:sp>
        <p:nvSpPr>
          <p:cNvPr id="6" name="Shape 4"/>
          <p:cNvSpPr/>
          <p:nvPr/>
        </p:nvSpPr>
        <p:spPr>
          <a:xfrm>
            <a:off x="457200" y="2121408"/>
            <a:ext cx="8229600" cy="655320"/>
          </a:xfrm>
          <a:prstGeom prst="roundRect">
            <a:avLst>
              <a:gd name="adj" fmla="val 13953"/>
            </a:avLst>
          </a:prstGeom>
          <a:solidFill>
            <a:srgbClr val="FFFFFF"/>
          </a:solidFill>
          <a:ln w="15875">
            <a:solidFill>
              <a:srgbClr val="8B6FC0"/>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640080" y="2176272"/>
            <a:ext cx="7863840" cy="545592"/>
          </a:xfrm>
          <a:prstGeom prst="rect">
            <a:avLst/>
          </a:prstGeom>
          <a:noFill/>
          <a:ln/>
        </p:spPr>
        <p:txBody>
          <a:bodyPr wrap="square" lIns="0" tIns="0" rIns="0" bIns="0" rtlCol="0" anchor="t"/>
          <a:lstStyle/>
          <a:p>
            <a:pPr indent="0" marL="0">
              <a:buNone/>
            </a:pPr>
            <a:r>
              <a:rPr lang="en-US" sz="1300" b="1" dirty="0">
                <a:solidFill>
                  <a:srgbClr val="8B6FC0"/>
                </a:solidFill>
                <a:latin typeface="Calibri" pitchFamily="34" charset="0"/>
                <a:ea typeface="Calibri" pitchFamily="34" charset="-122"/>
                <a:cs typeface="Calibri" pitchFamily="34" charset="-120"/>
              </a:rPr>
              <a:t>Today's craft move: </a:t>
            </a:r>
            <a:pPr indent="0" marL="0">
              <a:buNone/>
            </a:pPr>
            <a:r>
              <a:rPr lang="en-US" sz="1300" dirty="0">
                <a:solidFill>
                  <a:srgbClr val="1E293B"/>
                </a:solidFill>
                <a:latin typeface="Calibri" pitchFamily="34" charset="0"/>
                <a:ea typeface="Calibri" pitchFamily="34" charset="-122"/>
                <a:cs typeface="Calibri" pitchFamily="34" charset="-120"/>
              </a:rPr>
              <a:t>Use evidence + explanation: state the evidence, then explain in your own words why it proves your claim.</a:t>
            </a:r>
            <a:endParaRPr lang="en-US" sz="1300" dirty="0"/>
          </a:p>
        </p:txBody>
      </p:sp>
      <p:sp>
        <p:nvSpPr>
          <p:cNvPr id="8" name="Text 6"/>
          <p:cNvSpPr/>
          <p:nvPr/>
        </p:nvSpPr>
        <p:spPr>
          <a:xfrm>
            <a:off x="548640" y="2868168"/>
            <a:ext cx="8046720" cy="624078"/>
          </a:xfrm>
          <a:prstGeom prst="rect">
            <a:avLst/>
          </a:prstGeom>
          <a:noFill/>
          <a:ln/>
        </p:spPr>
        <p:txBody>
          <a:bodyPr wrap="square" lIns="0" tIns="0" rIns="0" bIns="0" rtlCol="0" anchor="ctr"/>
          <a:lstStyle/>
          <a:p>
            <a:pPr indent="0" marL="0">
              <a:buNone/>
            </a:pPr>
            <a:r>
              <a:rPr lang="en-US" sz="1150" i="1" dirty="0">
                <a:solidFill>
                  <a:srgbClr val="64748B"/>
                </a:solidFill>
                <a:latin typeface="Calibri" pitchFamily="34" charset="0"/>
                <a:ea typeface="Calibri" pitchFamily="34" charset="-122"/>
                <a:cs typeface="Calibri" pitchFamily="34" charset="-120"/>
              </a:rPr>
              <a:t>Level-Up (optional): ⭐ Include one direct detail from the book  ⭐⭐ Use the phrase "This shows..."  ⭐⭐⭐ Explain why the evidence matters, not just what it is  ⭐⭐⭐⭐ Connect the evidence back to your exact claim sentence</a:t>
            </a:r>
            <a:endParaRPr lang="en-US" sz="1150" dirty="0"/>
          </a:p>
        </p:txBody>
      </p:sp>
      <p:sp>
        <p:nvSpPr>
          <p:cNvPr id="9" name="Text 7"/>
          <p:cNvSpPr/>
          <p:nvPr/>
        </p:nvSpPr>
        <p:spPr>
          <a:xfrm>
            <a:off x="548640" y="3565398"/>
            <a:ext cx="8046720" cy="1463802"/>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Keep writing the whole time. If you get stuck, reread the prompt or write "I am thinking..." until a new idea comes.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914400" y="640080"/>
            <a:ext cx="73152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Revise</a:t>
            </a:r>
            <a:endParaRPr lang="en-US" sz="3200" dirty="0"/>
          </a:p>
        </p:txBody>
      </p:sp>
      <p:sp>
        <p:nvSpPr>
          <p:cNvPr id="3" name="Text 1"/>
          <p:cNvSpPr/>
          <p:nvPr/>
        </p:nvSpPr>
        <p:spPr>
          <a:xfrm>
            <a:off x="914400" y="1234440"/>
            <a:ext cx="7315200" cy="411480"/>
          </a:xfrm>
          <a:prstGeom prst="rect">
            <a:avLst/>
          </a:prstGeom>
          <a:noFill/>
          <a:ln/>
        </p:spPr>
        <p:txBody>
          <a:bodyPr wrap="square" lIns="0" tIns="0" rIns="0" bIns="0" rtlCol="0" anchor="ctr"/>
          <a:lstStyle/>
          <a:p>
            <a:pPr algn="ctr" indent="0" marL="0">
              <a:buNone/>
            </a:pPr>
            <a:r>
              <a:rPr lang="en-US" sz="1500" dirty="0">
                <a:solidFill>
                  <a:srgbClr val="34B76F"/>
                </a:solidFill>
                <a:latin typeface="Calibri" pitchFamily="34" charset="0"/>
                <a:ea typeface="Calibri" pitchFamily="34" charset="-122"/>
                <a:cs typeface="Calibri" pitchFamily="34" charset="-120"/>
              </a:rPr>
              <a:t>2 minutes - improve ONE specific thing</a:t>
            </a:r>
            <a:endParaRPr lang="en-US" sz="1500" dirty="0"/>
          </a:p>
        </p:txBody>
      </p:sp>
      <p:sp>
        <p:nvSpPr>
          <p:cNvPr id="4" name="Shape 2"/>
          <p:cNvSpPr/>
          <p:nvPr/>
        </p:nvSpPr>
        <p:spPr>
          <a:xfrm>
            <a:off x="1097280" y="1828800"/>
            <a:ext cx="694944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1280160" y="1901952"/>
            <a:ext cx="6583680" cy="640080"/>
          </a:xfrm>
          <a:prstGeom prst="rect">
            <a:avLst/>
          </a:prstGeom>
          <a:noFill/>
          <a:ln/>
        </p:spPr>
        <p:txBody>
          <a:bodyPr wrap="square" lIns="0" tIns="0" rIns="0" bIns="0" rtlCol="0" anchor="ctr"/>
          <a:lstStyle/>
          <a:p>
            <a:pPr indent="0" marL="0">
              <a:buNone/>
            </a:pPr>
            <a:r>
              <a:rPr lang="en-US" sz="1400" b="1" dirty="0">
                <a:solidFill>
                  <a:srgbClr val="34B76F"/>
                </a:solidFill>
                <a:latin typeface="Calibri" pitchFamily="34" charset="0"/>
                <a:ea typeface="Calibri" pitchFamily="34" charset="-122"/>
                <a:cs typeface="Calibri" pitchFamily="34" charset="-120"/>
              </a:rPr>
              <a:t>Today's revision task: </a:t>
            </a:r>
            <a:pPr indent="0" marL="0">
              <a:buNone/>
            </a:pPr>
            <a:r>
              <a:rPr lang="en-US" sz="1400" dirty="0">
                <a:solidFill>
                  <a:srgbClr val="1E293B"/>
                </a:solidFill>
                <a:latin typeface="Calibri" pitchFamily="34" charset="0"/>
                <a:ea typeface="Calibri" pitchFamily="34" charset="-122"/>
                <a:cs typeface="Calibri" pitchFamily="34" charset="-120"/>
              </a:rPr>
              <a:t>Reread your evidence paragraph. Add one sentence that explains WHY the evidence matters.</a:t>
            </a:r>
            <a:endParaRPr lang="en-US" sz="1400" dirty="0"/>
          </a:p>
        </p:txBody>
      </p:sp>
      <p:sp>
        <p:nvSpPr>
          <p:cNvPr id="6" name="Shape 4"/>
          <p:cNvSpPr/>
          <p:nvPr/>
        </p:nvSpPr>
        <p:spPr>
          <a:xfrm>
            <a:off x="1097280" y="2788920"/>
            <a:ext cx="6949440" cy="1554480"/>
          </a:xfrm>
          <a:prstGeom prst="roundRect">
            <a:avLst>
              <a:gd name="adj" fmla="val 5882"/>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280160" y="2880360"/>
            <a:ext cx="6583680" cy="1463040"/>
          </a:xfrm>
          <a:prstGeom prst="rect">
            <a:avLst/>
          </a:prstGeom>
          <a:noFill/>
          <a:ln/>
        </p:spPr>
        <p:txBody>
          <a:bodyPr wrap="square" lIns="0" tIns="0" rIns="0" bIns="0" rtlCol="0" anchor="t"/>
          <a:lstStyle/>
          <a:p>
            <a:pPr indent="0" marL="0">
              <a:spcAft>
                <a:spcPts val="200"/>
              </a:spcAft>
              <a:buNone/>
            </a:pPr>
            <a:r>
              <a:rPr lang="en-US" sz="1250" b="1" dirty="0">
                <a:solidFill>
                  <a:srgbClr val="0E1C42"/>
                </a:solidFill>
                <a:latin typeface="Calibri" pitchFamily="34" charset="0"/>
                <a:ea typeface="Calibri" pitchFamily="34" charset="-122"/>
                <a:cs typeface="Calibri" pitchFamily="34" charset="-120"/>
              </a:rPr>
              <a:t>Remember - revision is about ideas, not spelling: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Circle your strongest sentence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Replace one weak verb with a precise one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Add one detail, or cut one you do not need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Improve your opening line</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914400" y="731520"/>
            <a:ext cx="73152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Share</a:t>
            </a:r>
            <a:endParaRPr lang="en-US" sz="3200" dirty="0"/>
          </a:p>
        </p:txBody>
      </p:sp>
      <p:sp>
        <p:nvSpPr>
          <p:cNvPr id="3" name="Text 1"/>
          <p:cNvSpPr/>
          <p:nvPr/>
        </p:nvSpPr>
        <p:spPr>
          <a:xfrm>
            <a:off x="914400" y="13258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2-3 minutes - celebrate a craft move</a:t>
            </a:r>
            <a:endParaRPr lang="en-US" sz="1500" dirty="0"/>
          </a:p>
        </p:txBody>
      </p:sp>
      <p:sp>
        <p:nvSpPr>
          <p:cNvPr id="4" name="Shape 2"/>
          <p:cNvSpPr/>
          <p:nvPr/>
        </p:nvSpPr>
        <p:spPr>
          <a:xfrm>
            <a:off x="1371600" y="1965960"/>
            <a:ext cx="6400800" cy="914400"/>
          </a:xfrm>
          <a:prstGeom prst="roundRect">
            <a:avLst>
              <a:gd name="adj" fmla="val 12000"/>
            </a:avLst>
          </a:prstGeom>
          <a:solidFill>
            <a:srgbClr val="FFFFFF"/>
          </a:solidFill>
          <a:ln w="15875">
            <a:solidFill>
              <a:srgbClr val="55C8E8"/>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1554480" y="2029968"/>
            <a:ext cx="6035040" cy="786384"/>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Share your evidence sentence and the explanation that follows it.</a:t>
            </a:r>
            <a:endParaRPr lang="en-US" sz="1400" dirty="0"/>
          </a:p>
        </p:txBody>
      </p:sp>
      <p:sp>
        <p:nvSpPr>
          <p:cNvPr id="6" name="Shape 4"/>
          <p:cNvSpPr/>
          <p:nvPr/>
        </p:nvSpPr>
        <p:spPr>
          <a:xfrm>
            <a:off x="1371600" y="3017520"/>
            <a:ext cx="6400800" cy="914400"/>
          </a:xfrm>
          <a:prstGeom prst="roundRect">
            <a:avLst>
              <a:gd name="adj" fmla="val 12000"/>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554480" y="3090672"/>
            <a:ext cx="6035040" cy="777240"/>
          </a:xfrm>
          <a:prstGeom prst="rect">
            <a:avLst/>
          </a:prstGeom>
          <a:noFill/>
          <a:ln/>
        </p:spPr>
        <p:txBody>
          <a:bodyPr wrap="square" lIns="0" tIns="0" rIns="0" bIns="0" rtlCol="0" anchor="t"/>
          <a:lstStyle/>
          <a:p>
            <a:pPr indent="0" marL="0">
              <a:spcAft>
                <a:spcPts val="200"/>
              </a:spcAft>
              <a:buNone/>
            </a:pPr>
            <a:r>
              <a:rPr lang="en-US" sz="1250" dirty="0">
                <a:solidFill>
                  <a:srgbClr val="1E293B"/>
                </a:solidFill>
                <a:latin typeface="Calibri" pitchFamily="34" charset="0"/>
                <a:ea typeface="Calibri" pitchFamily="34" charset="-122"/>
                <a:cs typeface="Calibri" pitchFamily="34" charset="-120"/>
              </a:rPr>
              <a:t>Raise your hand, or paste it in the chat.
</a:t>
            </a:r>
            <a:pPr indent="0" marL="0">
              <a:spcAft>
                <a:spcPts val="200"/>
              </a:spcAft>
              <a:buNone/>
            </a:pPr>
            <a:r>
              <a:rPr lang="en-US" sz="1150" i="1" dirty="0">
                <a:solidFill>
                  <a:srgbClr val="64748B"/>
                </a:solidFill>
                <a:latin typeface="Calibri" pitchFamily="34" charset="0"/>
                <a:ea typeface="Calibri" pitchFamily="34" charset="-122"/>
                <a:cs typeface="Calibri" pitchFamily="34" charset="-120"/>
              </a:rPr>
              <a:t>Every writer's craft move counts - there are no wrong answers.</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Reflect</a:t>
            </a:r>
            <a:endParaRPr lang="en-US" sz="28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Shape 2"/>
          <p:cNvSpPr/>
          <p:nvPr/>
        </p:nvSpPr>
        <p:spPr>
          <a:xfrm>
            <a:off x="457200" y="1005840"/>
            <a:ext cx="8229600" cy="1280160"/>
          </a:xfrm>
          <a:prstGeom prst="roundRect">
            <a:avLst>
              <a:gd name="adj" fmla="val 7143"/>
            </a:avLst>
          </a:prstGeom>
          <a:solidFill>
            <a:srgbClr val="E8F8EF"/>
          </a:solidFill>
          <a:ln/>
          <a:effectLst>
            <a:outerShdw sx="100000" sy="100000" kx="0" ky="0" algn="bl" rotWithShape="0" blurRad="101600" dist="38100" dir="2700000">
              <a:srgbClr val="000000">
                <a:alpha val="12000"/>
              </a:srgbClr>
            </a:outerShdw>
          </a:effectLst>
        </p:spPr>
      </p:sp>
      <p:sp>
        <p:nvSpPr>
          <p:cNvPr id="5" name="Text 3"/>
          <p:cNvSpPr/>
          <p:nvPr/>
        </p:nvSpPr>
        <p:spPr>
          <a:xfrm>
            <a:off x="685800" y="1143000"/>
            <a:ext cx="7772400" cy="1005840"/>
          </a:xfrm>
          <a:prstGeom prst="rect">
            <a:avLst/>
          </a:prstGeom>
          <a:noFill/>
          <a:ln/>
        </p:spPr>
        <p:txBody>
          <a:bodyPr wrap="square" lIns="0" tIns="0" rIns="0" bIns="0" rtlCol="0" anchor="ctr"/>
          <a:lstStyle/>
          <a:p>
            <a:pPr indent="0" marL="0">
              <a:buNone/>
            </a:pPr>
            <a:r>
              <a:rPr lang="en-US" sz="1900" b="1" dirty="0">
                <a:solidFill>
                  <a:srgbClr val="0E1C42"/>
                </a:solidFill>
                <a:latin typeface="Calibri" pitchFamily="34" charset="0"/>
                <a:ea typeface="Calibri" pitchFamily="34" charset="-122"/>
                <a:cs typeface="Calibri" pitchFamily="34" charset="-120"/>
              </a:rPr>
              <a:t>What did you do today that made your writing stronger?</a:t>
            </a:r>
            <a:endParaRPr lang="en-US" sz="1900" dirty="0"/>
          </a:p>
        </p:txBody>
      </p:sp>
      <p:sp>
        <p:nvSpPr>
          <p:cNvPr id="6" name="Text 4"/>
          <p:cNvSpPr/>
          <p:nvPr/>
        </p:nvSpPr>
        <p:spPr>
          <a:xfrm>
            <a:off x="548640" y="2468880"/>
            <a:ext cx="8046720" cy="45720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Turn and tell a partner, or jot one sentence in your writing notebook.</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Recap + Today's Focus</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YESTERDAY</a:t>
            </a:r>
            <a:endParaRPr lang="en-US" sz="1100" dirty="0"/>
          </a:p>
        </p:txBody>
      </p:sp>
      <p:sp>
        <p:nvSpPr>
          <p:cNvPr id="7" name="Shape 5"/>
          <p:cNvSpPr/>
          <p:nvPr/>
        </p:nvSpPr>
        <p:spPr>
          <a:xfrm>
            <a:off x="365760" y="1078992"/>
            <a:ext cx="8412480" cy="749808"/>
          </a:xfrm>
          <a:prstGeom prst="roundRect">
            <a:avLst>
              <a:gd name="adj" fmla="val 12195"/>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Yesterday, Anne officially joined the Queen’s class alongside Gilbert.</a:t>
            </a:r>
            <a:endParaRPr lang="en-US" sz="1400" dirty="0"/>
          </a:p>
        </p:txBody>
      </p:sp>
      <p:sp>
        <p:nvSpPr>
          <p:cNvPr id="9" name="Text 7"/>
          <p:cNvSpPr/>
          <p:nvPr/>
        </p:nvSpPr>
        <p:spPr>
          <a:xfrm>
            <a:off x="365760" y="1938528"/>
            <a:ext cx="8046720" cy="292608"/>
          </a:xfrm>
          <a:prstGeom prst="rect">
            <a:avLst/>
          </a:prstGeom>
          <a:noFill/>
          <a:ln/>
        </p:spPr>
        <p:txBody>
          <a:bodyPr wrap="square" lIns="0" tIns="0" rIns="0" bIns="0" rtlCol="0" anchor="ctr"/>
          <a:lstStyle/>
          <a:p>
            <a:pPr indent="0" marL="0">
              <a:buNone/>
            </a:pPr>
            <a:r>
              <a:rPr lang="en-US" sz="1100" b="1" spc="200" kern="0" dirty="0">
                <a:solidFill>
                  <a:srgbClr val="D98BB0"/>
                </a:solidFill>
                <a:latin typeface="Calibri" pitchFamily="34" charset="0"/>
                <a:ea typeface="Calibri" pitchFamily="34" charset="-122"/>
                <a:cs typeface="Calibri" pitchFamily="34" charset="-120"/>
              </a:rPr>
              <a:t>TODAY</a:t>
            </a:r>
            <a:endParaRPr lang="en-US" sz="1100" dirty="0"/>
          </a:p>
        </p:txBody>
      </p:sp>
      <p:sp>
        <p:nvSpPr>
          <p:cNvPr id="10" name="Shape 8"/>
          <p:cNvSpPr/>
          <p:nvPr/>
        </p:nvSpPr>
        <p:spPr>
          <a:xfrm>
            <a:off x="365760" y="2194560"/>
            <a:ext cx="8412480" cy="713232"/>
          </a:xfrm>
          <a:prstGeom prst="roundRect">
            <a:avLst>
              <a:gd name="adj" fmla="val 12821"/>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286000"/>
            <a:ext cx="7863840" cy="530352"/>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Find out how Anne and Gilbert perform on the Queen’s entrance exam.</a:t>
            </a:r>
            <a:endParaRPr lang="en-US" sz="1400" dirty="0"/>
          </a:p>
        </p:txBody>
      </p:sp>
      <p:sp>
        <p:nvSpPr>
          <p:cNvPr id="12" name="Text 10"/>
          <p:cNvSpPr/>
          <p:nvPr/>
        </p:nvSpPr>
        <p:spPr>
          <a:xfrm>
            <a:off x="365760" y="3035808"/>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13" name="Shape 11"/>
          <p:cNvSpPr/>
          <p:nvPr/>
        </p:nvSpPr>
        <p:spPr>
          <a:xfrm>
            <a:off x="365760" y="3291840"/>
            <a:ext cx="8412480" cy="749808"/>
          </a:xfrm>
          <a:prstGeom prst="roundRect">
            <a:avLst>
              <a:gd name="adj" fmla="val 12195"/>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383280"/>
            <a:ext cx="7863840" cy="56692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Today, watch for how the author introduces Anne. What does she say? What does she do? How does her voice make her real?</a:t>
            </a:r>
            <a:endParaRPr lang="en-US" sz="1300" dirty="0"/>
          </a:p>
        </p:txBody>
      </p:sp>
      <p:sp>
        <p:nvSpPr>
          <p:cNvPr id="15" name="Text 13"/>
          <p:cNvSpPr/>
          <p:nvPr/>
        </p:nvSpPr>
        <p:spPr>
          <a:xfrm>
            <a:off x="365760" y="4169664"/>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READING LENS</a:t>
            </a:r>
            <a:endParaRPr lang="en-US" sz="1100" dirty="0"/>
          </a:p>
        </p:txBody>
      </p:sp>
      <p:sp>
        <p:nvSpPr>
          <p:cNvPr id="16" name="Text 14"/>
          <p:cNvSpPr/>
          <p:nvPr/>
        </p:nvSpPr>
        <p:spPr>
          <a:xfrm>
            <a:off x="457200" y="4407408"/>
            <a:ext cx="8229600" cy="45720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Good readers notice character VOICE — the way a person's words sound, the words they choose, the things they get excited about. Anne has one of the most...</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Study What's Right</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FROM THE TEXT</a:t>
            </a:r>
            <a:endParaRPr lang="en-US" sz="1100" dirty="0"/>
          </a:p>
        </p:txBody>
      </p:sp>
      <p:sp>
        <p:nvSpPr>
          <p:cNvPr id="5" name="Shape 3"/>
          <p:cNvSpPr/>
          <p:nvPr/>
        </p:nvSpPr>
        <p:spPr>
          <a:xfrm>
            <a:off x="365760" y="1078992"/>
            <a:ext cx="8412480" cy="777240"/>
          </a:xfrm>
          <a:prstGeom prst="roundRect">
            <a:avLst>
              <a:gd name="adj" fmla="val 11765"/>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Anne and Gilbert were tied for first place.</a:t>
            </a:r>
            <a:endParaRPr lang="en-US" sz="1600" dirty="0"/>
          </a:p>
        </p:txBody>
      </p:sp>
      <p:sp>
        <p:nvSpPr>
          <p:cNvPr id="7" name="Text 5"/>
          <p:cNvSpPr/>
          <p:nvPr/>
        </p:nvSpPr>
        <p:spPr>
          <a:xfrm>
            <a:off x="457200" y="2002536"/>
            <a:ext cx="8229600" cy="384048"/>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Circle: capitals, quotation marks, punctuation, proper nouns</a:t>
            </a:r>
            <a:endParaRPr lang="en-US" sz="1400" dirty="0"/>
          </a:p>
        </p:txBody>
      </p:sp>
      <p:sp>
        <p:nvSpPr>
          <p:cNvPr id="8" name="Text 6"/>
          <p:cNvSpPr/>
          <p:nvPr/>
        </p:nvSpPr>
        <p:spPr>
          <a:xfrm>
            <a:off x="457200" y="2459736"/>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Copy this sentence in your journal. Circle one thing you notice.</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Fix It</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685800"/>
          </a:xfrm>
          <a:prstGeom prst="roundRect">
            <a:avLst>
              <a:gd name="adj" fmla="val 13333"/>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4572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matthew was proud of anne his eyes were filled with joy</a:t>
            </a:r>
            <a:endParaRPr lang="en-US" sz="1600" dirty="0"/>
          </a:p>
        </p:txBody>
      </p:sp>
      <p:sp>
        <p:nvSpPr>
          <p:cNvPr id="9" name="Text 7"/>
          <p:cNvSpPr/>
          <p:nvPr/>
        </p:nvSpPr>
        <p:spPr>
          <a:xfrm>
            <a:off x="457200" y="1911096"/>
            <a:ext cx="822960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Fix It</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685800"/>
          </a:xfrm>
          <a:prstGeom prst="roundRect">
            <a:avLst>
              <a:gd name="adj" fmla="val 13333"/>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4572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matthew was proud of anne his eyes were filled with joy</a:t>
            </a:r>
            <a:endParaRPr lang="en-US" sz="1600" dirty="0"/>
          </a:p>
        </p:txBody>
      </p:sp>
      <p:sp>
        <p:nvSpPr>
          <p:cNvPr id="9" name="Text 7"/>
          <p:cNvSpPr/>
          <p:nvPr/>
        </p:nvSpPr>
        <p:spPr>
          <a:xfrm>
            <a:off x="457200" y="1911096"/>
            <a:ext cx="822960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
        <p:nvSpPr>
          <p:cNvPr id="10" name="Shape 8"/>
          <p:cNvSpPr/>
          <p:nvPr/>
        </p:nvSpPr>
        <p:spPr>
          <a:xfrm>
            <a:off x="365760" y="2350008"/>
            <a:ext cx="8412480" cy="708660"/>
          </a:xfrm>
          <a:prstGeom prst="roundRect">
            <a:avLst>
              <a:gd name="adj" fmla="val 12903"/>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404872"/>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CORRECTED</a:t>
            </a:r>
            <a:endParaRPr lang="en-US" sz="1100" dirty="0"/>
          </a:p>
        </p:txBody>
      </p:sp>
      <p:sp>
        <p:nvSpPr>
          <p:cNvPr id="12" name="Text 10"/>
          <p:cNvSpPr/>
          <p:nvPr/>
        </p:nvSpPr>
        <p:spPr>
          <a:xfrm>
            <a:off x="594360" y="2697480"/>
            <a:ext cx="7863840" cy="324612"/>
          </a:xfrm>
          <a:prstGeom prst="rect">
            <a:avLst/>
          </a:prstGeom>
          <a:noFill/>
          <a:ln/>
        </p:spPr>
        <p:txBody>
          <a:bodyPr wrap="square" lIns="0" tIns="0" rIns="0" bIns="0" rtlCol="0" anchor="ctr"/>
          <a:lstStyle/>
          <a:p>
            <a:pPr indent="0" marL="0">
              <a:buNone/>
            </a:pPr>
            <a:r>
              <a:rPr lang="en-US" sz="1500" i="1" dirty="0">
                <a:solidFill>
                  <a:srgbClr val="1E293B"/>
                </a:solidFill>
                <a:latin typeface="Calibri" pitchFamily="34" charset="0"/>
                <a:ea typeface="Calibri" pitchFamily="34" charset="-122"/>
                <a:cs typeface="Calibri" pitchFamily="34" charset="-120"/>
              </a:rPr>
              <a:t>Matthew was proud of Anne. His eyes were filled with joy.</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Vocabulary</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Text 2"/>
          <p:cNvSpPr/>
          <p:nvPr/>
        </p:nvSpPr>
        <p:spPr>
          <a:xfrm>
            <a:off x="365760" y="786384"/>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4 WORDS - READ THE SENTENCE, THEN THE MEANING</a:t>
            </a:r>
            <a:endParaRPr lang="en-US" sz="1100" dirty="0"/>
          </a:p>
        </p:txBody>
      </p:sp>
      <p:sp>
        <p:nvSpPr>
          <p:cNvPr id="5" name="Shape 3"/>
          <p:cNvSpPr/>
          <p:nvPr/>
        </p:nvSpPr>
        <p:spPr>
          <a:xfrm>
            <a:off x="320040" y="914400"/>
            <a:ext cx="4069080" cy="954024"/>
          </a:xfrm>
          <a:prstGeom prst="roundRect">
            <a:avLst>
              <a:gd name="adj" fmla="val 9585"/>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457200" y="1005840"/>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ambition</a:t>
            </a:r>
            <a:endParaRPr lang="en-US" sz="1400" dirty="0"/>
          </a:p>
        </p:txBody>
      </p:sp>
      <p:sp>
        <p:nvSpPr>
          <p:cNvPr id="7" name="Text 5"/>
          <p:cNvSpPr/>
          <p:nvPr/>
        </p:nvSpPr>
        <p:spPr>
          <a:xfrm>
            <a:off x="457200" y="1316736"/>
            <a:ext cx="3794760" cy="496824"/>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A strong desire to achieve something important.</a:t>
            </a:r>
            <a:endParaRPr lang="en-US" sz="1100" dirty="0"/>
          </a:p>
        </p:txBody>
      </p:sp>
      <p:sp>
        <p:nvSpPr>
          <p:cNvPr id="8" name="Shape 6"/>
          <p:cNvSpPr/>
          <p:nvPr/>
        </p:nvSpPr>
        <p:spPr>
          <a:xfrm>
            <a:off x="4572000" y="914400"/>
            <a:ext cx="4069080" cy="954024"/>
          </a:xfrm>
          <a:prstGeom prst="roundRect">
            <a:avLst>
              <a:gd name="adj" fmla="val 9585"/>
            </a:avLst>
          </a:prstGeom>
          <a:solidFill>
            <a:srgbClr val="F0E8FF"/>
          </a:solidFill>
          <a:ln/>
          <a:effectLst>
            <a:outerShdw sx="100000" sy="100000" kx="0" ky="0" algn="bl" rotWithShape="0" blurRad="101600" dist="38100" dir="2700000">
              <a:srgbClr val="000000">
                <a:alpha val="12000"/>
              </a:srgbClr>
            </a:outerShdw>
          </a:effectLst>
        </p:spPr>
      </p:sp>
      <p:sp>
        <p:nvSpPr>
          <p:cNvPr id="9" name="Text 7"/>
          <p:cNvSpPr/>
          <p:nvPr/>
        </p:nvSpPr>
        <p:spPr>
          <a:xfrm>
            <a:off x="4709160" y="1005840"/>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broadminded</a:t>
            </a:r>
            <a:endParaRPr lang="en-US" sz="1400" dirty="0"/>
          </a:p>
        </p:txBody>
      </p:sp>
      <p:sp>
        <p:nvSpPr>
          <p:cNvPr id="10" name="Text 8"/>
          <p:cNvSpPr/>
          <p:nvPr/>
        </p:nvSpPr>
        <p:spPr>
          <a:xfrm>
            <a:off x="4709160" y="1316736"/>
            <a:ext cx="3794760" cy="496824"/>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Open to new ideas; willing to consider different points of view.</a:t>
            </a:r>
            <a:endParaRPr lang="en-US" sz="1100" dirty="0"/>
          </a:p>
        </p:txBody>
      </p:sp>
      <p:sp>
        <p:nvSpPr>
          <p:cNvPr id="11" name="Shape 9"/>
          <p:cNvSpPr/>
          <p:nvPr/>
        </p:nvSpPr>
        <p:spPr>
          <a:xfrm>
            <a:off x="320040" y="1978152"/>
            <a:ext cx="4069080" cy="954024"/>
          </a:xfrm>
          <a:prstGeom prst="roundRect">
            <a:avLst>
              <a:gd name="adj" fmla="val 9585"/>
            </a:avLst>
          </a:prstGeom>
          <a:solidFill>
            <a:srgbClr val="F0E8FF"/>
          </a:solidFill>
          <a:ln/>
          <a:effectLst>
            <a:outerShdw sx="100000" sy="100000" kx="0" ky="0" algn="bl" rotWithShape="0" blurRad="101600" dist="38100" dir="2700000">
              <a:srgbClr val="000000">
                <a:alpha val="12000"/>
              </a:srgbClr>
            </a:outerShdw>
          </a:effectLst>
        </p:spPr>
      </p:sp>
      <p:sp>
        <p:nvSpPr>
          <p:cNvPr id="12" name="Text 10"/>
          <p:cNvSpPr/>
          <p:nvPr/>
        </p:nvSpPr>
        <p:spPr>
          <a:xfrm>
            <a:off x="457200" y="2069592"/>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composure</a:t>
            </a:r>
            <a:endParaRPr lang="en-US" sz="1400" dirty="0"/>
          </a:p>
        </p:txBody>
      </p:sp>
      <p:sp>
        <p:nvSpPr>
          <p:cNvPr id="13" name="Text 11"/>
          <p:cNvSpPr/>
          <p:nvPr/>
        </p:nvSpPr>
        <p:spPr>
          <a:xfrm>
            <a:off x="457200" y="2380488"/>
            <a:ext cx="3794760" cy="496824"/>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Calmness; the ability to stay steady, especially under pressure.</a:t>
            </a:r>
            <a:endParaRPr lang="en-US" sz="1100" dirty="0"/>
          </a:p>
        </p:txBody>
      </p:sp>
      <p:sp>
        <p:nvSpPr>
          <p:cNvPr id="14" name="Shape 12"/>
          <p:cNvSpPr/>
          <p:nvPr/>
        </p:nvSpPr>
        <p:spPr>
          <a:xfrm>
            <a:off x="4572000" y="1978152"/>
            <a:ext cx="4069080" cy="954024"/>
          </a:xfrm>
          <a:prstGeom prst="roundRect">
            <a:avLst>
              <a:gd name="adj" fmla="val 9585"/>
            </a:avLst>
          </a:prstGeom>
          <a:solidFill>
            <a:srgbClr val="F0E8FF"/>
          </a:solidFill>
          <a:ln/>
          <a:effectLst>
            <a:outerShdw sx="100000" sy="100000" kx="0" ky="0" algn="bl" rotWithShape="0" blurRad="101600" dist="38100" dir="2700000">
              <a:srgbClr val="000000">
                <a:alpha val="12000"/>
              </a:srgbClr>
            </a:outerShdw>
          </a:effectLst>
        </p:spPr>
      </p:sp>
      <p:sp>
        <p:nvSpPr>
          <p:cNvPr id="15" name="Text 13"/>
          <p:cNvSpPr/>
          <p:nvPr/>
        </p:nvSpPr>
        <p:spPr>
          <a:xfrm>
            <a:off x="4709160" y="2069592"/>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tactful</a:t>
            </a:r>
            <a:endParaRPr lang="en-US" sz="1400" dirty="0"/>
          </a:p>
        </p:txBody>
      </p:sp>
      <p:sp>
        <p:nvSpPr>
          <p:cNvPr id="16" name="Text 14"/>
          <p:cNvSpPr/>
          <p:nvPr/>
        </p:nvSpPr>
        <p:spPr>
          <a:xfrm>
            <a:off x="4709160" y="2380488"/>
            <a:ext cx="3794760" cy="496824"/>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Careful not to hurt other people’s feelings; thoughtful in dealing with people.</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Grammar - Grammar: Linking Verbs</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SPOT THE TARGET WORD</a:t>
            </a:r>
            <a:endParaRPr lang="en-US" sz="1100" dirty="0"/>
          </a:p>
        </p:txBody>
      </p:sp>
      <p:sp>
        <p:nvSpPr>
          <p:cNvPr id="7" name="Shape 5"/>
          <p:cNvSpPr/>
          <p:nvPr/>
        </p:nvSpPr>
        <p:spPr>
          <a:xfrm>
            <a:off x="365760" y="1078992"/>
            <a:ext cx="8412480" cy="749808"/>
          </a:xfrm>
          <a:prstGeom prst="roundRect">
            <a:avLst>
              <a:gd name="adj" fmla="val 9756"/>
            </a:avLst>
          </a:prstGeom>
          <a:solidFill>
            <a:srgbClr val="FEF6E8"/>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Anne and Gilbert were tied for first.</a:t>
            </a:r>
            <a:endParaRPr lang="en-US" sz="1500" dirty="0"/>
          </a:p>
        </p:txBody>
      </p:sp>
      <p:sp>
        <p:nvSpPr>
          <p:cNvPr id="9" name="Shape 7"/>
          <p:cNvSpPr/>
          <p:nvPr/>
        </p:nvSpPr>
        <p:spPr>
          <a:xfrm>
            <a:off x="365760" y="1920240"/>
            <a:ext cx="8412480" cy="749808"/>
          </a:xfrm>
          <a:prstGeom prst="roundRect">
            <a:avLst>
              <a:gd name="adj" fmla="val 9756"/>
            </a:avLst>
          </a:prstGeom>
          <a:solidFill>
            <a:srgbClr val="FEF6E8"/>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011680"/>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Matthew felt proud of Anne.</a:t>
            </a:r>
            <a:endParaRPr lang="en-US" sz="1500" dirty="0"/>
          </a:p>
        </p:txBody>
      </p:sp>
      <p:sp>
        <p:nvSpPr>
          <p:cNvPr id="11" name="Shape 9"/>
          <p:cNvSpPr/>
          <p:nvPr/>
        </p:nvSpPr>
        <p:spPr>
          <a:xfrm>
            <a:off x="365760" y="2761488"/>
            <a:ext cx="8412480" cy="749808"/>
          </a:xfrm>
          <a:prstGeom prst="roundRect">
            <a:avLst>
              <a:gd name="adj" fmla="val 9756"/>
            </a:avLst>
          </a:prstGeom>
          <a:solidFill>
            <a:srgbClr val="FEF6E8"/>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2852928"/>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The geometry exam was hard.</a:t>
            </a:r>
            <a:endParaRPr lang="en-US" sz="1500" dirty="0"/>
          </a:p>
        </p:txBody>
      </p:sp>
      <p:sp>
        <p:nvSpPr>
          <p:cNvPr id="13" name="Text 11"/>
          <p:cNvSpPr/>
          <p:nvPr/>
        </p:nvSpPr>
        <p:spPr>
          <a:xfrm>
            <a:off x="457200" y="3648456"/>
            <a:ext cx="8229600" cy="347472"/>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Find the target word. Write it in your notebook.</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Grammar - Grammar: Linking Verbs</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ANSWERS REVEALED</a:t>
            </a:r>
            <a:endParaRPr lang="en-US" sz="1100" dirty="0"/>
          </a:p>
        </p:txBody>
      </p:sp>
      <p:sp>
        <p:nvSpPr>
          <p:cNvPr id="7" name="Shape 5"/>
          <p:cNvSpPr/>
          <p:nvPr/>
        </p:nvSpPr>
        <p:spPr>
          <a:xfrm>
            <a:off x="365760" y="1078992"/>
            <a:ext cx="8412480" cy="749808"/>
          </a:xfrm>
          <a:prstGeom prst="roundRect">
            <a:avLst>
              <a:gd name="adj" fmla="val 9756"/>
            </a:avLst>
          </a:prstGeom>
          <a:solidFill>
            <a:srgbClr val="E8F8EF"/>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Anne and Gilbert </a:t>
            </a:r>
            <a:pPr indent="0" marL="0">
              <a:buNone/>
            </a:pPr>
            <a:r>
              <a:rPr lang="en-US" sz="1500" b="1" u="sng" dirty="0">
                <a:solidFill>
                  <a:srgbClr val="34B76F"/>
                </a:solidFill>
                <a:latin typeface="Calibri" pitchFamily="34" charset="0"/>
                <a:ea typeface="Calibri" pitchFamily="34" charset="-122"/>
                <a:cs typeface="Calibri" pitchFamily="34" charset="-120"/>
              </a:rPr>
              <a:t>were</a:t>
            </a:r>
            <a:pPr indent="0" marL="0">
              <a:buNone/>
            </a:pPr>
            <a:r>
              <a:rPr lang="en-US" sz="1500" dirty="0">
                <a:solidFill>
                  <a:srgbClr val="1E293B"/>
                </a:solidFill>
                <a:latin typeface="Calibri" pitchFamily="34" charset="0"/>
                <a:ea typeface="Calibri" pitchFamily="34" charset="-122"/>
                <a:cs typeface="Calibri" pitchFamily="34" charset="-120"/>
              </a:rPr>
              <a:t> tied for first.</a:t>
            </a:r>
            <a:endParaRPr lang="en-US" sz="1500" dirty="0"/>
          </a:p>
        </p:txBody>
      </p:sp>
      <p:sp>
        <p:nvSpPr>
          <p:cNvPr id="9" name="Shape 7"/>
          <p:cNvSpPr/>
          <p:nvPr/>
        </p:nvSpPr>
        <p:spPr>
          <a:xfrm>
            <a:off x="365760" y="1920240"/>
            <a:ext cx="8412480" cy="749808"/>
          </a:xfrm>
          <a:prstGeom prst="roundRect">
            <a:avLst>
              <a:gd name="adj" fmla="val 9756"/>
            </a:avLst>
          </a:prstGeom>
          <a:solidFill>
            <a:srgbClr val="E8F8EF"/>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011680"/>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Matthew </a:t>
            </a:r>
            <a:pPr indent="0" marL="0">
              <a:buNone/>
            </a:pPr>
            <a:r>
              <a:rPr lang="en-US" sz="1500" b="1" u="sng" dirty="0">
                <a:solidFill>
                  <a:srgbClr val="34B76F"/>
                </a:solidFill>
                <a:latin typeface="Calibri" pitchFamily="34" charset="0"/>
                <a:ea typeface="Calibri" pitchFamily="34" charset="-122"/>
                <a:cs typeface="Calibri" pitchFamily="34" charset="-120"/>
              </a:rPr>
              <a:t>felt</a:t>
            </a:r>
            <a:pPr indent="0" marL="0">
              <a:buNone/>
            </a:pPr>
            <a:r>
              <a:rPr lang="en-US" sz="1500" dirty="0">
                <a:solidFill>
                  <a:srgbClr val="1E293B"/>
                </a:solidFill>
                <a:latin typeface="Calibri" pitchFamily="34" charset="0"/>
                <a:ea typeface="Calibri" pitchFamily="34" charset="-122"/>
                <a:cs typeface="Calibri" pitchFamily="34" charset="-120"/>
              </a:rPr>
              <a:t> proud of Anne.</a:t>
            </a:r>
            <a:endParaRPr lang="en-US" sz="1500" dirty="0"/>
          </a:p>
        </p:txBody>
      </p:sp>
      <p:sp>
        <p:nvSpPr>
          <p:cNvPr id="11" name="Shape 9"/>
          <p:cNvSpPr/>
          <p:nvPr/>
        </p:nvSpPr>
        <p:spPr>
          <a:xfrm>
            <a:off x="365760" y="2761488"/>
            <a:ext cx="8412480" cy="749808"/>
          </a:xfrm>
          <a:prstGeom prst="roundRect">
            <a:avLst>
              <a:gd name="adj" fmla="val 9756"/>
            </a:avLst>
          </a:prstGeom>
          <a:solidFill>
            <a:srgbClr val="E8F8E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2852928"/>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The geometry exam </a:t>
            </a:r>
            <a:pPr indent="0" marL="0">
              <a:buNone/>
            </a:pPr>
            <a:r>
              <a:rPr lang="en-US" sz="1500" b="1" u="sng" dirty="0">
                <a:solidFill>
                  <a:srgbClr val="34B76F"/>
                </a:solidFill>
                <a:latin typeface="Calibri" pitchFamily="34" charset="0"/>
                <a:ea typeface="Calibri" pitchFamily="34" charset="-122"/>
                <a:cs typeface="Calibri" pitchFamily="34" charset="-120"/>
              </a:rPr>
              <a:t>was</a:t>
            </a:r>
            <a:pPr indent="0" marL="0">
              <a:buNone/>
            </a:pPr>
            <a:r>
              <a:rPr lang="en-US" sz="1500" dirty="0">
                <a:solidFill>
                  <a:srgbClr val="1E293B"/>
                </a:solidFill>
                <a:latin typeface="Calibri" pitchFamily="34" charset="0"/>
                <a:ea typeface="Calibri" pitchFamily="34" charset="-122"/>
                <a:cs typeface="Calibri" pitchFamily="34" charset="-120"/>
              </a:rPr>
              <a:t> hard.</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Spelling - Spelling: Comparative &amp; Superlative</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SORT THE WORDS</a:t>
            </a:r>
            <a:endParaRPr lang="en-US" sz="1100" dirty="0"/>
          </a:p>
        </p:txBody>
      </p:sp>
      <p:sp>
        <p:nvSpPr>
          <p:cNvPr id="7" name="Shape 5"/>
          <p:cNvSpPr/>
          <p:nvPr/>
        </p:nvSpPr>
        <p:spPr>
          <a:xfrm>
            <a:off x="365760" y="1024128"/>
            <a:ext cx="8412480" cy="685800"/>
          </a:xfrm>
          <a:prstGeom prst="roundRect">
            <a:avLst>
              <a:gd name="adj" fmla="val 13333"/>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078992"/>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WORD BANK</a:t>
            </a:r>
            <a:endParaRPr lang="en-US" sz="1100" dirty="0"/>
          </a:p>
        </p:txBody>
      </p:sp>
      <p:sp>
        <p:nvSpPr>
          <p:cNvPr id="9" name="Text 7"/>
          <p:cNvSpPr/>
          <p:nvPr/>
        </p:nvSpPr>
        <p:spPr>
          <a:xfrm>
            <a:off x="594360" y="1325880"/>
            <a:ext cx="7863840" cy="320040"/>
          </a:xfrm>
          <a:prstGeom prst="rect">
            <a:avLst/>
          </a:prstGeom>
          <a:noFill/>
          <a:ln/>
        </p:spPr>
        <p:txBody>
          <a:bodyPr wrap="square" lIns="0" tIns="0" rIns="0" bIns="0" rtlCol="0" anchor="ctr"/>
          <a:lstStyle/>
          <a:p>
            <a:pPr indent="0" marL="0">
              <a:buNone/>
            </a:pPr>
            <a:r>
              <a:rPr lang="en-US" sz="1600" b="1" dirty="0">
                <a:solidFill>
                  <a:srgbClr val="0E1C42"/>
                </a:solidFill>
                <a:latin typeface="Calibri" pitchFamily="34" charset="0"/>
                <a:ea typeface="Calibri" pitchFamily="34" charset="-122"/>
                <a:cs typeface="Calibri" pitchFamily="34" charset="-120"/>
              </a:rPr>
              <a:t>kinder   -   biggest   -   brighter   -   more careful   -   most cheerful   -   more romantic</a:t>
            </a:r>
            <a:endParaRPr lang="en-US" sz="1600" dirty="0"/>
          </a:p>
        </p:txBody>
      </p:sp>
      <p:sp>
        <p:nvSpPr>
          <p:cNvPr id="10" name="Text 8"/>
          <p:cNvSpPr/>
          <p:nvPr/>
        </p:nvSpPr>
        <p:spPr>
          <a:xfrm>
            <a:off x="365760" y="187452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SORT INTO GROUPS</a:t>
            </a:r>
            <a:endParaRPr lang="en-US" sz="1100" dirty="0"/>
          </a:p>
        </p:txBody>
      </p:sp>
      <p:sp>
        <p:nvSpPr>
          <p:cNvPr id="11" name="Shape 9"/>
          <p:cNvSpPr/>
          <p:nvPr/>
        </p:nvSpPr>
        <p:spPr>
          <a:xfrm>
            <a:off x="365760" y="2176272"/>
            <a:ext cx="4114800" cy="1051560"/>
          </a:xfrm>
          <a:prstGeom prst="roundRect">
            <a:avLst>
              <a:gd name="adj" fmla="val 8696"/>
            </a:avLst>
          </a:prstGeom>
          <a:solidFill>
            <a:srgbClr val="E8F8EF"/>
          </a:solidFill>
          <a:ln w="19050">
            <a:solidFill>
              <a:srgbClr val="4A7C2E"/>
            </a:solidFill>
            <a:prstDash val="solid"/>
          </a:ln>
        </p:spPr>
      </p:sp>
      <p:sp>
        <p:nvSpPr>
          <p:cNvPr id="12" name="Text 10"/>
          <p:cNvSpPr/>
          <p:nvPr/>
        </p:nvSpPr>
        <p:spPr>
          <a:xfrm>
            <a:off x="502920" y="2286000"/>
            <a:ext cx="3840480" cy="411480"/>
          </a:xfrm>
          <a:prstGeom prst="rect">
            <a:avLst/>
          </a:prstGeom>
          <a:noFill/>
          <a:ln/>
        </p:spPr>
        <p:txBody>
          <a:bodyPr wrap="square" lIns="0" tIns="0" rIns="0" bIns="0" rtlCol="0" anchor="ctr"/>
          <a:lstStyle/>
          <a:p>
            <a:pPr indent="0" marL="0">
              <a:buNone/>
            </a:pPr>
            <a:r>
              <a:rPr lang="en-US" sz="1300" b="1" dirty="0">
                <a:solidFill>
                  <a:srgbClr val="4A7C2E"/>
                </a:solidFill>
                <a:latin typeface="Calibri" pitchFamily="34" charset="0"/>
                <a:ea typeface="Calibri" pitchFamily="34" charset="-122"/>
                <a:cs typeface="Calibri" pitchFamily="34" charset="-120"/>
              </a:rPr>
              <a:t>-er / -est</a:t>
            </a:r>
            <a:endParaRPr lang="en-US" sz="1300" dirty="0"/>
          </a:p>
        </p:txBody>
      </p:sp>
      <p:sp>
        <p:nvSpPr>
          <p:cNvPr id="13" name="Shape 11"/>
          <p:cNvSpPr/>
          <p:nvPr/>
        </p:nvSpPr>
        <p:spPr>
          <a:xfrm>
            <a:off x="4800600" y="2176272"/>
            <a:ext cx="4114800" cy="1051560"/>
          </a:xfrm>
          <a:prstGeom prst="roundRect">
            <a:avLst>
              <a:gd name="adj" fmla="val 8696"/>
            </a:avLst>
          </a:prstGeom>
          <a:solidFill>
            <a:srgbClr val="F0E8FF"/>
          </a:solidFill>
          <a:ln w="19050">
            <a:solidFill>
              <a:srgbClr val="5C2D91"/>
            </a:solidFill>
            <a:prstDash val="solid"/>
          </a:ln>
        </p:spPr>
      </p:sp>
      <p:sp>
        <p:nvSpPr>
          <p:cNvPr id="14" name="Text 12"/>
          <p:cNvSpPr/>
          <p:nvPr/>
        </p:nvSpPr>
        <p:spPr>
          <a:xfrm>
            <a:off x="4937760" y="2286000"/>
            <a:ext cx="3840480" cy="411480"/>
          </a:xfrm>
          <a:prstGeom prst="rect">
            <a:avLst/>
          </a:prstGeom>
          <a:noFill/>
          <a:ln/>
        </p:spPr>
        <p:txBody>
          <a:bodyPr wrap="square" lIns="0" tIns="0" rIns="0" bIns="0" rtlCol="0" anchor="ctr"/>
          <a:lstStyle/>
          <a:p>
            <a:pPr indent="0" marL="0">
              <a:buNone/>
            </a:pPr>
            <a:r>
              <a:rPr lang="en-US" sz="1300" b="1" dirty="0">
                <a:solidFill>
                  <a:srgbClr val="5C2D91"/>
                </a:solidFill>
                <a:latin typeface="Calibri" pitchFamily="34" charset="0"/>
                <a:ea typeface="Calibri" pitchFamily="34" charset="-122"/>
                <a:cs typeface="Calibri" pitchFamily="34" charset="-120"/>
              </a:rPr>
              <a:t>more / most</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Spelling - Spelling: Comparative &amp; Superlative</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SORTED</a:t>
            </a:r>
            <a:endParaRPr lang="en-US" sz="1100" dirty="0"/>
          </a:p>
        </p:txBody>
      </p:sp>
      <p:sp>
        <p:nvSpPr>
          <p:cNvPr id="7" name="Shape 5"/>
          <p:cNvSpPr/>
          <p:nvPr/>
        </p:nvSpPr>
        <p:spPr>
          <a:xfrm>
            <a:off x="365760" y="1024128"/>
            <a:ext cx="4114800" cy="1453896"/>
          </a:xfrm>
          <a:prstGeom prst="roundRect">
            <a:avLst>
              <a:gd name="adj" fmla="val 6289"/>
            </a:avLst>
          </a:prstGeom>
          <a:solidFill>
            <a:srgbClr val="E8F8EF"/>
          </a:solidFill>
          <a:ln w="19050">
            <a:solidFill>
              <a:srgbClr val="4A7C2E"/>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02920" y="1097280"/>
            <a:ext cx="3840480" cy="347472"/>
          </a:xfrm>
          <a:prstGeom prst="rect">
            <a:avLst/>
          </a:prstGeom>
          <a:noFill/>
          <a:ln/>
        </p:spPr>
        <p:txBody>
          <a:bodyPr wrap="square" lIns="0" tIns="0" rIns="0" bIns="0" rtlCol="0" anchor="ctr"/>
          <a:lstStyle/>
          <a:p>
            <a:pPr indent="0" marL="0">
              <a:buNone/>
            </a:pPr>
            <a:r>
              <a:rPr lang="en-US" sz="1200" b="1" dirty="0">
                <a:solidFill>
                  <a:srgbClr val="4A7C2E"/>
                </a:solidFill>
                <a:latin typeface="Calibri" pitchFamily="34" charset="0"/>
                <a:ea typeface="Calibri" pitchFamily="34" charset="-122"/>
                <a:cs typeface="Calibri" pitchFamily="34" charset="-120"/>
              </a:rPr>
              <a:t>-er / -est</a:t>
            </a:r>
            <a:endParaRPr lang="en-US" sz="1200" dirty="0"/>
          </a:p>
        </p:txBody>
      </p:sp>
      <p:sp>
        <p:nvSpPr>
          <p:cNvPr id="9" name="Text 7"/>
          <p:cNvSpPr/>
          <p:nvPr/>
        </p:nvSpPr>
        <p:spPr>
          <a:xfrm>
            <a:off x="594360" y="1463040"/>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kinder</a:t>
            </a:r>
            <a:endParaRPr lang="en-US" sz="1400" dirty="0"/>
          </a:p>
        </p:txBody>
      </p:sp>
      <p:sp>
        <p:nvSpPr>
          <p:cNvPr id="10" name="Text 8"/>
          <p:cNvSpPr/>
          <p:nvPr/>
        </p:nvSpPr>
        <p:spPr>
          <a:xfrm>
            <a:off x="594360" y="1810512"/>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biggest</a:t>
            </a:r>
            <a:endParaRPr lang="en-US" sz="1400" dirty="0"/>
          </a:p>
        </p:txBody>
      </p:sp>
      <p:sp>
        <p:nvSpPr>
          <p:cNvPr id="11" name="Text 9"/>
          <p:cNvSpPr/>
          <p:nvPr/>
        </p:nvSpPr>
        <p:spPr>
          <a:xfrm>
            <a:off x="594360" y="2157984"/>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brighter</a:t>
            </a:r>
            <a:endParaRPr lang="en-US" sz="1400" dirty="0"/>
          </a:p>
        </p:txBody>
      </p:sp>
      <p:sp>
        <p:nvSpPr>
          <p:cNvPr id="12" name="Shape 10"/>
          <p:cNvSpPr/>
          <p:nvPr/>
        </p:nvSpPr>
        <p:spPr>
          <a:xfrm>
            <a:off x="4681728" y="1024128"/>
            <a:ext cx="4114800" cy="1453896"/>
          </a:xfrm>
          <a:prstGeom prst="roundRect">
            <a:avLst>
              <a:gd name="adj" fmla="val 6289"/>
            </a:avLst>
          </a:prstGeom>
          <a:solidFill>
            <a:srgbClr val="F0E8FF"/>
          </a:solidFill>
          <a:ln w="19050">
            <a:solidFill>
              <a:srgbClr val="5C2D91"/>
            </a:solidFill>
            <a:prstDash val="solid"/>
          </a:ln>
          <a:effectLst>
            <a:outerShdw sx="100000" sy="100000" kx="0" ky="0" algn="bl" rotWithShape="0" blurRad="101600" dist="38100" dir="2700000">
              <a:srgbClr val="000000">
                <a:alpha val="12000"/>
              </a:srgbClr>
            </a:outerShdw>
          </a:effectLst>
        </p:spPr>
      </p:sp>
      <p:sp>
        <p:nvSpPr>
          <p:cNvPr id="13" name="Text 11"/>
          <p:cNvSpPr/>
          <p:nvPr/>
        </p:nvSpPr>
        <p:spPr>
          <a:xfrm>
            <a:off x="4818888" y="1097280"/>
            <a:ext cx="3840480" cy="347472"/>
          </a:xfrm>
          <a:prstGeom prst="rect">
            <a:avLst/>
          </a:prstGeom>
          <a:noFill/>
          <a:ln/>
        </p:spPr>
        <p:txBody>
          <a:bodyPr wrap="square" lIns="0" tIns="0" rIns="0" bIns="0" rtlCol="0" anchor="ctr"/>
          <a:lstStyle/>
          <a:p>
            <a:pPr indent="0" marL="0">
              <a:buNone/>
            </a:pPr>
            <a:r>
              <a:rPr lang="en-US" sz="1200" b="1" dirty="0">
                <a:solidFill>
                  <a:srgbClr val="5C2D91"/>
                </a:solidFill>
                <a:latin typeface="Calibri" pitchFamily="34" charset="0"/>
                <a:ea typeface="Calibri" pitchFamily="34" charset="-122"/>
                <a:cs typeface="Calibri" pitchFamily="34" charset="-120"/>
              </a:rPr>
              <a:t>more / most</a:t>
            </a:r>
            <a:endParaRPr lang="en-US" sz="1200" dirty="0"/>
          </a:p>
        </p:txBody>
      </p:sp>
      <p:sp>
        <p:nvSpPr>
          <p:cNvPr id="14" name="Text 12"/>
          <p:cNvSpPr/>
          <p:nvPr/>
        </p:nvSpPr>
        <p:spPr>
          <a:xfrm>
            <a:off x="4910328" y="1463040"/>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more careful</a:t>
            </a:r>
            <a:endParaRPr lang="en-US" sz="1400" dirty="0"/>
          </a:p>
        </p:txBody>
      </p:sp>
      <p:sp>
        <p:nvSpPr>
          <p:cNvPr id="15" name="Text 13"/>
          <p:cNvSpPr/>
          <p:nvPr/>
        </p:nvSpPr>
        <p:spPr>
          <a:xfrm>
            <a:off x="4910328" y="1810512"/>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most cheerful</a:t>
            </a:r>
            <a:endParaRPr lang="en-US" sz="1400" dirty="0"/>
          </a:p>
        </p:txBody>
      </p:sp>
      <p:sp>
        <p:nvSpPr>
          <p:cNvPr id="16" name="Text 14"/>
          <p:cNvSpPr/>
          <p:nvPr/>
        </p:nvSpPr>
        <p:spPr>
          <a:xfrm>
            <a:off x="4910328" y="2157984"/>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more romantic</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Reading - Chapter 32</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Text 2"/>
          <p:cNvSpPr/>
          <p:nvPr/>
        </p:nvSpPr>
        <p:spPr>
          <a:xfrm>
            <a:off x="457200" y="841248"/>
            <a:ext cx="8229600" cy="502920"/>
          </a:xfrm>
          <a:prstGeom prst="rect">
            <a:avLst/>
          </a:prstGeom>
          <a:noFill/>
          <a:ln/>
        </p:spPr>
        <p:txBody>
          <a:bodyPr wrap="square" lIns="0" tIns="0" rIns="0" bIns="0" rtlCol="0" anchor="ctr"/>
          <a:lstStyle/>
          <a:p>
            <a:pPr indent="0" marL="0">
              <a:buNone/>
            </a:pPr>
            <a:r>
              <a:rPr lang="en-US" sz="1700" b="1" i="1" dirty="0">
                <a:solidFill>
                  <a:srgbClr val="0E1C42"/>
                </a:solidFill>
                <a:latin typeface="Calibri" pitchFamily="34" charset="0"/>
                <a:ea typeface="Calibri" pitchFamily="34" charset="-122"/>
                <a:cs typeface="Calibri" pitchFamily="34" charset="-120"/>
              </a:rPr>
              <a:t>The Pass List Is Out</a:t>
            </a:r>
            <a:endParaRPr lang="en-US" sz="1700" dirty="0"/>
          </a:p>
        </p:txBody>
      </p:sp>
      <p:sp>
        <p:nvSpPr>
          <p:cNvPr id="5" name="Text 3"/>
          <p:cNvSpPr/>
          <p:nvPr/>
        </p:nvSpPr>
        <p:spPr>
          <a:xfrm>
            <a:off x="365760" y="146304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PAUSE &amp; THINK</a:t>
            </a:r>
            <a:endParaRPr lang="en-US" sz="1100" dirty="0"/>
          </a:p>
        </p:txBody>
      </p:sp>
      <p:sp>
        <p:nvSpPr>
          <p:cNvPr id="6" name="Shape 4"/>
          <p:cNvSpPr/>
          <p:nvPr/>
        </p:nvSpPr>
        <p:spPr>
          <a:xfrm>
            <a:off x="365760" y="1719072"/>
            <a:ext cx="8412480" cy="685800"/>
          </a:xfrm>
          <a:prstGeom prst="roundRect">
            <a:avLst>
              <a:gd name="adj" fmla="val 10667"/>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810512"/>
            <a:ext cx="7863840" cy="50292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1.  What feeling does the poet have for the mouse? Find one line that shows it.</a:t>
            </a:r>
            <a:endParaRPr lang="en-US" sz="1400" dirty="0"/>
          </a:p>
        </p:txBody>
      </p:sp>
      <p:sp>
        <p:nvSpPr>
          <p:cNvPr id="8" name="Shape 6"/>
          <p:cNvSpPr/>
          <p:nvPr/>
        </p:nvSpPr>
        <p:spPr>
          <a:xfrm>
            <a:off x="365760" y="2514600"/>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9" name="Text 7"/>
          <p:cNvSpPr/>
          <p:nvPr/>
        </p:nvSpPr>
        <p:spPr>
          <a:xfrm>
            <a:off x="594360" y="2606040"/>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2.  In Ch. 34, on the night before Anne leaves for Queen’s, Marilla cries because the girl she loves is going away. Anne sits down on Marilla’s lap, takes her face in both hands, and says: “I’m not a bit changed — not really. I’m only just pruned down and branched out. The real me — back here — is just the same.” Anne has grown two inches. She is quieter. She uses smaller words. She is leaving for the city. But the part of her that loves Marilla and Matthew and Green Gables — that part is still right there. Knowing that is what makes her ready to go.</a:t>
            </a:r>
            <a:endParaRPr lang="en-US" sz="1400" dirty="0"/>
          </a:p>
        </p:txBody>
      </p:sp>
      <p:sp>
        <p:nvSpPr>
          <p:cNvPr id="10" name="Shape 8"/>
          <p:cNvSpPr/>
          <p:nvPr/>
        </p:nvSpPr>
        <p:spPr>
          <a:xfrm>
            <a:off x="365760" y="3447288"/>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11" name="Text 9"/>
          <p:cNvSpPr/>
          <p:nvPr/>
        </p:nvSpPr>
        <p:spPr>
          <a:xfrm>
            <a:off x="594360" y="3538728"/>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3.  Anne ties with Gilbert for FIRST place on the pass list. Her first thought is to tell Matthew. Why is his pride more important to her than the medal itself?</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Read like a Reader, Writer, Mimic</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MENTOR SENTENCE</a:t>
            </a:r>
            <a:endParaRPr lang="en-US" sz="1100" dirty="0"/>
          </a:p>
        </p:txBody>
      </p:sp>
      <p:sp>
        <p:nvSpPr>
          <p:cNvPr id="5" name="Shape 3"/>
          <p:cNvSpPr/>
          <p:nvPr/>
        </p:nvSpPr>
        <p:spPr>
          <a:xfrm>
            <a:off x="365760" y="1042416"/>
            <a:ext cx="8412480" cy="810768"/>
          </a:xfrm>
          <a:prstGeom prst="roundRect">
            <a:avLst>
              <a:gd name="adj" fmla="val 11278"/>
            </a:avLst>
          </a:prstGeom>
          <a:solidFill>
            <a:srgbClr val="F0E8FF"/>
          </a:solidFill>
          <a:ln w="12700">
            <a:solidFill>
              <a:srgbClr val="8B6FC0"/>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52144"/>
            <a:ext cx="8046720" cy="582168"/>
          </a:xfrm>
          <a:prstGeom prst="rect">
            <a:avLst/>
          </a:prstGeom>
          <a:noFill/>
          <a:ln/>
        </p:spPr>
        <p:txBody>
          <a:bodyPr wrap="square" lIns="0" tIns="0" rIns="0" bIns="0" rtlCol="0" anchor="ctr"/>
          <a:lstStyle/>
          <a:p>
            <a:pPr indent="0" marL="0">
              <a:buNone/>
            </a:pPr>
            <a:r>
              <a:rPr lang="en-US" sz="1600" i="1" dirty="0">
                <a:solidFill>
                  <a:srgbClr val="0E1C42"/>
                </a:solidFill>
                <a:latin typeface="Calibri" pitchFamily="34" charset="0"/>
                <a:ea typeface="Calibri" pitchFamily="34" charset="-122"/>
                <a:cs typeface="Calibri" pitchFamily="34" charset="-120"/>
              </a:rPr>
              <a:t>“She wanted to ‘pass high’ for the sake of Matthew and Marilla — especially Matthew.”</a:t>
            </a:r>
            <a:endParaRPr lang="en-US" sz="1600" dirty="0"/>
          </a:p>
        </p:txBody>
      </p:sp>
      <p:sp>
        <p:nvSpPr>
          <p:cNvPr id="7" name="Text 5"/>
          <p:cNvSpPr/>
          <p:nvPr/>
        </p:nvSpPr>
        <p:spPr>
          <a:xfrm>
            <a:off x="365760" y="198120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YOUR THREE JOBS</a:t>
            </a:r>
            <a:endParaRPr lang="en-US" sz="1100" dirty="0"/>
          </a:p>
        </p:txBody>
      </p:sp>
      <p:sp>
        <p:nvSpPr>
          <p:cNvPr id="8" name="Shape 6"/>
          <p:cNvSpPr/>
          <p:nvPr/>
        </p:nvSpPr>
        <p:spPr>
          <a:xfrm>
            <a:off x="365760" y="2237232"/>
            <a:ext cx="8412480" cy="530352"/>
          </a:xfrm>
          <a:prstGeom prst="roundRect">
            <a:avLst>
              <a:gd name="adj" fmla="val 17241"/>
            </a:avLst>
          </a:prstGeom>
          <a:solidFill>
            <a:srgbClr val="E5F7FC"/>
          </a:solidFill>
          <a:ln/>
          <a:effectLst>
            <a:outerShdw sx="100000" sy="100000" kx="0" ky="0" algn="bl" rotWithShape="0" blurRad="101600" dist="38100" dir="2700000">
              <a:srgbClr val="000000">
                <a:alpha val="12000"/>
              </a:srgbClr>
            </a:outerShdw>
          </a:effectLst>
        </p:spPr>
      </p:sp>
      <p:sp>
        <p:nvSpPr>
          <p:cNvPr id="9" name="Text 7"/>
          <p:cNvSpPr/>
          <p:nvPr/>
        </p:nvSpPr>
        <p:spPr>
          <a:xfrm>
            <a:off x="594360" y="2301240"/>
            <a:ext cx="2651760" cy="402336"/>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 Read like a Reader</a:t>
            </a:r>
            <a:endParaRPr lang="en-US" sz="1300" dirty="0"/>
          </a:p>
        </p:txBody>
      </p:sp>
      <p:sp>
        <p:nvSpPr>
          <p:cNvPr id="10" name="Text 8"/>
          <p:cNvSpPr/>
          <p:nvPr/>
        </p:nvSpPr>
        <p:spPr>
          <a:xfrm>
            <a:off x="3337560" y="2301240"/>
            <a:ext cx="5303520" cy="402336"/>
          </a:xfrm>
          <a:prstGeom prst="rect">
            <a:avLst/>
          </a:prstGeom>
          <a:noFill/>
          <a:ln/>
        </p:spPr>
        <p:txBody>
          <a:bodyPr wrap="square" lIns="0" tIns="0" rIns="0" bIns="0" rtlCol="0" anchor="t"/>
          <a:lstStyle/>
          <a:p>
            <a:pPr indent="0" marL="0">
              <a:buNone/>
            </a:pPr>
            <a:r>
              <a:rPr lang="en-US" sz="1200" dirty="0">
                <a:solidFill>
                  <a:srgbClr val="1E293B"/>
                </a:solidFill>
                <a:latin typeface="Calibri" pitchFamily="34" charset="0"/>
                <a:ea typeface="Calibri" pitchFamily="34" charset="-122"/>
                <a:cs typeface="Calibri" pitchFamily="34" charset="-120"/>
              </a:rPr>
              <a:t>What CHOICE does Anne make in this sentence — and what does her choice show about who she is becoming?</a:t>
            </a:r>
            <a:endParaRPr lang="en-US" sz="1200" dirty="0"/>
          </a:p>
        </p:txBody>
      </p:sp>
      <p:sp>
        <p:nvSpPr>
          <p:cNvPr id="11" name="Shape 9"/>
          <p:cNvSpPr/>
          <p:nvPr/>
        </p:nvSpPr>
        <p:spPr>
          <a:xfrm>
            <a:off x="365760" y="2859024"/>
            <a:ext cx="8412480" cy="530352"/>
          </a:xfrm>
          <a:prstGeom prst="roundRect">
            <a:avLst>
              <a:gd name="adj" fmla="val 17241"/>
            </a:avLst>
          </a:prstGeom>
          <a:solidFill>
            <a:srgbClr val="F0E8F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2923032"/>
            <a:ext cx="2651760" cy="402336"/>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 Read like a Writer</a:t>
            </a:r>
            <a:endParaRPr lang="en-US" sz="1300" dirty="0"/>
          </a:p>
        </p:txBody>
      </p:sp>
      <p:sp>
        <p:nvSpPr>
          <p:cNvPr id="13" name="Text 11"/>
          <p:cNvSpPr/>
          <p:nvPr/>
        </p:nvSpPr>
        <p:spPr>
          <a:xfrm>
            <a:off x="3337560" y="2923032"/>
            <a:ext cx="5303520" cy="402336"/>
          </a:xfrm>
          <a:prstGeom prst="rect">
            <a:avLst/>
          </a:prstGeom>
          <a:noFill/>
          <a:ln/>
        </p:spPr>
        <p:txBody>
          <a:bodyPr wrap="square" lIns="0" tIns="0" rIns="0" bIns="0" rtlCol="0" anchor="t"/>
          <a:lstStyle/>
          <a:p>
            <a:pPr indent="0" marL="0">
              <a:buNone/>
            </a:pPr>
            <a:r>
              <a:rPr lang="en-US" sz="1200" dirty="0">
                <a:solidFill>
                  <a:srgbClr val="1E293B"/>
                </a:solidFill>
                <a:latin typeface="Calibri" pitchFamily="34" charset="0"/>
                <a:ea typeface="Calibri" pitchFamily="34" charset="-122"/>
                <a:cs typeface="Calibri" pitchFamily="34" charset="-120"/>
              </a:rPr>
              <a:t>How did Montgomery build this sentence? Notice the especially Matthew</a:t>
            </a:r>
            <a:endParaRPr lang="en-US" sz="1200" dirty="0"/>
          </a:p>
        </p:txBody>
      </p:sp>
      <p:sp>
        <p:nvSpPr>
          <p:cNvPr id="14" name="Shape 12"/>
          <p:cNvSpPr/>
          <p:nvPr/>
        </p:nvSpPr>
        <p:spPr>
          <a:xfrm>
            <a:off x="365760" y="3480816"/>
            <a:ext cx="8412480" cy="530352"/>
          </a:xfrm>
          <a:prstGeom prst="roundRect">
            <a:avLst>
              <a:gd name="adj" fmla="val 17241"/>
            </a:avLst>
          </a:prstGeom>
          <a:solidFill>
            <a:srgbClr val="E8F8EF"/>
          </a:solidFill>
          <a:ln/>
          <a:effectLst>
            <a:outerShdw sx="100000" sy="100000" kx="0" ky="0" algn="bl" rotWithShape="0" blurRad="101600" dist="38100" dir="2700000">
              <a:srgbClr val="000000">
                <a:alpha val="12000"/>
              </a:srgbClr>
            </a:outerShdw>
          </a:effectLst>
        </p:spPr>
      </p:sp>
      <p:sp>
        <p:nvSpPr>
          <p:cNvPr id="15" name="Text 13"/>
          <p:cNvSpPr/>
          <p:nvPr/>
        </p:nvSpPr>
        <p:spPr>
          <a:xfrm>
            <a:off x="594360" y="3544824"/>
            <a:ext cx="2651760" cy="402336"/>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 Mimic</a:t>
            </a:r>
            <a:endParaRPr lang="en-US" sz="1300" dirty="0"/>
          </a:p>
        </p:txBody>
      </p:sp>
      <p:sp>
        <p:nvSpPr>
          <p:cNvPr id="16" name="Text 14"/>
          <p:cNvSpPr/>
          <p:nvPr/>
        </p:nvSpPr>
        <p:spPr>
          <a:xfrm>
            <a:off x="3337560" y="3544824"/>
            <a:ext cx="5303520" cy="402336"/>
          </a:xfrm>
          <a:prstGeom prst="rect">
            <a:avLst/>
          </a:prstGeom>
          <a:noFill/>
          <a:ln/>
        </p:spPr>
        <p:txBody>
          <a:bodyPr wrap="square" lIns="0" tIns="0" rIns="0" bIns="0" rtlCol="0" anchor="t"/>
          <a:lstStyle/>
          <a:p>
            <a:pPr indent="0" marL="0">
              <a:buNone/>
            </a:pPr>
            <a:r>
              <a:rPr lang="en-US" sz="1200" dirty="0">
                <a:solidFill>
                  <a:srgbClr val="1E293B"/>
                </a:solidFill>
                <a:latin typeface="Calibri" pitchFamily="34" charset="0"/>
                <a:ea typeface="Calibri" pitchFamily="34" charset="-122"/>
                <a:cs typeface="Calibri" pitchFamily="34" charset="-120"/>
              </a:rPr>
              <a:t>Write your own sentence using the same pattern in your notebook.</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Writer's Workshop</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WRITING STAGE</a:t>
            </a:r>
            <a:endParaRPr lang="en-US" sz="1100" dirty="0"/>
          </a:p>
        </p:txBody>
      </p:sp>
      <p:sp>
        <p:nvSpPr>
          <p:cNvPr id="5" name="Shape 3"/>
          <p:cNvSpPr/>
          <p:nvPr/>
        </p:nvSpPr>
        <p:spPr>
          <a:xfrm>
            <a:off x="365760" y="1042416"/>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33856"/>
            <a:ext cx="7863840" cy="475488"/>
          </a:xfrm>
          <a:prstGeom prst="rect">
            <a:avLst/>
          </a:prstGeom>
          <a:noFill/>
          <a:ln/>
        </p:spPr>
        <p:txBody>
          <a:bodyPr wrap="square" lIns="0" tIns="0" rIns="0" bIns="0" rtlCol="0" anchor="ctr"/>
          <a:lstStyle/>
          <a:p>
            <a:pPr indent="0" marL="0">
              <a:buNone/>
            </a:pPr>
            <a:r>
              <a:rPr lang="en-US" sz="2200" b="1" dirty="0">
                <a:solidFill>
                  <a:srgbClr val="C7922C"/>
                </a:solidFill>
                <a:latin typeface="Calibri" pitchFamily="34" charset="0"/>
                <a:ea typeface="Calibri" pitchFamily="34" charset="-122"/>
                <a:cs typeface="Calibri" pitchFamily="34" charset="-120"/>
              </a:rPr>
              <a:t>Character Growth Essay — Evidence #1</a:t>
            </a:r>
            <a:endParaRPr lang="en-US" sz="2200" dirty="0"/>
          </a:p>
        </p:txBody>
      </p:sp>
      <p:sp>
        <p:nvSpPr>
          <p:cNvPr id="7" name="Text 5"/>
          <p:cNvSpPr/>
          <p:nvPr/>
        </p:nvSpPr>
        <p:spPr>
          <a:xfrm>
            <a:off x="365760" y="182880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TODAY'S FOCUS</a:t>
            </a:r>
            <a:endParaRPr lang="en-US" sz="1100" dirty="0"/>
          </a:p>
        </p:txBody>
      </p:sp>
      <p:sp>
        <p:nvSpPr>
          <p:cNvPr id="8" name="Text 6"/>
          <p:cNvSpPr/>
          <p:nvPr/>
        </p:nvSpPr>
        <p:spPr>
          <a:xfrm>
            <a:off x="457200" y="2084832"/>
            <a:ext cx="8229600" cy="59436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Write your first evidence paragraph, using a specific moment from your own narrative.</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2026-07-11T22:13:20Z</dcterms:created>
  <dcterms:modified xsi:type="dcterms:W3CDTF">2026-07-11T22:13:20Z</dcterms:modified>
</cp:coreProperties>
</file>