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29, Day 4.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Replace "said" with a specific speaking verb that reveals the character’s emotional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20-minute timer. Craft move: Replace "said" with a specific speaking verb that reveals the character’s emotional state.. Level-up: 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Try 2-3 different speaking verbs for your sentence. Which one best matches the character’s feeling?.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"Share your specific speaking-verb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Yesterday, Nikabrik’s plan turned to sorcery and betrayal in the heat of an argument. Today: Discuss which character stayed calm and steady while everyone else panicked. Big Q: Which character in Chapters 10–12 shows this kind of steadiness — keeping their head while others lose theirs? Think about Peter admitting his mistake, Lucy following Aslan alone, or Aslan waiting patiently. What do you think Kipling’s poem and C. S. Lewis have in common?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"Trumpkin stared at Aslan in amazement and stammered , “ I see that you are no common beast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"caspian looked at nikabrik sadly and said he had gone sour inside from long suffering and hateing" Corrected: "Caspian looked at Nikabrik sadly and said, “He had gone sour inside from long suffering and hating.”"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"caspian looked at nikabrik sadly and said he had gone sour inside from long suffering and hateing" Corrected: "Caspian looked at Nikabrik sadly and said, “He had gone sour inside from long suffering and hating.”"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Precipice: the edge of a steep cliff | Luminous: giving off or glowing with light | Sentient: able to feel and experience things | Revelry: lively and noisy celebration | Romp: to play or move about in a lively, boisterous way | Sentinel: a guard or lookout | Parley: a conference between opposing sides | Sorcery: the use of magic powers, often dark or evil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(text): This week you practiced putting commas in the right places in dates and addresses. Now let’s close out with a wrap-up challenge.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spotter: "about family strong" -&gt; strong | "bright problem animal" -&gt; bright | "lemon person frost" -&gt; frost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spotter: "about family strong" -&gt; strong | "bright problem animal" -&gt; bright | "lemon person frost" -&gt; frost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 12 -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Literary Analysis — Building the Claim
Focus: Draft your claim paragraph: state your claim and explain your first piece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2E"/>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5CC9A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5CC9A0"/>
                </a:solidFill>
                <a:latin typeface="Calibri" pitchFamily="34" charset="0"/>
                <a:ea typeface="Calibri" pitchFamily="34" charset="-122"/>
                <a:cs typeface="Calibri" pitchFamily="34" charset="-120"/>
              </a:rPr>
              <a:t>WEEK 29  ·  DAY 4</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 12 - Discussion</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Steady in the Storm</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29  ·  Virtue: Loyalty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5CC9A0"/>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This is the last Writer’s Workshop day this week. "Stammered" tells us HOW Trumpkin spoke. Why choose a specific verb like "stammered" instead of just "said"?</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20 minutes - keep your pencil moving!</a:t>
            </a:r>
            <a:endParaRPr lang="en-US" sz="1500" dirty="0"/>
          </a:p>
        </p:txBody>
      </p:sp>
      <p:sp>
        <p:nvSpPr>
          <p:cNvPr id="4" name="Shape 2"/>
          <p:cNvSpPr/>
          <p:nvPr/>
        </p:nvSpPr>
        <p:spPr>
          <a:xfrm>
            <a:off x="457200" y="1170432"/>
            <a:ext cx="8229600" cy="822960"/>
          </a:xfrm>
          <a:prstGeom prst="roundRect">
            <a:avLst>
              <a:gd name="adj" fmla="val 11111"/>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3152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Write a sentence of dialogue using a specific speaking verb (stammered, whispered, insisted) instead of "said," to show HOW a character feels while speaking.</a:t>
            </a:r>
            <a:endParaRPr lang="en-US" sz="1200" dirty="0"/>
          </a:p>
        </p:txBody>
      </p:sp>
      <p:sp>
        <p:nvSpPr>
          <p:cNvPr id="6" name="Shape 4"/>
          <p:cNvSpPr/>
          <p:nvPr/>
        </p:nvSpPr>
        <p:spPr>
          <a:xfrm>
            <a:off x="457200" y="2121408"/>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176272"/>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Replace "said" with a specific speaking verb that reveals the character’s emotional state.</a:t>
            </a:r>
            <a:endParaRPr lang="en-US" sz="1300" dirty="0"/>
          </a:p>
        </p:txBody>
      </p:sp>
      <p:sp>
        <p:nvSpPr>
          <p:cNvPr id="8" name="Text 6"/>
          <p:cNvSpPr/>
          <p:nvPr/>
        </p:nvSpPr>
        <p:spPr>
          <a:xfrm>
            <a:off x="548640" y="2868168"/>
            <a:ext cx="8046720" cy="2161032"/>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Try 2-3 different speaking verbs for your sentence. Which one best matches the character’s feeling?</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Share your specific speaking-verb sentence.</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Yesterday, Nikabrik’s plan turned to sorcery and betrayal in the heat of an argument.</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5CC9A0"/>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Discuss which character stayed calm and steady while everyone else panicked.</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Which character in Chapters 10–12 shows this kind of steadiness — keeping their head while others lose theirs? Think about Peter admitting his mistake, Lucy following Aslan alone, or Aslan waiting patiently. What do you think Kipling’s poem and C. S. Lewis have in common?</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connect ideas across chapters. This week you read three chapters built around the same idea: trust, forgiveness, and choosing the right path....</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810768"/>
          </a:xfrm>
          <a:prstGeom prst="roundRect">
            <a:avLst>
              <a:gd name="adj" fmla="val 11278"/>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Trumpkin stared at Aslan in amazement and stammered , “ I see that you are no common beast . ”</a:t>
            </a:r>
            <a:endParaRPr lang="en-US" sz="1600" dirty="0"/>
          </a:p>
        </p:txBody>
      </p:sp>
      <p:sp>
        <p:nvSpPr>
          <p:cNvPr id="7" name="Text 5"/>
          <p:cNvSpPr/>
          <p:nvPr/>
        </p:nvSpPr>
        <p:spPr>
          <a:xfrm>
            <a:off x="457200" y="2036064"/>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93264"/>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810768"/>
          </a:xfrm>
          <a:prstGeom prst="roundRect">
            <a:avLst>
              <a:gd name="adj" fmla="val 11278"/>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caspian looked at nikabrik sadly and said he had gone sour inside from long suffering and hateing</a:t>
            </a:r>
            <a:endParaRPr lang="en-US" sz="1600" dirty="0"/>
          </a:p>
        </p:txBody>
      </p:sp>
      <p:sp>
        <p:nvSpPr>
          <p:cNvPr id="9" name="Text 7"/>
          <p:cNvSpPr/>
          <p:nvPr/>
        </p:nvSpPr>
        <p:spPr>
          <a:xfrm>
            <a:off x="457200" y="2036064"/>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810768"/>
          </a:xfrm>
          <a:prstGeom prst="roundRect">
            <a:avLst>
              <a:gd name="adj" fmla="val 11278"/>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caspian looked at nikabrik sadly and said he had gone sour inside from long suffering and hateing</a:t>
            </a:r>
            <a:endParaRPr lang="en-US" sz="1600" dirty="0"/>
          </a:p>
        </p:txBody>
      </p:sp>
      <p:sp>
        <p:nvSpPr>
          <p:cNvPr id="9" name="Text 7"/>
          <p:cNvSpPr/>
          <p:nvPr/>
        </p:nvSpPr>
        <p:spPr>
          <a:xfrm>
            <a:off x="457200" y="2036064"/>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74976"/>
            <a:ext cx="8412480" cy="960120"/>
          </a:xfrm>
          <a:prstGeom prst="roundRect">
            <a:avLst>
              <a:gd name="adj" fmla="val 9524"/>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2984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822448"/>
            <a:ext cx="7863840" cy="57607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Caspian looked at Nikabrik sadly and said, “He had gone sour inside from long suffering and hating.”</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365760" y="78638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8 WORDS - READ THE SENTENCE, THEN THE MEANING</a:t>
            </a:r>
            <a:endParaRPr lang="en-US" sz="1100" dirty="0"/>
          </a:p>
        </p:txBody>
      </p:sp>
      <p:sp>
        <p:nvSpPr>
          <p:cNvPr id="5" name="Shape 3"/>
          <p:cNvSpPr/>
          <p:nvPr/>
        </p:nvSpPr>
        <p:spPr>
          <a:xfrm>
            <a:off x="320040" y="914400"/>
            <a:ext cx="40690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457200" y="1005840"/>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Precipice</a:t>
            </a:r>
            <a:endParaRPr lang="en-US" sz="1400" dirty="0"/>
          </a:p>
        </p:txBody>
      </p:sp>
      <p:sp>
        <p:nvSpPr>
          <p:cNvPr id="7" name="Text 5"/>
          <p:cNvSpPr/>
          <p:nvPr/>
        </p:nvSpPr>
        <p:spPr>
          <a:xfrm>
            <a:off x="457200" y="1316736"/>
            <a:ext cx="3794760" cy="45720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the edge of a steep cliff</a:t>
            </a:r>
            <a:endParaRPr lang="en-US" sz="1100" dirty="0"/>
          </a:p>
        </p:txBody>
      </p:sp>
      <p:sp>
        <p:nvSpPr>
          <p:cNvPr id="8" name="Shape 6"/>
          <p:cNvSpPr/>
          <p:nvPr/>
        </p:nvSpPr>
        <p:spPr>
          <a:xfrm>
            <a:off x="4572000" y="914400"/>
            <a:ext cx="40690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4709160" y="1005840"/>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Luminous</a:t>
            </a:r>
            <a:endParaRPr lang="en-US" sz="1400" dirty="0"/>
          </a:p>
        </p:txBody>
      </p:sp>
      <p:sp>
        <p:nvSpPr>
          <p:cNvPr id="10" name="Text 8"/>
          <p:cNvSpPr/>
          <p:nvPr/>
        </p:nvSpPr>
        <p:spPr>
          <a:xfrm>
            <a:off x="4709160" y="1316736"/>
            <a:ext cx="3794760" cy="45720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giving off or glowing with light</a:t>
            </a:r>
            <a:endParaRPr lang="en-US" sz="1100" dirty="0"/>
          </a:p>
        </p:txBody>
      </p:sp>
      <p:sp>
        <p:nvSpPr>
          <p:cNvPr id="11" name="Shape 9"/>
          <p:cNvSpPr/>
          <p:nvPr/>
        </p:nvSpPr>
        <p:spPr>
          <a:xfrm>
            <a:off x="320040" y="1938528"/>
            <a:ext cx="40690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457200" y="202996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Sentient</a:t>
            </a:r>
            <a:endParaRPr lang="en-US" sz="1400" dirty="0"/>
          </a:p>
        </p:txBody>
      </p:sp>
      <p:sp>
        <p:nvSpPr>
          <p:cNvPr id="13" name="Text 11"/>
          <p:cNvSpPr/>
          <p:nvPr/>
        </p:nvSpPr>
        <p:spPr>
          <a:xfrm>
            <a:off x="457200" y="2340864"/>
            <a:ext cx="3794760" cy="45720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able to feel and experience things</a:t>
            </a:r>
            <a:endParaRPr lang="en-US" sz="1100" dirty="0"/>
          </a:p>
        </p:txBody>
      </p:sp>
      <p:sp>
        <p:nvSpPr>
          <p:cNvPr id="14" name="Shape 12"/>
          <p:cNvSpPr/>
          <p:nvPr/>
        </p:nvSpPr>
        <p:spPr>
          <a:xfrm>
            <a:off x="4572000" y="1938528"/>
            <a:ext cx="40690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15" name="Text 13"/>
          <p:cNvSpPr/>
          <p:nvPr/>
        </p:nvSpPr>
        <p:spPr>
          <a:xfrm>
            <a:off x="4709160" y="202996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Revelry</a:t>
            </a:r>
            <a:endParaRPr lang="en-US" sz="1400" dirty="0"/>
          </a:p>
        </p:txBody>
      </p:sp>
      <p:sp>
        <p:nvSpPr>
          <p:cNvPr id="16" name="Text 14"/>
          <p:cNvSpPr/>
          <p:nvPr/>
        </p:nvSpPr>
        <p:spPr>
          <a:xfrm>
            <a:off x="4709160" y="2340864"/>
            <a:ext cx="3794760" cy="45720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lively and noisy celebration</a:t>
            </a:r>
            <a:endParaRPr lang="en-US" sz="1100" dirty="0"/>
          </a:p>
        </p:txBody>
      </p:sp>
      <p:sp>
        <p:nvSpPr>
          <p:cNvPr id="17" name="Shape 15"/>
          <p:cNvSpPr/>
          <p:nvPr/>
        </p:nvSpPr>
        <p:spPr>
          <a:xfrm>
            <a:off x="320040" y="2962656"/>
            <a:ext cx="4069080" cy="954024"/>
          </a:xfrm>
          <a:prstGeom prst="roundRect">
            <a:avLst>
              <a:gd name="adj" fmla="val 9585"/>
            </a:avLst>
          </a:prstGeom>
          <a:solidFill>
            <a:srgbClr val="F0E8FF"/>
          </a:solidFill>
          <a:ln/>
          <a:effectLst>
            <a:outerShdw sx="100000" sy="100000" kx="0" ky="0" algn="bl" rotWithShape="0" blurRad="101600" dist="38100" dir="2700000">
              <a:srgbClr val="000000">
                <a:alpha val="12000"/>
              </a:srgbClr>
            </a:outerShdw>
          </a:effectLst>
        </p:spPr>
      </p:sp>
      <p:sp>
        <p:nvSpPr>
          <p:cNvPr id="18" name="Text 16"/>
          <p:cNvSpPr/>
          <p:nvPr/>
        </p:nvSpPr>
        <p:spPr>
          <a:xfrm>
            <a:off x="457200" y="3054096"/>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Romp</a:t>
            </a:r>
            <a:endParaRPr lang="en-US" sz="1400" dirty="0"/>
          </a:p>
        </p:txBody>
      </p:sp>
      <p:sp>
        <p:nvSpPr>
          <p:cNvPr id="19" name="Text 17"/>
          <p:cNvSpPr/>
          <p:nvPr/>
        </p:nvSpPr>
        <p:spPr>
          <a:xfrm>
            <a:off x="457200" y="3364992"/>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to play or move about in a lively, boisterous way</a:t>
            </a:r>
            <a:endParaRPr lang="en-US" sz="1100" dirty="0"/>
          </a:p>
        </p:txBody>
      </p:sp>
      <p:sp>
        <p:nvSpPr>
          <p:cNvPr id="20" name="Shape 18"/>
          <p:cNvSpPr/>
          <p:nvPr/>
        </p:nvSpPr>
        <p:spPr>
          <a:xfrm>
            <a:off x="4572000" y="2962656"/>
            <a:ext cx="4069080" cy="954024"/>
          </a:xfrm>
          <a:prstGeom prst="roundRect">
            <a:avLst>
              <a:gd name="adj" fmla="val 9585"/>
            </a:avLst>
          </a:prstGeom>
          <a:solidFill>
            <a:srgbClr val="F0E8FF"/>
          </a:solidFill>
          <a:ln/>
          <a:effectLst>
            <a:outerShdw sx="100000" sy="100000" kx="0" ky="0" algn="bl" rotWithShape="0" blurRad="101600" dist="38100" dir="2700000">
              <a:srgbClr val="000000">
                <a:alpha val="12000"/>
              </a:srgbClr>
            </a:outerShdw>
          </a:effectLst>
        </p:spPr>
      </p:sp>
      <p:sp>
        <p:nvSpPr>
          <p:cNvPr id="21" name="Text 19"/>
          <p:cNvSpPr/>
          <p:nvPr/>
        </p:nvSpPr>
        <p:spPr>
          <a:xfrm>
            <a:off x="4709160" y="3054096"/>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Sentinel</a:t>
            </a:r>
            <a:endParaRPr lang="en-US" sz="1400" dirty="0"/>
          </a:p>
        </p:txBody>
      </p:sp>
      <p:sp>
        <p:nvSpPr>
          <p:cNvPr id="22" name="Text 20"/>
          <p:cNvSpPr/>
          <p:nvPr/>
        </p:nvSpPr>
        <p:spPr>
          <a:xfrm>
            <a:off x="4709160" y="3364992"/>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a guard or lookout</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Explain It</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THE RULE</a:t>
            </a:r>
            <a:endParaRPr lang="en-US" sz="1100" dirty="0"/>
          </a:p>
        </p:txBody>
      </p:sp>
      <p:sp>
        <p:nvSpPr>
          <p:cNvPr id="7" name="Shape 5"/>
          <p:cNvSpPr/>
          <p:nvPr/>
        </p:nvSpPr>
        <p:spPr>
          <a:xfrm>
            <a:off x="365760" y="1060704"/>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70432"/>
            <a:ext cx="8046720" cy="548640"/>
          </a:xfrm>
          <a:prstGeom prst="rect">
            <a:avLst/>
          </a:prstGeom>
          <a:noFill/>
          <a:ln/>
        </p:spPr>
        <p:txBody>
          <a:bodyPr wrap="square" lIns="0" tIns="0" rIns="0" bIns="0" rtlCol="0" anchor="ctr"/>
          <a:lstStyle/>
          <a:p>
            <a:pPr indent="0" marL="0">
              <a:buNone/>
            </a:pPr>
            <a:r>
              <a:rPr lang="en-US" sz="1500" i="1" dirty="0">
                <a:solidFill>
                  <a:srgbClr val="0E1C42"/>
                </a:solidFill>
                <a:latin typeface="Calibri" pitchFamily="34" charset="0"/>
                <a:ea typeface="Calibri" pitchFamily="34" charset="-122"/>
                <a:cs typeface="Calibri" pitchFamily="34" charset="-120"/>
              </a:rPr>
              <a:t>This week you practiced putting commas in the right places in dates and addresses. Now let’s close out with a wrap-up challenge.</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Explain the Schwa Rule</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SPOT THE ERROR</a:t>
            </a:r>
            <a:endParaRPr lang="en-US" sz="1100" dirty="0"/>
          </a:p>
        </p:txBody>
      </p:sp>
      <p:sp>
        <p:nvSpPr>
          <p:cNvPr id="7" name="Shape 5"/>
          <p:cNvSpPr/>
          <p:nvPr/>
        </p:nvSpPr>
        <p:spPr>
          <a:xfrm>
            <a:off x="365760" y="1078992"/>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about family strong</a:t>
            </a:r>
            <a:endParaRPr lang="en-US" sz="1500" dirty="0"/>
          </a:p>
        </p:txBody>
      </p:sp>
      <p:sp>
        <p:nvSpPr>
          <p:cNvPr id="9" name="Shape 7"/>
          <p:cNvSpPr/>
          <p:nvPr/>
        </p:nvSpPr>
        <p:spPr>
          <a:xfrm>
            <a:off x="365760" y="1920240"/>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bright problem animal</a:t>
            </a:r>
            <a:endParaRPr lang="en-US" sz="1500" dirty="0"/>
          </a:p>
        </p:txBody>
      </p:sp>
      <p:sp>
        <p:nvSpPr>
          <p:cNvPr id="11" name="Shape 9"/>
          <p:cNvSpPr/>
          <p:nvPr/>
        </p:nvSpPr>
        <p:spPr>
          <a:xfrm>
            <a:off x="365760" y="2761488"/>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lemon person frost</a:t>
            </a:r>
            <a:endParaRPr lang="en-US" sz="1500" dirty="0"/>
          </a:p>
        </p:txBody>
      </p:sp>
      <p:sp>
        <p:nvSpPr>
          <p:cNvPr id="13" name="Text 11"/>
          <p:cNvSpPr/>
          <p:nvPr/>
        </p:nvSpPr>
        <p:spPr>
          <a:xfrm>
            <a:off x="457200" y="3648456"/>
            <a:ext cx="8229600" cy="347472"/>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Find the word that is WRONG. Write the correct spelling in your notebook.</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Explain the Schwa Rule</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ANSWERS REVEALED</a:t>
            </a:r>
            <a:endParaRPr lang="en-US" sz="1100" dirty="0"/>
          </a:p>
        </p:txBody>
      </p:sp>
      <p:sp>
        <p:nvSpPr>
          <p:cNvPr id="7" name="Shape 5"/>
          <p:cNvSpPr/>
          <p:nvPr/>
        </p:nvSpPr>
        <p:spPr>
          <a:xfrm>
            <a:off x="365760" y="1078992"/>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about family </a:t>
            </a:r>
            <a:pPr indent="0" marL="0">
              <a:buNone/>
            </a:pPr>
            <a:r>
              <a:rPr lang="en-US" sz="1500" b="1" u="sng" dirty="0">
                <a:solidFill>
                  <a:srgbClr val="34B76F"/>
                </a:solidFill>
                <a:latin typeface="Calibri" pitchFamily="34" charset="0"/>
                <a:ea typeface="Calibri" pitchFamily="34" charset="-122"/>
                <a:cs typeface="Calibri" pitchFamily="34" charset="-120"/>
              </a:rPr>
              <a:t>strong</a:t>
            </a:r>
            <a:pPr indent="0" marL="0">
              <a:buNone/>
            </a:pPr>
            <a:endParaRPr lang="en-US" sz="1500" dirty="0"/>
          </a:p>
        </p:txBody>
      </p:sp>
      <p:sp>
        <p:nvSpPr>
          <p:cNvPr id="9" name="Shape 7"/>
          <p:cNvSpPr/>
          <p:nvPr/>
        </p:nvSpPr>
        <p:spPr>
          <a:xfrm>
            <a:off x="365760" y="1920240"/>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pPr indent="0" marL="0">
              <a:buNone/>
            </a:pPr>
            <a:r>
              <a:rPr lang="en-US" sz="1500" b="1" u="sng" dirty="0">
                <a:solidFill>
                  <a:srgbClr val="34B76F"/>
                </a:solidFill>
                <a:latin typeface="Calibri" pitchFamily="34" charset="0"/>
                <a:ea typeface="Calibri" pitchFamily="34" charset="-122"/>
                <a:cs typeface="Calibri" pitchFamily="34" charset="-120"/>
              </a:rPr>
              <a:t>bright</a:t>
            </a:r>
            <a:pPr indent="0" marL="0">
              <a:buNone/>
            </a:pPr>
            <a:r>
              <a:rPr lang="en-US" sz="1500" dirty="0">
                <a:solidFill>
                  <a:srgbClr val="1E293B"/>
                </a:solidFill>
                <a:latin typeface="Calibri" pitchFamily="34" charset="0"/>
                <a:ea typeface="Calibri" pitchFamily="34" charset="-122"/>
                <a:cs typeface="Calibri" pitchFamily="34" charset="-120"/>
              </a:rPr>
              <a:t> problem animal</a:t>
            </a:r>
            <a:endParaRPr lang="en-US" sz="1500" dirty="0"/>
          </a:p>
        </p:txBody>
      </p:sp>
      <p:sp>
        <p:nvSpPr>
          <p:cNvPr id="11" name="Shape 9"/>
          <p:cNvSpPr/>
          <p:nvPr/>
        </p:nvSpPr>
        <p:spPr>
          <a:xfrm>
            <a:off x="365760" y="2761488"/>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lemon person </a:t>
            </a:r>
            <a:pPr indent="0" marL="0">
              <a:buNone/>
            </a:pPr>
            <a:r>
              <a:rPr lang="en-US" sz="1500" b="1" u="sng" dirty="0">
                <a:solidFill>
                  <a:srgbClr val="34B76F"/>
                </a:solidFill>
                <a:latin typeface="Calibri" pitchFamily="34" charset="0"/>
                <a:ea typeface="Calibri" pitchFamily="34" charset="-122"/>
                <a:cs typeface="Calibri" pitchFamily="34" charset="-120"/>
              </a:rPr>
              <a:t>frost</a:t>
            </a:r>
            <a:pPr indent="0" marL="0">
              <a:buNone/>
            </a:pP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 12 - Discussion</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Steady in the Storm</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Think about how the theme of trust and forgiveness appears in Ch. 10, 11, and 12. Which character faces the hardest choice? Who handles it best? What does C. S. Lewis seem to be saying about what happens when people refuse to trust?</a:t>
            </a:r>
            <a:endParaRPr lang="en-US" sz="1400" dirty="0"/>
          </a:p>
        </p:txBody>
      </p:sp>
      <p:sp>
        <p:nvSpPr>
          <p:cNvPr id="8" name="Shape 6"/>
          <p:cNvSpPr/>
          <p:nvPr/>
        </p:nvSpPr>
        <p:spPr>
          <a:xfrm>
            <a:off x="365760" y="2651760"/>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743200"/>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Lucy finally finds Aslan. He says he is not bigger — but she is older. What does that mean? What does their reunion say about trust?</a:t>
            </a:r>
            <a:endParaRPr lang="en-US" sz="1400" dirty="0"/>
          </a:p>
        </p:txBody>
      </p:sp>
      <p:sp>
        <p:nvSpPr>
          <p:cNvPr id="10" name="Shape 8"/>
          <p:cNvSpPr/>
          <p:nvPr/>
        </p:nvSpPr>
        <p:spPr>
          <a:xfrm>
            <a:off x="365760" y="358444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67588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How do Lucy, Susan, and Nikabrik each respond when they realize they were wrong? What’s the difference between their choices?</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Literary Analysis — Building the Claim</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Draft your claim paragraph: state your claim and explain your first piece of evidence.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2026-07-11T22:29:48Z</dcterms:created>
  <dcterms:modified xsi:type="dcterms:W3CDTF">2026-07-11T22:29:48Z</dcterms:modified>
</cp:coreProperties>
</file>